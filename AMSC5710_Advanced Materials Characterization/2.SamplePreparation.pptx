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5" r:id="rId1"/>
  </p:sldMasterIdLst>
  <p:notesMasterIdLst>
    <p:notesMasterId r:id="rId77"/>
  </p:notesMasterIdLst>
  <p:handoutMasterIdLst>
    <p:handoutMasterId r:id="rId78"/>
  </p:handoutMasterIdLst>
  <p:sldIdLst>
    <p:sldId id="256" r:id="rId2"/>
    <p:sldId id="348" r:id="rId3"/>
    <p:sldId id="299" r:id="rId4"/>
    <p:sldId id="258" r:id="rId5"/>
    <p:sldId id="264" r:id="rId6"/>
    <p:sldId id="259" r:id="rId7"/>
    <p:sldId id="297" r:id="rId8"/>
    <p:sldId id="261" r:id="rId9"/>
    <p:sldId id="262" r:id="rId10"/>
    <p:sldId id="263" r:id="rId11"/>
    <p:sldId id="301" r:id="rId12"/>
    <p:sldId id="276" r:id="rId13"/>
    <p:sldId id="378" r:id="rId14"/>
    <p:sldId id="284" r:id="rId15"/>
    <p:sldId id="283" r:id="rId16"/>
    <p:sldId id="279" r:id="rId17"/>
    <p:sldId id="278" r:id="rId18"/>
    <p:sldId id="287" r:id="rId19"/>
    <p:sldId id="288" r:id="rId20"/>
    <p:sldId id="282" r:id="rId21"/>
    <p:sldId id="286" r:id="rId22"/>
    <p:sldId id="285" r:id="rId23"/>
    <p:sldId id="296" r:id="rId24"/>
    <p:sldId id="289" r:id="rId25"/>
    <p:sldId id="281" r:id="rId26"/>
    <p:sldId id="291" r:id="rId27"/>
    <p:sldId id="292" r:id="rId28"/>
    <p:sldId id="327" r:id="rId29"/>
    <p:sldId id="294" r:id="rId30"/>
    <p:sldId id="295" r:id="rId31"/>
    <p:sldId id="379" r:id="rId32"/>
    <p:sldId id="349" r:id="rId33"/>
    <p:sldId id="257" r:id="rId34"/>
    <p:sldId id="351" r:id="rId35"/>
    <p:sldId id="352" r:id="rId36"/>
    <p:sldId id="260" r:id="rId37"/>
    <p:sldId id="353" r:id="rId38"/>
    <p:sldId id="354" r:id="rId39"/>
    <p:sldId id="355" r:id="rId40"/>
    <p:sldId id="298" r:id="rId41"/>
    <p:sldId id="356" r:id="rId42"/>
    <p:sldId id="265" r:id="rId43"/>
    <p:sldId id="375" r:id="rId44"/>
    <p:sldId id="266" r:id="rId45"/>
    <p:sldId id="267" r:id="rId46"/>
    <p:sldId id="268" r:id="rId47"/>
    <p:sldId id="269" r:id="rId48"/>
    <p:sldId id="270" r:id="rId49"/>
    <p:sldId id="271" r:id="rId50"/>
    <p:sldId id="272" r:id="rId51"/>
    <p:sldId id="357" r:id="rId52"/>
    <p:sldId id="273" r:id="rId53"/>
    <p:sldId id="274" r:id="rId54"/>
    <p:sldId id="275" r:id="rId55"/>
    <p:sldId id="358" r:id="rId56"/>
    <p:sldId id="277" r:id="rId57"/>
    <p:sldId id="359" r:id="rId58"/>
    <p:sldId id="360" r:id="rId59"/>
    <p:sldId id="280" r:id="rId60"/>
    <p:sldId id="361" r:id="rId61"/>
    <p:sldId id="362" r:id="rId62"/>
    <p:sldId id="363" r:id="rId63"/>
    <p:sldId id="364" r:id="rId64"/>
    <p:sldId id="365" r:id="rId65"/>
    <p:sldId id="366" r:id="rId66"/>
    <p:sldId id="367" r:id="rId67"/>
    <p:sldId id="368" r:id="rId68"/>
    <p:sldId id="369" r:id="rId69"/>
    <p:sldId id="290" r:id="rId70"/>
    <p:sldId id="370" r:id="rId71"/>
    <p:sldId id="371" r:id="rId72"/>
    <p:sldId id="293" r:id="rId73"/>
    <p:sldId id="372" r:id="rId74"/>
    <p:sldId id="373" r:id="rId75"/>
    <p:sldId id="374" r:id="rId76"/>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990000"/>
    <a:srgbClr val="FFCC66"/>
    <a:srgbClr val="FFCCFF"/>
    <a:srgbClr val="FFFFCC"/>
    <a:srgbClr val="FF3300"/>
    <a:srgbClr val="000000"/>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0" autoAdjust="0"/>
    <p:restoredTop sz="86221" autoAdjust="0"/>
  </p:normalViewPr>
  <p:slideViewPr>
    <p:cSldViewPr>
      <p:cViewPr varScale="1">
        <p:scale>
          <a:sx n="112" d="100"/>
          <a:sy n="112" d="100"/>
        </p:scale>
        <p:origin x="2273" y="45"/>
      </p:cViewPr>
      <p:guideLst>
        <p:guide orient="horz" pos="2160"/>
        <p:guide pos="2880"/>
      </p:guideLst>
    </p:cSldViewPr>
  </p:slideViewPr>
  <p:notesTextViewPr>
    <p:cViewPr>
      <p:scale>
        <a:sx n="100" d="100"/>
        <a:sy n="100" d="100"/>
      </p:scale>
      <p:origin x="0" y="0"/>
    </p:cViewPr>
  </p:notesTextViewPr>
  <p:sorterViewPr>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445" tIns="47723" rIns="95445" bIns="47723" numCol="1" anchor="t" anchorCtr="0" compatLnSpc="1">
            <a:prstTxWarp prst="textNoShape">
              <a:avLst/>
            </a:prstTxWarp>
          </a:bodyPr>
          <a:lstStyle>
            <a:lvl1pPr defTabSz="954088" eaLnBrk="1" hangingPunct="1">
              <a:defRPr sz="1300" smtClean="0"/>
            </a:lvl1pPr>
          </a:lstStyle>
          <a:p>
            <a:pPr>
              <a:defRPr/>
            </a:pPr>
            <a:endParaRPr lang="en-US" altLang="zh-TW"/>
          </a:p>
        </p:txBody>
      </p:sp>
      <p:sp>
        <p:nvSpPr>
          <p:cNvPr id="77827"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5445" tIns="47723" rIns="95445" bIns="47723" numCol="1" anchor="t" anchorCtr="0" compatLnSpc="1">
            <a:prstTxWarp prst="textNoShape">
              <a:avLst/>
            </a:prstTxWarp>
          </a:bodyPr>
          <a:lstStyle>
            <a:lvl1pPr algn="r" defTabSz="954088" eaLnBrk="1" hangingPunct="1">
              <a:defRPr sz="1300" smtClean="0"/>
            </a:lvl1pPr>
          </a:lstStyle>
          <a:p>
            <a:pPr>
              <a:defRPr/>
            </a:pPr>
            <a:endParaRPr lang="en-US" altLang="zh-TW"/>
          </a:p>
        </p:txBody>
      </p:sp>
      <p:sp>
        <p:nvSpPr>
          <p:cNvPr id="77828"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5445" tIns="47723" rIns="95445" bIns="47723" numCol="1" anchor="b" anchorCtr="0" compatLnSpc="1">
            <a:prstTxWarp prst="textNoShape">
              <a:avLst/>
            </a:prstTxWarp>
          </a:bodyPr>
          <a:lstStyle>
            <a:lvl1pPr defTabSz="954088" eaLnBrk="1" hangingPunct="1">
              <a:defRPr sz="1300" smtClean="0"/>
            </a:lvl1pPr>
          </a:lstStyle>
          <a:p>
            <a:pPr>
              <a:defRPr/>
            </a:pPr>
            <a:endParaRPr lang="en-US" altLang="zh-TW"/>
          </a:p>
        </p:txBody>
      </p:sp>
      <p:sp>
        <p:nvSpPr>
          <p:cNvPr id="77829"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5445" tIns="47723" rIns="95445" bIns="47723" numCol="1" anchor="b" anchorCtr="0" compatLnSpc="1">
            <a:prstTxWarp prst="textNoShape">
              <a:avLst/>
            </a:prstTxWarp>
          </a:bodyPr>
          <a:lstStyle>
            <a:lvl1pPr algn="r" defTabSz="954088" eaLnBrk="1" hangingPunct="1">
              <a:defRPr sz="1300" smtClean="0"/>
            </a:lvl1pPr>
          </a:lstStyle>
          <a:p>
            <a:pPr>
              <a:defRPr/>
            </a:pPr>
            <a:fld id="{6333D7D7-96D5-43D2-B9FF-029847BACBE0}" type="slidenum">
              <a:rPr lang="zh-TW" altLang="en-US"/>
              <a:pPr>
                <a:defRPr/>
              </a:pPr>
              <a:t>‹#›</a:t>
            </a:fld>
            <a:endParaRPr lang="en-US" altLang="zh-TW"/>
          </a:p>
        </p:txBody>
      </p:sp>
    </p:spTree>
    <p:extLst>
      <p:ext uri="{BB962C8B-B14F-4D97-AF65-F5344CB8AC3E}">
        <p14:creationId xmlns:p14="http://schemas.microsoft.com/office/powerpoint/2010/main" val="8617702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4021138" y="0"/>
            <a:ext cx="3076575" cy="511175"/>
          </a:xfrm>
          <a:prstGeom prst="rect">
            <a:avLst/>
          </a:prstGeom>
        </p:spPr>
        <p:txBody>
          <a:bodyPr vert="horz" lIns="91440" tIns="45720" rIns="91440" bIns="45720" rtlCol="0"/>
          <a:lstStyle>
            <a:lvl1pPr algn="r">
              <a:defRPr sz="1200" smtClean="0"/>
            </a:lvl1pPr>
          </a:lstStyle>
          <a:p>
            <a:pPr>
              <a:defRPr/>
            </a:pPr>
            <a:fld id="{51835FC3-0CCD-41D9-8211-0520989F7D4A}" type="datetimeFigureOut">
              <a:rPr lang="en-US"/>
              <a:pPr>
                <a:defRPr/>
              </a:pPr>
              <a:t>9/1/2026</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lIns="91440" tIns="45720" rIns="91440" bIns="45720" rtlCol="0" anchor="b"/>
          <a:lstStyle>
            <a:lvl1pPr algn="r">
              <a:defRPr sz="1200" smtClean="0"/>
            </a:lvl1pPr>
          </a:lstStyle>
          <a:p>
            <a:pPr>
              <a:defRPr/>
            </a:pPr>
            <a:fld id="{E8291208-7BAA-4880-8E76-DDA3D18841EF}" type="slidenum">
              <a:rPr lang="en-US"/>
              <a:pPr>
                <a:defRPr/>
              </a:pPr>
              <a:t>‹#›</a:t>
            </a:fld>
            <a:endParaRPr lang="en-US"/>
          </a:p>
        </p:txBody>
      </p:sp>
    </p:spTree>
    <p:extLst>
      <p:ext uri="{BB962C8B-B14F-4D97-AF65-F5344CB8AC3E}">
        <p14:creationId xmlns:p14="http://schemas.microsoft.com/office/powerpoint/2010/main" val="26341273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Why need sample prep</a:t>
            </a:r>
          </a:p>
          <a:p>
            <a:pPr marL="228600" indent="-228600">
              <a:buAutoNum type="arabicParenBoth"/>
            </a:pPr>
            <a:r>
              <a:rPr lang="en-HK" dirty="0"/>
              <a:t>Fit in and get in touch with the probe</a:t>
            </a:r>
          </a:p>
          <a:p>
            <a:pPr marL="228600" indent="-228600">
              <a:buAutoNum type="arabicParenBoth"/>
            </a:pPr>
            <a:r>
              <a:rPr lang="en-HK" dirty="0"/>
              <a:t>Clean sample avoiding artifact (vacuum)</a:t>
            </a:r>
          </a:p>
        </p:txBody>
      </p:sp>
      <p:sp>
        <p:nvSpPr>
          <p:cNvPr id="4" name="Slide Number Placeholder 3"/>
          <p:cNvSpPr>
            <a:spLocks noGrp="1"/>
          </p:cNvSpPr>
          <p:nvPr>
            <p:ph type="sldNum" sz="quarter" idx="5"/>
          </p:nvPr>
        </p:nvSpPr>
        <p:spPr/>
        <p:txBody>
          <a:bodyPr/>
          <a:lstStyle/>
          <a:p>
            <a:pPr>
              <a:defRPr/>
            </a:pPr>
            <a:fld id="{E8291208-7BAA-4880-8E76-DDA3D18841EF}" type="slidenum">
              <a:rPr lang="en-US" smtClean="0"/>
              <a:pPr>
                <a:defRPr/>
              </a:pPr>
              <a:t>4</a:t>
            </a:fld>
            <a:endParaRPr lang="en-US"/>
          </a:p>
        </p:txBody>
      </p:sp>
    </p:spTree>
    <p:extLst>
      <p:ext uri="{BB962C8B-B14F-4D97-AF65-F5344CB8AC3E}">
        <p14:creationId xmlns:p14="http://schemas.microsoft.com/office/powerpoint/2010/main" val="3749486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Importance: avoid artifacts introduction</a:t>
            </a:r>
          </a:p>
        </p:txBody>
      </p:sp>
      <p:sp>
        <p:nvSpPr>
          <p:cNvPr id="4" name="Slide Number Placeholder 3"/>
          <p:cNvSpPr>
            <a:spLocks noGrp="1"/>
          </p:cNvSpPr>
          <p:nvPr>
            <p:ph type="sldNum" sz="quarter" idx="5"/>
          </p:nvPr>
        </p:nvSpPr>
        <p:spPr/>
        <p:txBody>
          <a:bodyPr/>
          <a:lstStyle/>
          <a:p>
            <a:pPr>
              <a:defRPr/>
            </a:pPr>
            <a:fld id="{E8291208-7BAA-4880-8E76-DDA3D18841EF}" type="slidenum">
              <a:rPr lang="en-US" smtClean="0"/>
              <a:pPr>
                <a:defRPr/>
              </a:pPr>
              <a:t>5</a:t>
            </a:fld>
            <a:endParaRPr lang="en-US"/>
          </a:p>
        </p:txBody>
      </p:sp>
    </p:spTree>
    <p:extLst>
      <p:ext uri="{BB962C8B-B14F-4D97-AF65-F5344CB8AC3E}">
        <p14:creationId xmlns:p14="http://schemas.microsoft.com/office/powerpoint/2010/main" val="3135236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peacock tail feather features a central rachis (stem) from which barbs extend. Each barb bears numerous barbules, flat extensions about 20-30 micrometers wide with round indentations that scatter light.</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HK" sz="1200" b="0" i="0" kern="1200" dirty="0">
                <a:solidFill>
                  <a:schemeClr val="tx1"/>
                </a:solidFill>
                <a:effectLst/>
                <a:latin typeface="+mn-lt"/>
                <a:ea typeface="+mn-ea"/>
                <a:cs typeface="+mn-cs"/>
              </a:rPr>
              <a:t>Barbules consist of a thin medullary core (around 3 </a:t>
            </a:r>
            <a:r>
              <a:rPr lang="en-HK" sz="1200" b="0" i="0" kern="1200" dirty="0" err="1">
                <a:solidFill>
                  <a:schemeClr val="tx1"/>
                </a:solidFill>
                <a:effectLst/>
                <a:latin typeface="+mn-lt"/>
                <a:ea typeface="+mn-ea"/>
                <a:cs typeface="+mn-cs"/>
              </a:rPr>
              <a:t>micrometers</a:t>
            </a:r>
            <a:r>
              <a:rPr lang="en-HK" sz="1200" b="0" i="0" kern="1200" dirty="0">
                <a:solidFill>
                  <a:schemeClr val="tx1"/>
                </a:solidFill>
                <a:effectLst/>
                <a:latin typeface="+mn-lt"/>
                <a:ea typeface="+mn-ea"/>
                <a:cs typeface="+mn-cs"/>
              </a:rPr>
              <a:t>) encased in a keratin cortex containing a two-dimensional photonic crystal. This crystal comprises an ordered lattice of melanin rodlets (≈100-120 nm diameter, 0.7 </a:t>
            </a:r>
            <a:r>
              <a:rPr lang="el-GR" sz="1200" b="0" i="0" kern="1200" dirty="0">
                <a:solidFill>
                  <a:schemeClr val="tx1"/>
                </a:solidFill>
                <a:effectLst/>
                <a:latin typeface="+mn-lt"/>
                <a:ea typeface="+mn-ea"/>
                <a:cs typeface="+mn-cs"/>
              </a:rPr>
              <a:t>μ</a:t>
            </a:r>
            <a:r>
              <a:rPr lang="en-HK" sz="1200" b="0" i="0" kern="1200" dirty="0">
                <a:solidFill>
                  <a:schemeClr val="tx1"/>
                </a:solidFill>
                <a:effectLst/>
                <a:latin typeface="+mn-lt"/>
                <a:ea typeface="+mn-ea"/>
                <a:cs typeface="+mn-cs"/>
              </a:rPr>
              <a:t>m long) embedded in keratin, forming a square or rectangular array with lattice constants of 140-165 nm </a:t>
            </a:r>
            <a:endParaRPr lang="en-HK" dirty="0"/>
          </a:p>
        </p:txBody>
      </p:sp>
      <p:sp>
        <p:nvSpPr>
          <p:cNvPr id="4" name="Slide Number Placeholder 3"/>
          <p:cNvSpPr>
            <a:spLocks noGrp="1"/>
          </p:cNvSpPr>
          <p:nvPr>
            <p:ph type="sldNum" sz="quarter" idx="5"/>
          </p:nvPr>
        </p:nvSpPr>
        <p:spPr/>
        <p:txBody>
          <a:bodyPr/>
          <a:lstStyle/>
          <a:p>
            <a:pPr>
              <a:defRPr/>
            </a:pPr>
            <a:fld id="{E8291208-7BAA-4880-8E76-DDA3D18841EF}" type="slidenum">
              <a:rPr lang="en-US" smtClean="0"/>
              <a:pPr>
                <a:defRPr/>
              </a:pPr>
              <a:t>13</a:t>
            </a:fld>
            <a:endParaRPr lang="en-US"/>
          </a:p>
        </p:txBody>
      </p:sp>
    </p:spTree>
    <p:extLst>
      <p:ext uri="{BB962C8B-B14F-4D97-AF65-F5344CB8AC3E}">
        <p14:creationId xmlns:p14="http://schemas.microsoft.com/office/powerpoint/2010/main" val="1521707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a:defRPr/>
            </a:pPr>
            <a:fld id="{E8291208-7BAA-4880-8E76-DDA3D18841EF}" type="slidenum">
              <a:rPr lang="en-US" smtClean="0"/>
              <a:pPr>
                <a:defRPr/>
              </a:pPr>
              <a:t>26</a:t>
            </a:fld>
            <a:endParaRPr lang="en-US"/>
          </a:p>
        </p:txBody>
      </p:sp>
    </p:spTree>
    <p:extLst>
      <p:ext uri="{BB962C8B-B14F-4D97-AF65-F5344CB8AC3E}">
        <p14:creationId xmlns:p14="http://schemas.microsoft.com/office/powerpoint/2010/main" val="3593664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a:defRPr/>
            </a:pPr>
            <a:fld id="{E8291208-7BAA-4880-8E76-DDA3D18841EF}" type="slidenum">
              <a:rPr lang="en-US" smtClean="0"/>
              <a:pPr>
                <a:defRPr/>
              </a:pPr>
              <a:t>29</a:t>
            </a:fld>
            <a:endParaRPr lang="en-US"/>
          </a:p>
        </p:txBody>
      </p:sp>
    </p:spTree>
    <p:extLst>
      <p:ext uri="{BB962C8B-B14F-4D97-AF65-F5344CB8AC3E}">
        <p14:creationId xmlns:p14="http://schemas.microsoft.com/office/powerpoint/2010/main" val="1884325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635EC57-0577-F72C-B7D0-9C90E6F5B2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F977279-0DB7-4DC1-A4FF-F50CBDB42805}" type="slidenum">
              <a:rPr lang="en-US" altLang="zh-CN"/>
              <a:pPr eaLnBrk="1" hangingPunct="1"/>
              <a:t>74</a:t>
            </a:fld>
            <a:endParaRPr lang="en-US" altLang="zh-CN"/>
          </a:p>
        </p:txBody>
      </p:sp>
      <p:sp>
        <p:nvSpPr>
          <p:cNvPr id="46083" name="Rectangle 2">
            <a:extLst>
              <a:ext uri="{FF2B5EF4-FFF2-40B4-BE49-F238E27FC236}">
                <a16:creationId xmlns:a16="http://schemas.microsoft.com/office/drawing/2014/main" id="{1DB1442C-7931-437D-0368-6A19CDAB0D6D}"/>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5A0A88AD-59BD-E4D0-D255-1F62F1596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wire will become hotter and hotter as the</a:t>
            </a:r>
          </a:p>
          <a:p>
            <a:pPr eaLnBrk="1" hangingPunct="1"/>
            <a:r>
              <a:rPr lang="en-US" altLang="zh-CN">
                <a:latin typeface="Arial" panose="020B0604020202020204" pitchFamily="34" charset="0"/>
              </a:rPr>
              <a:t>pressure drops and fewer and fewer molecules are available to transfer heat</a:t>
            </a:r>
          </a:p>
          <a:p>
            <a:pPr eaLnBrk="1" hangingPunct="1"/>
            <a:r>
              <a:rPr lang="en-US" altLang="zh-CN">
                <a:latin typeface="Arial" panose="020B0604020202020204" pitchFamily="34" charset="0"/>
              </a:rPr>
              <a:t>away from the wire.</a:t>
            </a:r>
          </a:p>
          <a:p>
            <a:pPr eaLnBrk="1" hangingPunct="1"/>
            <a:endParaRPr lang="en-US" altLang="zh-CN">
              <a:latin typeface="Arial" panose="020B0604020202020204" pitchFamily="34" charset="0"/>
            </a:endParaRPr>
          </a:p>
          <a:p>
            <a:pPr eaLnBrk="1" hangingPunct="1"/>
            <a:r>
              <a:rPr lang="en-US" altLang="zh-CN">
                <a:latin typeface="Arial" panose="020B0604020202020204" pitchFamily="34" charset="0"/>
              </a:rPr>
              <a:t>pressure range of about 10-3 – 1 torr. Below this range, heat transfer is mostly by</a:t>
            </a:r>
          </a:p>
          <a:p>
            <a:pPr eaLnBrk="1" hangingPunct="1"/>
            <a:r>
              <a:rPr lang="en-US" altLang="zh-CN">
                <a:latin typeface="Arial" panose="020B0604020202020204" pitchFamily="34" charset="0"/>
              </a:rPr>
              <a:t>radiation from the wire’s surface and mostly by thermal convection above it.</a:t>
            </a:r>
          </a:p>
          <a:p>
            <a:pPr eaLnBrk="1" hangingPunct="1"/>
            <a:r>
              <a:rPr lang="en-US" altLang="zh-CN">
                <a:latin typeface="Arial" panose="020B0604020202020204" pitchFamily="34" charset="0"/>
              </a:rPr>
              <a:t>Thermal conductivity gauges covering this range have been in use for many</a:t>
            </a:r>
          </a:p>
          <a:p>
            <a:pPr eaLnBrk="1" hangingPunct="1"/>
            <a:r>
              <a:rPr lang="en-US" altLang="zh-CN">
                <a:latin typeface="Arial" panose="020B0604020202020204" pitchFamily="34" charset="0"/>
              </a:rPr>
              <a:t>years that fall into two main groups: thermocouple gauges and Pirani gauges.</a:t>
            </a:r>
          </a:p>
          <a:p>
            <a:pPr eaLnBrk="1" hangingPunct="1"/>
            <a:endParaRPr lang="en-US" altLang="zh-CN">
              <a:latin typeface="Arial" panose="020B0604020202020204" pitchFamily="34" charset="0"/>
            </a:endParaRPr>
          </a:p>
          <a:p>
            <a:pPr eaLnBrk="1" hangingPunct="1"/>
            <a:r>
              <a:rPr lang="en-US" altLang="zh-CN">
                <a:latin typeface="Arial" panose="020B0604020202020204" pitchFamily="34" charset="0"/>
              </a:rPr>
              <a:t>Pirani gauges also take advantage of the change in temperature of a heated</a:t>
            </a:r>
          </a:p>
          <a:p>
            <a:pPr eaLnBrk="1" hangingPunct="1"/>
            <a:r>
              <a:rPr lang="en-US" altLang="zh-CN">
                <a:latin typeface="Arial" panose="020B0604020202020204" pitchFamily="34" charset="0"/>
              </a:rPr>
              <a:t>wire, but unlike thermocouple gauges, they don’t measure the wire temperature</a:t>
            </a:r>
          </a:p>
          <a:p>
            <a:pPr eaLnBrk="1" hangingPunct="1"/>
            <a:r>
              <a:rPr lang="en-US" altLang="zh-CN">
                <a:latin typeface="Arial" panose="020B0604020202020204" pitchFamily="34" charset="0"/>
              </a:rPr>
              <a:t>directly. Instead they make use of the fact that the resistance of a metal wire</a:t>
            </a:r>
          </a:p>
          <a:p>
            <a:pPr eaLnBrk="1" hangingPunct="1"/>
            <a:r>
              <a:rPr lang="en-US" altLang="zh-CN">
                <a:latin typeface="Arial" panose="020B0604020202020204" pitchFamily="34" charset="0"/>
              </a:rPr>
              <a:t>changes with the wire’s temperature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新細明體" pitchFamily="18" charset="-12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grpSp>
      </p:grpSp>
      <p:sp>
        <p:nvSpPr>
          <p:cNvPr id="2254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ltLang="zh-TW"/>
              <a:t>Click to edit Master title style</a:t>
            </a:r>
          </a:p>
        </p:txBody>
      </p:sp>
      <p:sp>
        <p:nvSpPr>
          <p:cNvPr id="2254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ltLang="zh-TW"/>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smtClean="0"/>
            </a:lvl1pPr>
          </a:lstStyle>
          <a:p>
            <a:pPr>
              <a:defRPr/>
            </a:pPr>
            <a:endParaRPr lang="en-US" altLang="zh-TW"/>
          </a:p>
        </p:txBody>
      </p:sp>
      <p:sp>
        <p:nvSpPr>
          <p:cNvPr id="19" name="Rectangle 17"/>
          <p:cNvSpPr>
            <a:spLocks noGrp="1" noChangeArrowheads="1"/>
          </p:cNvSpPr>
          <p:nvPr>
            <p:ph type="ftr" sz="quarter" idx="11"/>
          </p:nvPr>
        </p:nvSpPr>
        <p:spPr/>
        <p:txBody>
          <a:bodyPr/>
          <a:lstStyle>
            <a:lvl1pPr>
              <a:defRPr smtClean="0"/>
            </a:lvl1pPr>
          </a:lstStyle>
          <a:p>
            <a:pPr>
              <a:defRPr/>
            </a:pPr>
            <a:endParaRPr lang="en-US" altLang="zh-TW"/>
          </a:p>
        </p:txBody>
      </p:sp>
      <p:sp>
        <p:nvSpPr>
          <p:cNvPr id="20" name="Rectangle 18"/>
          <p:cNvSpPr>
            <a:spLocks noGrp="1" noChangeArrowheads="1"/>
          </p:cNvSpPr>
          <p:nvPr>
            <p:ph type="sldNum" sz="quarter" idx="12"/>
          </p:nvPr>
        </p:nvSpPr>
        <p:spPr/>
        <p:txBody>
          <a:bodyPr/>
          <a:lstStyle>
            <a:lvl1pPr>
              <a:defRPr smtClean="0"/>
            </a:lvl1pPr>
          </a:lstStyle>
          <a:p>
            <a:pPr>
              <a:defRPr/>
            </a:pPr>
            <a:fld id="{CA2ED0BA-F5EF-4BE6-89D3-02A1F7048062}" type="slidenum">
              <a:rPr lang="zh-TW" altLang="en-US"/>
              <a:pPr>
                <a:defRPr/>
              </a:pPr>
              <a:t>‹#›</a:t>
            </a:fld>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E55BAAB7-EAF1-41E7-8FED-7A8EA7A6CEC2}"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23A70D2F-B9E1-4980-899E-4DD5767549ED}"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0F4AE8DD-2570-4517-AFA6-8946AF576D52}"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3"/>
          <p:cNvSpPr>
            <a:spLocks noGrp="1" noChangeArrowheads="1"/>
          </p:cNvSpPr>
          <p:nvPr>
            <p:ph type="sldNum" sz="quarter" idx="11"/>
          </p:nvPr>
        </p:nvSpPr>
        <p:spPr>
          <a:ln/>
        </p:spPr>
        <p:txBody>
          <a:bodyPr/>
          <a:lstStyle>
            <a:lvl1pPr>
              <a:defRPr/>
            </a:lvl1pPr>
          </a:lstStyle>
          <a:p>
            <a:pPr>
              <a:defRPr/>
            </a:pPr>
            <a:fld id="{4F622A81-DFD0-443A-AA89-B2908F6D8EAB}" type="slidenum">
              <a:rPr lang="zh-TW" altLang="en-US"/>
              <a:pPr>
                <a:defRPr/>
              </a:pPr>
              <a:t>‹#›</a:t>
            </a:fld>
            <a:endParaRPr lang="en-US" altLang="zh-TW"/>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3"/>
          <p:cNvSpPr>
            <a:spLocks noGrp="1" noChangeArrowheads="1"/>
          </p:cNvSpPr>
          <p:nvPr>
            <p:ph type="sldNum" sz="quarter" idx="11"/>
          </p:nvPr>
        </p:nvSpPr>
        <p:spPr>
          <a:ln/>
        </p:spPr>
        <p:txBody>
          <a:bodyPr/>
          <a:lstStyle>
            <a:lvl1pPr>
              <a:defRPr/>
            </a:lvl1pPr>
          </a:lstStyle>
          <a:p>
            <a:pPr>
              <a:defRPr/>
            </a:pPr>
            <a:fld id="{3D60978E-1DC8-4276-B0DF-A2670B984952}" type="slidenum">
              <a:rPr lang="zh-TW" altLang="en-US"/>
              <a:pPr>
                <a:defRPr/>
              </a:pPr>
              <a:t>‹#›</a:t>
            </a:fld>
            <a:endParaRPr lang="en-US" altLang="zh-TW"/>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3"/>
          <p:cNvSpPr>
            <a:spLocks noGrp="1" noChangeArrowheads="1"/>
          </p:cNvSpPr>
          <p:nvPr>
            <p:ph type="sldNum" sz="quarter" idx="11"/>
          </p:nvPr>
        </p:nvSpPr>
        <p:spPr>
          <a:ln/>
        </p:spPr>
        <p:txBody>
          <a:bodyPr/>
          <a:lstStyle>
            <a:lvl1pPr>
              <a:defRPr/>
            </a:lvl1pPr>
          </a:lstStyle>
          <a:p>
            <a:pPr>
              <a:defRPr/>
            </a:pPr>
            <a:fld id="{5C194D1D-C057-4136-B4EC-30B00CAA371F}" type="slidenum">
              <a:rPr lang="zh-TW" altLang="en-US"/>
              <a:pPr>
                <a:defRPr/>
              </a:pPr>
              <a:t>‹#›</a:t>
            </a:fld>
            <a:endParaRPr lang="en-US" altLang="zh-TW"/>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1B6A7F67-CCEA-4E12-AF8A-DBB492E0C820}"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88A0DF93-14AD-4F8D-BD48-7F54CD0BC0B8}"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BD6470AC-5E30-4525-AEBA-99873728FF4A}"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A7F0C10D-19F0-4E1A-8DB9-A7E0B857847F}"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81F47000-FA10-4168-B166-CBB11CC15560}"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smtClean="0">
                <a:ea typeface="新細明體" pitchFamily="18" charset="-120"/>
              </a:defRPr>
            </a:lvl1pPr>
          </a:lstStyle>
          <a:p>
            <a:pPr>
              <a:defRPr/>
            </a:pPr>
            <a:endParaRPr lang="en-US" altLang="zh-TW"/>
          </a:p>
        </p:txBody>
      </p:sp>
      <p:sp>
        <p:nvSpPr>
          <p:cNvPr id="2150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itchFamily="34" charset="0"/>
                <a:ea typeface="新細明體" pitchFamily="18" charset="-120"/>
              </a:defRPr>
            </a:lvl1pPr>
          </a:lstStyle>
          <a:p>
            <a:pPr>
              <a:defRPr/>
            </a:pPr>
            <a:fld id="{D5E38A19-87CA-4451-A641-80DBB2AAA062}" type="slidenum">
              <a:rPr lang="zh-TW" altLang="en-US"/>
              <a:pPr>
                <a:defRPr/>
              </a:pPr>
              <a:t>‹#›</a:t>
            </a:fld>
            <a:endParaRPr lang="en-US" altLang="zh-TW"/>
          </a:p>
        </p:txBody>
      </p:sp>
      <p:grpSp>
        <p:nvGrpSpPr>
          <p:cNvPr id="7172" name="Group 4"/>
          <p:cNvGrpSpPr>
            <a:grpSpLocks/>
          </p:cNvGrpSpPr>
          <p:nvPr/>
        </p:nvGrpSpPr>
        <p:grpSpPr bwMode="auto">
          <a:xfrm>
            <a:off x="0" y="0"/>
            <a:ext cx="9144000" cy="914400"/>
            <a:chOff x="0" y="0"/>
            <a:chExt cx="5760" cy="344"/>
          </a:xfrm>
        </p:grpSpPr>
        <p:sp>
          <p:nvSpPr>
            <p:cNvPr id="2150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新細明體" pitchFamily="18" charset="-120"/>
              </a:endParaRPr>
            </a:p>
          </p:txBody>
        </p:sp>
        <p:sp>
          <p:nvSpPr>
            <p:cNvPr id="2151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21511"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2"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3"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sp>
          <p:nvSpPr>
            <p:cNvPr id="21514"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5"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21516"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sp>
          <p:nvSpPr>
            <p:cNvPr id="21517"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grpSp>
      <p:sp>
        <p:nvSpPr>
          <p:cNvPr id="7173"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7174"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2152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ea typeface="新細明體" pitchFamily="18" charset="-120"/>
              </a:defRPr>
            </a:lvl1pPr>
          </a:lstStyle>
          <a:p>
            <a:pPr>
              <a:defRPr/>
            </a:pPr>
            <a:endParaRPr lang="en-US" altLang="zh-TW"/>
          </a:p>
        </p:txBody>
      </p:sp>
    </p:spTree>
  </p:cSld>
  <p:clrMap bg1="lt1" tx1="dk1" bg2="lt2" tx2="dk2" accent1="accent1" accent2="accent2" accent3="accent3" accent4="accent4" accent5="accent5" accent6="accent6" hlink="hlink" folHlink="folHlink"/>
  <p:sldLayoutIdLst>
    <p:sldLayoutId id="2147483690"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www.youtube.com/watch?v=MxjppY1iA4A"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29.wmf"/><Relationship Id="rId4" Type="http://schemas.openxmlformats.org/officeDocument/2006/relationships/oleObject" Target="../embeddings/oleObject8.bin"/><Relationship Id="rId9" Type="http://schemas.openxmlformats.org/officeDocument/2006/relationships/image" Target="../media/image31.wmf"/></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image" Target="../media/image33.wmf"/><Relationship Id="rId4" Type="http://schemas.openxmlformats.org/officeDocument/2006/relationships/oleObject" Target="../embeddings/oleObject12.bin"/></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37.wmf"/><Relationship Id="rId4"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45.wmf"/><Relationship Id="rId3" Type="http://schemas.openxmlformats.org/officeDocument/2006/relationships/image" Target="../media/image40.wmf"/><Relationship Id="rId7" Type="http://schemas.openxmlformats.org/officeDocument/2006/relationships/image" Target="../media/image42.w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43.wmf"/></Relationships>
</file>

<file path=ppt/slides/_rels/slide43.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7.png"/><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image" Target="../media/image45.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oleObject" Target="../embeddings/oleObject24.bin"/><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oleObject" Target="../embeddings/oleObject25.bin"/><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oleObject" Target="../embeddings/oleObject26.bin"/><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oleObject" Target="../embeddings/oleObject27.bin"/><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oleObject" Target="../embeddings/oleObject28.bin"/><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oleObject" Target="../embeddings/oleObject29.bin"/></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oleObject" Target="../embeddings/oleObject30.bin"/><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image" Target="../media/image78.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6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oleObject" Target="../embeddings/oleObject34.bin"/><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oleObject" Target="../embeddings/oleObject35.bin"/><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oleObject" Target="../embeddings/oleObject36.bin"/></Relationships>
</file>

<file path=ppt/slides/_rels/slide6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oleObject" Target="../embeddings/oleObject37.bin"/><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7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oleObject" Target="../embeddings/oleObject38.bin"/><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7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jpeg"/><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oleObject" Target="../embeddings/oleObject3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zh-TW" sz="4800" dirty="0">
                <a:solidFill>
                  <a:srgbClr val="FFFFCC"/>
                </a:solidFill>
                <a:latin typeface="Georgia" panose="02040502050405020303" pitchFamily="18" charset="0"/>
                <a:ea typeface="新細明體" pitchFamily="18" charset="-120"/>
              </a:rPr>
              <a:t>AMSC 5710</a:t>
            </a:r>
            <a:br>
              <a:rPr lang="en-US" altLang="zh-TW" sz="4800" dirty="0">
                <a:latin typeface="Georgia" panose="02040502050405020303" pitchFamily="18" charset="0"/>
                <a:ea typeface="新細明體" pitchFamily="18" charset="-120"/>
              </a:rPr>
            </a:br>
            <a:r>
              <a:rPr lang="en-US" altLang="zh-TW" sz="4000" dirty="0">
                <a:latin typeface="Georgia" panose="02040502050405020303" pitchFamily="18" charset="0"/>
              </a:rPr>
              <a:t>Advanced Materials Characterization</a:t>
            </a:r>
            <a:endParaRPr lang="en-US" altLang="zh-TW" sz="4000" dirty="0">
              <a:latin typeface="Georgia" panose="02040502050405020303" pitchFamily="18" charset="0"/>
              <a:ea typeface="新細明體" pitchFamily="18" charset="-120"/>
            </a:endParaRPr>
          </a:p>
        </p:txBody>
      </p:sp>
      <p:sp>
        <p:nvSpPr>
          <p:cNvPr id="9219" name="Rectangle 3"/>
          <p:cNvSpPr>
            <a:spLocks noGrp="1" noChangeArrowheads="1"/>
          </p:cNvSpPr>
          <p:nvPr>
            <p:ph type="subTitle" idx="1"/>
          </p:nvPr>
        </p:nvSpPr>
        <p:spPr/>
        <p:txBody>
          <a:bodyPr/>
          <a:lstStyle/>
          <a:p>
            <a:pPr eaLnBrk="1" hangingPunct="1"/>
            <a:r>
              <a:rPr lang="en-US" altLang="zh-CN" dirty="0">
                <a:latin typeface="Georgia" panose="02040502050405020303" pitchFamily="18" charset="0"/>
                <a:ea typeface="新細明體" pitchFamily="18" charset="-120"/>
              </a:rPr>
              <a:t>S</a:t>
            </a:r>
            <a:r>
              <a:rPr lang="en-US" altLang="zh-TW" dirty="0">
                <a:latin typeface="Georgia" panose="02040502050405020303" pitchFamily="18" charset="0"/>
                <a:ea typeface="新細明體" pitchFamily="18" charset="-120"/>
              </a:rPr>
              <a:t>ample preparation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eorgia" panose="02040502050405020303" pitchFamily="18" charset="0"/>
              </a:rPr>
              <a:t>Contents</a:t>
            </a:r>
          </a:p>
        </p:txBody>
      </p:sp>
      <p:sp>
        <p:nvSpPr>
          <p:cNvPr id="3" name="Content Placeholder 2"/>
          <p:cNvSpPr>
            <a:spLocks noGrp="1"/>
          </p:cNvSpPr>
          <p:nvPr>
            <p:ph idx="1"/>
          </p:nvPr>
        </p:nvSpPr>
        <p:spPr/>
        <p:txBody>
          <a:bodyPr/>
          <a:lstStyle/>
          <a:p>
            <a:pPr>
              <a:lnSpc>
                <a:spcPct val="130000"/>
              </a:lnSpc>
              <a:defRPr/>
            </a:pPr>
            <a:r>
              <a:rPr lang="en-US" altLang="zh-TW" dirty="0">
                <a:latin typeface="Georgia" panose="02040502050405020303" pitchFamily="18" charset="0"/>
                <a:ea typeface="新細明體" pitchFamily="18" charset="-120"/>
              </a:rPr>
              <a:t>Sample preparation: </a:t>
            </a:r>
            <a:r>
              <a:rPr lang="en-US" altLang="zh-TW" dirty="0">
                <a:solidFill>
                  <a:srgbClr val="006666"/>
                </a:solidFill>
                <a:effectLst>
                  <a:outerShdw blurRad="38100" dist="38100" dir="2700000" algn="tl">
                    <a:srgbClr val="C0C0C0"/>
                  </a:outerShdw>
                </a:effectLst>
                <a:latin typeface="Georgia" panose="02040502050405020303" pitchFamily="18" charset="0"/>
                <a:ea typeface="新細明體" pitchFamily="18" charset="-120"/>
              </a:rPr>
              <a:t>An analytical perspective</a:t>
            </a:r>
          </a:p>
          <a:p>
            <a:pPr>
              <a:lnSpc>
                <a:spcPct val="130000"/>
              </a:lnSpc>
            </a:pPr>
            <a:r>
              <a:rPr lang="en-US" altLang="zh-TW" dirty="0">
                <a:latin typeface="Georgia" panose="02040502050405020303" pitchFamily="18" charset="0"/>
                <a:ea typeface="新細明體" pitchFamily="18" charset="-120"/>
              </a:rPr>
              <a:t>Examples: </a:t>
            </a:r>
            <a:r>
              <a:rPr lang="en-US" altLang="zh-TW" dirty="0">
                <a:solidFill>
                  <a:srgbClr val="006666"/>
                </a:solidFill>
                <a:latin typeface="Georgia" panose="02040502050405020303" pitchFamily="18" charset="0"/>
                <a:ea typeface="新細明體" pitchFamily="18" charset="-120"/>
              </a:rPr>
              <a:t>for specific characterization</a:t>
            </a:r>
          </a:p>
          <a:p>
            <a:pPr>
              <a:lnSpc>
                <a:spcPct val="130000"/>
              </a:lnSpc>
            </a:pPr>
            <a:r>
              <a:rPr lang="en-US" altLang="zh-TW" dirty="0">
                <a:latin typeface="Georgia" panose="02040502050405020303" pitchFamily="18" charset="0"/>
                <a:ea typeface="新細明體" pitchFamily="18" charset="-120"/>
              </a:rPr>
              <a:t>Creating vacuum environment</a:t>
            </a:r>
          </a:p>
          <a:p>
            <a:endParaRPr lang="en-US" dirty="0">
              <a:latin typeface="Georgia" panose="02040502050405020303" pitchFamily="18" charset="0"/>
            </a:endParaRPr>
          </a:p>
        </p:txBody>
      </p:sp>
      <p:sp>
        <p:nvSpPr>
          <p:cNvPr id="4" name="Slide Number Placeholder 3">
            <a:extLst>
              <a:ext uri="{FF2B5EF4-FFF2-40B4-BE49-F238E27FC236}">
                <a16:creationId xmlns:a16="http://schemas.microsoft.com/office/drawing/2014/main" id="{F5F1EC6A-9036-48D8-8930-22DEBA9AA6D3}"/>
              </a:ext>
            </a:extLst>
          </p:cNvPr>
          <p:cNvSpPr>
            <a:spLocks noGrp="1"/>
          </p:cNvSpPr>
          <p:nvPr>
            <p:ph type="sldNum" sz="quarter" idx="11"/>
          </p:nvPr>
        </p:nvSpPr>
        <p:spPr/>
        <p:txBody>
          <a:bodyPr/>
          <a:lstStyle/>
          <a:p>
            <a:pPr>
              <a:defRPr/>
            </a:pPr>
            <a:fld id="{E55BAAB7-EAF1-41E7-8FED-7A8EA7A6CEC2}" type="slidenum">
              <a:rPr lang="zh-TW" altLang="en-US" smtClean="0">
                <a:latin typeface="Georgia" panose="02040502050405020303" pitchFamily="18" charset="0"/>
              </a:rPr>
              <a:pPr>
                <a:defRPr/>
              </a:pPr>
              <a:t>2</a:t>
            </a:fld>
            <a:endParaRPr lang="en-US" altLang="zh-TW">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4"/>
          <p:cNvSpPr>
            <a:spLocks noChangeArrowheads="1"/>
          </p:cNvSpPr>
          <p:nvPr/>
        </p:nvSpPr>
        <p:spPr bwMode="auto">
          <a:xfrm>
            <a:off x="1600200" y="2438400"/>
            <a:ext cx="6324600" cy="2492990"/>
          </a:xfrm>
          <a:prstGeom prst="rect">
            <a:avLst/>
          </a:prstGeom>
          <a:noFill/>
          <a:ln w="9525">
            <a:noFill/>
            <a:miter lim="800000"/>
            <a:headEnd/>
            <a:tailEnd/>
          </a:ln>
          <a:effectLst/>
        </p:spPr>
        <p:txBody>
          <a:bodyPr>
            <a:spAutoFit/>
          </a:bodyPr>
          <a:lstStyle/>
          <a:p>
            <a:pPr algn="ctr">
              <a:lnSpc>
                <a:spcPct val="130000"/>
              </a:lnSpc>
              <a:defRPr/>
            </a:pPr>
            <a:r>
              <a:rPr lang="en-US" altLang="zh-TW" sz="4000">
                <a:latin typeface="Times New Roman" pitchFamily="18" charset="0"/>
                <a:ea typeface="新細明體" pitchFamily="18" charset="-120"/>
              </a:rPr>
              <a:t>Sample pr</a:t>
            </a:r>
            <a:r>
              <a:rPr lang="en-US" altLang="zh-CN" sz="4000">
                <a:latin typeface="Times New Roman" pitchFamily="18" charset="0"/>
                <a:ea typeface="新細明體" pitchFamily="18" charset="-120"/>
              </a:rPr>
              <a:t>e</a:t>
            </a:r>
            <a:r>
              <a:rPr lang="en-US" altLang="zh-TW" sz="4000">
                <a:latin typeface="Times New Roman" pitchFamily="18" charset="0"/>
                <a:ea typeface="新細明體" pitchFamily="18" charset="-120"/>
              </a:rPr>
              <a:t>paration</a:t>
            </a:r>
            <a:r>
              <a:rPr lang="en-US" altLang="zh-TW" sz="4000" dirty="0">
                <a:latin typeface="Times New Roman" pitchFamily="18" charset="0"/>
                <a:ea typeface="新細明體" pitchFamily="18" charset="-120"/>
              </a:rPr>
              <a:t>:</a:t>
            </a:r>
          </a:p>
          <a:p>
            <a:pPr algn="ctr">
              <a:lnSpc>
                <a:spcPct val="130000"/>
              </a:lnSpc>
              <a:defRPr/>
            </a:pPr>
            <a:r>
              <a:rPr lang="en-US" altLang="zh-TW" sz="4000" dirty="0">
                <a:solidFill>
                  <a:srgbClr val="006666"/>
                </a:solidFill>
                <a:effectLst>
                  <a:outerShdw blurRad="38100" dist="38100" dir="2700000" algn="tl">
                    <a:srgbClr val="C0C0C0"/>
                  </a:outerShdw>
                </a:effectLst>
                <a:latin typeface="Times New Roman" pitchFamily="18" charset="0"/>
                <a:ea typeface="新細明體" pitchFamily="18" charset="-120"/>
              </a:rPr>
              <a:t>An analytical perspective</a:t>
            </a:r>
          </a:p>
          <a:p>
            <a:pPr algn="ctr">
              <a:lnSpc>
                <a:spcPct val="130000"/>
              </a:lnSpc>
              <a:defRPr/>
            </a:pPr>
            <a:endParaRPr lang="en-US" altLang="zh-TW" sz="4000" dirty="0">
              <a:solidFill>
                <a:srgbClr val="006666"/>
              </a:solidFill>
              <a:effectLst>
                <a:outerShdw blurRad="38100" dist="38100" dir="2700000" algn="tl">
                  <a:srgbClr val="C0C0C0"/>
                </a:outerShdw>
              </a:effectLst>
              <a:latin typeface="Times New Roman" pitchFamily="18" charset="0"/>
              <a:ea typeface="新細明體" pitchFamily="18" charset="-120"/>
            </a:endParaRPr>
          </a:p>
        </p:txBody>
      </p:sp>
      <p:sp>
        <p:nvSpPr>
          <p:cNvPr id="11267"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PHYS 5350 techniques in materials characterization</a:t>
            </a:r>
          </a:p>
        </p:txBody>
      </p:sp>
      <p:sp>
        <p:nvSpPr>
          <p:cNvPr id="2" name="Slide Number Placeholder 1">
            <a:extLst>
              <a:ext uri="{FF2B5EF4-FFF2-40B4-BE49-F238E27FC236}">
                <a16:creationId xmlns:a16="http://schemas.microsoft.com/office/drawing/2014/main" id="{D608750F-0344-4CC3-B865-FD68CDF6DDB6}"/>
              </a:ext>
            </a:extLst>
          </p:cNvPr>
          <p:cNvSpPr>
            <a:spLocks noGrp="1"/>
          </p:cNvSpPr>
          <p:nvPr>
            <p:ph type="sldNum" sz="quarter" idx="11"/>
          </p:nvPr>
        </p:nvSpPr>
        <p:spPr/>
        <p:txBody>
          <a:bodyPr/>
          <a:lstStyle/>
          <a:p>
            <a:pPr>
              <a:defRPr/>
            </a:pPr>
            <a:fld id="{5C194D1D-C057-4136-B4EC-30B00CAA371F}" type="slidenum">
              <a:rPr lang="zh-TW" altLang="en-US" smtClean="0"/>
              <a:pPr>
                <a:defRPr/>
              </a:pPr>
              <a:t>3</a:t>
            </a:fld>
            <a:endParaRPr lang="en-US" altLang="zh-TW"/>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76275" y="209550"/>
            <a:ext cx="8229600" cy="457200"/>
          </a:xfrm>
        </p:spPr>
        <p:txBody>
          <a:bodyPr/>
          <a:lstStyle/>
          <a:p>
            <a:pPr eaLnBrk="1" hangingPunct="1"/>
            <a:r>
              <a:rPr lang="en-US" altLang="zh-TW" sz="1800">
                <a:solidFill>
                  <a:schemeClr val="bg1"/>
                </a:solidFill>
                <a:ea typeface="新細明體" pitchFamily="18" charset="-120"/>
              </a:rPr>
              <a:t>Sample preparation: An analytical perspective</a:t>
            </a:r>
          </a:p>
        </p:txBody>
      </p:sp>
      <p:sp>
        <p:nvSpPr>
          <p:cNvPr id="13315" name="Text Box 41"/>
          <p:cNvSpPr txBox="1">
            <a:spLocks noChangeArrowheads="1"/>
          </p:cNvSpPr>
          <p:nvPr/>
        </p:nvSpPr>
        <p:spPr bwMode="auto">
          <a:xfrm>
            <a:off x="2088251" y="1170538"/>
            <a:ext cx="5405647" cy="523220"/>
          </a:xfrm>
          <a:prstGeom prst="rect">
            <a:avLst/>
          </a:prstGeom>
          <a:noFill/>
          <a:ln w="9525">
            <a:noFill/>
            <a:miter lim="800000"/>
            <a:headEnd/>
            <a:tailEnd/>
          </a:ln>
        </p:spPr>
        <p:txBody>
          <a:bodyPr wrap="none">
            <a:spAutoFit/>
          </a:bodyPr>
          <a:lstStyle/>
          <a:p>
            <a:r>
              <a:rPr lang="en-US" altLang="zh-CN" sz="2800" dirty="0">
                <a:ea typeface="新細明體" pitchFamily="18" charset="-120"/>
              </a:rPr>
              <a:t>Motivation of sample preparation</a:t>
            </a:r>
            <a:endParaRPr lang="en-US" altLang="zh-TW" sz="2800" dirty="0">
              <a:ea typeface="新細明體" pitchFamily="18" charset="-120"/>
            </a:endParaRPr>
          </a:p>
        </p:txBody>
      </p:sp>
      <p:sp>
        <p:nvSpPr>
          <p:cNvPr id="13316" name="Text Box 42"/>
          <p:cNvSpPr txBox="1">
            <a:spLocks noChangeArrowheads="1"/>
          </p:cNvSpPr>
          <p:nvPr/>
        </p:nvSpPr>
        <p:spPr bwMode="auto">
          <a:xfrm>
            <a:off x="676275" y="1847850"/>
            <a:ext cx="7924800" cy="2978150"/>
          </a:xfrm>
          <a:prstGeom prst="rect">
            <a:avLst/>
          </a:prstGeom>
          <a:noFill/>
          <a:ln w="9525">
            <a:noFill/>
            <a:miter lim="800000"/>
            <a:headEnd/>
            <a:tailEnd/>
          </a:ln>
        </p:spPr>
        <p:txBody>
          <a:bodyPr>
            <a:spAutoFit/>
          </a:bodyPr>
          <a:lstStyle/>
          <a:p>
            <a:pPr marL="269875" indent="-269875" algn="just">
              <a:spcBef>
                <a:spcPct val="50000"/>
              </a:spcBef>
              <a:buFont typeface="Wingdings" pitchFamily="2" charset="2"/>
              <a:buChar char="§"/>
            </a:pPr>
            <a:r>
              <a:rPr lang="en-US" altLang="zh-TW" dirty="0">
                <a:ea typeface="新細明體" pitchFamily="18" charset="-120"/>
              </a:rPr>
              <a:t>The purpose of an analytical characterization is </a:t>
            </a:r>
            <a:r>
              <a:rPr lang="en-US" altLang="zh-TW" dirty="0">
                <a:solidFill>
                  <a:srgbClr val="9900CC"/>
                </a:solidFill>
                <a:ea typeface="新細明體" pitchFamily="18" charset="-120"/>
              </a:rPr>
              <a:t>to obtain information</a:t>
            </a:r>
            <a:r>
              <a:rPr lang="en-US" altLang="zh-TW" dirty="0">
                <a:ea typeface="新細明體" pitchFamily="18" charset="-120"/>
              </a:rPr>
              <a:t> about an object or a substance.</a:t>
            </a:r>
          </a:p>
          <a:p>
            <a:pPr marL="269875" indent="-269875" algn="just">
              <a:spcBef>
                <a:spcPct val="50000"/>
              </a:spcBef>
              <a:buFont typeface="Wingdings" pitchFamily="2" charset="2"/>
              <a:buChar char="§"/>
            </a:pPr>
            <a:r>
              <a:rPr lang="en-US" altLang="zh-TW" dirty="0">
                <a:ea typeface="新細明體" pitchFamily="18" charset="-120"/>
              </a:rPr>
              <a:t>The substance could be a </a:t>
            </a:r>
            <a:r>
              <a:rPr lang="en-US" altLang="zh-TW" dirty="0">
                <a:solidFill>
                  <a:srgbClr val="9900CC"/>
                </a:solidFill>
                <a:ea typeface="新細明體" pitchFamily="18" charset="-120"/>
              </a:rPr>
              <a:t>solid</a:t>
            </a:r>
            <a:r>
              <a:rPr lang="en-US" altLang="zh-TW" dirty="0">
                <a:ea typeface="新細明體" pitchFamily="18" charset="-120"/>
              </a:rPr>
              <a:t>, a </a:t>
            </a:r>
            <a:r>
              <a:rPr lang="en-US" altLang="zh-TW" dirty="0">
                <a:solidFill>
                  <a:srgbClr val="9900CC"/>
                </a:solidFill>
                <a:ea typeface="新細明體" pitchFamily="18" charset="-120"/>
              </a:rPr>
              <a:t>liquid</a:t>
            </a:r>
            <a:r>
              <a:rPr lang="en-US" altLang="zh-TW" dirty="0">
                <a:ea typeface="新細明體" pitchFamily="18" charset="-120"/>
              </a:rPr>
              <a:t>, a </a:t>
            </a:r>
            <a:r>
              <a:rPr lang="en-US" altLang="zh-TW" dirty="0">
                <a:solidFill>
                  <a:srgbClr val="9900CC"/>
                </a:solidFill>
                <a:ea typeface="新細明體" pitchFamily="18" charset="-120"/>
              </a:rPr>
              <a:t>gas</a:t>
            </a:r>
            <a:r>
              <a:rPr lang="en-US" altLang="zh-TW" dirty="0">
                <a:ea typeface="新細明體" pitchFamily="18" charset="-120"/>
              </a:rPr>
              <a:t>, or a </a:t>
            </a:r>
            <a:r>
              <a:rPr lang="en-US" altLang="zh-TW" dirty="0">
                <a:solidFill>
                  <a:srgbClr val="9900CC"/>
                </a:solidFill>
                <a:ea typeface="新細明體" pitchFamily="18" charset="-120"/>
              </a:rPr>
              <a:t>biological material</a:t>
            </a:r>
            <a:r>
              <a:rPr lang="en-US" altLang="zh-TW" dirty="0">
                <a:ea typeface="新細明體" pitchFamily="18" charset="-120"/>
              </a:rPr>
              <a:t>, </a:t>
            </a:r>
            <a:r>
              <a:rPr lang="en-US" altLang="zh-TW" dirty="0">
                <a:solidFill>
                  <a:srgbClr val="9900FF"/>
                </a:solidFill>
                <a:ea typeface="新細明體" pitchFamily="18" charset="-120"/>
              </a:rPr>
              <a:t>chemical</a:t>
            </a:r>
            <a:r>
              <a:rPr lang="en-US" altLang="zh-TW" dirty="0">
                <a:ea typeface="新細明體" pitchFamily="18" charset="-120"/>
              </a:rPr>
              <a:t>, </a:t>
            </a:r>
            <a:r>
              <a:rPr lang="en-US" altLang="zh-TW" dirty="0">
                <a:solidFill>
                  <a:srgbClr val="9900FF"/>
                </a:solidFill>
                <a:ea typeface="新細明體" pitchFamily="18" charset="-120"/>
              </a:rPr>
              <a:t>nanomaterials</a:t>
            </a:r>
            <a:r>
              <a:rPr lang="en-US" altLang="zh-TW" dirty="0">
                <a:ea typeface="新細明體" pitchFamily="18" charset="-120"/>
              </a:rPr>
              <a:t>,</a:t>
            </a:r>
            <a:r>
              <a:rPr lang="en-US" altLang="zh-TW" dirty="0">
                <a:solidFill>
                  <a:srgbClr val="6600CC"/>
                </a:solidFill>
                <a:ea typeface="新細明體" pitchFamily="18" charset="-120"/>
              </a:rPr>
              <a:t> </a:t>
            </a:r>
            <a:r>
              <a:rPr lang="en-US" altLang="zh-TW" dirty="0">
                <a:solidFill>
                  <a:srgbClr val="9900FF"/>
                </a:solidFill>
                <a:ea typeface="新細明體" pitchFamily="18" charset="-120"/>
              </a:rPr>
              <a:t>electronic system</a:t>
            </a:r>
            <a:r>
              <a:rPr lang="en-US" altLang="zh-TW" dirty="0">
                <a:ea typeface="新細明體" pitchFamily="18" charset="-120"/>
              </a:rPr>
              <a:t>…….</a:t>
            </a:r>
          </a:p>
          <a:p>
            <a:pPr marL="269875" indent="-269875" algn="just">
              <a:spcBef>
                <a:spcPct val="50000"/>
              </a:spcBef>
              <a:buFont typeface="Wingdings" pitchFamily="2" charset="2"/>
              <a:buChar char="§"/>
            </a:pPr>
            <a:r>
              <a:rPr lang="en-US" altLang="zh-TW" dirty="0">
                <a:ea typeface="新細明體" pitchFamily="18" charset="-120"/>
              </a:rPr>
              <a:t>Information to be obtained varies from </a:t>
            </a:r>
            <a:r>
              <a:rPr lang="en-US" altLang="zh-TW" dirty="0">
                <a:solidFill>
                  <a:srgbClr val="9900CC"/>
                </a:solidFill>
                <a:ea typeface="新細明體" pitchFamily="18" charset="-120"/>
              </a:rPr>
              <a:t>chemical to physical composition, bulk to surface properties, structural to morphological information, chemical to physical and to biological phenomena</a:t>
            </a:r>
            <a:r>
              <a:rPr lang="en-US" altLang="zh-TW" dirty="0">
                <a:ea typeface="新細明體" pitchFamily="18" charset="-120"/>
              </a:rPr>
              <a:t>.</a:t>
            </a:r>
          </a:p>
          <a:p>
            <a:pPr marL="269875" indent="-269875" algn="just">
              <a:spcBef>
                <a:spcPct val="50000"/>
              </a:spcBef>
              <a:buFont typeface="Wingdings" pitchFamily="2" charset="2"/>
              <a:buChar char="§"/>
            </a:pPr>
            <a:r>
              <a:rPr lang="en-US" altLang="zh-TW" dirty="0">
                <a:solidFill>
                  <a:srgbClr val="9900CC"/>
                </a:solidFill>
                <a:ea typeface="新細明體" pitchFamily="18" charset="-120"/>
              </a:rPr>
              <a:t>NO</a:t>
            </a:r>
            <a:r>
              <a:rPr lang="en-US" altLang="zh-TW" dirty="0">
                <a:ea typeface="新細明體" pitchFamily="18" charset="-120"/>
              </a:rPr>
              <a:t> single instrument can get all information from all types (or forms) of samples. </a:t>
            </a:r>
          </a:p>
        </p:txBody>
      </p:sp>
      <p:sp>
        <p:nvSpPr>
          <p:cNvPr id="13317" name="WordArt 43"/>
          <p:cNvSpPr>
            <a:spLocks noChangeArrowheads="1" noChangeShapeType="1" noTextEdit="1"/>
          </p:cNvSpPr>
          <p:nvPr/>
        </p:nvSpPr>
        <p:spPr bwMode="auto">
          <a:xfrm>
            <a:off x="838200" y="5105400"/>
            <a:ext cx="7696200" cy="571500"/>
          </a:xfrm>
          <a:prstGeom prst="rect">
            <a:avLst/>
          </a:prstGeom>
        </p:spPr>
        <p:txBody>
          <a:bodyPr wrap="none" fromWordArt="1">
            <a:prstTxWarp prst="textPlain">
              <a:avLst>
                <a:gd name="adj" fmla="val 50000"/>
              </a:avLst>
            </a:prstTxWarp>
          </a:bodyPr>
          <a:lstStyle/>
          <a:p>
            <a:pPr algn="ctr"/>
            <a:r>
              <a:rPr lang="en-US" sz="3600" kern="10" dirty="0">
                <a:ln w="9525">
                  <a:noFill/>
                  <a:round/>
                  <a:headEnd/>
                  <a:tailEnd/>
                </a:ln>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Impact"/>
              </a:rPr>
              <a:t>Need careful sample treatment and preparation!</a:t>
            </a:r>
          </a:p>
        </p:txBody>
      </p:sp>
      <p:sp>
        <p:nvSpPr>
          <p:cNvPr id="2" name="Slide Number Placeholder 1">
            <a:extLst>
              <a:ext uri="{FF2B5EF4-FFF2-40B4-BE49-F238E27FC236}">
                <a16:creationId xmlns:a16="http://schemas.microsoft.com/office/drawing/2014/main" id="{4A3CDB00-05BA-466E-9635-F8ED82C83770}"/>
              </a:ext>
            </a:extLst>
          </p:cNvPr>
          <p:cNvSpPr>
            <a:spLocks noGrp="1"/>
          </p:cNvSpPr>
          <p:nvPr>
            <p:ph type="sldNum" sz="quarter" idx="11"/>
          </p:nvPr>
        </p:nvSpPr>
        <p:spPr/>
        <p:txBody>
          <a:bodyPr/>
          <a:lstStyle/>
          <a:p>
            <a:pPr>
              <a:defRPr/>
            </a:pPr>
            <a:fld id="{81F47000-FA10-4168-B166-CBB11CC15560}" type="slidenum">
              <a:rPr lang="zh-TW" altLang="en-US" smtClean="0"/>
              <a:pPr>
                <a:defRPr/>
              </a:pPr>
              <a:t>4</a:t>
            </a:fld>
            <a:endParaRPr lang="en-US" altLang="zh-TW"/>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An analytical perspective</a:t>
            </a:r>
          </a:p>
        </p:txBody>
      </p:sp>
      <p:sp>
        <p:nvSpPr>
          <p:cNvPr id="12291" name="Text Box 5"/>
          <p:cNvSpPr txBox="1">
            <a:spLocks noChangeArrowheads="1"/>
          </p:cNvSpPr>
          <p:nvPr/>
        </p:nvSpPr>
        <p:spPr bwMode="auto">
          <a:xfrm>
            <a:off x="1731963" y="1066800"/>
            <a:ext cx="5513387" cy="519113"/>
          </a:xfrm>
          <a:prstGeom prst="rect">
            <a:avLst/>
          </a:prstGeom>
          <a:noFill/>
          <a:ln w="9525">
            <a:noFill/>
            <a:miter lim="800000"/>
            <a:headEnd/>
            <a:tailEnd/>
          </a:ln>
        </p:spPr>
        <p:txBody>
          <a:bodyPr wrap="none">
            <a:spAutoFit/>
          </a:bodyPr>
          <a:lstStyle/>
          <a:p>
            <a:r>
              <a:rPr lang="en-US" altLang="zh-TW" sz="2800">
                <a:ea typeface="新細明體" pitchFamily="18" charset="-120"/>
              </a:rPr>
              <a:t>Importance of sample preparation</a:t>
            </a:r>
          </a:p>
        </p:txBody>
      </p:sp>
      <p:sp>
        <p:nvSpPr>
          <p:cNvPr id="12292" name="Text Box 6"/>
          <p:cNvSpPr txBox="1">
            <a:spLocks noChangeArrowheads="1"/>
          </p:cNvSpPr>
          <p:nvPr/>
        </p:nvSpPr>
        <p:spPr bwMode="auto">
          <a:xfrm>
            <a:off x="517525" y="1676400"/>
            <a:ext cx="7940675" cy="4211638"/>
          </a:xfrm>
          <a:prstGeom prst="rect">
            <a:avLst/>
          </a:prstGeom>
          <a:noFill/>
          <a:ln w="9525">
            <a:noFill/>
            <a:miter lim="800000"/>
            <a:headEnd/>
            <a:tailEnd/>
          </a:ln>
        </p:spPr>
        <p:txBody>
          <a:bodyPr>
            <a:spAutoFit/>
          </a:bodyPr>
          <a:lstStyle/>
          <a:p>
            <a:pPr algn="just"/>
            <a:r>
              <a:rPr lang="en-US" altLang="zh-TW" dirty="0">
                <a:ea typeface="新細明體" pitchFamily="18" charset="-120"/>
              </a:rPr>
              <a:t>Sample preparation is often considered the "low tech" part of the method, and thus receives little attention. In some laboratories, the youngest, least experienced (and usually lowest paid) workers are assigned to the "Prep Lab." It is assumed that their inexperience will be less of a liability in this part of the organization.</a:t>
            </a:r>
          </a:p>
          <a:p>
            <a:pPr algn="just"/>
            <a:endParaRPr lang="zh-TW" altLang="en-US" dirty="0">
              <a:ea typeface="新細明體" pitchFamily="18" charset="-120"/>
            </a:endParaRPr>
          </a:p>
          <a:p>
            <a:pPr algn="just"/>
            <a:r>
              <a:rPr lang="en-US" altLang="zh-TW" dirty="0">
                <a:ea typeface="新細明體" pitchFamily="18" charset="-120"/>
              </a:rPr>
              <a:t>Despite its "low tech" image, sample preparation is a critical part of every method. Although many procedures do not use sophisticated, and expensive, equipment, they still require considerable care in operation to ensure that reliable results are obtained.</a:t>
            </a:r>
          </a:p>
          <a:p>
            <a:pPr algn="just"/>
            <a:endParaRPr lang="zh-TW" altLang="en-US" dirty="0">
              <a:ea typeface="新細明體" pitchFamily="18" charset="-120"/>
            </a:endParaRPr>
          </a:p>
          <a:p>
            <a:pPr algn="just"/>
            <a:r>
              <a:rPr lang="en-US" altLang="zh-TW" dirty="0">
                <a:ea typeface="新細明體" pitchFamily="18" charset="-120"/>
              </a:rPr>
              <a:t>All sample preparation procedures are based on sound chemical and physical principles. To successfully, and efficiently, use these procedures, you must understand these principles, and then apply your knowledge of them to the task at hand. </a:t>
            </a:r>
            <a:endParaRPr lang="zh-TW" altLang="en-US" dirty="0">
              <a:ea typeface="新細明體" pitchFamily="18" charset="-120"/>
            </a:endParaRPr>
          </a:p>
        </p:txBody>
      </p:sp>
      <p:sp>
        <p:nvSpPr>
          <p:cNvPr id="12293" name="WordArt 7"/>
          <p:cNvSpPr>
            <a:spLocks noChangeArrowheads="1" noChangeShapeType="1" noTextEdit="1"/>
          </p:cNvSpPr>
          <p:nvPr/>
        </p:nvSpPr>
        <p:spPr bwMode="auto">
          <a:xfrm>
            <a:off x="1439863" y="6172200"/>
            <a:ext cx="6096000" cy="409575"/>
          </a:xfrm>
          <a:prstGeom prst="rect">
            <a:avLst/>
          </a:prstGeom>
        </p:spPr>
        <p:txBody>
          <a:bodyPr wrap="none" fromWordArt="1">
            <a:prstTxWarp prst="textPlain">
              <a:avLst>
                <a:gd name="adj" fmla="val 50000"/>
              </a:avLst>
            </a:prstTxWarp>
          </a:bodyPr>
          <a:lstStyle/>
          <a:p>
            <a:pPr algn="ctr"/>
            <a:r>
              <a:rPr lang="en-US" sz="2800" i="1" kern="10" dirty="0">
                <a:ln w="9525">
                  <a:solidFill>
                    <a:srgbClr val="000000"/>
                  </a:solidFill>
                  <a:round/>
                  <a:headEnd/>
                  <a:tailEnd/>
                </a:ln>
                <a:solidFill>
                  <a:srgbClr val="FF0000"/>
                </a:solidFill>
                <a:effectLst>
                  <a:outerShdw dist="35921" dir="2700000" algn="ctr" rotWithShape="0">
                    <a:srgbClr val="808080">
                      <a:alpha val="79999"/>
                    </a:srgbClr>
                  </a:outerShdw>
                </a:effectLst>
                <a:latin typeface="Times New Roman"/>
                <a:cs typeface="Times New Roman"/>
              </a:rPr>
              <a:t>Often neglected, but is of critical importance</a:t>
            </a:r>
            <a:r>
              <a:rPr lang="en-US" sz="2800" i="1" kern="10" dirty="0">
                <a:ln w="9525">
                  <a:solidFill>
                    <a:srgbClr val="000000"/>
                  </a:solidFill>
                  <a:round/>
                  <a:headEnd/>
                  <a:tailEnd/>
                </a:ln>
                <a:solidFill>
                  <a:srgbClr val="FFFFFF"/>
                </a:solidFill>
                <a:effectLst>
                  <a:outerShdw dist="35921" dir="2700000" algn="ctr" rotWithShape="0">
                    <a:srgbClr val="808080">
                      <a:alpha val="79999"/>
                    </a:srgbClr>
                  </a:outerShdw>
                </a:effectLst>
                <a:latin typeface="Times New Roman"/>
                <a:cs typeface="Times New Roman"/>
              </a:rPr>
              <a:t>!</a:t>
            </a:r>
          </a:p>
        </p:txBody>
      </p:sp>
      <p:sp>
        <p:nvSpPr>
          <p:cNvPr id="2" name="Slide Number Placeholder 1">
            <a:extLst>
              <a:ext uri="{FF2B5EF4-FFF2-40B4-BE49-F238E27FC236}">
                <a16:creationId xmlns:a16="http://schemas.microsoft.com/office/drawing/2014/main" id="{D608FA60-E688-43BC-B697-308F2B947270}"/>
              </a:ext>
            </a:extLst>
          </p:cNvPr>
          <p:cNvSpPr>
            <a:spLocks noGrp="1"/>
          </p:cNvSpPr>
          <p:nvPr>
            <p:ph type="sldNum" sz="quarter" idx="11"/>
          </p:nvPr>
        </p:nvSpPr>
        <p:spPr/>
        <p:txBody>
          <a:bodyPr/>
          <a:lstStyle/>
          <a:p>
            <a:pPr>
              <a:defRPr/>
            </a:pPr>
            <a:fld id="{5C194D1D-C057-4136-B4EC-30B00CAA371F}" type="slidenum">
              <a:rPr lang="zh-TW" altLang="en-US" smtClean="0"/>
              <a:pPr>
                <a:defRPr/>
              </a:pPr>
              <a:t>5</a:t>
            </a:fld>
            <a:endParaRPr lang="en-US" altLang="zh-TW"/>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An analytical perspective</a:t>
            </a:r>
          </a:p>
        </p:txBody>
      </p:sp>
      <p:sp>
        <p:nvSpPr>
          <p:cNvPr id="14339" name="Text Box 5"/>
          <p:cNvSpPr txBox="1">
            <a:spLocks noChangeArrowheads="1"/>
          </p:cNvSpPr>
          <p:nvPr/>
        </p:nvSpPr>
        <p:spPr bwMode="auto">
          <a:xfrm>
            <a:off x="1905000" y="1066800"/>
            <a:ext cx="5688013" cy="519113"/>
          </a:xfrm>
          <a:prstGeom prst="rect">
            <a:avLst/>
          </a:prstGeom>
          <a:noFill/>
          <a:ln w="9525">
            <a:noFill/>
            <a:miter lim="800000"/>
            <a:headEnd/>
            <a:tailEnd/>
          </a:ln>
        </p:spPr>
        <p:txBody>
          <a:bodyPr wrap="none">
            <a:spAutoFit/>
          </a:bodyPr>
          <a:lstStyle/>
          <a:p>
            <a:r>
              <a:rPr lang="en-US" altLang="zh-TW" sz="2800">
                <a:ea typeface="新細明體" pitchFamily="18" charset="-120"/>
              </a:rPr>
              <a:t>Steps in the measurement process</a:t>
            </a:r>
          </a:p>
        </p:txBody>
      </p:sp>
      <p:grpSp>
        <p:nvGrpSpPr>
          <p:cNvPr id="14340" name="Group 21"/>
          <p:cNvGrpSpPr>
            <a:grpSpLocks/>
          </p:cNvGrpSpPr>
          <p:nvPr/>
        </p:nvGrpSpPr>
        <p:grpSpPr bwMode="auto">
          <a:xfrm>
            <a:off x="762000" y="1876425"/>
            <a:ext cx="1800225" cy="942975"/>
            <a:chOff x="480" y="1104"/>
            <a:chExt cx="1134" cy="594"/>
          </a:xfrm>
        </p:grpSpPr>
        <p:sp>
          <p:nvSpPr>
            <p:cNvPr id="14358" name="Rectangle 8"/>
            <p:cNvSpPr>
              <a:spLocks noChangeArrowheads="1"/>
            </p:cNvSpPr>
            <p:nvPr/>
          </p:nvSpPr>
          <p:spPr bwMode="auto">
            <a:xfrm>
              <a:off x="510" y="1122"/>
              <a:ext cx="1104" cy="576"/>
            </a:xfrm>
            <a:prstGeom prst="rect">
              <a:avLst/>
            </a:prstGeom>
            <a:solidFill>
              <a:schemeClr val="folHlink"/>
            </a:solidFill>
            <a:ln w="9525">
              <a:noFill/>
              <a:miter lim="800000"/>
              <a:headEnd/>
              <a:tailEnd/>
            </a:ln>
          </p:spPr>
          <p:txBody>
            <a:bodyPr wrap="none" anchor="ctr"/>
            <a:lstStyle/>
            <a:p>
              <a:endParaRPr lang="en-US"/>
            </a:p>
          </p:txBody>
        </p:sp>
        <p:sp>
          <p:nvSpPr>
            <p:cNvPr id="14359" name="Rectangle 9"/>
            <p:cNvSpPr>
              <a:spLocks noChangeArrowheads="1"/>
            </p:cNvSpPr>
            <p:nvPr/>
          </p:nvSpPr>
          <p:spPr bwMode="auto">
            <a:xfrm>
              <a:off x="480" y="1104"/>
              <a:ext cx="1104" cy="558"/>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14341" name="Text Box 10"/>
          <p:cNvSpPr txBox="1">
            <a:spLocks noChangeArrowheads="1"/>
          </p:cNvSpPr>
          <p:nvPr/>
        </p:nvSpPr>
        <p:spPr bwMode="auto">
          <a:xfrm>
            <a:off x="809625" y="2152650"/>
            <a:ext cx="1676400" cy="366713"/>
          </a:xfrm>
          <a:prstGeom prst="rect">
            <a:avLst/>
          </a:prstGeom>
          <a:noFill/>
          <a:ln w="9525">
            <a:noFill/>
            <a:miter lim="800000"/>
            <a:headEnd/>
            <a:tailEnd/>
          </a:ln>
        </p:spPr>
        <p:txBody>
          <a:bodyPr>
            <a:spAutoFit/>
          </a:bodyPr>
          <a:lstStyle/>
          <a:p>
            <a:pPr algn="ctr">
              <a:spcBef>
                <a:spcPct val="50000"/>
              </a:spcBef>
            </a:pPr>
            <a:r>
              <a:rPr lang="en-US" altLang="zh-TW">
                <a:ea typeface="新細明體" pitchFamily="18" charset="-120"/>
              </a:rPr>
              <a:t>Sampling</a:t>
            </a:r>
          </a:p>
        </p:txBody>
      </p:sp>
      <p:grpSp>
        <p:nvGrpSpPr>
          <p:cNvPr id="14342" name="Group 22"/>
          <p:cNvGrpSpPr>
            <a:grpSpLocks/>
          </p:cNvGrpSpPr>
          <p:nvPr/>
        </p:nvGrpSpPr>
        <p:grpSpPr bwMode="auto">
          <a:xfrm>
            <a:off x="762000" y="3000375"/>
            <a:ext cx="1800225" cy="942975"/>
            <a:chOff x="480" y="1812"/>
            <a:chExt cx="1134" cy="594"/>
          </a:xfrm>
        </p:grpSpPr>
        <p:sp>
          <p:nvSpPr>
            <p:cNvPr id="14356" name="Rectangle 11"/>
            <p:cNvSpPr>
              <a:spLocks noChangeArrowheads="1"/>
            </p:cNvSpPr>
            <p:nvPr/>
          </p:nvSpPr>
          <p:spPr bwMode="auto">
            <a:xfrm>
              <a:off x="510" y="1830"/>
              <a:ext cx="1104" cy="576"/>
            </a:xfrm>
            <a:prstGeom prst="rect">
              <a:avLst/>
            </a:prstGeom>
            <a:solidFill>
              <a:schemeClr val="folHlink"/>
            </a:solidFill>
            <a:ln w="9525">
              <a:noFill/>
              <a:miter lim="800000"/>
              <a:headEnd/>
              <a:tailEnd/>
            </a:ln>
          </p:spPr>
          <p:txBody>
            <a:bodyPr wrap="none" anchor="ctr"/>
            <a:lstStyle/>
            <a:p>
              <a:endParaRPr lang="en-US"/>
            </a:p>
          </p:txBody>
        </p:sp>
        <p:sp>
          <p:nvSpPr>
            <p:cNvPr id="14357" name="Rectangle 12"/>
            <p:cNvSpPr>
              <a:spLocks noChangeArrowheads="1"/>
            </p:cNvSpPr>
            <p:nvPr/>
          </p:nvSpPr>
          <p:spPr bwMode="auto">
            <a:xfrm>
              <a:off x="480" y="1812"/>
              <a:ext cx="1104" cy="558"/>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14343" name="Text Box 13"/>
          <p:cNvSpPr txBox="1">
            <a:spLocks noChangeArrowheads="1"/>
          </p:cNvSpPr>
          <p:nvPr/>
        </p:nvSpPr>
        <p:spPr bwMode="auto">
          <a:xfrm>
            <a:off x="809625" y="3114675"/>
            <a:ext cx="1676400" cy="641350"/>
          </a:xfrm>
          <a:prstGeom prst="rect">
            <a:avLst/>
          </a:prstGeom>
          <a:noFill/>
          <a:ln w="9525">
            <a:noFill/>
            <a:miter lim="800000"/>
            <a:headEnd/>
            <a:tailEnd/>
          </a:ln>
        </p:spPr>
        <p:txBody>
          <a:bodyPr>
            <a:spAutoFit/>
          </a:bodyPr>
          <a:lstStyle/>
          <a:p>
            <a:pPr algn="ctr">
              <a:spcBef>
                <a:spcPct val="50000"/>
              </a:spcBef>
            </a:pPr>
            <a:r>
              <a:rPr lang="en-US" altLang="zh-TW">
                <a:ea typeface="新細明體" pitchFamily="18" charset="-120"/>
              </a:rPr>
              <a:t>Sample Preservation</a:t>
            </a:r>
          </a:p>
        </p:txBody>
      </p:sp>
      <p:grpSp>
        <p:nvGrpSpPr>
          <p:cNvPr id="14344" name="Group 23"/>
          <p:cNvGrpSpPr>
            <a:grpSpLocks/>
          </p:cNvGrpSpPr>
          <p:nvPr/>
        </p:nvGrpSpPr>
        <p:grpSpPr bwMode="auto">
          <a:xfrm>
            <a:off x="752475" y="4105275"/>
            <a:ext cx="1800225" cy="942975"/>
            <a:chOff x="474" y="2508"/>
            <a:chExt cx="1134" cy="594"/>
          </a:xfrm>
        </p:grpSpPr>
        <p:sp>
          <p:nvSpPr>
            <p:cNvPr id="14354" name="Rectangle 14"/>
            <p:cNvSpPr>
              <a:spLocks noChangeArrowheads="1"/>
            </p:cNvSpPr>
            <p:nvPr/>
          </p:nvSpPr>
          <p:spPr bwMode="auto">
            <a:xfrm>
              <a:off x="504" y="2526"/>
              <a:ext cx="1104" cy="576"/>
            </a:xfrm>
            <a:prstGeom prst="rect">
              <a:avLst/>
            </a:prstGeom>
            <a:solidFill>
              <a:schemeClr val="folHlink"/>
            </a:solidFill>
            <a:ln w="9525">
              <a:noFill/>
              <a:miter lim="800000"/>
              <a:headEnd/>
              <a:tailEnd/>
            </a:ln>
          </p:spPr>
          <p:txBody>
            <a:bodyPr wrap="none" anchor="ctr"/>
            <a:lstStyle/>
            <a:p>
              <a:endParaRPr lang="en-US"/>
            </a:p>
          </p:txBody>
        </p:sp>
        <p:sp>
          <p:nvSpPr>
            <p:cNvPr id="14355" name="Rectangle 15"/>
            <p:cNvSpPr>
              <a:spLocks noChangeArrowheads="1"/>
            </p:cNvSpPr>
            <p:nvPr/>
          </p:nvSpPr>
          <p:spPr bwMode="auto">
            <a:xfrm>
              <a:off x="474" y="2508"/>
              <a:ext cx="1104" cy="558"/>
            </a:xfrm>
            <a:prstGeom prst="rect">
              <a:avLst/>
            </a:prstGeom>
            <a:solidFill>
              <a:schemeClr val="accent1"/>
            </a:solidFill>
            <a:ln w="9525">
              <a:solidFill>
                <a:schemeClr val="tx1"/>
              </a:solidFill>
              <a:miter lim="800000"/>
              <a:headEnd/>
              <a:tailEnd/>
            </a:ln>
          </p:spPr>
          <p:txBody>
            <a:bodyPr wrap="none" anchor="ctr"/>
            <a:lstStyle/>
            <a:p>
              <a:endParaRPr lang="en-US"/>
            </a:p>
          </p:txBody>
        </p:sp>
      </p:grpSp>
      <p:grpSp>
        <p:nvGrpSpPr>
          <p:cNvPr id="14345" name="Group 24"/>
          <p:cNvGrpSpPr>
            <a:grpSpLocks/>
          </p:cNvGrpSpPr>
          <p:nvPr/>
        </p:nvGrpSpPr>
        <p:grpSpPr bwMode="auto">
          <a:xfrm>
            <a:off x="752475" y="5229225"/>
            <a:ext cx="1800225" cy="942975"/>
            <a:chOff x="474" y="3216"/>
            <a:chExt cx="1134" cy="594"/>
          </a:xfrm>
        </p:grpSpPr>
        <p:sp>
          <p:nvSpPr>
            <p:cNvPr id="14352" name="Rectangle 17"/>
            <p:cNvSpPr>
              <a:spLocks noChangeArrowheads="1"/>
            </p:cNvSpPr>
            <p:nvPr/>
          </p:nvSpPr>
          <p:spPr bwMode="auto">
            <a:xfrm>
              <a:off x="504" y="3234"/>
              <a:ext cx="1104" cy="576"/>
            </a:xfrm>
            <a:prstGeom prst="rect">
              <a:avLst/>
            </a:prstGeom>
            <a:solidFill>
              <a:schemeClr val="folHlink"/>
            </a:solidFill>
            <a:ln w="9525">
              <a:noFill/>
              <a:miter lim="800000"/>
              <a:headEnd/>
              <a:tailEnd/>
            </a:ln>
          </p:spPr>
          <p:txBody>
            <a:bodyPr wrap="none" anchor="ctr"/>
            <a:lstStyle/>
            <a:p>
              <a:endParaRPr lang="en-US"/>
            </a:p>
          </p:txBody>
        </p:sp>
        <p:sp>
          <p:nvSpPr>
            <p:cNvPr id="14353" name="Rectangle 18"/>
            <p:cNvSpPr>
              <a:spLocks noChangeArrowheads="1"/>
            </p:cNvSpPr>
            <p:nvPr/>
          </p:nvSpPr>
          <p:spPr bwMode="auto">
            <a:xfrm>
              <a:off x="474" y="3216"/>
              <a:ext cx="1104" cy="558"/>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14346" name="Text Box 19"/>
          <p:cNvSpPr txBox="1">
            <a:spLocks noChangeArrowheads="1"/>
          </p:cNvSpPr>
          <p:nvPr/>
        </p:nvSpPr>
        <p:spPr bwMode="auto">
          <a:xfrm>
            <a:off x="800100" y="5505450"/>
            <a:ext cx="1676400" cy="366713"/>
          </a:xfrm>
          <a:prstGeom prst="rect">
            <a:avLst/>
          </a:prstGeom>
          <a:noFill/>
          <a:ln w="9525">
            <a:noFill/>
            <a:miter lim="800000"/>
            <a:headEnd/>
            <a:tailEnd/>
          </a:ln>
        </p:spPr>
        <p:txBody>
          <a:bodyPr>
            <a:spAutoFit/>
          </a:bodyPr>
          <a:lstStyle/>
          <a:p>
            <a:pPr algn="ctr">
              <a:spcBef>
                <a:spcPct val="50000"/>
              </a:spcBef>
            </a:pPr>
            <a:r>
              <a:rPr lang="en-US" altLang="zh-TW">
                <a:ea typeface="新細明體" pitchFamily="18" charset="-120"/>
              </a:rPr>
              <a:t>Analysis</a:t>
            </a:r>
          </a:p>
        </p:txBody>
      </p:sp>
      <p:sp>
        <p:nvSpPr>
          <p:cNvPr id="14347" name="Text Box 20"/>
          <p:cNvSpPr txBox="1">
            <a:spLocks noChangeArrowheads="1"/>
          </p:cNvSpPr>
          <p:nvPr/>
        </p:nvSpPr>
        <p:spPr bwMode="auto">
          <a:xfrm>
            <a:off x="771525" y="4225925"/>
            <a:ext cx="1676400" cy="641350"/>
          </a:xfrm>
          <a:prstGeom prst="rect">
            <a:avLst/>
          </a:prstGeom>
          <a:noFill/>
          <a:ln w="9525">
            <a:noFill/>
            <a:miter lim="800000"/>
            <a:headEnd/>
            <a:tailEnd/>
          </a:ln>
        </p:spPr>
        <p:txBody>
          <a:bodyPr>
            <a:spAutoFit/>
          </a:bodyPr>
          <a:lstStyle/>
          <a:p>
            <a:pPr algn="ctr">
              <a:spcBef>
                <a:spcPct val="50000"/>
              </a:spcBef>
            </a:pPr>
            <a:r>
              <a:rPr lang="en-US" altLang="zh-TW">
                <a:ea typeface="新細明體" pitchFamily="18" charset="-120"/>
              </a:rPr>
              <a:t>Sample Preparation</a:t>
            </a:r>
          </a:p>
        </p:txBody>
      </p:sp>
      <p:sp>
        <p:nvSpPr>
          <p:cNvPr id="14348" name="Text Box 26"/>
          <p:cNvSpPr txBox="1">
            <a:spLocks noChangeArrowheads="1"/>
          </p:cNvSpPr>
          <p:nvPr/>
        </p:nvSpPr>
        <p:spPr bwMode="auto">
          <a:xfrm>
            <a:off x="2857500" y="1847850"/>
            <a:ext cx="5753100" cy="8985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ea typeface="新細明體" pitchFamily="18" charset="-120"/>
              </a:rPr>
              <a:t>Should be representative of the original subject</a:t>
            </a:r>
          </a:p>
          <a:p>
            <a:pPr marL="180975" indent="-180975" algn="just">
              <a:spcBef>
                <a:spcPct val="30000"/>
              </a:spcBef>
              <a:buFontTx/>
              <a:buChar char="•"/>
            </a:pPr>
            <a:r>
              <a:rPr lang="en-US" altLang="zh-TW" sz="1600">
                <a:ea typeface="新細明體" pitchFamily="18" charset="-120"/>
              </a:rPr>
              <a:t>Sampling should be done with variability within the object in mind</a:t>
            </a:r>
          </a:p>
        </p:txBody>
      </p:sp>
      <p:sp>
        <p:nvSpPr>
          <p:cNvPr id="14349" name="Text Box 27"/>
          <p:cNvSpPr txBox="1">
            <a:spLocks noChangeArrowheads="1"/>
          </p:cNvSpPr>
          <p:nvPr/>
        </p:nvSpPr>
        <p:spPr bwMode="auto">
          <a:xfrm>
            <a:off x="2867025" y="2987675"/>
            <a:ext cx="5895975" cy="8985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ea typeface="新細明體" pitchFamily="18" charset="-120"/>
              </a:rPr>
              <a:t>Maintain the integrity of the sample between the time of sample collection and analysis</a:t>
            </a:r>
          </a:p>
          <a:p>
            <a:pPr marL="180975" indent="-180975" algn="just">
              <a:spcBef>
                <a:spcPct val="30000"/>
              </a:spcBef>
              <a:buFontTx/>
              <a:buChar char="•"/>
            </a:pPr>
            <a:r>
              <a:rPr lang="en-US" altLang="zh-TW" sz="1600" dirty="0">
                <a:ea typeface="新細明體" pitchFamily="18" charset="-120"/>
              </a:rPr>
              <a:t>Avoid and assess potential contaminations and interferences</a:t>
            </a:r>
          </a:p>
        </p:txBody>
      </p:sp>
      <p:sp>
        <p:nvSpPr>
          <p:cNvPr id="14350" name="Text Box 28"/>
          <p:cNvSpPr txBox="1">
            <a:spLocks noChangeArrowheads="1"/>
          </p:cNvSpPr>
          <p:nvPr/>
        </p:nvSpPr>
        <p:spPr bwMode="auto">
          <a:xfrm>
            <a:off x="2895600" y="4105275"/>
            <a:ext cx="5867400" cy="8985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ea typeface="新細明體" pitchFamily="18" charset="-120"/>
              </a:rPr>
              <a:t>Involves sample treatment so that the desired information can be successfully obtained in subsequent analysis</a:t>
            </a:r>
          </a:p>
          <a:p>
            <a:pPr marL="180975" indent="-180975" algn="just">
              <a:spcBef>
                <a:spcPct val="30000"/>
              </a:spcBef>
              <a:buFontTx/>
              <a:buChar char="•"/>
            </a:pPr>
            <a:r>
              <a:rPr lang="en-US" altLang="zh-TW" sz="1600">
                <a:ea typeface="新細明體" pitchFamily="18" charset="-120"/>
              </a:rPr>
              <a:t>Avoid introducing uncertainties and addition factors</a:t>
            </a:r>
          </a:p>
        </p:txBody>
      </p:sp>
      <p:sp>
        <p:nvSpPr>
          <p:cNvPr id="14351" name="Text Box 29"/>
          <p:cNvSpPr txBox="1">
            <a:spLocks noChangeArrowheads="1"/>
          </p:cNvSpPr>
          <p:nvPr/>
        </p:nvSpPr>
        <p:spPr bwMode="auto">
          <a:xfrm>
            <a:off x="2895600" y="5207000"/>
            <a:ext cx="5867400" cy="8985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ea typeface="新細明體" pitchFamily="18" charset="-120"/>
              </a:rPr>
              <a:t>Appropriate methods, calibration, experimental conditions, instruments</a:t>
            </a:r>
          </a:p>
          <a:p>
            <a:pPr marL="180975" indent="-180975" algn="just">
              <a:spcBef>
                <a:spcPct val="30000"/>
              </a:spcBef>
              <a:buFontTx/>
              <a:buChar char="•"/>
            </a:pPr>
            <a:r>
              <a:rPr lang="en-US" altLang="zh-TW" sz="1600">
                <a:ea typeface="新細明體" pitchFamily="18" charset="-120"/>
              </a:rPr>
              <a:t>Valid and sound data analysis</a:t>
            </a:r>
          </a:p>
        </p:txBody>
      </p:sp>
      <p:sp>
        <p:nvSpPr>
          <p:cNvPr id="2" name="Rectangle 1">
            <a:extLst>
              <a:ext uri="{FF2B5EF4-FFF2-40B4-BE49-F238E27FC236}">
                <a16:creationId xmlns:a16="http://schemas.microsoft.com/office/drawing/2014/main" id="{C1CB683E-941F-43CB-9BF0-E1299A48E6BC}"/>
              </a:ext>
            </a:extLst>
          </p:cNvPr>
          <p:cNvSpPr/>
          <p:nvPr/>
        </p:nvSpPr>
        <p:spPr bwMode="auto">
          <a:xfrm>
            <a:off x="676275" y="4038600"/>
            <a:ext cx="1885950" cy="100965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Slide Number Placeholder 2">
            <a:extLst>
              <a:ext uri="{FF2B5EF4-FFF2-40B4-BE49-F238E27FC236}">
                <a16:creationId xmlns:a16="http://schemas.microsoft.com/office/drawing/2014/main" id="{E67B5CD4-BBDC-4F16-911B-85B535D98D71}"/>
              </a:ext>
            </a:extLst>
          </p:cNvPr>
          <p:cNvSpPr>
            <a:spLocks noGrp="1"/>
          </p:cNvSpPr>
          <p:nvPr>
            <p:ph type="sldNum" sz="quarter" idx="11"/>
          </p:nvPr>
        </p:nvSpPr>
        <p:spPr/>
        <p:txBody>
          <a:bodyPr/>
          <a:lstStyle/>
          <a:p>
            <a:pPr>
              <a:defRPr/>
            </a:pPr>
            <a:fld id="{5C194D1D-C057-4136-B4EC-30B00CAA371F}" type="slidenum">
              <a:rPr lang="zh-TW" altLang="en-US" smtClean="0"/>
              <a:pPr>
                <a:defRPr/>
              </a:pPr>
              <a:t>6</a:t>
            </a:fld>
            <a:endParaRPr lang="en-US" altLang="zh-TW"/>
          </a:p>
        </p:txBody>
      </p:sp>
      <p:sp>
        <p:nvSpPr>
          <p:cNvPr id="4" name="Rectangle 3">
            <a:extLst>
              <a:ext uri="{FF2B5EF4-FFF2-40B4-BE49-F238E27FC236}">
                <a16:creationId xmlns:a16="http://schemas.microsoft.com/office/drawing/2014/main" id="{31876140-C25E-A31F-4A89-233E75130E9E}"/>
              </a:ext>
            </a:extLst>
          </p:cNvPr>
          <p:cNvSpPr/>
          <p:nvPr/>
        </p:nvSpPr>
        <p:spPr bwMode="auto">
          <a:xfrm>
            <a:off x="695325" y="2914650"/>
            <a:ext cx="1885950" cy="1009650"/>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Quality assurance and quality control in sample preparation</a:t>
            </a:r>
          </a:p>
        </p:txBody>
      </p:sp>
      <p:sp>
        <p:nvSpPr>
          <p:cNvPr id="1029" name="Text Box 5"/>
          <p:cNvSpPr txBox="1">
            <a:spLocks noChangeArrowheads="1"/>
          </p:cNvSpPr>
          <p:nvPr/>
        </p:nvSpPr>
        <p:spPr bwMode="auto">
          <a:xfrm>
            <a:off x="2624138" y="1066800"/>
            <a:ext cx="4005262" cy="519113"/>
          </a:xfrm>
          <a:prstGeom prst="rect">
            <a:avLst/>
          </a:prstGeom>
          <a:noFill/>
          <a:ln w="38100">
            <a:solidFill>
              <a:srgbClr val="00B050"/>
            </a:solidFill>
            <a:miter lim="800000"/>
            <a:headEnd/>
            <a:tailEnd/>
          </a:ln>
        </p:spPr>
        <p:txBody>
          <a:bodyPr wrap="none">
            <a:spAutoFit/>
          </a:bodyPr>
          <a:lstStyle/>
          <a:p>
            <a:r>
              <a:rPr lang="en-US" altLang="zh-TW" sz="2800" dirty="0">
                <a:ea typeface="新細明體" pitchFamily="18" charset="-120"/>
              </a:rPr>
              <a:t>Preservation of samples</a:t>
            </a:r>
          </a:p>
        </p:txBody>
      </p:sp>
      <p:grpSp>
        <p:nvGrpSpPr>
          <p:cNvPr id="1030" name="Group 11"/>
          <p:cNvGrpSpPr>
            <a:grpSpLocks/>
          </p:cNvGrpSpPr>
          <p:nvPr/>
        </p:nvGrpSpPr>
        <p:grpSpPr bwMode="auto">
          <a:xfrm>
            <a:off x="1600200" y="1981200"/>
            <a:ext cx="6019800" cy="4541838"/>
            <a:chOff x="1008" y="1248"/>
            <a:chExt cx="3792" cy="2861"/>
          </a:xfrm>
        </p:grpSpPr>
        <p:graphicFrame>
          <p:nvGraphicFramePr>
            <p:cNvPr id="1026" name="Object 9"/>
            <p:cNvGraphicFramePr>
              <a:graphicFrameLocks noChangeAspect="1"/>
            </p:cNvGraphicFramePr>
            <p:nvPr/>
          </p:nvGraphicFramePr>
          <p:xfrm>
            <a:off x="1008" y="1248"/>
            <a:ext cx="3792" cy="1563"/>
          </p:xfrm>
          <a:graphic>
            <a:graphicData uri="http://schemas.openxmlformats.org/presentationml/2006/ole">
              <mc:AlternateContent xmlns:mc="http://schemas.openxmlformats.org/markup-compatibility/2006">
                <mc:Choice xmlns:v="urn:schemas-microsoft-com:vml" Requires="v">
                  <p:oleObj name="CorelPhotoPaint.Image.6" r:id="rId2" imgW="4212701" imgH="1737216" progId="">
                    <p:embed/>
                  </p:oleObj>
                </mc:Choice>
                <mc:Fallback>
                  <p:oleObj name="CorelPhotoPaint.Image.6" r:id="rId2" imgW="4212701" imgH="1737216"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 y="1248"/>
                          <a:ext cx="3792" cy="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10"/>
            <p:cNvGraphicFramePr>
              <a:graphicFrameLocks noChangeAspect="1"/>
            </p:cNvGraphicFramePr>
            <p:nvPr/>
          </p:nvGraphicFramePr>
          <p:xfrm>
            <a:off x="1020" y="2928"/>
            <a:ext cx="3744" cy="1181"/>
          </p:xfrm>
          <a:graphic>
            <a:graphicData uri="http://schemas.openxmlformats.org/presentationml/2006/ole">
              <mc:AlternateContent xmlns:mc="http://schemas.openxmlformats.org/markup-compatibility/2006">
                <mc:Choice xmlns:v="urn:schemas-microsoft-com:vml" Requires="v">
                  <p:oleObj name="CorelPhotoPaint.Image.6" r:id="rId4" imgW="4078577" imgH="1286367" progId="">
                    <p:embed/>
                  </p:oleObj>
                </mc:Choice>
                <mc:Fallback>
                  <p:oleObj name="CorelPhotoPaint.Image.6" r:id="rId4" imgW="4078577" imgH="1286367"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0" y="2928"/>
                          <a:ext cx="3744" cy="1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 name="Slide Number Placeholder 1">
            <a:extLst>
              <a:ext uri="{FF2B5EF4-FFF2-40B4-BE49-F238E27FC236}">
                <a16:creationId xmlns:a16="http://schemas.microsoft.com/office/drawing/2014/main" id="{AE9FE4B2-2D23-48DB-983F-87D43B82A814}"/>
              </a:ext>
            </a:extLst>
          </p:cNvPr>
          <p:cNvSpPr>
            <a:spLocks noGrp="1"/>
          </p:cNvSpPr>
          <p:nvPr>
            <p:ph type="sldNum" sz="quarter" idx="11"/>
          </p:nvPr>
        </p:nvSpPr>
        <p:spPr/>
        <p:txBody>
          <a:bodyPr/>
          <a:lstStyle/>
          <a:p>
            <a:pPr>
              <a:defRPr/>
            </a:pPr>
            <a:fld id="{5C194D1D-C057-4136-B4EC-30B00CAA371F}" type="slidenum">
              <a:rPr lang="zh-TW" altLang="en-US" smtClean="0"/>
              <a:pPr>
                <a:defRPr/>
              </a:pPr>
              <a:t>7</a:t>
            </a:fld>
            <a:endParaRPr lang="en-US" altLang="zh-TW"/>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An analytical perspective</a:t>
            </a:r>
          </a:p>
        </p:txBody>
      </p:sp>
      <p:sp>
        <p:nvSpPr>
          <p:cNvPr id="15363" name="Text Box 5"/>
          <p:cNvSpPr txBox="1">
            <a:spLocks noChangeArrowheads="1"/>
          </p:cNvSpPr>
          <p:nvPr/>
        </p:nvSpPr>
        <p:spPr bwMode="auto">
          <a:xfrm>
            <a:off x="1676400" y="1066800"/>
            <a:ext cx="6007100" cy="519113"/>
          </a:xfrm>
          <a:prstGeom prst="rect">
            <a:avLst/>
          </a:prstGeom>
          <a:noFill/>
          <a:ln w="38100">
            <a:solidFill>
              <a:srgbClr val="FF0000"/>
            </a:solid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Possible steps in sample preparation</a:t>
            </a:r>
          </a:p>
        </p:txBody>
      </p:sp>
      <p:sp>
        <p:nvSpPr>
          <p:cNvPr id="15364" name="Rectangle 7"/>
          <p:cNvSpPr>
            <a:spLocks noChangeArrowheads="1"/>
          </p:cNvSpPr>
          <p:nvPr/>
        </p:nvSpPr>
        <p:spPr bwMode="auto">
          <a:xfrm>
            <a:off x="809625" y="1900238"/>
            <a:ext cx="1752600" cy="766762"/>
          </a:xfrm>
          <a:prstGeom prst="rect">
            <a:avLst/>
          </a:prstGeom>
          <a:solidFill>
            <a:srgbClr val="CCFFFF"/>
          </a:solidFill>
          <a:ln w="9525">
            <a:noFill/>
            <a:miter lim="800000"/>
            <a:headEnd/>
            <a:tailEnd/>
          </a:ln>
        </p:spPr>
        <p:txBody>
          <a:bodyPr wrap="none" anchor="ctr"/>
          <a:lstStyle/>
          <a:p>
            <a:endParaRPr lang="en-US">
              <a:latin typeface="Georgia" panose="02040502050405020303" pitchFamily="18" charset="0"/>
            </a:endParaRPr>
          </a:p>
        </p:txBody>
      </p:sp>
      <p:sp>
        <p:nvSpPr>
          <p:cNvPr id="15365" name="Rectangle 8"/>
          <p:cNvSpPr>
            <a:spLocks noChangeArrowheads="1"/>
          </p:cNvSpPr>
          <p:nvPr/>
        </p:nvSpPr>
        <p:spPr bwMode="auto">
          <a:xfrm>
            <a:off x="762000" y="1876425"/>
            <a:ext cx="1752600" cy="742950"/>
          </a:xfrm>
          <a:prstGeom prst="rect">
            <a:avLst/>
          </a:prstGeom>
          <a:solidFill>
            <a:srgbClr val="00CC99"/>
          </a:solidFill>
          <a:ln w="9525">
            <a:noFill/>
            <a:miter lim="800000"/>
            <a:headEnd/>
            <a:tailEnd/>
          </a:ln>
        </p:spPr>
        <p:txBody>
          <a:bodyPr wrap="none" anchor="ctr"/>
          <a:lstStyle/>
          <a:p>
            <a:endParaRPr lang="en-US">
              <a:latin typeface="Georgia" panose="02040502050405020303" pitchFamily="18" charset="0"/>
            </a:endParaRPr>
          </a:p>
        </p:txBody>
      </p:sp>
      <p:sp>
        <p:nvSpPr>
          <p:cNvPr id="15366" name="Text Box 9"/>
          <p:cNvSpPr txBox="1">
            <a:spLocks noChangeArrowheads="1"/>
          </p:cNvSpPr>
          <p:nvPr/>
        </p:nvSpPr>
        <p:spPr bwMode="auto">
          <a:xfrm>
            <a:off x="790575" y="1962150"/>
            <a:ext cx="1676400" cy="549275"/>
          </a:xfrm>
          <a:prstGeom prst="rect">
            <a:avLst/>
          </a:prstGeom>
          <a:noFill/>
          <a:ln w="9525">
            <a:noFill/>
            <a:miter lim="800000"/>
            <a:headEnd/>
            <a:tailEnd/>
          </a:ln>
        </p:spPr>
        <p:txBody>
          <a:bodyPr>
            <a:spAutoFit/>
          </a:bodyPr>
          <a:lstStyle/>
          <a:p>
            <a:pPr algn="ctr">
              <a:spcBef>
                <a:spcPct val="50000"/>
              </a:spcBef>
            </a:pPr>
            <a:r>
              <a:rPr lang="en-US" altLang="zh-TW" sz="1500">
                <a:latin typeface="Georgia" panose="02040502050405020303" pitchFamily="18" charset="0"/>
                <a:ea typeface="新細明體" pitchFamily="18" charset="-120"/>
              </a:rPr>
              <a:t>Homogenization, size reduction</a:t>
            </a:r>
          </a:p>
        </p:txBody>
      </p:sp>
      <p:sp>
        <p:nvSpPr>
          <p:cNvPr id="15367" name="Text Box 22"/>
          <p:cNvSpPr txBox="1">
            <a:spLocks noChangeArrowheads="1"/>
          </p:cNvSpPr>
          <p:nvPr/>
        </p:nvSpPr>
        <p:spPr bwMode="auto">
          <a:xfrm>
            <a:off x="2857500" y="1892300"/>
            <a:ext cx="5753100" cy="654050"/>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latin typeface="Georgia" panose="02040502050405020303" pitchFamily="18" charset="0"/>
                <a:ea typeface="新細明體" pitchFamily="18" charset="-120"/>
              </a:rPr>
              <a:t>Reduce sample in-homogeneity within the analysis volume</a:t>
            </a:r>
          </a:p>
          <a:p>
            <a:pPr marL="180975" indent="-180975" algn="just">
              <a:spcBef>
                <a:spcPct val="30000"/>
              </a:spcBef>
              <a:buFontTx/>
              <a:buChar char="•"/>
            </a:pPr>
            <a:r>
              <a:rPr lang="en-US" altLang="zh-TW" sz="1600" dirty="0">
                <a:latin typeface="Georgia" panose="02040502050405020303" pitchFamily="18" charset="0"/>
                <a:ea typeface="新細明體" pitchFamily="18" charset="-120"/>
              </a:rPr>
              <a:t>Avoid invariable size effect</a:t>
            </a:r>
          </a:p>
        </p:txBody>
      </p:sp>
      <p:sp>
        <p:nvSpPr>
          <p:cNvPr id="15368" name="Text Box 23"/>
          <p:cNvSpPr txBox="1">
            <a:spLocks noChangeArrowheads="1"/>
          </p:cNvSpPr>
          <p:nvPr/>
        </p:nvSpPr>
        <p:spPr bwMode="auto">
          <a:xfrm>
            <a:off x="2867025" y="2673350"/>
            <a:ext cx="5895975" cy="654050"/>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latin typeface="Georgia" panose="02040502050405020303" pitchFamily="18" charset="0"/>
                <a:ea typeface="新細明體" pitchFamily="18" charset="-120"/>
              </a:rPr>
              <a:t>Extract sample from potential interference</a:t>
            </a:r>
          </a:p>
          <a:p>
            <a:pPr marL="180975" indent="-180975" algn="just">
              <a:spcBef>
                <a:spcPct val="30000"/>
              </a:spcBef>
              <a:buFontTx/>
              <a:buChar char="•"/>
            </a:pPr>
            <a:r>
              <a:rPr lang="en-US" altLang="zh-TW" sz="1600">
                <a:latin typeface="Georgia" panose="02040502050405020303" pitchFamily="18" charset="0"/>
                <a:ea typeface="新細明體" pitchFamily="18" charset="-120"/>
              </a:rPr>
              <a:t>Avoid sample loss</a:t>
            </a:r>
          </a:p>
        </p:txBody>
      </p:sp>
      <p:sp>
        <p:nvSpPr>
          <p:cNvPr id="15369" name="Text Box 24"/>
          <p:cNvSpPr txBox="1">
            <a:spLocks noChangeArrowheads="1"/>
          </p:cNvSpPr>
          <p:nvPr/>
        </p:nvSpPr>
        <p:spPr bwMode="auto">
          <a:xfrm>
            <a:off x="2895600" y="3562350"/>
            <a:ext cx="5867400" cy="654050"/>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latin typeface="Georgia" panose="02040502050405020303" pitchFamily="18" charset="0"/>
                <a:ea typeface="新細明體" pitchFamily="18" charset="-120"/>
              </a:rPr>
              <a:t>Pre-concentrate the sample for more accurate analysis</a:t>
            </a:r>
          </a:p>
          <a:p>
            <a:pPr marL="180975" indent="-180975" algn="just">
              <a:spcBef>
                <a:spcPct val="30000"/>
              </a:spcBef>
              <a:buFontTx/>
              <a:buChar char="•"/>
            </a:pPr>
            <a:r>
              <a:rPr lang="en-US" altLang="zh-TW" sz="1600">
                <a:latin typeface="Georgia" panose="02040502050405020303" pitchFamily="18" charset="0"/>
                <a:ea typeface="新細明體" pitchFamily="18" charset="-120"/>
              </a:rPr>
              <a:t>Need careful calibration</a:t>
            </a:r>
          </a:p>
        </p:txBody>
      </p:sp>
      <p:sp>
        <p:nvSpPr>
          <p:cNvPr id="15370" name="Rectangle 26"/>
          <p:cNvSpPr>
            <a:spLocks noChangeArrowheads="1"/>
          </p:cNvSpPr>
          <p:nvPr/>
        </p:nvSpPr>
        <p:spPr bwMode="auto">
          <a:xfrm>
            <a:off x="809625" y="2738438"/>
            <a:ext cx="1752600" cy="766762"/>
          </a:xfrm>
          <a:prstGeom prst="rect">
            <a:avLst/>
          </a:prstGeom>
          <a:solidFill>
            <a:srgbClr val="CCFFFF"/>
          </a:solidFill>
          <a:ln w="9525">
            <a:noFill/>
            <a:miter lim="800000"/>
            <a:headEnd/>
            <a:tailEnd/>
          </a:ln>
        </p:spPr>
        <p:txBody>
          <a:bodyPr wrap="none" anchor="ctr"/>
          <a:lstStyle/>
          <a:p>
            <a:endParaRPr lang="en-US">
              <a:latin typeface="Georgia" panose="02040502050405020303" pitchFamily="18" charset="0"/>
            </a:endParaRPr>
          </a:p>
        </p:txBody>
      </p:sp>
      <p:sp>
        <p:nvSpPr>
          <p:cNvPr id="15371" name="Rectangle 27"/>
          <p:cNvSpPr>
            <a:spLocks noChangeArrowheads="1"/>
          </p:cNvSpPr>
          <p:nvPr/>
        </p:nvSpPr>
        <p:spPr bwMode="auto">
          <a:xfrm>
            <a:off x="762000" y="2714625"/>
            <a:ext cx="1752600" cy="742950"/>
          </a:xfrm>
          <a:prstGeom prst="rect">
            <a:avLst/>
          </a:prstGeom>
          <a:solidFill>
            <a:srgbClr val="00CC99"/>
          </a:solidFill>
          <a:ln w="9525">
            <a:noFill/>
            <a:miter lim="800000"/>
            <a:headEnd/>
            <a:tailEnd/>
          </a:ln>
        </p:spPr>
        <p:txBody>
          <a:bodyPr wrap="none" anchor="ctr"/>
          <a:lstStyle/>
          <a:p>
            <a:endParaRPr lang="en-US">
              <a:latin typeface="Georgia" panose="02040502050405020303" pitchFamily="18" charset="0"/>
            </a:endParaRPr>
          </a:p>
        </p:txBody>
      </p:sp>
      <p:sp>
        <p:nvSpPr>
          <p:cNvPr id="15372" name="Text Box 28"/>
          <p:cNvSpPr txBox="1">
            <a:spLocks noChangeArrowheads="1"/>
          </p:cNvSpPr>
          <p:nvPr/>
        </p:nvSpPr>
        <p:spPr bwMode="auto">
          <a:xfrm>
            <a:off x="790575" y="2895600"/>
            <a:ext cx="1676400" cy="320675"/>
          </a:xfrm>
          <a:prstGeom prst="rect">
            <a:avLst/>
          </a:prstGeom>
          <a:noFill/>
          <a:ln w="9525">
            <a:noFill/>
            <a:miter lim="800000"/>
            <a:headEnd/>
            <a:tailEnd/>
          </a:ln>
        </p:spPr>
        <p:txBody>
          <a:bodyPr>
            <a:spAutoFit/>
          </a:bodyPr>
          <a:lstStyle/>
          <a:p>
            <a:pPr algn="ctr">
              <a:spcBef>
                <a:spcPct val="50000"/>
              </a:spcBef>
            </a:pPr>
            <a:r>
              <a:rPr lang="en-US" altLang="zh-TW" sz="1500">
                <a:latin typeface="Georgia" panose="02040502050405020303" pitchFamily="18" charset="0"/>
                <a:ea typeface="新細明體" pitchFamily="18" charset="-120"/>
              </a:rPr>
              <a:t>Extraction</a:t>
            </a:r>
          </a:p>
        </p:txBody>
      </p:sp>
      <p:sp>
        <p:nvSpPr>
          <p:cNvPr id="15373" name="Rectangle 29"/>
          <p:cNvSpPr>
            <a:spLocks noChangeArrowheads="1"/>
          </p:cNvSpPr>
          <p:nvPr/>
        </p:nvSpPr>
        <p:spPr bwMode="auto">
          <a:xfrm>
            <a:off x="809625" y="3576638"/>
            <a:ext cx="1752600" cy="766762"/>
          </a:xfrm>
          <a:prstGeom prst="rect">
            <a:avLst/>
          </a:prstGeom>
          <a:solidFill>
            <a:srgbClr val="CCFFFF"/>
          </a:solidFill>
          <a:ln w="9525">
            <a:noFill/>
            <a:miter lim="800000"/>
            <a:headEnd/>
            <a:tailEnd/>
          </a:ln>
        </p:spPr>
        <p:txBody>
          <a:bodyPr wrap="none" anchor="ctr"/>
          <a:lstStyle/>
          <a:p>
            <a:endParaRPr lang="en-US">
              <a:latin typeface="Georgia" panose="02040502050405020303" pitchFamily="18" charset="0"/>
            </a:endParaRPr>
          </a:p>
        </p:txBody>
      </p:sp>
      <p:sp>
        <p:nvSpPr>
          <p:cNvPr id="15374" name="Rectangle 30"/>
          <p:cNvSpPr>
            <a:spLocks noChangeArrowheads="1"/>
          </p:cNvSpPr>
          <p:nvPr/>
        </p:nvSpPr>
        <p:spPr bwMode="auto">
          <a:xfrm>
            <a:off x="762000" y="3552825"/>
            <a:ext cx="1752600" cy="742950"/>
          </a:xfrm>
          <a:prstGeom prst="rect">
            <a:avLst/>
          </a:prstGeom>
          <a:solidFill>
            <a:srgbClr val="00CC99"/>
          </a:solidFill>
          <a:ln w="9525">
            <a:noFill/>
            <a:miter lim="800000"/>
            <a:headEnd/>
            <a:tailEnd/>
          </a:ln>
        </p:spPr>
        <p:txBody>
          <a:bodyPr wrap="none" anchor="ctr"/>
          <a:lstStyle/>
          <a:p>
            <a:endParaRPr lang="en-US">
              <a:latin typeface="Georgia" panose="02040502050405020303" pitchFamily="18" charset="0"/>
            </a:endParaRPr>
          </a:p>
        </p:txBody>
      </p:sp>
      <p:sp>
        <p:nvSpPr>
          <p:cNvPr id="15375" name="Text Box 31"/>
          <p:cNvSpPr txBox="1">
            <a:spLocks noChangeArrowheads="1"/>
          </p:cNvSpPr>
          <p:nvPr/>
        </p:nvSpPr>
        <p:spPr bwMode="auto">
          <a:xfrm>
            <a:off x="790575" y="3752850"/>
            <a:ext cx="1676400" cy="320675"/>
          </a:xfrm>
          <a:prstGeom prst="rect">
            <a:avLst/>
          </a:prstGeom>
          <a:noFill/>
          <a:ln w="9525">
            <a:noFill/>
            <a:miter lim="800000"/>
            <a:headEnd/>
            <a:tailEnd/>
          </a:ln>
        </p:spPr>
        <p:txBody>
          <a:bodyPr>
            <a:spAutoFit/>
          </a:bodyPr>
          <a:lstStyle/>
          <a:p>
            <a:pPr algn="ctr">
              <a:spcBef>
                <a:spcPct val="50000"/>
              </a:spcBef>
            </a:pPr>
            <a:r>
              <a:rPr lang="en-US" altLang="zh-TW" sz="1500">
                <a:latin typeface="Georgia" panose="02040502050405020303" pitchFamily="18" charset="0"/>
                <a:ea typeface="新細明體" pitchFamily="18" charset="-120"/>
              </a:rPr>
              <a:t>Concentration</a:t>
            </a:r>
          </a:p>
        </p:txBody>
      </p:sp>
      <p:sp>
        <p:nvSpPr>
          <p:cNvPr id="15376" name="Rectangle 32"/>
          <p:cNvSpPr>
            <a:spLocks noChangeArrowheads="1"/>
          </p:cNvSpPr>
          <p:nvPr/>
        </p:nvSpPr>
        <p:spPr bwMode="auto">
          <a:xfrm>
            <a:off x="809625" y="4414838"/>
            <a:ext cx="1752600" cy="766762"/>
          </a:xfrm>
          <a:prstGeom prst="rect">
            <a:avLst/>
          </a:prstGeom>
          <a:solidFill>
            <a:srgbClr val="CCFFFF"/>
          </a:solidFill>
          <a:ln w="9525">
            <a:noFill/>
            <a:miter lim="800000"/>
            <a:headEnd/>
            <a:tailEnd/>
          </a:ln>
        </p:spPr>
        <p:txBody>
          <a:bodyPr wrap="none" anchor="ctr"/>
          <a:lstStyle/>
          <a:p>
            <a:endParaRPr lang="en-US">
              <a:latin typeface="Georgia" panose="02040502050405020303" pitchFamily="18" charset="0"/>
            </a:endParaRPr>
          </a:p>
        </p:txBody>
      </p:sp>
      <p:sp>
        <p:nvSpPr>
          <p:cNvPr id="15377" name="Rectangle 33"/>
          <p:cNvSpPr>
            <a:spLocks noChangeArrowheads="1"/>
          </p:cNvSpPr>
          <p:nvPr/>
        </p:nvSpPr>
        <p:spPr bwMode="auto">
          <a:xfrm>
            <a:off x="762000" y="4391025"/>
            <a:ext cx="1752600" cy="742950"/>
          </a:xfrm>
          <a:prstGeom prst="rect">
            <a:avLst/>
          </a:prstGeom>
          <a:solidFill>
            <a:srgbClr val="00CC99"/>
          </a:solidFill>
          <a:ln w="9525">
            <a:noFill/>
            <a:miter lim="800000"/>
            <a:headEnd/>
            <a:tailEnd/>
          </a:ln>
        </p:spPr>
        <p:txBody>
          <a:bodyPr wrap="none" anchor="ctr"/>
          <a:lstStyle/>
          <a:p>
            <a:endParaRPr lang="en-US">
              <a:latin typeface="Georgia" panose="02040502050405020303" pitchFamily="18" charset="0"/>
            </a:endParaRPr>
          </a:p>
        </p:txBody>
      </p:sp>
      <p:sp>
        <p:nvSpPr>
          <p:cNvPr id="15378" name="Text Box 34"/>
          <p:cNvSpPr txBox="1">
            <a:spLocks noChangeArrowheads="1"/>
          </p:cNvSpPr>
          <p:nvPr/>
        </p:nvSpPr>
        <p:spPr bwMode="auto">
          <a:xfrm>
            <a:off x="790575" y="4591050"/>
            <a:ext cx="1676400" cy="320675"/>
          </a:xfrm>
          <a:prstGeom prst="rect">
            <a:avLst/>
          </a:prstGeom>
          <a:noFill/>
          <a:ln w="9525">
            <a:noFill/>
            <a:miter lim="800000"/>
            <a:headEnd/>
            <a:tailEnd/>
          </a:ln>
        </p:spPr>
        <p:txBody>
          <a:bodyPr>
            <a:spAutoFit/>
          </a:bodyPr>
          <a:lstStyle/>
          <a:p>
            <a:pPr algn="ctr">
              <a:spcBef>
                <a:spcPct val="50000"/>
              </a:spcBef>
            </a:pPr>
            <a:r>
              <a:rPr lang="en-US" altLang="zh-TW" sz="1500">
                <a:latin typeface="Georgia" panose="02040502050405020303" pitchFamily="18" charset="0"/>
                <a:ea typeface="新細明體" pitchFamily="18" charset="-120"/>
              </a:rPr>
              <a:t>Clean-up</a:t>
            </a:r>
          </a:p>
        </p:txBody>
      </p:sp>
      <p:sp>
        <p:nvSpPr>
          <p:cNvPr id="15379" name="Rectangle 35"/>
          <p:cNvSpPr>
            <a:spLocks noChangeArrowheads="1"/>
          </p:cNvSpPr>
          <p:nvPr/>
        </p:nvSpPr>
        <p:spPr bwMode="auto">
          <a:xfrm>
            <a:off x="809625" y="5253038"/>
            <a:ext cx="1752600" cy="766762"/>
          </a:xfrm>
          <a:prstGeom prst="rect">
            <a:avLst/>
          </a:prstGeom>
          <a:solidFill>
            <a:schemeClr val="folHlink"/>
          </a:solidFill>
          <a:ln w="9525">
            <a:noFill/>
            <a:miter lim="800000"/>
            <a:headEnd/>
            <a:tailEnd/>
          </a:ln>
        </p:spPr>
        <p:txBody>
          <a:bodyPr wrap="none" anchor="ctr"/>
          <a:lstStyle/>
          <a:p>
            <a:endParaRPr lang="en-US">
              <a:latin typeface="Georgia" panose="02040502050405020303" pitchFamily="18" charset="0"/>
            </a:endParaRPr>
          </a:p>
        </p:txBody>
      </p:sp>
      <p:sp>
        <p:nvSpPr>
          <p:cNvPr id="15380" name="Rectangle 36"/>
          <p:cNvSpPr>
            <a:spLocks noChangeArrowheads="1"/>
          </p:cNvSpPr>
          <p:nvPr/>
        </p:nvSpPr>
        <p:spPr bwMode="auto">
          <a:xfrm>
            <a:off x="762000" y="5229225"/>
            <a:ext cx="1752600" cy="742950"/>
          </a:xfrm>
          <a:prstGeom prst="rect">
            <a:avLst/>
          </a:prstGeom>
          <a:solidFill>
            <a:schemeClr val="accent1"/>
          </a:solidFill>
          <a:ln w="9525">
            <a:solidFill>
              <a:schemeClr val="tx1"/>
            </a:solidFill>
            <a:miter lim="800000"/>
            <a:headEnd/>
            <a:tailEnd/>
          </a:ln>
        </p:spPr>
        <p:txBody>
          <a:bodyPr wrap="none" anchor="ctr"/>
          <a:lstStyle/>
          <a:p>
            <a:endParaRPr lang="en-US">
              <a:latin typeface="Georgia" panose="02040502050405020303" pitchFamily="18" charset="0"/>
            </a:endParaRPr>
          </a:p>
        </p:txBody>
      </p:sp>
      <p:sp>
        <p:nvSpPr>
          <p:cNvPr id="15381" name="Text Box 37"/>
          <p:cNvSpPr txBox="1">
            <a:spLocks noChangeArrowheads="1"/>
          </p:cNvSpPr>
          <p:nvPr/>
        </p:nvSpPr>
        <p:spPr bwMode="auto">
          <a:xfrm>
            <a:off x="790575" y="5410200"/>
            <a:ext cx="1676400" cy="320675"/>
          </a:xfrm>
          <a:prstGeom prst="rect">
            <a:avLst/>
          </a:prstGeom>
          <a:noFill/>
          <a:ln w="9525">
            <a:noFill/>
            <a:miter lim="800000"/>
            <a:headEnd/>
            <a:tailEnd/>
          </a:ln>
        </p:spPr>
        <p:txBody>
          <a:bodyPr>
            <a:spAutoFit/>
          </a:bodyPr>
          <a:lstStyle/>
          <a:p>
            <a:pPr algn="ctr">
              <a:spcBef>
                <a:spcPct val="50000"/>
              </a:spcBef>
            </a:pPr>
            <a:r>
              <a:rPr lang="en-US" altLang="zh-TW" sz="1500">
                <a:latin typeface="Georgia" panose="02040502050405020303" pitchFamily="18" charset="0"/>
                <a:ea typeface="新細明體" pitchFamily="18" charset="-120"/>
              </a:rPr>
              <a:t>Analysis</a:t>
            </a:r>
          </a:p>
        </p:txBody>
      </p:sp>
      <p:sp>
        <p:nvSpPr>
          <p:cNvPr id="15382" name="Text Box 38"/>
          <p:cNvSpPr txBox="1">
            <a:spLocks noChangeArrowheads="1"/>
          </p:cNvSpPr>
          <p:nvPr/>
        </p:nvSpPr>
        <p:spPr bwMode="auto">
          <a:xfrm>
            <a:off x="2905125" y="4286250"/>
            <a:ext cx="5867400" cy="8985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latin typeface="Georgia" panose="02040502050405020303" pitchFamily="18" charset="0"/>
                <a:ea typeface="新細明體" pitchFamily="18" charset="-120"/>
              </a:rPr>
              <a:t>Eliminate excess reagents used for extraction and concentration</a:t>
            </a:r>
          </a:p>
          <a:p>
            <a:pPr marL="180975" indent="-180975" algn="just">
              <a:spcBef>
                <a:spcPct val="30000"/>
              </a:spcBef>
              <a:buFontTx/>
              <a:buChar char="•"/>
            </a:pPr>
            <a:r>
              <a:rPr lang="en-US" altLang="zh-TW" sz="1600">
                <a:latin typeface="Georgia" panose="02040502050405020303" pitchFamily="18" charset="0"/>
                <a:ea typeface="新細明體" pitchFamily="18" charset="-120"/>
              </a:rPr>
              <a:t>Avoid significant sample loss</a:t>
            </a:r>
          </a:p>
        </p:txBody>
      </p:sp>
      <p:sp>
        <p:nvSpPr>
          <p:cNvPr id="2" name="Slide Number Placeholder 1">
            <a:extLst>
              <a:ext uri="{FF2B5EF4-FFF2-40B4-BE49-F238E27FC236}">
                <a16:creationId xmlns:a16="http://schemas.microsoft.com/office/drawing/2014/main" id="{F9AB4C42-4B87-4751-B15E-A88B9C499006}"/>
              </a:ext>
            </a:extLst>
          </p:cNvPr>
          <p:cNvSpPr>
            <a:spLocks noGrp="1"/>
          </p:cNvSpPr>
          <p:nvPr>
            <p:ph type="sldNum" sz="quarter" idx="11"/>
          </p:nvPr>
        </p:nvSpPr>
        <p:spPr/>
        <p:txBody>
          <a:bodyPr/>
          <a:lstStyle/>
          <a:p>
            <a:pPr>
              <a:defRPr/>
            </a:pPr>
            <a:fld id="{5C194D1D-C057-4136-B4EC-30B00CAA371F}" type="slidenum">
              <a:rPr lang="zh-TW" altLang="en-US" smtClean="0"/>
              <a:pPr>
                <a:defRPr/>
              </a:pPr>
              <a:t>8</a:t>
            </a:fld>
            <a:endParaRPr lang="en-US" altLang="zh-TW"/>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An analytical perspective</a:t>
            </a:r>
          </a:p>
        </p:txBody>
      </p:sp>
      <p:sp>
        <p:nvSpPr>
          <p:cNvPr id="16387" name="Text Box 5"/>
          <p:cNvSpPr txBox="1">
            <a:spLocks noChangeArrowheads="1"/>
          </p:cNvSpPr>
          <p:nvPr/>
        </p:nvSpPr>
        <p:spPr bwMode="auto">
          <a:xfrm>
            <a:off x="685800" y="914400"/>
            <a:ext cx="7997825" cy="396875"/>
          </a:xfrm>
          <a:prstGeom prst="rect">
            <a:avLst/>
          </a:prstGeom>
          <a:noFill/>
          <a:ln w="9525">
            <a:noFill/>
            <a:miter lim="800000"/>
            <a:headEnd/>
            <a:tailEnd/>
          </a:ln>
        </p:spPr>
        <p:txBody>
          <a:bodyPr wrap="none">
            <a:spAutoFit/>
          </a:bodyPr>
          <a:lstStyle/>
          <a:p>
            <a:r>
              <a:rPr lang="en-US" altLang="zh-TW" sz="2000">
                <a:solidFill>
                  <a:srgbClr val="990000"/>
                </a:solidFill>
                <a:latin typeface="Georgia" panose="02040502050405020303" pitchFamily="18" charset="0"/>
                <a:ea typeface="新細明體" pitchFamily="18" charset="-120"/>
              </a:rPr>
              <a:t>Examples: Necessary sample preparation steps for specific analytes  </a:t>
            </a:r>
          </a:p>
        </p:txBody>
      </p:sp>
      <p:pic>
        <p:nvPicPr>
          <p:cNvPr id="16388" name="Picture 8" descr="SP_1"/>
          <p:cNvPicPr>
            <a:picLocks noChangeAspect="1" noChangeArrowheads="1"/>
          </p:cNvPicPr>
          <p:nvPr/>
        </p:nvPicPr>
        <p:blipFill>
          <a:blip r:embed="rId2" cstate="print"/>
          <a:srcRect/>
          <a:stretch>
            <a:fillRect/>
          </a:stretch>
        </p:blipFill>
        <p:spPr bwMode="auto">
          <a:xfrm>
            <a:off x="914400" y="1498600"/>
            <a:ext cx="7696200" cy="5181600"/>
          </a:xfrm>
          <a:prstGeom prst="rect">
            <a:avLst/>
          </a:prstGeom>
          <a:noFill/>
          <a:ln w="9525">
            <a:noFill/>
            <a:miter lim="800000"/>
            <a:headEnd/>
            <a:tailEnd/>
          </a:ln>
        </p:spPr>
      </p:pic>
      <p:sp>
        <p:nvSpPr>
          <p:cNvPr id="16389" name="Rectangle 7"/>
          <p:cNvSpPr>
            <a:spLocks noChangeArrowheads="1"/>
          </p:cNvSpPr>
          <p:nvPr/>
        </p:nvSpPr>
        <p:spPr bwMode="auto">
          <a:xfrm>
            <a:off x="914400" y="5667375"/>
            <a:ext cx="7543800" cy="758825"/>
          </a:xfrm>
          <a:prstGeom prst="rect">
            <a:avLst/>
          </a:prstGeom>
          <a:noFill/>
          <a:ln w="28575">
            <a:solidFill>
              <a:srgbClr val="FF3300"/>
            </a:solidFill>
            <a:miter lim="800000"/>
            <a:headEnd/>
            <a:tailEnd/>
          </a:ln>
        </p:spPr>
        <p:txBody>
          <a:bodyPr wrap="none" anchor="ctr"/>
          <a:lstStyle/>
          <a:p>
            <a:endParaRPr lang="en-US">
              <a:latin typeface="Georgia" panose="02040502050405020303" pitchFamily="18" charset="0"/>
            </a:endParaRPr>
          </a:p>
        </p:txBody>
      </p:sp>
      <p:sp>
        <p:nvSpPr>
          <p:cNvPr id="2" name="Slide Number Placeholder 1">
            <a:extLst>
              <a:ext uri="{FF2B5EF4-FFF2-40B4-BE49-F238E27FC236}">
                <a16:creationId xmlns:a16="http://schemas.microsoft.com/office/drawing/2014/main" id="{99159941-EABC-4FA7-9C4E-2F527A77AD47}"/>
              </a:ext>
            </a:extLst>
          </p:cNvPr>
          <p:cNvSpPr>
            <a:spLocks noGrp="1"/>
          </p:cNvSpPr>
          <p:nvPr>
            <p:ph type="sldNum" sz="quarter" idx="11"/>
          </p:nvPr>
        </p:nvSpPr>
        <p:spPr/>
        <p:txBody>
          <a:bodyPr/>
          <a:lstStyle/>
          <a:p>
            <a:pPr>
              <a:defRPr/>
            </a:pPr>
            <a:fld id="{5C194D1D-C057-4136-B4EC-30B00CAA371F}" type="slidenum">
              <a:rPr lang="zh-TW" altLang="en-US" smtClean="0"/>
              <a:pPr>
                <a:defRPr/>
              </a:pPr>
              <a:t>9</a:t>
            </a:fld>
            <a:endParaRPr lang="en-US" altLang="zh-TW"/>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An analytical perspective</a:t>
            </a:r>
          </a:p>
        </p:txBody>
      </p:sp>
      <p:sp>
        <p:nvSpPr>
          <p:cNvPr id="17411" name="Text Box 5"/>
          <p:cNvSpPr txBox="1">
            <a:spLocks noChangeArrowheads="1"/>
          </p:cNvSpPr>
          <p:nvPr/>
        </p:nvSpPr>
        <p:spPr bwMode="auto">
          <a:xfrm>
            <a:off x="1371600" y="1066800"/>
            <a:ext cx="680987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Classification of analysis/characterization</a:t>
            </a:r>
          </a:p>
        </p:txBody>
      </p:sp>
      <p:sp>
        <p:nvSpPr>
          <p:cNvPr id="17412" name="WordArt 6"/>
          <p:cNvSpPr>
            <a:spLocks noChangeArrowheads="1" noChangeShapeType="1" noTextEdit="1"/>
          </p:cNvSpPr>
          <p:nvPr/>
        </p:nvSpPr>
        <p:spPr bwMode="auto">
          <a:xfrm>
            <a:off x="457200" y="1905000"/>
            <a:ext cx="2686050"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Qualitative analysis</a:t>
            </a:r>
          </a:p>
        </p:txBody>
      </p:sp>
      <p:sp>
        <p:nvSpPr>
          <p:cNvPr id="17413" name="Text Box 7"/>
          <p:cNvSpPr txBox="1">
            <a:spLocks noChangeArrowheads="1"/>
          </p:cNvSpPr>
          <p:nvPr/>
        </p:nvSpPr>
        <p:spPr bwMode="auto">
          <a:xfrm>
            <a:off x="895350" y="2362200"/>
            <a:ext cx="7391400" cy="5810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latin typeface="Georgia" panose="02040502050405020303" pitchFamily="18" charset="0"/>
                <a:ea typeface="新細明體" pitchFamily="18" charset="-120"/>
              </a:rPr>
              <a:t>Yes/no, presence/absence, strong/weak, …… about a particular property or information</a:t>
            </a:r>
          </a:p>
        </p:txBody>
      </p:sp>
      <p:sp>
        <p:nvSpPr>
          <p:cNvPr id="17414" name="WordArt 8"/>
          <p:cNvSpPr>
            <a:spLocks noChangeArrowheads="1" noChangeShapeType="1" noTextEdit="1"/>
          </p:cNvSpPr>
          <p:nvPr/>
        </p:nvSpPr>
        <p:spPr bwMode="auto">
          <a:xfrm>
            <a:off x="457200" y="3143250"/>
            <a:ext cx="2876550" cy="400050"/>
          </a:xfrm>
          <a:prstGeom prst="rect">
            <a:avLst/>
          </a:prstGeom>
        </p:spPr>
        <p:txBody>
          <a:bodyPr wrap="none" fromWordArt="1">
            <a:prstTxWarp prst="textPlain">
              <a:avLst>
                <a:gd name="adj" fmla="val 50000"/>
              </a:avLst>
            </a:prstTxWarp>
          </a:bodyPr>
          <a:lstStyle/>
          <a:p>
            <a:pPr algn="ctr"/>
            <a:r>
              <a:rPr lang="en-US" sz="2800" kern="10" dirty="0">
                <a:ln w="9525">
                  <a:noFill/>
                  <a:round/>
                  <a:headEnd/>
                  <a:tailEnd/>
                </a:ln>
                <a:solidFill>
                  <a:srgbClr val="993366"/>
                </a:solidFill>
                <a:effectLst>
                  <a:outerShdw dist="45791" dir="2021404" algn="ctr" rotWithShape="0">
                    <a:srgbClr val="B2B2B2">
                      <a:alpha val="79999"/>
                    </a:srgbClr>
                  </a:outerShdw>
                </a:effectLst>
                <a:latin typeface="Times New Roman"/>
                <a:cs typeface="Times New Roman"/>
              </a:rPr>
              <a:t>Quantitative analysis</a:t>
            </a:r>
          </a:p>
        </p:txBody>
      </p:sp>
      <p:sp>
        <p:nvSpPr>
          <p:cNvPr id="17415" name="Text Box 9"/>
          <p:cNvSpPr txBox="1">
            <a:spLocks noChangeArrowheads="1"/>
          </p:cNvSpPr>
          <p:nvPr/>
        </p:nvSpPr>
        <p:spPr bwMode="auto">
          <a:xfrm>
            <a:off x="895350" y="3657600"/>
            <a:ext cx="7391400" cy="5810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latin typeface="Georgia" panose="02040502050405020303" pitchFamily="18" charset="0"/>
                <a:ea typeface="新細明體" pitchFamily="18" charset="-120"/>
              </a:rPr>
              <a:t>Quantified information on a particular property or information, e.g. concentration, dimension, intensity ……</a:t>
            </a:r>
          </a:p>
        </p:txBody>
      </p:sp>
      <p:sp>
        <p:nvSpPr>
          <p:cNvPr id="17416" name="WordArt 10"/>
          <p:cNvSpPr>
            <a:spLocks noChangeArrowheads="1" noChangeShapeType="1" noTextEdit="1"/>
          </p:cNvSpPr>
          <p:nvPr/>
        </p:nvSpPr>
        <p:spPr bwMode="auto">
          <a:xfrm>
            <a:off x="457200" y="4524375"/>
            <a:ext cx="3609975"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008000"/>
                </a:solidFill>
                <a:effectLst>
                  <a:outerShdw dist="45791" dir="2021404" algn="ctr" rotWithShape="0">
                    <a:srgbClr val="B2B2B2">
                      <a:alpha val="79999"/>
                    </a:srgbClr>
                  </a:outerShdw>
                </a:effectLst>
                <a:latin typeface="Times New Roman"/>
                <a:cs typeface="Times New Roman"/>
              </a:rPr>
              <a:t>Semi-quantitative analysis</a:t>
            </a:r>
          </a:p>
        </p:txBody>
      </p:sp>
      <p:sp>
        <p:nvSpPr>
          <p:cNvPr id="17417" name="Text Box 11"/>
          <p:cNvSpPr txBox="1">
            <a:spLocks noChangeArrowheads="1"/>
          </p:cNvSpPr>
          <p:nvPr/>
        </p:nvSpPr>
        <p:spPr bwMode="auto">
          <a:xfrm>
            <a:off x="895350" y="5133975"/>
            <a:ext cx="7391400" cy="5810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a:latin typeface="Georgia" panose="02040502050405020303" pitchFamily="18" charset="0"/>
                <a:ea typeface="新細明體" pitchFamily="18" charset="-120"/>
              </a:rPr>
              <a:t>The concern is not exactly how much is there but whether it is above or below a certain threshold level.</a:t>
            </a:r>
          </a:p>
        </p:txBody>
      </p:sp>
      <p:sp>
        <p:nvSpPr>
          <p:cNvPr id="2" name="Slide Number Placeholder 1">
            <a:extLst>
              <a:ext uri="{FF2B5EF4-FFF2-40B4-BE49-F238E27FC236}">
                <a16:creationId xmlns:a16="http://schemas.microsoft.com/office/drawing/2014/main" id="{1A1D3BF1-B0CB-4C6E-977A-0A944CB7C3B2}"/>
              </a:ext>
            </a:extLst>
          </p:cNvPr>
          <p:cNvSpPr>
            <a:spLocks noGrp="1"/>
          </p:cNvSpPr>
          <p:nvPr>
            <p:ph type="sldNum" sz="quarter" idx="11"/>
          </p:nvPr>
        </p:nvSpPr>
        <p:spPr/>
        <p:txBody>
          <a:bodyPr/>
          <a:lstStyle/>
          <a:p>
            <a:pPr>
              <a:defRPr/>
            </a:pPr>
            <a:fld id="{5C194D1D-C057-4136-B4EC-30B00CAA371F}" type="slidenum">
              <a:rPr lang="zh-TW" altLang="en-US" smtClean="0"/>
              <a:pPr>
                <a:defRPr/>
              </a:pPr>
              <a:t>10</a:t>
            </a:fld>
            <a:endParaRPr lang="en-US" altLang="zh-TW"/>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811530" y="1295400"/>
            <a:ext cx="7772400" cy="2492990"/>
          </a:xfrm>
          <a:prstGeom prst="rect">
            <a:avLst/>
          </a:prstGeom>
          <a:noFill/>
          <a:ln w="9525">
            <a:noFill/>
            <a:miter lim="800000"/>
            <a:headEnd/>
            <a:tailEnd/>
          </a:ln>
        </p:spPr>
        <p:txBody>
          <a:bodyPr>
            <a:spAutoFit/>
          </a:bodyPr>
          <a:lstStyle/>
          <a:p>
            <a:pPr algn="ctr">
              <a:lnSpc>
                <a:spcPct val="130000"/>
              </a:lnSpc>
            </a:pPr>
            <a:r>
              <a:rPr lang="en-US" altLang="zh-TW" sz="4000" dirty="0">
                <a:latin typeface="Times New Roman" pitchFamily="18" charset="0"/>
                <a:ea typeface="新細明體" pitchFamily="18" charset="-120"/>
              </a:rPr>
              <a:t>Sample preparation</a:t>
            </a:r>
          </a:p>
          <a:p>
            <a:pPr algn="ctr">
              <a:lnSpc>
                <a:spcPct val="130000"/>
              </a:lnSpc>
            </a:pPr>
            <a:r>
              <a:rPr lang="en-US" altLang="zh-TW" sz="4000" dirty="0">
                <a:latin typeface="Times New Roman" pitchFamily="18" charset="0"/>
                <a:ea typeface="新細明體" pitchFamily="18" charset="-120"/>
              </a:rPr>
              <a:t>for specific characterization</a:t>
            </a:r>
          </a:p>
          <a:p>
            <a:pPr algn="ctr">
              <a:lnSpc>
                <a:spcPct val="130000"/>
              </a:lnSpc>
            </a:pPr>
            <a:r>
              <a:rPr lang="en-US" altLang="zh-TW" sz="4000" dirty="0">
                <a:solidFill>
                  <a:srgbClr val="006666"/>
                </a:solidFill>
                <a:latin typeface="Times New Roman" pitchFamily="18" charset="0"/>
                <a:ea typeface="新細明體" pitchFamily="18" charset="-120"/>
              </a:rPr>
              <a:t>examples</a:t>
            </a:r>
          </a:p>
        </p:txBody>
      </p:sp>
      <p:sp>
        <p:nvSpPr>
          <p:cNvPr id="18435"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PHYS 5350 techniques in materials characterization</a:t>
            </a:r>
          </a:p>
        </p:txBody>
      </p:sp>
      <p:sp>
        <p:nvSpPr>
          <p:cNvPr id="4" name="Text Box 5"/>
          <p:cNvSpPr txBox="1">
            <a:spLocks noChangeArrowheads="1"/>
          </p:cNvSpPr>
          <p:nvPr/>
        </p:nvSpPr>
        <p:spPr bwMode="auto">
          <a:xfrm>
            <a:off x="762000" y="4281487"/>
            <a:ext cx="8039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800" dirty="0">
                <a:solidFill>
                  <a:srgbClr val="0000FF"/>
                </a:solidFill>
                <a:latin typeface="Georgia" panose="02040502050405020303" pitchFamily="18" charset="0"/>
                <a:ea typeface="新細明體" pitchFamily="18" charset="-120"/>
              </a:rPr>
              <a:t>A. </a:t>
            </a:r>
            <a:r>
              <a:rPr lang="en-US" altLang="zh-TW" sz="2800" dirty="0">
                <a:solidFill>
                  <a:srgbClr val="0000FF"/>
                </a:solidFill>
                <a:latin typeface="Georgia" panose="02040502050405020303" pitchFamily="18" charset="0"/>
                <a:ea typeface="新細明體" pitchFamily="18" charset="-120"/>
              </a:rPr>
              <a:t>Sample preparation for microscopic evaluation</a:t>
            </a:r>
          </a:p>
        </p:txBody>
      </p:sp>
      <p:sp>
        <p:nvSpPr>
          <p:cNvPr id="5" name="Text Box 5"/>
          <p:cNvSpPr txBox="1">
            <a:spLocks noChangeArrowheads="1"/>
          </p:cNvSpPr>
          <p:nvPr/>
        </p:nvSpPr>
        <p:spPr bwMode="auto">
          <a:xfrm>
            <a:off x="762000" y="5424487"/>
            <a:ext cx="7707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800" dirty="0">
                <a:solidFill>
                  <a:srgbClr val="0000FF"/>
                </a:solidFill>
                <a:latin typeface="Georgia" panose="02040502050405020303" pitchFamily="18" charset="0"/>
                <a:ea typeface="新細明體" pitchFamily="18" charset="-120"/>
              </a:rPr>
              <a:t>B. </a:t>
            </a:r>
            <a:r>
              <a:rPr lang="en-US" altLang="zh-TW" sz="2800" dirty="0">
                <a:solidFill>
                  <a:srgbClr val="0000FF"/>
                </a:solidFill>
                <a:latin typeface="Georgia" panose="02040502050405020303" pitchFamily="18" charset="0"/>
                <a:ea typeface="新細明體" pitchFamily="18" charset="-120"/>
              </a:rPr>
              <a:t>Sample preparation for surface spectroscopy</a:t>
            </a:r>
          </a:p>
        </p:txBody>
      </p:sp>
      <p:sp>
        <p:nvSpPr>
          <p:cNvPr id="2" name="Slide Number Placeholder 1">
            <a:extLst>
              <a:ext uri="{FF2B5EF4-FFF2-40B4-BE49-F238E27FC236}">
                <a16:creationId xmlns:a16="http://schemas.microsoft.com/office/drawing/2014/main" id="{DA35EB7F-F41C-4383-A003-1E524A228667}"/>
              </a:ext>
            </a:extLst>
          </p:cNvPr>
          <p:cNvSpPr>
            <a:spLocks noGrp="1"/>
          </p:cNvSpPr>
          <p:nvPr>
            <p:ph type="sldNum" sz="quarter" idx="11"/>
          </p:nvPr>
        </p:nvSpPr>
        <p:spPr/>
        <p:txBody>
          <a:bodyPr/>
          <a:lstStyle/>
          <a:p>
            <a:pPr>
              <a:defRPr/>
            </a:pPr>
            <a:fld id="{5C194D1D-C057-4136-B4EC-30B00CAA371F}" type="slidenum">
              <a:rPr lang="zh-TW" altLang="en-US" smtClean="0"/>
              <a:pPr>
                <a:defRPr/>
              </a:pPr>
              <a:t>11</a:t>
            </a:fld>
            <a:endParaRPr lang="en-US" altLang="zh-TW"/>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dirty="0">
                <a:solidFill>
                  <a:schemeClr val="bg1"/>
                </a:solidFill>
                <a:ea typeface="新細明體" pitchFamily="18" charset="-120"/>
              </a:rPr>
              <a:t>Sample preparation for specific characterization</a:t>
            </a:r>
          </a:p>
        </p:txBody>
      </p:sp>
      <p:sp>
        <p:nvSpPr>
          <p:cNvPr id="19459" name="Text Box 5"/>
          <p:cNvSpPr txBox="1">
            <a:spLocks noChangeArrowheads="1"/>
          </p:cNvSpPr>
          <p:nvPr/>
        </p:nvSpPr>
        <p:spPr bwMode="auto">
          <a:xfrm>
            <a:off x="304800" y="1084953"/>
            <a:ext cx="8771953" cy="523220"/>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Metal sample preparation for microscopic evaluation</a:t>
            </a:r>
          </a:p>
        </p:txBody>
      </p:sp>
      <p:pic>
        <p:nvPicPr>
          <p:cNvPr id="19460" name="Picture 10"/>
          <p:cNvPicPr>
            <a:picLocks noChangeAspect="1" noChangeArrowheads="1"/>
          </p:cNvPicPr>
          <p:nvPr/>
        </p:nvPicPr>
        <p:blipFill>
          <a:blip r:embed="rId2" cstate="print"/>
          <a:srcRect/>
          <a:stretch>
            <a:fillRect/>
          </a:stretch>
        </p:blipFill>
        <p:spPr bwMode="auto">
          <a:xfrm>
            <a:off x="3886200" y="3124200"/>
            <a:ext cx="5257800" cy="3148013"/>
          </a:xfrm>
          <a:prstGeom prst="rect">
            <a:avLst/>
          </a:prstGeom>
          <a:noFill/>
          <a:ln w="9525">
            <a:noFill/>
            <a:miter lim="800000"/>
            <a:headEnd/>
            <a:tailEnd/>
          </a:ln>
        </p:spPr>
      </p:pic>
      <p:sp>
        <p:nvSpPr>
          <p:cNvPr id="19461" name="Text Box 11"/>
          <p:cNvSpPr txBox="1">
            <a:spLocks noChangeArrowheads="1"/>
          </p:cNvSpPr>
          <p:nvPr/>
        </p:nvSpPr>
        <p:spPr bwMode="auto">
          <a:xfrm>
            <a:off x="228600" y="3048000"/>
            <a:ext cx="3810000" cy="2536825"/>
          </a:xfrm>
          <a:prstGeom prst="rect">
            <a:avLst/>
          </a:prstGeom>
          <a:noFill/>
          <a:ln w="9525">
            <a:noFill/>
            <a:miter lim="800000"/>
            <a:headEnd/>
            <a:tailEnd/>
          </a:ln>
        </p:spPr>
        <p:txBody>
          <a:bodyPr>
            <a:spAutoFit/>
          </a:bodyPr>
          <a:lstStyle/>
          <a:p>
            <a:pPr marL="177800" indent="-177800" algn="just">
              <a:spcBef>
                <a:spcPct val="50000"/>
              </a:spcBef>
              <a:buFontTx/>
              <a:buChar char="•"/>
            </a:pPr>
            <a:r>
              <a:rPr lang="en-US" altLang="zh-TW" sz="1600" dirty="0">
                <a:latin typeface="Georgia" panose="02040502050405020303" pitchFamily="18" charset="0"/>
                <a:ea typeface="新細明體" pitchFamily="18" charset="-120"/>
              </a:rPr>
              <a:t>Typically, the grains of a metal object are very small, and cannot be viewed with the naked eye.</a:t>
            </a:r>
          </a:p>
          <a:p>
            <a:pPr marL="177800" indent="-177800" algn="just">
              <a:spcBef>
                <a:spcPct val="50000"/>
              </a:spcBef>
              <a:buFontTx/>
              <a:buChar char="•"/>
            </a:pPr>
            <a:r>
              <a:rPr lang="en-US" altLang="zh-TW" sz="1600" dirty="0">
                <a:latin typeface="Georgia" panose="02040502050405020303" pitchFamily="18" charset="0"/>
                <a:ea typeface="新細明體" pitchFamily="18" charset="-120"/>
              </a:rPr>
              <a:t>The structural features of the small grains are observed using an optical or electron microscope.</a:t>
            </a:r>
          </a:p>
          <a:p>
            <a:pPr marL="177800" indent="-177800" algn="just">
              <a:spcBef>
                <a:spcPct val="50000"/>
              </a:spcBef>
              <a:buFontTx/>
              <a:buChar char="•"/>
            </a:pPr>
            <a:r>
              <a:rPr lang="en-US" altLang="zh-TW" sz="1600" dirty="0">
                <a:solidFill>
                  <a:schemeClr val="bg2">
                    <a:lumMod val="60000"/>
                    <a:lumOff val="40000"/>
                  </a:schemeClr>
                </a:solidFill>
                <a:latin typeface="Georgia" panose="02040502050405020303" pitchFamily="18" charset="0"/>
                <a:ea typeface="新細明體" pitchFamily="18" charset="-120"/>
              </a:rPr>
              <a:t>Structures requiring this range of magnification for their examination are called microstructures. </a:t>
            </a:r>
          </a:p>
        </p:txBody>
      </p:sp>
      <p:sp>
        <p:nvSpPr>
          <p:cNvPr id="19462" name="Rectangle 12"/>
          <p:cNvSpPr>
            <a:spLocks noChangeArrowheads="1"/>
          </p:cNvSpPr>
          <p:nvPr/>
        </p:nvSpPr>
        <p:spPr bwMode="auto">
          <a:xfrm>
            <a:off x="228600" y="1752600"/>
            <a:ext cx="8534400" cy="1192213"/>
          </a:xfrm>
          <a:prstGeom prst="rect">
            <a:avLst/>
          </a:prstGeom>
          <a:noFill/>
          <a:ln w="9525">
            <a:noFill/>
            <a:miter lim="800000"/>
            <a:headEnd/>
            <a:tailEnd/>
          </a:ln>
        </p:spPr>
        <p:txBody>
          <a:bodyPr>
            <a:spAutoFit/>
          </a:bodyPr>
          <a:lstStyle/>
          <a:p>
            <a:pPr marL="177800" indent="-177800" algn="just">
              <a:spcBef>
                <a:spcPct val="50000"/>
              </a:spcBef>
              <a:buFontTx/>
              <a:buChar char="•"/>
            </a:pPr>
            <a:r>
              <a:rPr lang="en-US" altLang="zh-TW" sz="1600" dirty="0">
                <a:latin typeface="Georgia" panose="02040502050405020303" pitchFamily="18" charset="0"/>
                <a:ea typeface="新細明體" pitchFamily="18" charset="-120"/>
              </a:rPr>
              <a:t>The crystal structure of a solid metal refers to the internal structure or arrangement of the atoms in an ordered, repeating, 3D pattern.</a:t>
            </a:r>
          </a:p>
          <a:p>
            <a:pPr marL="177800" indent="-177800" algn="just">
              <a:spcBef>
                <a:spcPct val="50000"/>
              </a:spcBef>
              <a:buFontTx/>
              <a:buChar char="•"/>
            </a:pPr>
            <a:r>
              <a:rPr lang="en-US" altLang="zh-TW" sz="1600" dirty="0">
                <a:latin typeface="Georgia" panose="02040502050405020303" pitchFamily="18" charset="0"/>
                <a:ea typeface="新細明體" pitchFamily="18" charset="-120"/>
              </a:rPr>
              <a:t>Normal metallic objects are polycrystalline, which means they consist of an aggregate of many very small crystals. These crystals are called grains.  </a:t>
            </a:r>
          </a:p>
        </p:txBody>
      </p:sp>
      <p:sp>
        <p:nvSpPr>
          <p:cNvPr id="2" name="Slide Number Placeholder 1">
            <a:extLst>
              <a:ext uri="{FF2B5EF4-FFF2-40B4-BE49-F238E27FC236}">
                <a16:creationId xmlns:a16="http://schemas.microsoft.com/office/drawing/2014/main" id="{694A008A-2930-45FF-8212-0B032F0979C6}"/>
              </a:ext>
            </a:extLst>
          </p:cNvPr>
          <p:cNvSpPr>
            <a:spLocks noGrp="1"/>
          </p:cNvSpPr>
          <p:nvPr>
            <p:ph type="sldNum" sz="quarter" idx="11"/>
          </p:nvPr>
        </p:nvSpPr>
        <p:spPr/>
        <p:txBody>
          <a:bodyPr/>
          <a:lstStyle/>
          <a:p>
            <a:pPr>
              <a:defRPr/>
            </a:pPr>
            <a:fld id="{5C194D1D-C057-4136-B4EC-30B00CAA371F}" type="slidenum">
              <a:rPr lang="zh-TW" altLang="en-US" smtClean="0"/>
              <a:pPr>
                <a:defRPr/>
              </a:pPr>
              <a:t>12</a:t>
            </a:fld>
            <a:endParaRPr lang="en-US" altLang="zh-TW"/>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7149A9F-A800-2D60-4B7A-309AA85B1A4B}"/>
                  </a:ext>
                </a:extLst>
              </p:cNvPr>
              <p:cNvSpPr txBox="1"/>
              <p:nvPr/>
            </p:nvSpPr>
            <p:spPr>
              <a:xfrm>
                <a:off x="5791200" y="4421207"/>
                <a:ext cx="228600" cy="276999"/>
              </a:xfrm>
              <a:prstGeom prst="rect">
                <a:avLst/>
              </a:prstGeom>
              <a:noFill/>
              <a:ln>
                <a:solidFill>
                  <a:schemeClr val="bg1"/>
                </a:solidFill>
              </a:ln>
            </p:spPr>
            <p:txBody>
              <a:bodyPr wrap="square" rtlCol="0">
                <a:spAutoFit/>
              </a:bodyPr>
              <a:lstStyle/>
              <a:p>
                <a:pPr/>
                <a14:m>
                  <m:oMathPara xmlns:m="http://schemas.openxmlformats.org/officeDocument/2006/math">
                    <m:oMath>
                      <m:r>
                        <a:rPr lang="en-US" sz="1200" b="0" i="1" smtClean="0">
                          <a:latin typeface="Cambria Math" panose="02040503050406030204" pitchFamily="18" charset="0"/>
                        </a:rPr>
                        <m:t>𝜇</m:t>
                      </m:r>
                      <m:r>
                        <a:rPr lang="en-US" sz="1200" b="0" i="1" smtClean="0">
                          <a:latin typeface="Cambria Math" panose="02040503050406030204" pitchFamily="18" charset="0"/>
                        </a:rPr>
                        <m:t>𝑚</m:t>
                      </m:r>
                    </m:oMath>
                  </m:oMathPara>
                </a14:m>
                <a:endParaRPr lang="en-US" sz="1200" dirty="0">
                  <a:latin typeface="Georgia" panose="02040502050405020303" pitchFamily="18" charset="0"/>
                </a:endParaRPr>
              </a:p>
            </p:txBody>
          </p:sp>
        </mc:Choice>
        <mc:Fallback xmlns="">
          <p:sp>
            <p:nvSpPr>
              <p:cNvPr id="3" name="TextBox 2">
                <a:extLst>
                  <a:ext uri="{FF2B5EF4-FFF2-40B4-BE49-F238E27FC236}">
                    <a16:creationId xmlns:a16="http://schemas.microsoft.com/office/drawing/2014/main" id="{27149A9F-A800-2D60-4B7A-309AA85B1A4B}"/>
                  </a:ext>
                </a:extLst>
              </p:cNvPr>
              <p:cNvSpPr txBox="1">
                <a:spLocks noRot="1" noChangeAspect="1" noMove="1" noResize="1" noEditPoints="1" noAdjustHandles="1" noChangeArrowheads="1" noChangeShapeType="1" noTextEdit="1"/>
              </p:cNvSpPr>
              <p:nvPr/>
            </p:nvSpPr>
            <p:spPr>
              <a:xfrm>
                <a:off x="5791200" y="4421207"/>
                <a:ext cx="228600" cy="276999"/>
              </a:xfrm>
              <a:prstGeom prst="rect">
                <a:avLst/>
              </a:prstGeom>
              <a:blipFill>
                <a:blip r:embed="rId3"/>
                <a:stretch>
                  <a:fillRect r="-50000"/>
                </a:stretch>
              </a:blipFill>
              <a:ln>
                <a:solidFill>
                  <a:schemeClr val="bg1"/>
                </a:solidFill>
              </a:ln>
            </p:spPr>
            <p:txBody>
              <a:bodyPr/>
              <a:lstStyle/>
              <a:p>
                <a:r>
                  <a:rPr lang="en-HK">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13D039-607F-80A3-7E78-2EF22BF4CFEA}"/>
              </a:ext>
            </a:extLst>
          </p:cNvPr>
          <p:cNvSpPr>
            <a:spLocks noGrp="1"/>
          </p:cNvSpPr>
          <p:nvPr>
            <p:ph type="sldNum" sz="quarter" idx="11"/>
          </p:nvPr>
        </p:nvSpPr>
        <p:spPr/>
        <p:txBody>
          <a:bodyPr/>
          <a:lstStyle/>
          <a:p>
            <a:pPr>
              <a:defRPr/>
            </a:pPr>
            <a:fld id="{5C194D1D-C057-4136-B4EC-30B00CAA371F}" type="slidenum">
              <a:rPr lang="zh-TW" altLang="en-US" smtClean="0"/>
              <a:pPr>
                <a:defRPr/>
              </a:pPr>
              <a:t>13</a:t>
            </a:fld>
            <a:endParaRPr lang="en-US" altLang="zh-TW"/>
          </a:p>
        </p:txBody>
      </p:sp>
      <p:pic>
        <p:nvPicPr>
          <p:cNvPr id="3" name="Picture 2">
            <a:extLst>
              <a:ext uri="{FF2B5EF4-FFF2-40B4-BE49-F238E27FC236}">
                <a16:creationId xmlns:a16="http://schemas.microsoft.com/office/drawing/2014/main" id="{4D963086-972B-4F39-8E68-EB4B1BD1B1D5}"/>
              </a:ext>
            </a:extLst>
          </p:cNvPr>
          <p:cNvPicPr>
            <a:picLocks noChangeAspect="1"/>
          </p:cNvPicPr>
          <p:nvPr/>
        </p:nvPicPr>
        <p:blipFill>
          <a:blip r:embed="rId3"/>
          <a:srcRect r="34941"/>
          <a:stretch>
            <a:fillRect/>
          </a:stretch>
        </p:blipFill>
        <p:spPr>
          <a:xfrm>
            <a:off x="914400" y="1600200"/>
            <a:ext cx="7436224" cy="4114800"/>
          </a:xfrm>
          <a:prstGeom prst="rect">
            <a:avLst/>
          </a:prstGeom>
        </p:spPr>
      </p:pic>
      <p:sp>
        <p:nvSpPr>
          <p:cNvPr id="4" name="Rectangle 4">
            <a:extLst>
              <a:ext uri="{FF2B5EF4-FFF2-40B4-BE49-F238E27FC236}">
                <a16:creationId xmlns:a16="http://schemas.microsoft.com/office/drawing/2014/main" id="{D16B57D7-684A-A249-7C4D-64D2644585FB}"/>
              </a:ext>
            </a:extLst>
          </p:cNvPr>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dirty="0">
                <a:solidFill>
                  <a:schemeClr val="bg1"/>
                </a:solidFill>
                <a:ea typeface="新細明體" pitchFamily="18" charset="-120"/>
              </a:rPr>
              <a:t>Example of microstructure</a:t>
            </a:r>
          </a:p>
        </p:txBody>
      </p:sp>
    </p:spTree>
    <p:extLst>
      <p:ext uri="{BB962C8B-B14F-4D97-AF65-F5344CB8AC3E}">
        <p14:creationId xmlns:p14="http://schemas.microsoft.com/office/powerpoint/2010/main" val="140436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2" cstate="print"/>
          <a:srcRect/>
          <a:stretch>
            <a:fillRect/>
          </a:stretch>
        </p:blipFill>
        <p:spPr bwMode="auto">
          <a:xfrm>
            <a:off x="1295400" y="2362200"/>
            <a:ext cx="3657600" cy="2381250"/>
          </a:xfrm>
          <a:prstGeom prst="rect">
            <a:avLst/>
          </a:prstGeom>
          <a:noFill/>
          <a:ln w="9525">
            <a:noFill/>
            <a:miter lim="800000"/>
            <a:headEnd/>
            <a:tailEnd/>
          </a:ln>
        </p:spPr>
      </p:pic>
      <p:sp>
        <p:nvSpPr>
          <p:cNvPr id="20483"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dirty="0">
                <a:solidFill>
                  <a:schemeClr val="bg1"/>
                </a:solidFill>
                <a:ea typeface="新細明體" pitchFamily="18" charset="-120"/>
              </a:rPr>
              <a:t>Sample preparation for specific characterization</a:t>
            </a:r>
          </a:p>
        </p:txBody>
      </p:sp>
      <p:sp>
        <p:nvSpPr>
          <p:cNvPr id="20484" name="Text Box 6"/>
          <p:cNvSpPr txBox="1">
            <a:spLocks noChangeArrowheads="1"/>
          </p:cNvSpPr>
          <p:nvPr/>
        </p:nvSpPr>
        <p:spPr bwMode="auto">
          <a:xfrm>
            <a:off x="914400" y="10668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20485" name="WordArt 7"/>
          <p:cNvSpPr>
            <a:spLocks noChangeArrowheads="1" noChangeShapeType="1" noTextEdit="1"/>
          </p:cNvSpPr>
          <p:nvPr/>
        </p:nvSpPr>
        <p:spPr bwMode="auto">
          <a:xfrm>
            <a:off x="914400" y="5105400"/>
            <a:ext cx="7381875" cy="400050"/>
          </a:xfrm>
          <a:prstGeom prst="rect">
            <a:avLst/>
          </a:prstGeom>
        </p:spPr>
        <p:txBody>
          <a:bodyPr wrap="none" fromWordArt="1">
            <a:prstTxWarp prst="textPlain">
              <a:avLst>
                <a:gd name="adj" fmla="val 50000"/>
              </a:avLst>
            </a:prstTxWarp>
          </a:bodyPr>
          <a:lstStyle/>
          <a:p>
            <a:pPr algn="ctr"/>
            <a:r>
              <a:rPr lang="en-US" sz="2800" i="1" kern="10">
                <a:ln w="9525">
                  <a:solidFill>
                    <a:srgbClr val="000000"/>
                  </a:solidFill>
                  <a:round/>
                  <a:headEnd/>
                  <a:tailEnd/>
                </a:ln>
                <a:solidFill>
                  <a:srgbClr val="FFFFFF"/>
                </a:solidFill>
                <a:effectLst>
                  <a:outerShdw dist="35921" dir="2700000" algn="ctr" rotWithShape="0">
                    <a:srgbClr val="808080">
                      <a:alpha val="79999"/>
                    </a:srgbClr>
                  </a:outerShdw>
                </a:effectLst>
                <a:latin typeface="Times New Roman"/>
                <a:cs typeface="Times New Roman"/>
              </a:rPr>
              <a:t>What we look for in a microstructural analysis?</a:t>
            </a:r>
          </a:p>
        </p:txBody>
      </p:sp>
      <p:pic>
        <p:nvPicPr>
          <p:cNvPr id="20486" name="Picture 8"/>
          <p:cNvPicPr>
            <a:picLocks noChangeAspect="1" noChangeArrowheads="1"/>
          </p:cNvPicPr>
          <p:nvPr/>
        </p:nvPicPr>
        <p:blipFill>
          <a:blip r:embed="rId3" cstate="print"/>
          <a:srcRect/>
          <a:stretch>
            <a:fillRect/>
          </a:stretch>
        </p:blipFill>
        <p:spPr bwMode="auto">
          <a:xfrm>
            <a:off x="5105400" y="2362200"/>
            <a:ext cx="2511425" cy="2141538"/>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5C854A84-6369-4266-9F63-0DF4B696AC2A}"/>
              </a:ext>
            </a:extLst>
          </p:cNvPr>
          <p:cNvSpPr>
            <a:spLocks noGrp="1"/>
          </p:cNvSpPr>
          <p:nvPr>
            <p:ph type="sldNum" sz="quarter" idx="11"/>
          </p:nvPr>
        </p:nvSpPr>
        <p:spPr/>
        <p:txBody>
          <a:bodyPr/>
          <a:lstStyle/>
          <a:p>
            <a:pPr>
              <a:defRPr/>
            </a:pPr>
            <a:fld id="{5C194D1D-C057-4136-B4EC-30B00CAA371F}" type="slidenum">
              <a:rPr lang="zh-TW" altLang="en-US" smtClean="0"/>
              <a:pPr>
                <a:defRPr/>
              </a:pPr>
              <a:t>14</a:t>
            </a:fld>
            <a:endParaRPr lang="en-US" altLang="zh-TW"/>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dirty="0">
                <a:solidFill>
                  <a:schemeClr val="bg1"/>
                </a:solidFill>
                <a:ea typeface="新細明體" pitchFamily="18" charset="-120"/>
              </a:rPr>
              <a:t>Sample preparation for specific characterization</a:t>
            </a:r>
          </a:p>
        </p:txBody>
      </p:sp>
      <p:pic>
        <p:nvPicPr>
          <p:cNvPr id="21507" name="Picture 7" descr="SP_7"/>
          <p:cNvPicPr>
            <a:picLocks noChangeAspect="1" noChangeArrowheads="1"/>
          </p:cNvPicPr>
          <p:nvPr/>
        </p:nvPicPr>
        <p:blipFill>
          <a:blip r:embed="rId2" cstate="print"/>
          <a:srcRect/>
          <a:stretch>
            <a:fillRect/>
          </a:stretch>
        </p:blipFill>
        <p:spPr bwMode="auto">
          <a:xfrm>
            <a:off x="152400" y="1155700"/>
            <a:ext cx="8610600" cy="5549900"/>
          </a:xfrm>
          <a:prstGeom prst="rect">
            <a:avLst/>
          </a:prstGeom>
          <a:noFill/>
          <a:ln w="9525">
            <a:noFill/>
            <a:miter lim="800000"/>
            <a:headEnd/>
            <a:tailEnd/>
          </a:ln>
        </p:spPr>
      </p:pic>
      <p:sp>
        <p:nvSpPr>
          <p:cNvPr id="21508" name="Text Box 5"/>
          <p:cNvSpPr txBox="1">
            <a:spLocks noChangeArrowheads="1"/>
          </p:cNvSpPr>
          <p:nvPr/>
        </p:nvSpPr>
        <p:spPr bwMode="auto">
          <a:xfrm>
            <a:off x="771525" y="9144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21509" name="Rectangle 8"/>
          <p:cNvSpPr>
            <a:spLocks noChangeArrowheads="1"/>
          </p:cNvSpPr>
          <p:nvPr/>
        </p:nvSpPr>
        <p:spPr bwMode="auto">
          <a:xfrm>
            <a:off x="6343650" y="2590800"/>
            <a:ext cx="838200" cy="304800"/>
          </a:xfrm>
          <a:prstGeom prst="rect">
            <a:avLst/>
          </a:prstGeom>
          <a:solidFill>
            <a:schemeClr val="bg1"/>
          </a:solidFill>
          <a:ln w="9525">
            <a:noFill/>
            <a:miter lim="800000"/>
            <a:headEnd/>
            <a:tailEnd/>
          </a:ln>
        </p:spPr>
        <p:txBody>
          <a:bodyPr wrap="none" anchor="ctr"/>
          <a:lstStyle/>
          <a:p>
            <a:endParaRPr lang="en-US">
              <a:latin typeface="Georgia" panose="02040502050405020303" pitchFamily="18" charset="0"/>
            </a:endParaRPr>
          </a:p>
        </p:txBody>
      </p:sp>
      <p:sp>
        <p:nvSpPr>
          <p:cNvPr id="2" name="Slide Number Placeholder 1">
            <a:extLst>
              <a:ext uri="{FF2B5EF4-FFF2-40B4-BE49-F238E27FC236}">
                <a16:creationId xmlns:a16="http://schemas.microsoft.com/office/drawing/2014/main" id="{B31C5B90-B9B8-4030-98D2-3D0D82E9D6F9}"/>
              </a:ext>
            </a:extLst>
          </p:cNvPr>
          <p:cNvSpPr>
            <a:spLocks noGrp="1"/>
          </p:cNvSpPr>
          <p:nvPr>
            <p:ph type="sldNum" sz="quarter" idx="11"/>
          </p:nvPr>
        </p:nvSpPr>
        <p:spPr>
          <a:xfrm>
            <a:off x="6410325" y="6096000"/>
            <a:ext cx="2133600" cy="457200"/>
          </a:xfrm>
        </p:spPr>
        <p:txBody>
          <a:bodyPr/>
          <a:lstStyle/>
          <a:p>
            <a:pPr>
              <a:defRPr/>
            </a:pPr>
            <a:fld id="{5C194D1D-C057-4136-B4EC-30B00CAA371F}" type="slidenum">
              <a:rPr lang="zh-TW" altLang="en-US" smtClean="0"/>
              <a:pPr>
                <a:defRPr/>
              </a:pPr>
              <a:t>15</a:t>
            </a:fld>
            <a:endParaRPr lang="en-US" altLang="zh-TW"/>
          </a:p>
        </p:txBody>
      </p:sp>
      <p:sp>
        <p:nvSpPr>
          <p:cNvPr id="3" name="Rectangle 2">
            <a:extLst>
              <a:ext uri="{FF2B5EF4-FFF2-40B4-BE49-F238E27FC236}">
                <a16:creationId xmlns:a16="http://schemas.microsoft.com/office/drawing/2014/main" id="{70EA6A05-E2F2-3F04-2FD3-B572137A3D33}"/>
              </a:ext>
            </a:extLst>
          </p:cNvPr>
          <p:cNvSpPr/>
          <p:nvPr/>
        </p:nvSpPr>
        <p:spPr bwMode="auto">
          <a:xfrm>
            <a:off x="3590925" y="2362200"/>
            <a:ext cx="5172075" cy="76200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noFill/>
              <a:effectLst/>
              <a:latin typeface="Georgia" panose="02040502050405020303" pitchFamily="18" charset="0"/>
            </a:endParaRPr>
          </a:p>
        </p:txBody>
      </p:sp>
      <p:sp>
        <p:nvSpPr>
          <p:cNvPr id="4" name="Rectangle 3">
            <a:extLst>
              <a:ext uri="{FF2B5EF4-FFF2-40B4-BE49-F238E27FC236}">
                <a16:creationId xmlns:a16="http://schemas.microsoft.com/office/drawing/2014/main" id="{0C8E453F-623C-D9C9-7794-C5C5F38579B3}"/>
              </a:ext>
            </a:extLst>
          </p:cNvPr>
          <p:cNvSpPr/>
          <p:nvPr/>
        </p:nvSpPr>
        <p:spPr bwMode="auto">
          <a:xfrm>
            <a:off x="3585670" y="3873498"/>
            <a:ext cx="5172075" cy="457201"/>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noFill/>
              <a:effectLst/>
              <a:latin typeface="Georgia" panose="02040502050405020303" pitchFamily="18" charset="0"/>
            </a:endParaRPr>
          </a:p>
        </p:txBody>
      </p:sp>
      <p:sp>
        <p:nvSpPr>
          <p:cNvPr id="5" name="Rectangle 4">
            <a:extLst>
              <a:ext uri="{FF2B5EF4-FFF2-40B4-BE49-F238E27FC236}">
                <a16:creationId xmlns:a16="http://schemas.microsoft.com/office/drawing/2014/main" id="{DB041664-1095-78FF-7625-AB4D098F662E}"/>
              </a:ext>
            </a:extLst>
          </p:cNvPr>
          <p:cNvSpPr/>
          <p:nvPr/>
        </p:nvSpPr>
        <p:spPr bwMode="auto">
          <a:xfrm>
            <a:off x="3533775" y="5565118"/>
            <a:ext cx="5172075" cy="457201"/>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noFill/>
              <a:effectLst/>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dirty="0">
                <a:solidFill>
                  <a:schemeClr val="bg1"/>
                </a:solidFill>
                <a:ea typeface="新細明體" pitchFamily="18" charset="-120"/>
              </a:rPr>
              <a:t>Sample preparation for specific characterization</a:t>
            </a:r>
          </a:p>
        </p:txBody>
      </p:sp>
      <p:pic>
        <p:nvPicPr>
          <p:cNvPr id="22531" name="Picture 7" descr="SP_8"/>
          <p:cNvPicPr>
            <a:picLocks noChangeAspect="1" noChangeArrowheads="1"/>
          </p:cNvPicPr>
          <p:nvPr/>
        </p:nvPicPr>
        <p:blipFill>
          <a:blip r:embed="rId2" cstate="print"/>
          <a:srcRect/>
          <a:stretch>
            <a:fillRect/>
          </a:stretch>
        </p:blipFill>
        <p:spPr bwMode="auto">
          <a:xfrm>
            <a:off x="1920875" y="1219200"/>
            <a:ext cx="4706938" cy="5638800"/>
          </a:xfrm>
          <a:prstGeom prst="rect">
            <a:avLst/>
          </a:prstGeom>
          <a:noFill/>
          <a:ln w="9525">
            <a:noFill/>
            <a:miter lim="800000"/>
            <a:headEnd/>
            <a:tailEnd/>
          </a:ln>
        </p:spPr>
      </p:pic>
      <p:sp>
        <p:nvSpPr>
          <p:cNvPr id="22532" name="Text Box 5"/>
          <p:cNvSpPr txBox="1">
            <a:spLocks noChangeArrowheads="1"/>
          </p:cNvSpPr>
          <p:nvPr/>
        </p:nvSpPr>
        <p:spPr bwMode="auto">
          <a:xfrm>
            <a:off x="914400" y="847725"/>
            <a:ext cx="7513638" cy="519113"/>
          </a:xfrm>
          <a:prstGeom prst="rect">
            <a:avLst/>
          </a:prstGeom>
          <a:noFill/>
          <a:ln w="9525">
            <a:noFill/>
            <a:miter lim="800000"/>
            <a:headEnd/>
            <a:tailEnd/>
          </a:ln>
        </p:spPr>
        <p:txBody>
          <a:bodyPr wrap="none">
            <a:spAutoFit/>
          </a:bodyPr>
          <a:lstStyle/>
          <a:p>
            <a:r>
              <a:rPr lang="en-US" altLang="zh-TW" sz="2800">
                <a:ea typeface="新細明體" pitchFamily="18" charset="-120"/>
              </a:rPr>
              <a:t>Sample preparation for microscopic evaluation</a:t>
            </a:r>
          </a:p>
        </p:txBody>
      </p:sp>
      <p:sp>
        <p:nvSpPr>
          <p:cNvPr id="2" name="Slide Number Placeholder 1">
            <a:extLst>
              <a:ext uri="{FF2B5EF4-FFF2-40B4-BE49-F238E27FC236}">
                <a16:creationId xmlns:a16="http://schemas.microsoft.com/office/drawing/2014/main" id="{E4D95C05-40DB-4A42-985A-D8DF4C8EC964}"/>
              </a:ext>
            </a:extLst>
          </p:cNvPr>
          <p:cNvSpPr>
            <a:spLocks noGrp="1"/>
          </p:cNvSpPr>
          <p:nvPr>
            <p:ph type="sldNum" sz="quarter" idx="11"/>
          </p:nvPr>
        </p:nvSpPr>
        <p:spPr/>
        <p:txBody>
          <a:bodyPr/>
          <a:lstStyle/>
          <a:p>
            <a:pPr>
              <a:defRPr/>
            </a:pPr>
            <a:fld id="{5C194D1D-C057-4136-B4EC-30B00CAA371F}" type="slidenum">
              <a:rPr lang="zh-TW" altLang="en-US" smtClean="0"/>
              <a:pPr>
                <a:defRPr/>
              </a:pPr>
              <a:t>16</a:t>
            </a:fld>
            <a:endParaRPr lang="en-US" altLang="zh-TW"/>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3555" name="WordArt 6"/>
          <p:cNvSpPr>
            <a:spLocks noChangeArrowheads="1" noChangeShapeType="1" noTextEdit="1"/>
          </p:cNvSpPr>
          <p:nvPr/>
        </p:nvSpPr>
        <p:spPr bwMode="auto">
          <a:xfrm>
            <a:off x="400050" y="1600200"/>
            <a:ext cx="3438525"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Sectioning and Polishing</a:t>
            </a:r>
          </a:p>
        </p:txBody>
      </p:sp>
      <p:sp>
        <p:nvSpPr>
          <p:cNvPr id="23556" name="Text Box 7"/>
          <p:cNvSpPr txBox="1">
            <a:spLocks noChangeArrowheads="1"/>
          </p:cNvSpPr>
          <p:nvPr/>
        </p:nvSpPr>
        <p:spPr bwMode="auto">
          <a:xfrm>
            <a:off x="838200" y="2057400"/>
            <a:ext cx="7620000" cy="3757613"/>
          </a:xfrm>
          <a:prstGeom prst="rect">
            <a:avLst/>
          </a:prstGeom>
          <a:noFill/>
          <a:ln w="9525">
            <a:noFill/>
            <a:miter lim="800000"/>
            <a:headEnd/>
            <a:tailEnd/>
          </a:ln>
        </p:spPr>
        <p:txBody>
          <a:bodyPr>
            <a:spAutoFit/>
          </a:bodyPr>
          <a:lstStyle/>
          <a:p>
            <a:pPr marL="180975" indent="-180975" algn="just">
              <a:spcBef>
                <a:spcPct val="50000"/>
              </a:spcBef>
              <a:buFontTx/>
              <a:buChar char="•"/>
            </a:pPr>
            <a:r>
              <a:rPr lang="en-US" altLang="zh-TW" sz="1700">
                <a:latin typeface="Georgia" panose="02040502050405020303" pitchFamily="18" charset="0"/>
                <a:ea typeface="新細明體" pitchFamily="18" charset="-120"/>
              </a:rPr>
              <a:t>Sample prepared by sectioning to size appropriate for microscopic study.</a:t>
            </a:r>
          </a:p>
          <a:p>
            <a:pPr marL="180975" indent="-180975" algn="just">
              <a:spcBef>
                <a:spcPct val="50000"/>
              </a:spcBef>
              <a:buFontTx/>
              <a:buChar char="•"/>
            </a:pPr>
            <a:r>
              <a:rPr lang="en-US" altLang="zh-TW" sz="1700">
                <a:latin typeface="Georgia" panose="02040502050405020303" pitchFamily="18" charset="0"/>
                <a:ea typeface="新細明體" pitchFamily="18" charset="-120"/>
              </a:rPr>
              <a:t>With a regular saw, surface damage during sectioning can extend 200 </a:t>
            </a:r>
            <a:r>
              <a:rPr lang="el-GR" altLang="zh-TW" sz="1700">
                <a:latin typeface="Georgia" panose="02040502050405020303" pitchFamily="18" charset="0"/>
              </a:rPr>
              <a:t>μ</a:t>
            </a:r>
            <a:r>
              <a:rPr lang="en-US" altLang="zh-TW" sz="1700">
                <a:latin typeface="Georgia" panose="02040502050405020303" pitchFamily="18" charset="0"/>
                <a:ea typeface="新細明體" pitchFamily="18" charset="-120"/>
              </a:rPr>
              <a:t>m or more into the sample.  Use of narrower and thin cutting saw/blade (~100 </a:t>
            </a:r>
            <a:r>
              <a:rPr lang="el-GR" altLang="zh-TW" sz="1700">
                <a:latin typeface="Georgia" panose="02040502050405020303" pitchFamily="18" charset="0"/>
              </a:rPr>
              <a:t>μ</a:t>
            </a:r>
            <a:r>
              <a:rPr lang="en-US" altLang="zh-TW" sz="1700">
                <a:latin typeface="Georgia" panose="02040502050405020303" pitchFamily="18" charset="0"/>
                <a:ea typeface="新細明體" pitchFamily="18" charset="-120"/>
              </a:rPr>
              <a:t>m thin) can reduce the surface damage to less than 1 </a:t>
            </a:r>
            <a:r>
              <a:rPr lang="el-GR" altLang="zh-TW" sz="1700">
                <a:latin typeface="Georgia" panose="02040502050405020303" pitchFamily="18" charset="0"/>
              </a:rPr>
              <a:t>μ</a:t>
            </a:r>
            <a:r>
              <a:rPr lang="en-US" altLang="zh-TW" sz="1700">
                <a:latin typeface="Georgia" panose="02040502050405020303" pitchFamily="18" charset="0"/>
                <a:ea typeface="新細明體" pitchFamily="18" charset="-120"/>
              </a:rPr>
              <a:t>m.  </a:t>
            </a:r>
            <a:r>
              <a:rPr lang="en-US" altLang="zh-TW" sz="1700" i="1">
                <a:solidFill>
                  <a:srgbClr val="FF3300"/>
                </a:solidFill>
                <a:latin typeface="Georgia" panose="02040502050405020303" pitchFamily="18" charset="0"/>
                <a:ea typeface="新細明體" pitchFamily="18" charset="-120"/>
              </a:rPr>
              <a:t>(Destroy the sample region we want to study?)</a:t>
            </a:r>
          </a:p>
          <a:p>
            <a:pPr marL="180975" indent="-180975" algn="just">
              <a:spcBef>
                <a:spcPct val="50000"/>
              </a:spcBef>
              <a:buFontTx/>
              <a:buChar char="•"/>
            </a:pPr>
            <a:r>
              <a:rPr lang="en-US" altLang="zh-TW" sz="1700">
                <a:latin typeface="Georgia" panose="02040502050405020303" pitchFamily="18" charset="0"/>
                <a:ea typeface="新細明體" pitchFamily="18" charset="-120"/>
              </a:rPr>
              <a:t>Mounting sample with appropriate epoxies. </a:t>
            </a:r>
            <a:r>
              <a:rPr lang="en-US" altLang="zh-TW" i="1">
                <a:solidFill>
                  <a:srgbClr val="FF3300"/>
                </a:solidFill>
                <a:latin typeface="Georgia" panose="02040502050405020303" pitchFamily="18" charset="0"/>
                <a:ea typeface="新細明體" pitchFamily="18" charset="-120"/>
              </a:rPr>
              <a:t>(Do these epoxies and mounting procedures affect the microstructures of the samples?)</a:t>
            </a:r>
            <a:endParaRPr lang="en-US" altLang="zh-TW" sz="1700">
              <a:latin typeface="Georgia" panose="02040502050405020303" pitchFamily="18" charset="0"/>
              <a:ea typeface="新細明體" pitchFamily="18" charset="-120"/>
            </a:endParaRPr>
          </a:p>
          <a:p>
            <a:pPr marL="180975" indent="-180975" algn="just">
              <a:spcBef>
                <a:spcPct val="50000"/>
              </a:spcBef>
              <a:buFontTx/>
              <a:buChar char="•"/>
            </a:pPr>
            <a:r>
              <a:rPr lang="en-US" altLang="zh-TW" sz="1700">
                <a:latin typeface="Georgia" panose="02040502050405020303" pitchFamily="18" charset="0"/>
                <a:ea typeface="新細明體" pitchFamily="18" charset="-120"/>
              </a:rPr>
              <a:t>Simultaneous lubrication and cooling with water, oil or alcohol is desirable. </a:t>
            </a:r>
            <a:r>
              <a:rPr lang="en-US" altLang="zh-TW" sz="1700" i="1">
                <a:solidFill>
                  <a:srgbClr val="FF3300"/>
                </a:solidFill>
                <a:latin typeface="Georgia" panose="02040502050405020303" pitchFamily="18" charset="0"/>
                <a:ea typeface="新細明體" pitchFamily="18" charset="-120"/>
              </a:rPr>
              <a:t>(Do these lubricants and cooling reagents react with the samples?)</a:t>
            </a:r>
          </a:p>
          <a:p>
            <a:pPr marL="180975" indent="-180975" algn="just">
              <a:spcBef>
                <a:spcPct val="50000"/>
              </a:spcBef>
              <a:buFontTx/>
              <a:buChar char="•"/>
            </a:pPr>
            <a:r>
              <a:rPr lang="en-US" altLang="zh-TW" sz="1700">
                <a:latin typeface="Georgia" panose="02040502050405020303" pitchFamily="18" charset="0"/>
                <a:ea typeface="新細明體" pitchFamily="18" charset="-120"/>
              </a:rPr>
              <a:t>Polishing is done by continuous rubbing/grinding against abrasive sheets with abrasive particles (diamond, SiC, Al</a:t>
            </a:r>
            <a:r>
              <a:rPr lang="en-US" altLang="zh-TW" sz="1700" baseline="-25000">
                <a:latin typeface="Georgia" panose="02040502050405020303" pitchFamily="18" charset="0"/>
                <a:ea typeface="新細明體" pitchFamily="18" charset="-120"/>
              </a:rPr>
              <a:t>2</a:t>
            </a:r>
            <a:r>
              <a:rPr lang="en-US" altLang="zh-TW" sz="1700">
                <a:latin typeface="Georgia" panose="02040502050405020303" pitchFamily="18" charset="0"/>
                <a:ea typeface="新細明體" pitchFamily="18" charset="-120"/>
              </a:rPr>
              <a:t>O</a:t>
            </a:r>
            <a:r>
              <a:rPr lang="en-US" altLang="zh-TW" sz="1700" baseline="-25000">
                <a:latin typeface="Georgia" panose="02040502050405020303" pitchFamily="18" charset="0"/>
                <a:ea typeface="新細明體" pitchFamily="18" charset="-120"/>
              </a:rPr>
              <a:t>3</a:t>
            </a:r>
            <a:r>
              <a:rPr lang="en-US" altLang="zh-TW" sz="1700">
                <a:latin typeface="Georgia" panose="02040502050405020303" pitchFamily="18" charset="0"/>
                <a:ea typeface="新細明體" pitchFamily="18" charset="-120"/>
              </a:rPr>
              <a:t>) as fine as 0.05 </a:t>
            </a:r>
            <a:r>
              <a:rPr lang="el-GR" altLang="zh-TW" sz="1700">
                <a:latin typeface="Georgia" panose="02040502050405020303" pitchFamily="18" charset="0"/>
              </a:rPr>
              <a:t>μ</a:t>
            </a:r>
            <a:r>
              <a:rPr lang="en-US" altLang="zh-TW" sz="1700">
                <a:latin typeface="Georgia" panose="02040502050405020303" pitchFamily="18" charset="0"/>
                <a:ea typeface="新細明體" pitchFamily="18" charset="-120"/>
              </a:rPr>
              <a:t>m. </a:t>
            </a:r>
            <a:r>
              <a:rPr lang="en-US" altLang="zh-TW" sz="1700" i="1">
                <a:solidFill>
                  <a:srgbClr val="FF3300"/>
                </a:solidFill>
                <a:latin typeface="Georgia" panose="02040502050405020303" pitchFamily="18" charset="0"/>
                <a:ea typeface="新細明體" pitchFamily="18" charset="-120"/>
              </a:rPr>
              <a:t>(Be careful of the residual abrasive particles left on the sample surface!)</a:t>
            </a:r>
          </a:p>
        </p:txBody>
      </p:sp>
      <p:sp>
        <p:nvSpPr>
          <p:cNvPr id="23557" name="WordArt 8"/>
          <p:cNvSpPr>
            <a:spLocks noChangeArrowheads="1" noChangeShapeType="1" noTextEdit="1"/>
          </p:cNvSpPr>
          <p:nvPr/>
        </p:nvSpPr>
        <p:spPr bwMode="auto">
          <a:xfrm>
            <a:off x="847725" y="6076950"/>
            <a:ext cx="7381875" cy="400050"/>
          </a:xfrm>
          <a:prstGeom prst="rect">
            <a:avLst/>
          </a:prstGeom>
        </p:spPr>
        <p:txBody>
          <a:bodyPr wrap="none" fromWordArt="1">
            <a:prstTxWarp prst="textPlain">
              <a:avLst>
                <a:gd name="adj" fmla="val 50000"/>
              </a:avLst>
            </a:prstTxWarp>
          </a:bodyPr>
          <a:lstStyle/>
          <a:p>
            <a:pPr algn="ctr"/>
            <a:r>
              <a:rPr lang="en-US" sz="2800" i="1" kern="10">
                <a:ln w="9525">
                  <a:solidFill>
                    <a:srgbClr val="000000"/>
                  </a:solidFill>
                  <a:round/>
                  <a:headEnd/>
                  <a:tailEnd/>
                </a:ln>
                <a:solidFill>
                  <a:srgbClr val="FFFFFF"/>
                </a:solidFill>
                <a:effectLst>
                  <a:outerShdw dist="35921" dir="2700000" algn="ctr" rotWithShape="0">
                    <a:srgbClr val="808080">
                      <a:alpha val="79999"/>
                    </a:srgbClr>
                  </a:outerShdw>
                </a:effectLst>
                <a:latin typeface="Times New Roman"/>
                <a:cs typeface="Times New Roman"/>
              </a:rPr>
              <a:t>Will have hands-on experience in laboratory sessions.</a:t>
            </a:r>
          </a:p>
        </p:txBody>
      </p:sp>
      <p:sp>
        <p:nvSpPr>
          <p:cNvPr id="23558" name="Text Box 9"/>
          <p:cNvSpPr txBox="1">
            <a:spLocks noChangeArrowheads="1"/>
          </p:cNvSpPr>
          <p:nvPr/>
        </p:nvSpPr>
        <p:spPr bwMode="auto">
          <a:xfrm>
            <a:off x="914400" y="9144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2" name="Slide Number Placeholder 1">
            <a:extLst>
              <a:ext uri="{FF2B5EF4-FFF2-40B4-BE49-F238E27FC236}">
                <a16:creationId xmlns:a16="http://schemas.microsoft.com/office/drawing/2014/main" id="{1E75680A-395B-4D77-8788-79FBF7329D22}"/>
              </a:ext>
            </a:extLst>
          </p:cNvPr>
          <p:cNvSpPr>
            <a:spLocks noGrp="1"/>
          </p:cNvSpPr>
          <p:nvPr>
            <p:ph type="sldNum" sz="quarter" idx="11"/>
          </p:nvPr>
        </p:nvSpPr>
        <p:spPr>
          <a:xfrm>
            <a:off x="6553200" y="6096000"/>
            <a:ext cx="2133600" cy="457200"/>
          </a:xfrm>
        </p:spPr>
        <p:txBody>
          <a:bodyPr/>
          <a:lstStyle/>
          <a:p>
            <a:pPr>
              <a:defRPr/>
            </a:pPr>
            <a:fld id="{5C194D1D-C057-4136-B4EC-30B00CAA371F}" type="slidenum">
              <a:rPr lang="zh-TW" altLang="en-US" smtClean="0">
                <a:latin typeface="Georgia" panose="02040502050405020303" pitchFamily="18" charset="0"/>
              </a:rPr>
              <a:pPr>
                <a:defRPr/>
              </a:pPr>
              <a:t>17</a:t>
            </a:fld>
            <a:endParaRPr lang="en-US" altLang="zh-TW">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p:cNvPicPr>
            <a:picLocks noChangeAspect="1" noChangeArrowheads="1"/>
          </p:cNvPicPr>
          <p:nvPr/>
        </p:nvPicPr>
        <p:blipFill>
          <a:blip r:embed="rId2" cstate="print"/>
          <a:srcRect/>
          <a:stretch>
            <a:fillRect/>
          </a:stretch>
        </p:blipFill>
        <p:spPr bwMode="auto">
          <a:xfrm>
            <a:off x="228600" y="2286000"/>
            <a:ext cx="2771775" cy="2971800"/>
          </a:xfrm>
          <a:prstGeom prst="rect">
            <a:avLst/>
          </a:prstGeom>
          <a:noFill/>
          <a:ln w="9525">
            <a:noFill/>
            <a:miter lim="800000"/>
            <a:headEnd/>
            <a:tailEnd/>
          </a:ln>
        </p:spPr>
      </p:pic>
      <p:sp>
        <p:nvSpPr>
          <p:cNvPr id="24579"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4580" name="Text Box 6"/>
          <p:cNvSpPr txBox="1">
            <a:spLocks noChangeArrowheads="1"/>
          </p:cNvSpPr>
          <p:nvPr/>
        </p:nvSpPr>
        <p:spPr bwMode="auto">
          <a:xfrm>
            <a:off x="838200" y="9144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pic>
        <p:nvPicPr>
          <p:cNvPr id="24581" name="Picture 8"/>
          <p:cNvPicPr>
            <a:picLocks noChangeAspect="1" noChangeArrowheads="1"/>
          </p:cNvPicPr>
          <p:nvPr/>
        </p:nvPicPr>
        <p:blipFill>
          <a:blip r:embed="rId3" cstate="print"/>
          <a:srcRect/>
          <a:stretch>
            <a:fillRect/>
          </a:stretch>
        </p:blipFill>
        <p:spPr bwMode="auto">
          <a:xfrm>
            <a:off x="3200400" y="1828800"/>
            <a:ext cx="5334000" cy="2057400"/>
          </a:xfrm>
          <a:prstGeom prst="rect">
            <a:avLst/>
          </a:prstGeom>
          <a:noFill/>
          <a:ln w="9525">
            <a:noFill/>
            <a:miter lim="800000"/>
            <a:headEnd/>
            <a:tailEnd/>
          </a:ln>
        </p:spPr>
      </p:pic>
      <p:sp>
        <p:nvSpPr>
          <p:cNvPr id="24582" name="Text Box 9"/>
          <p:cNvSpPr txBox="1">
            <a:spLocks noChangeArrowheads="1"/>
          </p:cNvSpPr>
          <p:nvPr/>
        </p:nvSpPr>
        <p:spPr bwMode="auto">
          <a:xfrm>
            <a:off x="3124200" y="3962400"/>
            <a:ext cx="5562600" cy="2462213"/>
          </a:xfrm>
          <a:prstGeom prst="rect">
            <a:avLst/>
          </a:prstGeom>
          <a:noFill/>
          <a:ln w="9525">
            <a:noFill/>
            <a:miter lim="800000"/>
            <a:headEnd/>
            <a:tailEnd/>
          </a:ln>
        </p:spPr>
        <p:txBody>
          <a:bodyPr>
            <a:spAutoFit/>
          </a:bodyPr>
          <a:lstStyle/>
          <a:p>
            <a:pPr algn="just">
              <a:tabLst>
                <a:tab pos="269875" algn="l"/>
                <a:tab pos="541338" algn="l"/>
              </a:tabLst>
            </a:pPr>
            <a:r>
              <a:rPr lang="en-US" altLang="zh-TW" sz="1400" dirty="0">
                <a:solidFill>
                  <a:srgbClr val="FFC000"/>
                </a:solidFill>
                <a:latin typeface="Georgia" panose="02040502050405020303" pitchFamily="18" charset="0"/>
                <a:ea typeface="新細明體" pitchFamily="18" charset="-120"/>
              </a:rPr>
              <a:t>Depth of deformation (</a:t>
            </a:r>
            <a:r>
              <a:rPr lang="en-US" altLang="zh-TW" sz="1400" dirty="0" err="1">
                <a:solidFill>
                  <a:srgbClr val="FFC000"/>
                </a:solidFill>
                <a:latin typeface="Georgia" panose="02040502050405020303" pitchFamily="18" charset="0"/>
                <a:ea typeface="新細明體" pitchFamily="18" charset="-120"/>
              </a:rPr>
              <a:t>Dd</a:t>
            </a:r>
            <a:r>
              <a:rPr lang="en-US" altLang="zh-TW" sz="1400" dirty="0">
                <a:solidFill>
                  <a:srgbClr val="FFC000"/>
                </a:solidFill>
                <a:latin typeface="Georgia" panose="02040502050405020303" pitchFamily="18" charset="0"/>
                <a:ea typeface="新細明體" pitchFamily="18" charset="-120"/>
              </a:rPr>
              <a:t>):</a:t>
            </a:r>
          </a:p>
          <a:p>
            <a:pPr algn="just">
              <a:tabLst>
                <a:tab pos="269875" algn="l"/>
                <a:tab pos="541338" algn="l"/>
              </a:tabLst>
            </a:pPr>
            <a:r>
              <a:rPr lang="en-US" altLang="zh-TW" sz="1400" dirty="0">
                <a:latin typeface="Georgia" panose="02040502050405020303" pitchFamily="18" charset="0"/>
                <a:ea typeface="新細明體" pitchFamily="18" charset="-120"/>
              </a:rPr>
              <a:t>	Maximum depth beneath the root of the surface scratches to the 	elastic-plastic boundary.</a:t>
            </a:r>
          </a:p>
          <a:p>
            <a:pPr algn="just">
              <a:tabLst>
                <a:tab pos="269875" algn="l"/>
                <a:tab pos="541338" algn="l"/>
              </a:tabLst>
            </a:pPr>
            <a:endParaRPr lang="en-US" altLang="zh-TW" sz="1400" dirty="0">
              <a:latin typeface="Georgia" panose="02040502050405020303" pitchFamily="18" charset="0"/>
              <a:ea typeface="新細明體" pitchFamily="18" charset="-120"/>
            </a:endParaRPr>
          </a:p>
          <a:p>
            <a:pPr algn="just">
              <a:tabLst>
                <a:tab pos="269875" algn="l"/>
                <a:tab pos="541338" algn="l"/>
              </a:tabLst>
            </a:pPr>
            <a:r>
              <a:rPr lang="en-US" altLang="zh-TW" sz="1400" dirty="0">
                <a:solidFill>
                  <a:srgbClr val="00B0F0"/>
                </a:solidFill>
                <a:latin typeface="Georgia" panose="02040502050405020303" pitchFamily="18" charset="0"/>
                <a:ea typeface="新細明體" pitchFamily="18" charset="-120"/>
              </a:rPr>
              <a:t>Depth of significant deformation (Ds):</a:t>
            </a:r>
          </a:p>
          <a:p>
            <a:pPr marL="269875" lvl="1" algn="just">
              <a:tabLst>
                <a:tab pos="269875" algn="l"/>
                <a:tab pos="541338" algn="l"/>
              </a:tabLst>
            </a:pPr>
            <a:r>
              <a:rPr lang="en-US" altLang="zh-TW" sz="1400" dirty="0">
                <a:latin typeface="Georgia" panose="02040502050405020303" pitchFamily="18" charset="0"/>
                <a:ea typeface="新細明體" pitchFamily="18" charset="-120"/>
              </a:rPr>
              <a:t>Maximum depth beneath the root of the surface scratches of the deformation that will noticeably affect the observations to be made on the finished surface.</a:t>
            </a:r>
          </a:p>
          <a:p>
            <a:pPr marL="269875" lvl="1" algn="just">
              <a:tabLst>
                <a:tab pos="269875" algn="l"/>
                <a:tab pos="541338" algn="l"/>
              </a:tabLst>
            </a:pPr>
            <a:endParaRPr lang="en-US" altLang="zh-TW" sz="1400" dirty="0">
              <a:latin typeface="Georgia" panose="02040502050405020303" pitchFamily="18" charset="0"/>
              <a:ea typeface="新細明體" pitchFamily="18" charset="-120"/>
            </a:endParaRPr>
          </a:p>
          <a:p>
            <a:pPr algn="just">
              <a:tabLst>
                <a:tab pos="269875" algn="l"/>
                <a:tab pos="541338" algn="l"/>
              </a:tabLst>
            </a:pPr>
            <a:r>
              <a:rPr lang="en-US" altLang="zh-TW" sz="1400" dirty="0">
                <a:solidFill>
                  <a:srgbClr val="FF0000"/>
                </a:solidFill>
                <a:latin typeface="Georgia" panose="02040502050405020303" pitchFamily="18" charset="0"/>
                <a:ea typeface="新細明體" pitchFamily="18" charset="-120"/>
              </a:rPr>
              <a:t>Depth of fragmented layer (</a:t>
            </a:r>
            <a:r>
              <a:rPr lang="en-US" altLang="zh-TW" sz="1400" dirty="0" err="1">
                <a:solidFill>
                  <a:srgbClr val="FF0000"/>
                </a:solidFill>
                <a:latin typeface="Georgia" panose="02040502050405020303" pitchFamily="18" charset="0"/>
                <a:ea typeface="新細明體" pitchFamily="18" charset="-120"/>
              </a:rPr>
              <a:t>Df</a:t>
            </a:r>
            <a:r>
              <a:rPr lang="en-US" altLang="zh-TW" sz="1400" dirty="0">
                <a:solidFill>
                  <a:srgbClr val="FF0000"/>
                </a:solidFill>
                <a:latin typeface="Georgia" panose="02040502050405020303" pitchFamily="18" charset="0"/>
                <a:ea typeface="新細明體" pitchFamily="18" charset="-120"/>
              </a:rPr>
              <a:t>):</a:t>
            </a:r>
          </a:p>
          <a:p>
            <a:pPr algn="just">
              <a:tabLst>
                <a:tab pos="269875" algn="l"/>
                <a:tab pos="541338" algn="l"/>
              </a:tabLst>
            </a:pPr>
            <a:r>
              <a:rPr lang="en-US" altLang="zh-TW" sz="1400" dirty="0">
                <a:latin typeface="Georgia" panose="02040502050405020303" pitchFamily="18" charset="0"/>
                <a:ea typeface="新細明體" pitchFamily="18" charset="-120"/>
              </a:rPr>
              <a:t>	Approximately equal to the depth of the surface scratches.</a:t>
            </a:r>
          </a:p>
        </p:txBody>
      </p:sp>
      <p:sp>
        <p:nvSpPr>
          <p:cNvPr id="2" name="Slide Number Placeholder 1">
            <a:extLst>
              <a:ext uri="{FF2B5EF4-FFF2-40B4-BE49-F238E27FC236}">
                <a16:creationId xmlns:a16="http://schemas.microsoft.com/office/drawing/2014/main" id="{33679C95-EB85-4429-92EC-8ABBFD26E006}"/>
              </a:ext>
            </a:extLst>
          </p:cNvPr>
          <p:cNvSpPr>
            <a:spLocks noGrp="1"/>
          </p:cNvSpPr>
          <p:nvPr>
            <p:ph type="sldNum" sz="quarter" idx="11"/>
          </p:nvPr>
        </p:nvSpPr>
        <p:spPr>
          <a:xfrm>
            <a:off x="6477000" y="6096000"/>
            <a:ext cx="2133600" cy="457200"/>
          </a:xfrm>
        </p:spPr>
        <p:txBody>
          <a:bodyPr/>
          <a:lstStyle/>
          <a:p>
            <a:pPr>
              <a:defRPr/>
            </a:pPr>
            <a:fld id="{5C194D1D-C057-4136-B4EC-30B00CAA371F}" type="slidenum">
              <a:rPr lang="zh-TW" altLang="en-US" smtClean="0">
                <a:latin typeface="Georgia" panose="02040502050405020303" pitchFamily="18" charset="0"/>
              </a:rPr>
              <a:pPr>
                <a:defRPr/>
              </a:pPr>
              <a:t>18</a:t>
            </a:fld>
            <a:endParaRPr lang="en-US" altLang="zh-TW">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5603" name="Text Box 7"/>
          <p:cNvSpPr txBox="1">
            <a:spLocks noChangeArrowheads="1"/>
          </p:cNvSpPr>
          <p:nvPr/>
        </p:nvSpPr>
        <p:spPr bwMode="auto">
          <a:xfrm>
            <a:off x="914400" y="10668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63497" name="Text Box 9"/>
          <p:cNvSpPr txBox="1">
            <a:spLocks noChangeArrowheads="1"/>
          </p:cNvSpPr>
          <p:nvPr/>
        </p:nvSpPr>
        <p:spPr bwMode="auto">
          <a:xfrm>
            <a:off x="231859" y="2705725"/>
            <a:ext cx="2505814" cy="1446550"/>
          </a:xfrm>
          <a:prstGeom prst="rect">
            <a:avLst/>
          </a:prstGeom>
          <a:noFill/>
          <a:ln w="9525">
            <a:noFill/>
            <a:miter lim="800000"/>
            <a:headEnd/>
            <a:tailEnd/>
          </a:ln>
          <a:effectLst/>
        </p:spPr>
        <p:txBody>
          <a:bodyPr wrap="none">
            <a:spAutoFit/>
          </a:bodyPr>
          <a:lstStyle/>
          <a:p>
            <a:pPr marL="342900" indent="-342900">
              <a:buFontTx/>
              <a:buAutoNum type="alphaLcParenBoth"/>
              <a:defRPr/>
            </a:pPr>
            <a:r>
              <a:rPr lang="en-US" altLang="zh-TW" sz="1600" i="1" dirty="0">
                <a:effectLst>
                  <a:outerShdw blurRad="38100" dist="38100" dir="2700000" algn="tl">
                    <a:srgbClr val="C0C0C0"/>
                  </a:outerShdw>
                </a:effectLst>
                <a:latin typeface="Georgia" panose="02040502050405020303" pitchFamily="18" charset="0"/>
                <a:ea typeface="新細明體" pitchFamily="18" charset="-120"/>
              </a:rPr>
              <a:t>After fine grinding</a:t>
            </a:r>
          </a:p>
          <a:p>
            <a:pPr marL="342900" indent="-342900">
              <a:buFontTx/>
              <a:buAutoNum type="alphaLcParenBoth"/>
              <a:defRPr/>
            </a:pPr>
            <a:endParaRPr lang="en-US" altLang="zh-TW" sz="800" i="1" dirty="0">
              <a:effectLst>
                <a:outerShdw blurRad="38100" dist="38100" dir="2700000" algn="tl">
                  <a:srgbClr val="C0C0C0"/>
                </a:outerShdw>
              </a:effectLst>
              <a:latin typeface="Georgia" panose="02040502050405020303" pitchFamily="18" charset="0"/>
              <a:ea typeface="新細明體" pitchFamily="18" charset="-120"/>
            </a:endParaRPr>
          </a:p>
          <a:p>
            <a:pPr marL="342900" indent="-342900">
              <a:buFontTx/>
              <a:buAutoNum type="alphaLcParenBoth"/>
              <a:defRPr/>
            </a:pPr>
            <a:r>
              <a:rPr lang="en-US" altLang="zh-TW" sz="1600" i="1" dirty="0">
                <a:effectLst>
                  <a:outerShdw blurRad="38100" dist="38100" dir="2700000" algn="tl">
                    <a:srgbClr val="C0C0C0"/>
                  </a:outerShdw>
                </a:effectLst>
                <a:latin typeface="Georgia" panose="02040502050405020303" pitchFamily="18" charset="0"/>
                <a:ea typeface="新細明體" pitchFamily="18" charset="-120"/>
              </a:rPr>
              <a:t>After rough polishing</a:t>
            </a:r>
          </a:p>
          <a:p>
            <a:pPr marL="342900" indent="-342900">
              <a:buFontTx/>
              <a:buAutoNum type="alphaLcParenBoth"/>
              <a:defRPr/>
            </a:pPr>
            <a:endParaRPr lang="en-US" altLang="zh-TW" sz="800" i="1" dirty="0">
              <a:effectLst>
                <a:outerShdw blurRad="38100" dist="38100" dir="2700000" algn="tl">
                  <a:srgbClr val="C0C0C0"/>
                </a:outerShdw>
              </a:effectLst>
              <a:latin typeface="Georgia" panose="02040502050405020303" pitchFamily="18" charset="0"/>
              <a:ea typeface="新細明體" pitchFamily="18" charset="-120"/>
            </a:endParaRPr>
          </a:p>
          <a:p>
            <a:pPr marL="342900" indent="-342900">
              <a:buFontTx/>
              <a:buAutoNum type="alphaLcParenBoth"/>
              <a:defRPr/>
            </a:pPr>
            <a:r>
              <a:rPr lang="en-US" altLang="zh-TW" sz="1600" i="1" dirty="0">
                <a:effectLst>
                  <a:outerShdw blurRad="38100" dist="38100" dir="2700000" algn="tl">
                    <a:srgbClr val="C0C0C0"/>
                  </a:outerShdw>
                </a:effectLst>
                <a:latin typeface="Georgia" panose="02040502050405020303" pitchFamily="18" charset="0"/>
                <a:ea typeface="新細明體" pitchFamily="18" charset="-120"/>
              </a:rPr>
              <a:t>After polishing</a:t>
            </a:r>
          </a:p>
          <a:p>
            <a:pPr marL="342900" indent="-342900">
              <a:buFontTx/>
              <a:buAutoNum type="alphaLcParenBoth"/>
              <a:defRPr/>
            </a:pPr>
            <a:endParaRPr lang="en-US" altLang="zh-TW" sz="800" i="1" dirty="0">
              <a:effectLst>
                <a:outerShdw blurRad="38100" dist="38100" dir="2700000" algn="tl">
                  <a:srgbClr val="C0C0C0"/>
                </a:outerShdw>
              </a:effectLst>
              <a:latin typeface="Georgia" panose="02040502050405020303" pitchFamily="18" charset="0"/>
              <a:ea typeface="新細明體" pitchFamily="18" charset="-120"/>
            </a:endParaRPr>
          </a:p>
          <a:p>
            <a:pPr marL="342900" indent="-342900">
              <a:buFontTx/>
              <a:buAutoNum type="alphaLcParenBoth"/>
              <a:defRPr/>
            </a:pPr>
            <a:r>
              <a:rPr lang="en-US" altLang="zh-TW" sz="1600" i="1" dirty="0">
                <a:effectLst>
                  <a:outerShdw blurRad="38100" dist="38100" dir="2700000" algn="tl">
                    <a:srgbClr val="C0C0C0"/>
                  </a:outerShdw>
                </a:effectLst>
                <a:latin typeface="Georgia" panose="02040502050405020303" pitchFamily="18" charset="0"/>
                <a:ea typeface="新細明體" pitchFamily="18" charset="-120"/>
              </a:rPr>
              <a:t>After final polishing</a:t>
            </a:r>
          </a:p>
        </p:txBody>
      </p:sp>
      <p:grpSp>
        <p:nvGrpSpPr>
          <p:cNvPr id="25605" name="Group 11"/>
          <p:cNvGrpSpPr>
            <a:grpSpLocks/>
          </p:cNvGrpSpPr>
          <p:nvPr/>
        </p:nvGrpSpPr>
        <p:grpSpPr bwMode="auto">
          <a:xfrm>
            <a:off x="2590800" y="1905000"/>
            <a:ext cx="6096000" cy="4700588"/>
            <a:chOff x="1632" y="1200"/>
            <a:chExt cx="3840" cy="2961"/>
          </a:xfrm>
        </p:grpSpPr>
        <p:pic>
          <p:nvPicPr>
            <p:cNvPr id="25607" name="Picture 5"/>
            <p:cNvPicPr>
              <a:picLocks noChangeAspect="1" noChangeArrowheads="1"/>
            </p:cNvPicPr>
            <p:nvPr/>
          </p:nvPicPr>
          <p:blipFill>
            <a:blip r:embed="rId2" cstate="print"/>
            <a:srcRect/>
            <a:stretch>
              <a:fillRect/>
            </a:stretch>
          </p:blipFill>
          <p:spPr bwMode="auto">
            <a:xfrm>
              <a:off x="1632" y="1200"/>
              <a:ext cx="3840" cy="2961"/>
            </a:xfrm>
            <a:prstGeom prst="rect">
              <a:avLst/>
            </a:prstGeom>
            <a:noFill/>
            <a:ln w="9525">
              <a:noFill/>
              <a:miter lim="800000"/>
              <a:headEnd/>
              <a:tailEnd/>
            </a:ln>
          </p:spPr>
        </p:pic>
        <p:sp>
          <p:nvSpPr>
            <p:cNvPr id="25608" name="Rectangle 10"/>
            <p:cNvSpPr>
              <a:spLocks noChangeArrowheads="1"/>
            </p:cNvSpPr>
            <p:nvPr/>
          </p:nvSpPr>
          <p:spPr bwMode="auto">
            <a:xfrm>
              <a:off x="1728" y="3726"/>
              <a:ext cx="2160" cy="384"/>
            </a:xfrm>
            <a:prstGeom prst="rect">
              <a:avLst/>
            </a:prstGeom>
            <a:solidFill>
              <a:schemeClr val="bg1"/>
            </a:solidFill>
            <a:ln w="9525">
              <a:noFill/>
              <a:miter lim="800000"/>
              <a:headEnd/>
              <a:tailEnd/>
            </a:ln>
          </p:spPr>
          <p:txBody>
            <a:bodyPr wrap="none" anchor="ctr"/>
            <a:lstStyle/>
            <a:p>
              <a:endParaRPr lang="en-US"/>
            </a:p>
          </p:txBody>
        </p:sp>
      </p:grpSp>
      <p:sp>
        <p:nvSpPr>
          <p:cNvPr id="63496" name="Text Box 8"/>
          <p:cNvSpPr txBox="1">
            <a:spLocks noChangeArrowheads="1"/>
          </p:cNvSpPr>
          <p:nvPr/>
        </p:nvSpPr>
        <p:spPr bwMode="auto">
          <a:xfrm>
            <a:off x="152400" y="2225675"/>
            <a:ext cx="2922595" cy="400110"/>
          </a:xfrm>
          <a:prstGeom prst="rect">
            <a:avLst/>
          </a:prstGeom>
          <a:noFill/>
          <a:ln w="9525">
            <a:noFill/>
            <a:miter lim="800000"/>
            <a:headEnd/>
            <a:tailEnd/>
          </a:ln>
          <a:effectLst/>
        </p:spPr>
        <p:txBody>
          <a:bodyPr wrap="none">
            <a:spAutoFit/>
          </a:bodyPr>
          <a:lstStyle/>
          <a:p>
            <a:pPr>
              <a:defRPr/>
            </a:pPr>
            <a:r>
              <a:rPr lang="en-US" altLang="zh-TW" sz="2000" b="1" i="1">
                <a:solidFill>
                  <a:srgbClr val="008000"/>
                </a:solidFill>
                <a:effectLst>
                  <a:outerShdw blurRad="38100" dist="38100" dir="2700000" algn="tl">
                    <a:srgbClr val="C0C0C0"/>
                  </a:outerShdw>
                </a:effectLst>
                <a:latin typeface="Georgia" panose="02040502050405020303" pitchFamily="18" charset="0"/>
                <a:ea typeface="新細明體" pitchFamily="18" charset="-120"/>
              </a:rPr>
              <a:t>SiC fibres in Ti-alloy</a:t>
            </a:r>
          </a:p>
        </p:txBody>
      </p:sp>
      <p:sp>
        <p:nvSpPr>
          <p:cNvPr id="2" name="Slide Number Placeholder 1">
            <a:extLst>
              <a:ext uri="{FF2B5EF4-FFF2-40B4-BE49-F238E27FC236}">
                <a16:creationId xmlns:a16="http://schemas.microsoft.com/office/drawing/2014/main" id="{D86E0131-AB7F-48D6-BC3F-9BFBDDC029D9}"/>
              </a:ext>
            </a:extLst>
          </p:cNvPr>
          <p:cNvSpPr>
            <a:spLocks noGrp="1"/>
          </p:cNvSpPr>
          <p:nvPr>
            <p:ph type="sldNum" sz="quarter" idx="11"/>
          </p:nvPr>
        </p:nvSpPr>
        <p:spPr/>
        <p:txBody>
          <a:bodyPr/>
          <a:lstStyle/>
          <a:p>
            <a:pPr>
              <a:defRPr/>
            </a:pPr>
            <a:fld id="{5C194D1D-C057-4136-B4EC-30B00CAA371F}" type="slidenum">
              <a:rPr lang="zh-TW" altLang="en-US" smtClean="0"/>
              <a:pPr>
                <a:defRPr/>
              </a:pPr>
              <a:t>19</a:t>
            </a:fld>
            <a:endParaRPr lang="en-US" altLang="zh-TW"/>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6627" name="Text Box 5"/>
          <p:cNvSpPr txBox="1">
            <a:spLocks noChangeArrowheads="1"/>
          </p:cNvSpPr>
          <p:nvPr/>
        </p:nvSpPr>
        <p:spPr bwMode="auto">
          <a:xfrm>
            <a:off x="914400" y="10668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26628" name="WordArt 6"/>
          <p:cNvSpPr>
            <a:spLocks noChangeArrowheads="1" noChangeShapeType="1" noTextEdit="1"/>
          </p:cNvSpPr>
          <p:nvPr/>
        </p:nvSpPr>
        <p:spPr bwMode="auto">
          <a:xfrm>
            <a:off x="400050" y="1905000"/>
            <a:ext cx="4286250"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Chemical and Thermal etching</a:t>
            </a:r>
          </a:p>
        </p:txBody>
      </p:sp>
      <p:sp>
        <p:nvSpPr>
          <p:cNvPr id="26629" name="Text Box 8"/>
          <p:cNvSpPr txBox="1">
            <a:spLocks noChangeArrowheads="1"/>
          </p:cNvSpPr>
          <p:nvPr/>
        </p:nvSpPr>
        <p:spPr bwMode="auto">
          <a:xfrm>
            <a:off x="838200" y="2362200"/>
            <a:ext cx="7620000" cy="2839239"/>
          </a:xfrm>
          <a:prstGeom prst="rect">
            <a:avLst/>
          </a:prstGeom>
          <a:noFill/>
          <a:ln w="9525">
            <a:noFill/>
            <a:miter lim="800000"/>
            <a:headEnd/>
            <a:tailEnd/>
          </a:ln>
        </p:spPr>
        <p:txBody>
          <a:bodyPr>
            <a:spAutoFit/>
          </a:bodyPr>
          <a:lstStyle/>
          <a:p>
            <a:pPr marL="180975" indent="-180975" algn="just">
              <a:spcBef>
                <a:spcPct val="50000"/>
              </a:spcBef>
              <a:buFontTx/>
              <a:buChar char="•"/>
            </a:pPr>
            <a:r>
              <a:rPr lang="en-US" altLang="zh-TW" sz="1700" dirty="0">
                <a:latin typeface="Georgia" panose="02040502050405020303" pitchFamily="18" charset="0"/>
                <a:ea typeface="新細明體" pitchFamily="18" charset="-120"/>
              </a:rPr>
              <a:t>Polished unetched samples can show macroscopic cracks, pits, etc., and no microstructural details can be observed.</a:t>
            </a:r>
          </a:p>
          <a:p>
            <a:pPr marL="180975" indent="-180975" algn="just">
              <a:spcBef>
                <a:spcPct val="50000"/>
              </a:spcBef>
              <a:buFontTx/>
              <a:buChar char="•"/>
            </a:pPr>
            <a:r>
              <a:rPr lang="en-US" altLang="zh-TW" sz="1700" dirty="0">
                <a:latin typeface="Georgia" panose="02040502050405020303" pitchFamily="18" charset="0"/>
                <a:ea typeface="新細明體" pitchFamily="18" charset="-120"/>
              </a:rPr>
              <a:t>Therefore, a so-called etching process is needed to reveal the microstructures.  Etching for microstructural evaluation is to expose the lowest-energy surface by chemical or thermal means.</a:t>
            </a:r>
          </a:p>
          <a:p>
            <a:pPr marL="180975" indent="-180975" algn="just">
              <a:spcBef>
                <a:spcPct val="50000"/>
              </a:spcBef>
              <a:buFontTx/>
              <a:buChar char="•"/>
            </a:pPr>
            <a:r>
              <a:rPr lang="en-US" altLang="zh-TW" sz="1700" dirty="0">
                <a:latin typeface="Georgia" panose="02040502050405020303" pitchFamily="18" charset="0"/>
                <a:ea typeface="新細明體" pitchFamily="18" charset="-120"/>
              </a:rPr>
              <a:t>Etching will expose defects such as grain boundaries and bring out the contrast between different phases or different crystallographic orientations that etch at different rates.</a:t>
            </a:r>
          </a:p>
          <a:p>
            <a:pPr marL="180975" indent="-180975" algn="just">
              <a:spcBef>
                <a:spcPct val="50000"/>
              </a:spcBef>
              <a:buFontTx/>
              <a:buChar char="•"/>
            </a:pPr>
            <a:endParaRPr lang="en-US" altLang="zh-TW" sz="1700" i="1" dirty="0">
              <a:solidFill>
                <a:srgbClr val="FF3300"/>
              </a:solidFill>
              <a:latin typeface="Georgia" panose="02040502050405020303" pitchFamily="18" charset="0"/>
              <a:ea typeface="新細明體" pitchFamily="18" charset="-120"/>
            </a:endParaRPr>
          </a:p>
        </p:txBody>
      </p:sp>
      <p:pic>
        <p:nvPicPr>
          <p:cNvPr id="26630" name="Picture 9" descr="SP_9"/>
          <p:cNvPicPr>
            <a:picLocks noChangeAspect="1" noChangeArrowheads="1"/>
          </p:cNvPicPr>
          <p:nvPr/>
        </p:nvPicPr>
        <p:blipFill>
          <a:blip r:embed="rId2" cstate="print"/>
          <a:srcRect/>
          <a:stretch>
            <a:fillRect/>
          </a:stretch>
        </p:blipFill>
        <p:spPr bwMode="auto">
          <a:xfrm>
            <a:off x="685800" y="4953000"/>
            <a:ext cx="7410450" cy="1562100"/>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D08C637D-513D-47D7-AC46-7218C14B93FB}"/>
              </a:ext>
            </a:extLst>
          </p:cNvPr>
          <p:cNvSpPr>
            <a:spLocks noGrp="1"/>
          </p:cNvSpPr>
          <p:nvPr>
            <p:ph type="sldNum" sz="quarter" idx="11"/>
          </p:nvPr>
        </p:nvSpPr>
        <p:spPr/>
        <p:txBody>
          <a:bodyPr/>
          <a:lstStyle/>
          <a:p>
            <a:pPr>
              <a:defRPr/>
            </a:pPr>
            <a:fld id="{5C194D1D-C057-4136-B4EC-30B00CAA371F}" type="slidenum">
              <a:rPr lang="zh-TW" altLang="en-US" smtClean="0"/>
              <a:pPr>
                <a:defRPr/>
              </a:pPr>
              <a:t>20</a:t>
            </a:fld>
            <a:endParaRPr lang="en-US" altLang="zh-TW"/>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7651" name="Text Box 5"/>
          <p:cNvSpPr txBox="1">
            <a:spLocks noChangeArrowheads="1"/>
          </p:cNvSpPr>
          <p:nvPr/>
        </p:nvSpPr>
        <p:spPr bwMode="auto">
          <a:xfrm>
            <a:off x="914400" y="1066800"/>
            <a:ext cx="7616188"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microscopic evaluation</a:t>
            </a:r>
          </a:p>
        </p:txBody>
      </p:sp>
      <p:sp>
        <p:nvSpPr>
          <p:cNvPr id="27652" name="Text Box 6"/>
          <p:cNvSpPr txBox="1">
            <a:spLocks noChangeArrowheads="1"/>
          </p:cNvSpPr>
          <p:nvPr/>
        </p:nvSpPr>
        <p:spPr bwMode="auto">
          <a:xfrm>
            <a:off x="288925" y="1941513"/>
            <a:ext cx="3419526" cy="369332"/>
          </a:xfrm>
          <a:prstGeom prst="rect">
            <a:avLst/>
          </a:prstGeom>
          <a:noFill/>
          <a:ln w="9525">
            <a:noFill/>
            <a:miter lim="800000"/>
            <a:headEnd/>
            <a:tailEnd/>
          </a:ln>
        </p:spPr>
        <p:txBody>
          <a:bodyPr wrap="none">
            <a:spAutoFit/>
          </a:bodyPr>
          <a:lstStyle/>
          <a:p>
            <a:r>
              <a:rPr lang="en-US" altLang="zh-TW">
                <a:latin typeface="Georgia" panose="02040502050405020303" pitchFamily="18" charset="0"/>
                <a:ea typeface="新細明體" pitchFamily="18" charset="-120"/>
              </a:rPr>
              <a:t>Definition of a “ true structure ”</a:t>
            </a:r>
          </a:p>
        </p:txBody>
      </p:sp>
      <p:sp>
        <p:nvSpPr>
          <p:cNvPr id="27653" name="Text Box 7"/>
          <p:cNvSpPr txBox="1">
            <a:spLocks noChangeArrowheads="1"/>
          </p:cNvSpPr>
          <p:nvPr/>
        </p:nvSpPr>
        <p:spPr bwMode="auto">
          <a:xfrm>
            <a:off x="746125" y="2398713"/>
            <a:ext cx="7331075" cy="2838450"/>
          </a:xfrm>
          <a:prstGeom prst="rect">
            <a:avLst/>
          </a:prstGeom>
          <a:noFill/>
          <a:ln w="9525">
            <a:noFill/>
            <a:miter lim="800000"/>
            <a:headEnd/>
            <a:tailEnd/>
          </a:ln>
        </p:spPr>
        <p:txBody>
          <a:bodyPr>
            <a:spAutoFit/>
          </a:bodyPr>
          <a:lstStyle/>
          <a:p>
            <a:pPr>
              <a:tabLst>
                <a:tab pos="1258888" algn="l"/>
              </a:tabLst>
            </a:pPr>
            <a:r>
              <a:rPr lang="en-US" altLang="zh-TW">
                <a:latin typeface="Georgia" panose="02040502050405020303" pitchFamily="18" charset="0"/>
                <a:ea typeface="新細明體" pitchFamily="18" charset="-120"/>
              </a:rPr>
              <a:t>Based on Vilella and Samuels, the true structure can be defined as:</a:t>
            </a:r>
          </a:p>
          <a:p>
            <a:pPr>
              <a:tabLst>
                <a:tab pos="1258888" algn="l"/>
              </a:tabLst>
            </a:pPr>
            <a:endParaRPr lang="en-US" altLang="zh-TW">
              <a:latin typeface="Georgia" panose="02040502050405020303" pitchFamily="18" charset="0"/>
              <a:ea typeface="新細明體" pitchFamily="18" charset="-120"/>
            </a:endParaRPr>
          </a:p>
          <a:p>
            <a:pPr algn="just">
              <a:tabLst>
                <a:tab pos="1258888" algn="l"/>
              </a:tabLst>
            </a:pPr>
            <a:r>
              <a:rPr lang="en-US" altLang="zh-TW">
                <a:latin typeface="Georgia" panose="02040502050405020303" pitchFamily="18" charset="0"/>
                <a:ea typeface="新細明體" pitchFamily="18" charset="-120"/>
              </a:rPr>
              <a:t>	No deformation</a:t>
            </a:r>
          </a:p>
          <a:p>
            <a:pPr algn="just">
              <a:tabLst>
                <a:tab pos="1258888" algn="l"/>
              </a:tabLst>
            </a:pPr>
            <a:r>
              <a:rPr lang="en-US" altLang="zh-TW">
                <a:latin typeface="Georgia" panose="02040502050405020303" pitchFamily="18" charset="0"/>
                <a:ea typeface="新細明體" pitchFamily="18" charset="-120"/>
              </a:rPr>
              <a:t>	No scratches</a:t>
            </a:r>
          </a:p>
          <a:p>
            <a:pPr algn="just">
              <a:tabLst>
                <a:tab pos="1258888" algn="l"/>
              </a:tabLst>
            </a:pPr>
            <a:r>
              <a:rPr lang="en-US" altLang="zh-TW">
                <a:latin typeface="Georgia" panose="02040502050405020303" pitchFamily="18" charset="0"/>
                <a:ea typeface="新細明體" pitchFamily="18" charset="-120"/>
              </a:rPr>
              <a:t>	No pull-outs</a:t>
            </a:r>
          </a:p>
          <a:p>
            <a:pPr algn="just">
              <a:tabLst>
                <a:tab pos="1258888" algn="l"/>
              </a:tabLst>
            </a:pPr>
            <a:r>
              <a:rPr lang="en-US" altLang="zh-TW">
                <a:latin typeface="Georgia" panose="02040502050405020303" pitchFamily="18" charset="0"/>
                <a:ea typeface="新細明體" pitchFamily="18" charset="-120"/>
              </a:rPr>
              <a:t>	No false structures (artifacts)</a:t>
            </a:r>
          </a:p>
          <a:p>
            <a:pPr algn="just">
              <a:tabLst>
                <a:tab pos="1258888" algn="l"/>
              </a:tabLst>
            </a:pPr>
            <a:r>
              <a:rPr lang="en-US" altLang="zh-TW">
                <a:latin typeface="Georgia" panose="02040502050405020303" pitchFamily="18" charset="0"/>
                <a:ea typeface="新細明體" pitchFamily="18" charset="-120"/>
              </a:rPr>
              <a:t>	No introduction of foreign elements</a:t>
            </a:r>
          </a:p>
          <a:p>
            <a:pPr algn="just">
              <a:tabLst>
                <a:tab pos="1258888" algn="l"/>
              </a:tabLst>
            </a:pPr>
            <a:r>
              <a:rPr lang="en-US" altLang="zh-TW">
                <a:latin typeface="Georgia" panose="02040502050405020303" pitchFamily="18" charset="0"/>
                <a:ea typeface="新細明體" pitchFamily="18" charset="-120"/>
              </a:rPr>
              <a:t>	No smearing</a:t>
            </a:r>
          </a:p>
          <a:p>
            <a:pPr algn="just">
              <a:tabLst>
                <a:tab pos="1258888" algn="l"/>
              </a:tabLst>
            </a:pPr>
            <a:r>
              <a:rPr lang="en-US" altLang="zh-TW">
                <a:latin typeface="Georgia" panose="02040502050405020303" pitchFamily="18" charset="0"/>
                <a:ea typeface="新細明體" pitchFamily="18" charset="-120"/>
              </a:rPr>
              <a:t>	No relief or rounded edges</a:t>
            </a:r>
          </a:p>
          <a:p>
            <a:pPr algn="just">
              <a:tabLst>
                <a:tab pos="1258888" algn="l"/>
              </a:tabLst>
            </a:pPr>
            <a:r>
              <a:rPr lang="en-US" altLang="zh-TW">
                <a:latin typeface="Georgia" panose="02040502050405020303" pitchFamily="18" charset="0"/>
                <a:ea typeface="新細明體" pitchFamily="18" charset="-120"/>
              </a:rPr>
              <a:t>	No thermal damage</a:t>
            </a:r>
          </a:p>
        </p:txBody>
      </p:sp>
      <p:sp>
        <p:nvSpPr>
          <p:cNvPr id="27654" name="Text Box 8"/>
          <p:cNvSpPr txBox="1">
            <a:spLocks noChangeArrowheads="1"/>
          </p:cNvSpPr>
          <p:nvPr/>
        </p:nvSpPr>
        <p:spPr bwMode="auto">
          <a:xfrm>
            <a:off x="669925" y="5640388"/>
            <a:ext cx="8093075" cy="1065212"/>
          </a:xfrm>
          <a:prstGeom prst="rect">
            <a:avLst/>
          </a:prstGeom>
          <a:noFill/>
          <a:ln w="9525">
            <a:noFill/>
            <a:miter lim="800000"/>
            <a:headEnd/>
            <a:tailEnd/>
          </a:ln>
        </p:spPr>
        <p:txBody>
          <a:bodyPr>
            <a:spAutoFit/>
          </a:bodyPr>
          <a:lstStyle/>
          <a:p>
            <a:r>
              <a:rPr lang="en-US" altLang="zh-TW" sz="1400">
                <a:solidFill>
                  <a:schemeClr val="bg2"/>
                </a:solidFill>
                <a:latin typeface="Times New Roman" pitchFamily="18" charset="0"/>
                <a:ea typeface="新細明體" pitchFamily="18" charset="-120"/>
              </a:rPr>
              <a:t>L. E. Samuels, </a:t>
            </a:r>
            <a:r>
              <a:rPr lang="en-US" altLang="zh-TW" sz="1400" i="1">
                <a:solidFill>
                  <a:schemeClr val="bg2"/>
                </a:solidFill>
                <a:latin typeface="Times New Roman" pitchFamily="18" charset="0"/>
                <a:ea typeface="新細明體" pitchFamily="18" charset="-120"/>
              </a:rPr>
              <a:t>Metallograhic Polishing by Mechanical Methods</a:t>
            </a:r>
            <a:r>
              <a:rPr lang="en-US" altLang="zh-TW" sz="1400">
                <a:solidFill>
                  <a:schemeClr val="bg2"/>
                </a:solidFill>
                <a:latin typeface="Times New Roman" pitchFamily="18" charset="0"/>
                <a:ea typeface="新細明體" pitchFamily="18" charset="-120"/>
              </a:rPr>
              <a:t>, American Society for Metals, Metals Park, Ohio (1982)</a:t>
            </a:r>
          </a:p>
          <a:p>
            <a:endParaRPr lang="en-US" altLang="zh-TW" sz="800">
              <a:solidFill>
                <a:schemeClr val="bg2"/>
              </a:solidFill>
              <a:latin typeface="Times New Roman" pitchFamily="18" charset="0"/>
              <a:ea typeface="新細明體" pitchFamily="18" charset="-120"/>
            </a:endParaRPr>
          </a:p>
          <a:p>
            <a:r>
              <a:rPr lang="en-US" altLang="zh-TW" sz="1400">
                <a:solidFill>
                  <a:schemeClr val="bg2"/>
                </a:solidFill>
                <a:latin typeface="Times New Roman" pitchFamily="18" charset="0"/>
                <a:ea typeface="新細明體" pitchFamily="18" charset="-120"/>
              </a:rPr>
              <a:t>J. R. Vilella, </a:t>
            </a:r>
            <a:r>
              <a:rPr lang="en-US" altLang="zh-TW" sz="1400" i="1">
                <a:solidFill>
                  <a:schemeClr val="bg2"/>
                </a:solidFill>
                <a:latin typeface="Times New Roman" pitchFamily="18" charset="0"/>
                <a:ea typeface="新細明體" pitchFamily="18" charset="-120"/>
              </a:rPr>
              <a:t>Metallographic Technique for Steel</a:t>
            </a:r>
            <a:r>
              <a:rPr lang="en-US" altLang="zh-TW" sz="1400">
                <a:solidFill>
                  <a:schemeClr val="bg2"/>
                </a:solidFill>
                <a:latin typeface="Times New Roman" pitchFamily="18" charset="0"/>
                <a:ea typeface="新細明體" pitchFamily="18" charset="-120"/>
              </a:rPr>
              <a:t>, American Society for Metals,</a:t>
            </a:r>
          </a:p>
          <a:p>
            <a:r>
              <a:rPr lang="en-US" altLang="zh-TW" sz="1400">
                <a:solidFill>
                  <a:schemeClr val="bg2"/>
                </a:solidFill>
                <a:latin typeface="Times New Roman" pitchFamily="18" charset="0"/>
                <a:ea typeface="新細明體" pitchFamily="18" charset="-120"/>
              </a:rPr>
              <a:t>Cleveland, Ohio (1938)</a:t>
            </a:r>
          </a:p>
        </p:txBody>
      </p:sp>
      <p:pic>
        <p:nvPicPr>
          <p:cNvPr id="27655" name="Picture 9"/>
          <p:cNvPicPr>
            <a:picLocks noChangeAspect="1" noChangeArrowheads="1"/>
          </p:cNvPicPr>
          <p:nvPr/>
        </p:nvPicPr>
        <p:blipFill>
          <a:blip r:embed="rId2" cstate="print"/>
          <a:srcRect/>
          <a:stretch>
            <a:fillRect/>
          </a:stretch>
        </p:blipFill>
        <p:spPr bwMode="auto">
          <a:xfrm>
            <a:off x="6096000" y="2819400"/>
            <a:ext cx="2403475" cy="2627313"/>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CD04154D-FE2A-4228-B55C-13EC0D9C64CC}"/>
              </a:ext>
            </a:extLst>
          </p:cNvPr>
          <p:cNvSpPr>
            <a:spLocks noGrp="1"/>
          </p:cNvSpPr>
          <p:nvPr>
            <p:ph type="sldNum" sz="quarter" idx="11"/>
          </p:nvPr>
        </p:nvSpPr>
        <p:spPr/>
        <p:txBody>
          <a:bodyPr/>
          <a:lstStyle/>
          <a:p>
            <a:pPr>
              <a:defRPr/>
            </a:pPr>
            <a:fld id="{5C194D1D-C057-4136-B4EC-30B00CAA371F}" type="slidenum">
              <a:rPr lang="zh-TW" altLang="en-US" smtClean="0"/>
              <a:pPr>
                <a:defRPr/>
              </a:pPr>
              <a:t>21</a:t>
            </a:fld>
            <a:endParaRPr lang="en-US" altLang="zh-TW"/>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4"/>
          <p:cNvGrpSpPr>
            <a:grpSpLocks/>
          </p:cNvGrpSpPr>
          <p:nvPr/>
        </p:nvGrpSpPr>
        <p:grpSpPr bwMode="auto">
          <a:xfrm>
            <a:off x="1066800" y="1666875"/>
            <a:ext cx="7124700" cy="5060950"/>
            <a:chOff x="642" y="954"/>
            <a:chExt cx="4488" cy="3188"/>
          </a:xfrm>
        </p:grpSpPr>
        <p:grpSp>
          <p:nvGrpSpPr>
            <p:cNvPr id="28677" name="Group 5"/>
            <p:cNvGrpSpPr>
              <a:grpSpLocks/>
            </p:cNvGrpSpPr>
            <p:nvPr/>
          </p:nvGrpSpPr>
          <p:grpSpPr bwMode="auto">
            <a:xfrm>
              <a:off x="642" y="954"/>
              <a:ext cx="4488" cy="1587"/>
              <a:chOff x="642" y="846"/>
              <a:chExt cx="4488" cy="1587"/>
            </a:xfrm>
          </p:grpSpPr>
          <p:pic>
            <p:nvPicPr>
              <p:cNvPr id="28684" name="Picture 6" descr="SP_10"/>
              <p:cNvPicPr>
                <a:picLocks noChangeAspect="1" noChangeArrowheads="1"/>
              </p:cNvPicPr>
              <p:nvPr/>
            </p:nvPicPr>
            <p:blipFill>
              <a:blip r:embed="rId2" cstate="print"/>
              <a:srcRect/>
              <a:stretch>
                <a:fillRect/>
              </a:stretch>
            </p:blipFill>
            <p:spPr bwMode="auto">
              <a:xfrm>
                <a:off x="642" y="846"/>
                <a:ext cx="2040" cy="1360"/>
              </a:xfrm>
              <a:prstGeom prst="rect">
                <a:avLst/>
              </a:prstGeom>
              <a:noFill/>
              <a:ln w="9525">
                <a:noFill/>
                <a:miter lim="800000"/>
                <a:headEnd/>
                <a:tailEnd/>
              </a:ln>
            </p:spPr>
          </p:pic>
          <p:sp>
            <p:nvSpPr>
              <p:cNvPr id="28685" name="Text Box 7"/>
              <p:cNvSpPr txBox="1">
                <a:spLocks noChangeArrowheads="1"/>
              </p:cNvSpPr>
              <p:nvPr/>
            </p:nvSpPr>
            <p:spPr bwMode="auto">
              <a:xfrm>
                <a:off x="662" y="1896"/>
                <a:ext cx="508" cy="194"/>
              </a:xfrm>
              <a:prstGeom prst="rect">
                <a:avLst/>
              </a:prstGeom>
              <a:noFill/>
              <a:ln w="9525">
                <a:noFill/>
                <a:miter lim="800000"/>
                <a:headEnd/>
                <a:tailEnd/>
              </a:ln>
            </p:spPr>
            <p:txBody>
              <a:bodyPr wrap="none">
                <a:spAutoFit/>
              </a:bodyPr>
              <a:lstStyle/>
              <a:p>
                <a:r>
                  <a:rPr lang="en-US" altLang="zh-TW" sz="1400">
                    <a:solidFill>
                      <a:schemeClr val="bg1"/>
                    </a:solidFill>
                    <a:latin typeface="Georgia" panose="02040502050405020303" pitchFamily="18" charset="0"/>
                    <a:ea typeface="新細明體" pitchFamily="18" charset="-120"/>
                  </a:rPr>
                  <a:t>500 </a:t>
                </a:r>
                <a:r>
                  <a:rPr lang="el-GR" sz="1400">
                    <a:solidFill>
                      <a:schemeClr val="bg1"/>
                    </a:solidFill>
                    <a:latin typeface="Georgia" panose="02040502050405020303" pitchFamily="18" charset="0"/>
                    <a:cs typeface="Times New Roman" pitchFamily="18" charset="0"/>
                  </a:rPr>
                  <a:t>μ</a:t>
                </a:r>
                <a:r>
                  <a:rPr lang="en-US" altLang="zh-TW" sz="1400">
                    <a:solidFill>
                      <a:schemeClr val="bg1"/>
                    </a:solidFill>
                    <a:latin typeface="Georgia" panose="02040502050405020303" pitchFamily="18" charset="0"/>
                    <a:ea typeface="新細明體" pitchFamily="18" charset="-120"/>
                    <a:cs typeface="Arial" charset="0"/>
                  </a:rPr>
                  <a:t>m</a:t>
                </a:r>
                <a:endParaRPr lang="el-GR" sz="1400">
                  <a:solidFill>
                    <a:schemeClr val="bg1"/>
                  </a:solidFill>
                  <a:latin typeface="Georgia" panose="02040502050405020303" pitchFamily="18" charset="0"/>
                  <a:cs typeface="Arial" charset="0"/>
                </a:endParaRPr>
              </a:p>
            </p:txBody>
          </p:sp>
          <p:sp>
            <p:nvSpPr>
              <p:cNvPr id="28686" name="Text Box 8"/>
              <p:cNvSpPr txBox="1">
                <a:spLocks noChangeArrowheads="1"/>
              </p:cNvSpPr>
              <p:nvPr/>
            </p:nvSpPr>
            <p:spPr bwMode="auto">
              <a:xfrm>
                <a:off x="930" y="2202"/>
                <a:ext cx="1524" cy="231"/>
              </a:xfrm>
              <a:prstGeom prst="rect">
                <a:avLst/>
              </a:prstGeom>
              <a:noFill/>
              <a:ln w="9525">
                <a:noFill/>
                <a:miter lim="800000"/>
                <a:headEnd/>
                <a:tailEnd/>
              </a:ln>
            </p:spPr>
            <p:txBody>
              <a:bodyPr wrap="none">
                <a:spAutoFit/>
              </a:bodyPr>
              <a:lstStyle/>
              <a:p>
                <a:r>
                  <a:rPr lang="en-US" altLang="zh-TW">
                    <a:latin typeface="Georgia" panose="02040502050405020303" pitchFamily="18" charset="0"/>
                    <a:ea typeface="新細明體" pitchFamily="18" charset="-120"/>
                  </a:rPr>
                  <a:t>Grain size: 0.175 mm </a:t>
                </a:r>
              </a:p>
            </p:txBody>
          </p:sp>
          <p:pic>
            <p:nvPicPr>
              <p:cNvPr id="28687" name="Picture 9" descr="SP_11"/>
              <p:cNvPicPr>
                <a:picLocks noChangeAspect="1" noChangeArrowheads="1"/>
              </p:cNvPicPr>
              <p:nvPr/>
            </p:nvPicPr>
            <p:blipFill>
              <a:blip r:embed="rId3" cstate="print"/>
              <a:srcRect/>
              <a:stretch>
                <a:fillRect/>
              </a:stretch>
            </p:blipFill>
            <p:spPr bwMode="auto">
              <a:xfrm>
                <a:off x="3090" y="846"/>
                <a:ext cx="2040" cy="1360"/>
              </a:xfrm>
              <a:prstGeom prst="rect">
                <a:avLst/>
              </a:prstGeom>
              <a:noFill/>
              <a:ln w="9525">
                <a:noFill/>
                <a:miter lim="800000"/>
                <a:headEnd/>
                <a:tailEnd/>
              </a:ln>
            </p:spPr>
          </p:pic>
          <p:sp>
            <p:nvSpPr>
              <p:cNvPr id="28688" name="Text Box 10"/>
              <p:cNvSpPr txBox="1">
                <a:spLocks noChangeArrowheads="1"/>
              </p:cNvSpPr>
              <p:nvPr/>
            </p:nvSpPr>
            <p:spPr bwMode="auto">
              <a:xfrm>
                <a:off x="3153" y="1896"/>
                <a:ext cx="508" cy="194"/>
              </a:xfrm>
              <a:prstGeom prst="rect">
                <a:avLst/>
              </a:prstGeom>
              <a:noFill/>
              <a:ln w="9525">
                <a:noFill/>
                <a:miter lim="800000"/>
                <a:headEnd/>
                <a:tailEnd/>
              </a:ln>
            </p:spPr>
            <p:txBody>
              <a:bodyPr wrap="none">
                <a:spAutoFit/>
              </a:bodyPr>
              <a:lstStyle/>
              <a:p>
                <a:r>
                  <a:rPr lang="en-US" altLang="zh-TW" sz="1400">
                    <a:solidFill>
                      <a:schemeClr val="bg1"/>
                    </a:solidFill>
                    <a:latin typeface="Georgia" panose="02040502050405020303" pitchFamily="18" charset="0"/>
                    <a:ea typeface="新細明體" pitchFamily="18" charset="-120"/>
                  </a:rPr>
                  <a:t>500 </a:t>
                </a:r>
                <a:r>
                  <a:rPr lang="el-GR" sz="1400">
                    <a:solidFill>
                      <a:schemeClr val="bg1"/>
                    </a:solidFill>
                    <a:latin typeface="Georgia" panose="02040502050405020303" pitchFamily="18" charset="0"/>
                    <a:cs typeface="Times New Roman" pitchFamily="18" charset="0"/>
                  </a:rPr>
                  <a:t>μ</a:t>
                </a:r>
                <a:r>
                  <a:rPr lang="en-US" altLang="zh-TW" sz="1400">
                    <a:solidFill>
                      <a:schemeClr val="bg1"/>
                    </a:solidFill>
                    <a:latin typeface="Georgia" panose="02040502050405020303" pitchFamily="18" charset="0"/>
                    <a:ea typeface="新細明體" pitchFamily="18" charset="-120"/>
                    <a:cs typeface="Arial" charset="0"/>
                  </a:rPr>
                  <a:t>m</a:t>
                </a:r>
                <a:endParaRPr lang="el-GR" sz="1400">
                  <a:solidFill>
                    <a:schemeClr val="bg1"/>
                  </a:solidFill>
                  <a:latin typeface="Georgia" panose="02040502050405020303" pitchFamily="18" charset="0"/>
                  <a:cs typeface="Arial" charset="0"/>
                </a:endParaRPr>
              </a:p>
            </p:txBody>
          </p:sp>
          <p:sp>
            <p:nvSpPr>
              <p:cNvPr id="28689" name="Text Box 11"/>
              <p:cNvSpPr txBox="1">
                <a:spLocks noChangeArrowheads="1"/>
              </p:cNvSpPr>
              <p:nvPr/>
            </p:nvSpPr>
            <p:spPr bwMode="auto">
              <a:xfrm>
                <a:off x="3421" y="2202"/>
                <a:ext cx="1524" cy="231"/>
              </a:xfrm>
              <a:prstGeom prst="rect">
                <a:avLst/>
              </a:prstGeom>
              <a:noFill/>
              <a:ln w="9525">
                <a:noFill/>
                <a:miter lim="800000"/>
                <a:headEnd/>
                <a:tailEnd/>
              </a:ln>
            </p:spPr>
            <p:txBody>
              <a:bodyPr wrap="none">
                <a:spAutoFit/>
              </a:bodyPr>
              <a:lstStyle/>
              <a:p>
                <a:r>
                  <a:rPr lang="en-US" altLang="zh-TW" dirty="0">
                    <a:latin typeface="Georgia" panose="02040502050405020303" pitchFamily="18" charset="0"/>
                    <a:ea typeface="新細明體" pitchFamily="18" charset="-120"/>
                  </a:rPr>
                  <a:t>Grain size: 0.120 mm </a:t>
                </a:r>
              </a:p>
            </p:txBody>
          </p:sp>
        </p:grpSp>
        <p:pic>
          <p:nvPicPr>
            <p:cNvPr id="28678" name="Picture 12" descr="SP_13"/>
            <p:cNvPicPr>
              <a:picLocks noChangeAspect="1" noChangeArrowheads="1"/>
            </p:cNvPicPr>
            <p:nvPr/>
          </p:nvPicPr>
          <p:blipFill>
            <a:blip r:embed="rId4" cstate="print"/>
            <a:srcRect/>
            <a:stretch>
              <a:fillRect/>
            </a:stretch>
          </p:blipFill>
          <p:spPr bwMode="auto">
            <a:xfrm>
              <a:off x="3090" y="2562"/>
              <a:ext cx="2040" cy="1360"/>
            </a:xfrm>
            <a:prstGeom prst="rect">
              <a:avLst/>
            </a:prstGeom>
            <a:noFill/>
            <a:ln w="9525">
              <a:noFill/>
              <a:miter lim="800000"/>
              <a:headEnd/>
              <a:tailEnd/>
            </a:ln>
          </p:spPr>
        </p:pic>
        <p:sp>
          <p:nvSpPr>
            <p:cNvPr id="28679" name="Text Box 13"/>
            <p:cNvSpPr txBox="1">
              <a:spLocks noChangeArrowheads="1"/>
            </p:cNvSpPr>
            <p:nvPr/>
          </p:nvSpPr>
          <p:spPr bwMode="auto">
            <a:xfrm>
              <a:off x="3159" y="3585"/>
              <a:ext cx="508" cy="194"/>
            </a:xfrm>
            <a:prstGeom prst="rect">
              <a:avLst/>
            </a:prstGeom>
            <a:noFill/>
            <a:ln w="9525">
              <a:noFill/>
              <a:miter lim="800000"/>
              <a:headEnd/>
              <a:tailEnd/>
            </a:ln>
          </p:spPr>
          <p:txBody>
            <a:bodyPr wrap="none">
              <a:spAutoFit/>
            </a:bodyPr>
            <a:lstStyle/>
            <a:p>
              <a:r>
                <a:rPr lang="en-US" altLang="zh-TW" sz="1400">
                  <a:solidFill>
                    <a:schemeClr val="bg1"/>
                  </a:solidFill>
                  <a:latin typeface="Georgia" panose="02040502050405020303" pitchFamily="18" charset="0"/>
                  <a:ea typeface="新細明體" pitchFamily="18" charset="-120"/>
                </a:rPr>
                <a:t>500 </a:t>
              </a:r>
              <a:r>
                <a:rPr lang="el-GR" sz="1400">
                  <a:solidFill>
                    <a:schemeClr val="bg1"/>
                  </a:solidFill>
                  <a:latin typeface="Georgia" panose="02040502050405020303" pitchFamily="18" charset="0"/>
                  <a:cs typeface="Times New Roman" pitchFamily="18" charset="0"/>
                </a:rPr>
                <a:t>μ</a:t>
              </a:r>
              <a:r>
                <a:rPr lang="en-US" altLang="zh-TW" sz="1400">
                  <a:solidFill>
                    <a:schemeClr val="bg1"/>
                  </a:solidFill>
                  <a:latin typeface="Georgia" panose="02040502050405020303" pitchFamily="18" charset="0"/>
                  <a:ea typeface="新細明體" pitchFamily="18" charset="-120"/>
                  <a:cs typeface="Arial" charset="0"/>
                </a:rPr>
                <a:t>m</a:t>
              </a:r>
              <a:endParaRPr lang="el-GR" sz="1400">
                <a:solidFill>
                  <a:schemeClr val="bg1"/>
                </a:solidFill>
                <a:latin typeface="Georgia" panose="02040502050405020303" pitchFamily="18" charset="0"/>
                <a:cs typeface="Arial" charset="0"/>
              </a:endParaRPr>
            </a:p>
          </p:txBody>
        </p:sp>
        <p:sp>
          <p:nvSpPr>
            <p:cNvPr id="28680" name="Text Box 14"/>
            <p:cNvSpPr txBox="1">
              <a:spLocks noChangeArrowheads="1"/>
            </p:cNvSpPr>
            <p:nvPr/>
          </p:nvSpPr>
          <p:spPr bwMode="auto">
            <a:xfrm>
              <a:off x="3427" y="3903"/>
              <a:ext cx="1552" cy="233"/>
            </a:xfrm>
            <a:prstGeom prst="rect">
              <a:avLst/>
            </a:prstGeom>
            <a:noFill/>
            <a:ln w="9525">
              <a:noFill/>
              <a:miter lim="800000"/>
              <a:headEnd/>
              <a:tailEnd/>
            </a:ln>
          </p:spPr>
          <p:txBody>
            <a:bodyPr wrap="none">
              <a:spAutoFit/>
            </a:bodyPr>
            <a:lstStyle/>
            <a:p>
              <a:r>
                <a:rPr lang="en-US" altLang="zh-TW">
                  <a:latin typeface="Georgia" panose="02040502050405020303" pitchFamily="18" charset="0"/>
                  <a:ea typeface="新細明體" pitchFamily="18" charset="-120"/>
                </a:rPr>
                <a:t>Grain size: 0.030 mm </a:t>
              </a:r>
            </a:p>
          </p:txBody>
        </p:sp>
        <p:pic>
          <p:nvPicPr>
            <p:cNvPr id="28681" name="Picture 15" descr="SP_12"/>
            <p:cNvPicPr>
              <a:picLocks noChangeAspect="1" noChangeArrowheads="1"/>
            </p:cNvPicPr>
            <p:nvPr/>
          </p:nvPicPr>
          <p:blipFill>
            <a:blip r:embed="rId5" cstate="print"/>
            <a:srcRect/>
            <a:stretch>
              <a:fillRect/>
            </a:stretch>
          </p:blipFill>
          <p:spPr bwMode="auto">
            <a:xfrm>
              <a:off x="642" y="2556"/>
              <a:ext cx="2040" cy="1360"/>
            </a:xfrm>
            <a:prstGeom prst="rect">
              <a:avLst/>
            </a:prstGeom>
            <a:noFill/>
            <a:ln w="9525">
              <a:noFill/>
              <a:miter lim="800000"/>
              <a:headEnd/>
              <a:tailEnd/>
            </a:ln>
          </p:spPr>
        </p:pic>
        <p:sp>
          <p:nvSpPr>
            <p:cNvPr id="28682" name="Text Box 16"/>
            <p:cNvSpPr txBox="1">
              <a:spLocks noChangeArrowheads="1"/>
            </p:cNvSpPr>
            <p:nvPr/>
          </p:nvSpPr>
          <p:spPr bwMode="auto">
            <a:xfrm>
              <a:off x="680" y="3591"/>
              <a:ext cx="508" cy="194"/>
            </a:xfrm>
            <a:prstGeom prst="rect">
              <a:avLst/>
            </a:prstGeom>
            <a:noFill/>
            <a:ln w="9525">
              <a:noFill/>
              <a:miter lim="800000"/>
              <a:headEnd/>
              <a:tailEnd/>
            </a:ln>
          </p:spPr>
          <p:txBody>
            <a:bodyPr wrap="none">
              <a:spAutoFit/>
            </a:bodyPr>
            <a:lstStyle/>
            <a:p>
              <a:r>
                <a:rPr lang="en-US" altLang="zh-TW" sz="1400">
                  <a:solidFill>
                    <a:schemeClr val="bg1"/>
                  </a:solidFill>
                  <a:latin typeface="Georgia" panose="02040502050405020303" pitchFamily="18" charset="0"/>
                  <a:ea typeface="新細明體" pitchFamily="18" charset="-120"/>
                </a:rPr>
                <a:t>500 </a:t>
              </a:r>
              <a:r>
                <a:rPr lang="el-GR" sz="1400">
                  <a:solidFill>
                    <a:schemeClr val="bg1"/>
                  </a:solidFill>
                  <a:latin typeface="Georgia" panose="02040502050405020303" pitchFamily="18" charset="0"/>
                  <a:cs typeface="Times New Roman" pitchFamily="18" charset="0"/>
                </a:rPr>
                <a:t>μ</a:t>
              </a:r>
              <a:r>
                <a:rPr lang="en-US" altLang="zh-TW" sz="1400">
                  <a:solidFill>
                    <a:schemeClr val="bg1"/>
                  </a:solidFill>
                  <a:latin typeface="Georgia" panose="02040502050405020303" pitchFamily="18" charset="0"/>
                  <a:ea typeface="新細明體" pitchFamily="18" charset="-120"/>
                  <a:cs typeface="Arial" charset="0"/>
                </a:rPr>
                <a:t>m</a:t>
              </a:r>
              <a:endParaRPr lang="el-GR" sz="1400">
                <a:solidFill>
                  <a:schemeClr val="bg1"/>
                </a:solidFill>
                <a:latin typeface="Georgia" panose="02040502050405020303" pitchFamily="18" charset="0"/>
                <a:cs typeface="Arial" charset="0"/>
              </a:endParaRPr>
            </a:p>
          </p:txBody>
        </p:sp>
        <p:sp>
          <p:nvSpPr>
            <p:cNvPr id="28683" name="Text Box 17"/>
            <p:cNvSpPr txBox="1">
              <a:spLocks noChangeArrowheads="1"/>
            </p:cNvSpPr>
            <p:nvPr/>
          </p:nvSpPr>
          <p:spPr bwMode="auto">
            <a:xfrm>
              <a:off x="948" y="3909"/>
              <a:ext cx="1465" cy="233"/>
            </a:xfrm>
            <a:prstGeom prst="rect">
              <a:avLst/>
            </a:prstGeom>
            <a:noFill/>
            <a:ln w="9525">
              <a:noFill/>
              <a:miter lim="800000"/>
              <a:headEnd/>
              <a:tailEnd/>
            </a:ln>
          </p:spPr>
          <p:txBody>
            <a:bodyPr wrap="none">
              <a:spAutoFit/>
            </a:bodyPr>
            <a:lstStyle/>
            <a:p>
              <a:r>
                <a:rPr lang="en-US" altLang="zh-TW">
                  <a:latin typeface="Georgia" panose="02040502050405020303" pitchFamily="18" charset="0"/>
                  <a:ea typeface="新細明體" pitchFamily="18" charset="-120"/>
                </a:rPr>
                <a:t>Grain size: 0.06 mm </a:t>
              </a:r>
            </a:p>
          </p:txBody>
        </p:sp>
      </p:grpSp>
      <p:sp>
        <p:nvSpPr>
          <p:cNvPr id="28675" name="Text Box 18"/>
          <p:cNvSpPr txBox="1">
            <a:spLocks noChangeArrowheads="1"/>
          </p:cNvSpPr>
          <p:nvPr/>
        </p:nvSpPr>
        <p:spPr bwMode="auto">
          <a:xfrm>
            <a:off x="2054225" y="914400"/>
            <a:ext cx="5303055" cy="523220"/>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Microstructures of copper alloys</a:t>
            </a:r>
          </a:p>
        </p:txBody>
      </p:sp>
      <p:sp>
        <p:nvSpPr>
          <p:cNvPr id="28676" name="Rectangle 20"/>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 name="Slide Number Placeholder 1">
            <a:extLst>
              <a:ext uri="{FF2B5EF4-FFF2-40B4-BE49-F238E27FC236}">
                <a16:creationId xmlns:a16="http://schemas.microsoft.com/office/drawing/2014/main" id="{6F7FCE1C-DEC1-4AC8-B11E-0D133CA344B5}"/>
              </a:ext>
            </a:extLst>
          </p:cNvPr>
          <p:cNvSpPr>
            <a:spLocks noGrp="1"/>
          </p:cNvSpPr>
          <p:nvPr>
            <p:ph type="sldNum" sz="quarter" idx="11"/>
          </p:nvPr>
        </p:nvSpPr>
        <p:spPr>
          <a:xfrm>
            <a:off x="6448425" y="6096000"/>
            <a:ext cx="2133600" cy="457200"/>
          </a:xfrm>
        </p:spPr>
        <p:txBody>
          <a:bodyPr/>
          <a:lstStyle/>
          <a:p>
            <a:pPr>
              <a:defRPr/>
            </a:pPr>
            <a:fld id="{5C194D1D-C057-4136-B4EC-30B00CAA371F}" type="slidenum">
              <a:rPr lang="zh-TW" altLang="en-US" smtClean="0">
                <a:latin typeface="Georgia" panose="02040502050405020303" pitchFamily="18" charset="0"/>
              </a:rPr>
              <a:pPr>
                <a:defRPr/>
              </a:pPr>
              <a:t>22</a:t>
            </a:fld>
            <a:endParaRPr lang="en-US" altLang="zh-TW">
              <a:latin typeface="Georgia" panose="02040502050405020303"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ChangeAspect="1"/>
          </p:cNvGraphicFramePr>
          <p:nvPr/>
        </p:nvGraphicFramePr>
        <p:xfrm>
          <a:off x="1295400" y="1535113"/>
          <a:ext cx="6477000" cy="5000625"/>
        </p:xfrm>
        <a:graphic>
          <a:graphicData uri="http://schemas.openxmlformats.org/presentationml/2006/ole">
            <mc:AlternateContent xmlns:mc="http://schemas.openxmlformats.org/markup-compatibility/2006">
              <mc:Choice xmlns:v="urn:schemas-microsoft-com:vml" Requires="v">
                <p:oleObj name="CorelPhotoPaint.Image.6" r:id="rId2" imgW="4389500" imgH="3389670" progId="">
                  <p:embed/>
                </p:oleObj>
              </mc:Choice>
              <mc:Fallback>
                <p:oleObj name="CorelPhotoPaint.Image.6" r:id="rId2" imgW="4389500" imgH="338967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35113"/>
                        <a:ext cx="6477000" cy="500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1"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2052" name="Text Box 6"/>
          <p:cNvSpPr txBox="1">
            <a:spLocks noChangeArrowheads="1"/>
          </p:cNvSpPr>
          <p:nvPr/>
        </p:nvSpPr>
        <p:spPr bwMode="auto">
          <a:xfrm>
            <a:off x="914400" y="852488"/>
            <a:ext cx="3642344" cy="523220"/>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Surface spectroscopy</a:t>
            </a:r>
          </a:p>
        </p:txBody>
      </p:sp>
      <p:sp>
        <p:nvSpPr>
          <p:cNvPr id="2" name="Slide Number Placeholder 1">
            <a:extLst>
              <a:ext uri="{FF2B5EF4-FFF2-40B4-BE49-F238E27FC236}">
                <a16:creationId xmlns:a16="http://schemas.microsoft.com/office/drawing/2014/main" id="{4CAB7FD5-9128-497E-9EEC-7EE1A7F888D3}"/>
              </a:ext>
            </a:extLst>
          </p:cNvPr>
          <p:cNvSpPr>
            <a:spLocks noGrp="1"/>
          </p:cNvSpPr>
          <p:nvPr>
            <p:ph type="sldNum" sz="quarter" idx="11"/>
          </p:nvPr>
        </p:nvSpPr>
        <p:spPr/>
        <p:txBody>
          <a:bodyPr/>
          <a:lstStyle/>
          <a:p>
            <a:pPr>
              <a:defRPr/>
            </a:pPr>
            <a:fld id="{5C194D1D-C057-4136-B4EC-30B00CAA371F}" type="slidenum">
              <a:rPr lang="zh-TW" altLang="en-US" smtClean="0">
                <a:latin typeface="Georgia" panose="02040502050405020303" pitchFamily="18" charset="0"/>
              </a:rPr>
              <a:pPr>
                <a:defRPr/>
              </a:pPr>
              <a:t>23</a:t>
            </a:fld>
            <a:endParaRPr lang="en-US" altLang="zh-TW">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graphicFrame>
        <p:nvGraphicFramePr>
          <p:cNvPr id="3074" name="Object 9"/>
          <p:cNvGraphicFramePr>
            <a:graphicFrameLocks noChangeAspect="1"/>
          </p:cNvGraphicFramePr>
          <p:nvPr/>
        </p:nvGraphicFramePr>
        <p:xfrm>
          <a:off x="276225" y="1420813"/>
          <a:ext cx="8458200" cy="5033962"/>
        </p:xfrm>
        <a:graphic>
          <a:graphicData uri="http://schemas.openxmlformats.org/presentationml/2006/ole">
            <mc:AlternateContent xmlns:mc="http://schemas.openxmlformats.org/markup-compatibility/2006">
              <mc:Choice xmlns:v="urn:schemas-microsoft-com:vml" Requires="v">
                <p:oleObj name="CorelPhotoPaint.Image.6" r:id="rId2" imgW="4413887" imgH="2627159" progId="">
                  <p:embed/>
                </p:oleObj>
              </mc:Choice>
              <mc:Fallback>
                <p:oleObj name="CorelPhotoPaint.Image.6" r:id="rId2" imgW="4413887" imgH="2627159"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420813"/>
                        <a:ext cx="8458200" cy="503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12"/>
          <p:cNvSpPr txBox="1">
            <a:spLocks noChangeArrowheads="1"/>
          </p:cNvSpPr>
          <p:nvPr/>
        </p:nvSpPr>
        <p:spPr bwMode="auto">
          <a:xfrm>
            <a:off x="914400" y="852488"/>
            <a:ext cx="3642344" cy="523220"/>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Surface spectroscopy</a:t>
            </a:r>
          </a:p>
        </p:txBody>
      </p:sp>
      <p:sp>
        <p:nvSpPr>
          <p:cNvPr id="2" name="Slide Number Placeholder 1">
            <a:extLst>
              <a:ext uri="{FF2B5EF4-FFF2-40B4-BE49-F238E27FC236}">
                <a16:creationId xmlns:a16="http://schemas.microsoft.com/office/drawing/2014/main" id="{3FE85994-3C27-4846-AD2D-707902454804}"/>
              </a:ext>
            </a:extLst>
          </p:cNvPr>
          <p:cNvSpPr>
            <a:spLocks noGrp="1"/>
          </p:cNvSpPr>
          <p:nvPr>
            <p:ph type="sldNum" sz="quarter" idx="11"/>
          </p:nvPr>
        </p:nvSpPr>
        <p:spPr/>
        <p:txBody>
          <a:bodyPr/>
          <a:lstStyle/>
          <a:p>
            <a:pPr>
              <a:defRPr/>
            </a:pPr>
            <a:fld id="{5C194D1D-C057-4136-B4EC-30B00CAA371F}" type="slidenum">
              <a:rPr lang="zh-TW" altLang="en-US" smtClean="0"/>
              <a:pPr>
                <a:defRPr/>
              </a:pPr>
              <a:t>24</a:t>
            </a:fld>
            <a:endParaRPr lang="en-US" altLang="zh-TW"/>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pic>
        <p:nvPicPr>
          <p:cNvPr id="29699" name="Picture 8" descr="SP_10"/>
          <p:cNvPicPr>
            <a:picLocks noChangeAspect="1" noChangeArrowheads="1"/>
          </p:cNvPicPr>
          <p:nvPr/>
        </p:nvPicPr>
        <p:blipFill>
          <a:blip r:embed="rId2" cstate="print">
            <a:lum bright="-6000" contrast="12000"/>
          </a:blip>
          <a:srcRect/>
          <a:stretch>
            <a:fillRect/>
          </a:stretch>
        </p:blipFill>
        <p:spPr bwMode="auto">
          <a:xfrm>
            <a:off x="1962150" y="904875"/>
            <a:ext cx="4849813" cy="5953125"/>
          </a:xfrm>
          <a:prstGeom prst="rect">
            <a:avLst/>
          </a:prstGeom>
          <a:noFill/>
          <a:ln w="9525">
            <a:noFill/>
            <a:miter lim="800000"/>
            <a:headEnd/>
            <a:tailEnd/>
          </a:ln>
        </p:spPr>
      </p:pic>
      <p:sp>
        <p:nvSpPr>
          <p:cNvPr id="29700" name="Text Box 5"/>
          <p:cNvSpPr txBox="1">
            <a:spLocks noChangeArrowheads="1"/>
          </p:cNvSpPr>
          <p:nvPr/>
        </p:nvSpPr>
        <p:spPr bwMode="auto">
          <a:xfrm>
            <a:off x="914400" y="852488"/>
            <a:ext cx="7273925" cy="519112"/>
          </a:xfrm>
          <a:prstGeom prst="rect">
            <a:avLst/>
          </a:prstGeom>
          <a:noFill/>
          <a:ln w="9525">
            <a:noFill/>
            <a:miter lim="800000"/>
            <a:headEnd/>
            <a:tailEnd/>
          </a:ln>
        </p:spPr>
        <p:txBody>
          <a:bodyPr wrap="none">
            <a:spAutoFit/>
          </a:bodyPr>
          <a:lstStyle/>
          <a:p>
            <a:r>
              <a:rPr lang="en-US" altLang="zh-TW" sz="2800">
                <a:ea typeface="新細明體" pitchFamily="18" charset="-120"/>
              </a:rPr>
              <a:t>Sample preparation for surface spectroscopy</a:t>
            </a:r>
          </a:p>
        </p:txBody>
      </p:sp>
      <p:sp>
        <p:nvSpPr>
          <p:cNvPr id="29701" name="Rectangle 6"/>
          <p:cNvSpPr>
            <a:spLocks noChangeArrowheads="1"/>
          </p:cNvSpPr>
          <p:nvPr/>
        </p:nvSpPr>
        <p:spPr bwMode="auto">
          <a:xfrm>
            <a:off x="3352800" y="2014538"/>
            <a:ext cx="3640138" cy="347662"/>
          </a:xfrm>
          <a:prstGeom prst="rect">
            <a:avLst/>
          </a:prstGeom>
          <a:noFill/>
          <a:ln w="19050">
            <a:solidFill>
              <a:srgbClr val="FF0000"/>
            </a:solidFill>
            <a:miter lim="800000"/>
            <a:headEnd/>
            <a:tailEnd/>
          </a:ln>
        </p:spPr>
        <p:txBody>
          <a:bodyPr wrap="none" anchor="ctr"/>
          <a:lstStyle/>
          <a:p>
            <a:endParaRPr lang="en-US"/>
          </a:p>
        </p:txBody>
      </p:sp>
      <p:sp>
        <p:nvSpPr>
          <p:cNvPr id="29702" name="Rectangle 6"/>
          <p:cNvSpPr>
            <a:spLocks noChangeArrowheads="1"/>
          </p:cNvSpPr>
          <p:nvPr/>
        </p:nvSpPr>
        <p:spPr bwMode="auto">
          <a:xfrm>
            <a:off x="3352800" y="2928938"/>
            <a:ext cx="3640138" cy="347662"/>
          </a:xfrm>
          <a:prstGeom prst="rect">
            <a:avLst/>
          </a:prstGeom>
          <a:noFill/>
          <a:ln w="19050">
            <a:solidFill>
              <a:srgbClr val="FF0000"/>
            </a:solidFill>
            <a:miter lim="800000"/>
            <a:headEnd/>
            <a:tailEnd/>
          </a:ln>
        </p:spPr>
        <p:txBody>
          <a:bodyPr wrap="none" anchor="ctr"/>
          <a:lstStyle/>
          <a:p>
            <a:endParaRPr lang="en-US"/>
          </a:p>
        </p:txBody>
      </p:sp>
      <p:sp>
        <p:nvSpPr>
          <p:cNvPr id="2" name="Slide Number Placeholder 1">
            <a:extLst>
              <a:ext uri="{FF2B5EF4-FFF2-40B4-BE49-F238E27FC236}">
                <a16:creationId xmlns:a16="http://schemas.microsoft.com/office/drawing/2014/main" id="{0322EC10-0924-4264-824A-575D9A25192B}"/>
              </a:ext>
            </a:extLst>
          </p:cNvPr>
          <p:cNvSpPr>
            <a:spLocks noGrp="1"/>
          </p:cNvSpPr>
          <p:nvPr>
            <p:ph type="sldNum" sz="quarter" idx="11"/>
          </p:nvPr>
        </p:nvSpPr>
        <p:spPr/>
        <p:txBody>
          <a:bodyPr/>
          <a:lstStyle/>
          <a:p>
            <a:pPr>
              <a:defRPr/>
            </a:pPr>
            <a:fld id="{5C194D1D-C057-4136-B4EC-30B00CAA371F}" type="slidenum">
              <a:rPr lang="zh-TW" altLang="en-US" smtClean="0"/>
              <a:pPr>
                <a:defRPr/>
              </a:pPr>
              <a:t>25</a:t>
            </a:fld>
            <a:endParaRPr lang="en-US" altLang="zh-TW"/>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4100" name="Text Box 5"/>
          <p:cNvSpPr txBox="1">
            <a:spLocks noChangeArrowheads="1"/>
          </p:cNvSpPr>
          <p:nvPr/>
        </p:nvSpPr>
        <p:spPr bwMode="auto">
          <a:xfrm>
            <a:off x="838200" y="944591"/>
            <a:ext cx="7273925" cy="519113"/>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surface spectroscopy</a:t>
            </a:r>
          </a:p>
        </p:txBody>
      </p:sp>
      <p:graphicFrame>
        <p:nvGraphicFramePr>
          <p:cNvPr id="4098" name="Object 7"/>
          <p:cNvGraphicFramePr>
            <a:graphicFrameLocks noChangeAspect="1"/>
          </p:cNvGraphicFramePr>
          <p:nvPr>
            <p:extLst>
              <p:ext uri="{D42A27DB-BD31-4B8C-83A1-F6EECF244321}">
                <p14:modId xmlns:p14="http://schemas.microsoft.com/office/powerpoint/2010/main" val="1041324861"/>
              </p:ext>
            </p:extLst>
          </p:nvPr>
        </p:nvGraphicFramePr>
        <p:xfrm>
          <a:off x="1143000" y="1557366"/>
          <a:ext cx="6934200" cy="5126038"/>
        </p:xfrm>
        <a:graphic>
          <a:graphicData uri="http://schemas.openxmlformats.org/presentationml/2006/ole">
            <mc:AlternateContent xmlns:mc="http://schemas.openxmlformats.org/markup-compatibility/2006">
              <mc:Choice xmlns:v="urn:schemas-microsoft-com:vml" Requires="v">
                <p:oleObj name="CorelPhotoPaint.Image.6" r:id="rId3" imgW="4395597" imgH="3249450" progId="">
                  <p:embed/>
                </p:oleObj>
              </mc:Choice>
              <mc:Fallback>
                <p:oleObj name="CorelPhotoPaint.Image.6" r:id="rId3" imgW="4395597" imgH="3249450"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557366"/>
                        <a:ext cx="6934200" cy="512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65F549D9-284F-4EA3-9C70-32C255A355EE}"/>
              </a:ext>
            </a:extLst>
          </p:cNvPr>
          <p:cNvSpPr>
            <a:spLocks noGrp="1"/>
          </p:cNvSpPr>
          <p:nvPr>
            <p:ph type="sldNum" sz="quarter" idx="11"/>
          </p:nvPr>
        </p:nvSpPr>
        <p:spPr>
          <a:xfrm>
            <a:off x="6477000" y="6126191"/>
            <a:ext cx="2133600" cy="457200"/>
          </a:xfrm>
        </p:spPr>
        <p:txBody>
          <a:bodyPr/>
          <a:lstStyle/>
          <a:p>
            <a:pPr>
              <a:defRPr/>
            </a:pPr>
            <a:fld id="{5C194D1D-C057-4136-B4EC-30B00CAA371F}" type="slidenum">
              <a:rPr lang="zh-TW" altLang="en-US" smtClean="0">
                <a:latin typeface="Georgia" panose="02040502050405020303" pitchFamily="18" charset="0"/>
              </a:rPr>
              <a:pPr>
                <a:defRPr/>
              </a:pPr>
              <a:t>26</a:t>
            </a:fld>
            <a:endParaRPr lang="en-US" altLang="zh-TW">
              <a:latin typeface="Georgia" panose="020405020504050203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5124" name="Text Box 5"/>
          <p:cNvSpPr txBox="1">
            <a:spLocks noChangeArrowheads="1"/>
          </p:cNvSpPr>
          <p:nvPr/>
        </p:nvSpPr>
        <p:spPr bwMode="auto">
          <a:xfrm>
            <a:off x="914400" y="1066800"/>
            <a:ext cx="7273925" cy="519113"/>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surface spectroscopy</a:t>
            </a:r>
          </a:p>
        </p:txBody>
      </p:sp>
      <p:sp>
        <p:nvSpPr>
          <p:cNvPr id="5125" name="WordArt 6"/>
          <p:cNvSpPr>
            <a:spLocks noChangeArrowheads="1" noChangeShapeType="1" noTextEdit="1"/>
          </p:cNvSpPr>
          <p:nvPr/>
        </p:nvSpPr>
        <p:spPr bwMode="auto">
          <a:xfrm>
            <a:off x="400050" y="1905000"/>
            <a:ext cx="2324100"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Sample handling</a:t>
            </a:r>
          </a:p>
        </p:txBody>
      </p:sp>
      <p:graphicFrame>
        <p:nvGraphicFramePr>
          <p:cNvPr id="5122" name="Object 8"/>
          <p:cNvGraphicFramePr>
            <a:graphicFrameLocks noChangeAspect="1"/>
          </p:cNvGraphicFramePr>
          <p:nvPr/>
        </p:nvGraphicFramePr>
        <p:xfrm>
          <a:off x="381000" y="2419350"/>
          <a:ext cx="8458200" cy="4133850"/>
        </p:xfrm>
        <a:graphic>
          <a:graphicData uri="http://schemas.openxmlformats.org/presentationml/2006/ole">
            <mc:AlternateContent xmlns:mc="http://schemas.openxmlformats.org/markup-compatibility/2006">
              <mc:Choice xmlns:v="urn:schemas-microsoft-com:vml" Requires="v">
                <p:oleObj name="CorelPhotoPaint.Image.6" r:id="rId2" imgW="3804234" imgH="1859441" progId="">
                  <p:embed/>
                </p:oleObj>
              </mc:Choice>
              <mc:Fallback>
                <p:oleObj name="CorelPhotoPaint.Image.6" r:id="rId2" imgW="3804234" imgH="1859441" progId="">
                  <p:embed/>
                  <p:pic>
                    <p:nvPicPr>
                      <p:cNvPr id="0" name="Object 8"/>
                      <p:cNvPicPr>
                        <a:picLocks noChangeAspect="1" noChangeArrowheads="1"/>
                      </p:cNvPicPr>
                      <p:nvPr/>
                    </p:nvPicPr>
                    <p:blipFill>
                      <a:blip r:embed="rId3">
                        <a:lum bright="-12000" contrast="30000"/>
                        <a:extLst>
                          <a:ext uri="{28A0092B-C50C-407E-A947-70E740481C1C}">
                            <a14:useLocalDpi xmlns:a14="http://schemas.microsoft.com/office/drawing/2010/main" val="0"/>
                          </a:ext>
                        </a:extLst>
                      </a:blip>
                      <a:srcRect/>
                      <a:stretch>
                        <a:fillRect/>
                      </a:stretch>
                    </p:blipFill>
                    <p:spPr bwMode="auto">
                      <a:xfrm>
                        <a:off x="381000" y="2419350"/>
                        <a:ext cx="84582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4D4390EC-419A-4625-ABC2-A88127E215AA}"/>
              </a:ext>
            </a:extLst>
          </p:cNvPr>
          <p:cNvSpPr>
            <a:spLocks noGrp="1"/>
          </p:cNvSpPr>
          <p:nvPr>
            <p:ph type="sldNum" sz="quarter" idx="11"/>
          </p:nvPr>
        </p:nvSpPr>
        <p:spPr/>
        <p:txBody>
          <a:bodyPr/>
          <a:lstStyle/>
          <a:p>
            <a:pPr>
              <a:defRPr/>
            </a:pPr>
            <a:fld id="{5C194D1D-C057-4136-B4EC-30B00CAA371F}" type="slidenum">
              <a:rPr lang="zh-TW" altLang="en-US" smtClean="0">
                <a:latin typeface="Georgia" panose="02040502050405020303" pitchFamily="18" charset="0"/>
              </a:rPr>
              <a:pPr>
                <a:defRPr/>
              </a:pPr>
              <a:t>27</a:t>
            </a:fld>
            <a:endParaRPr lang="en-US" altLang="zh-TW">
              <a:latin typeface="Georgia" panose="020405020504050203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2"/>
          <p:cNvSpPr>
            <a:spLocks noGrp="1"/>
          </p:cNvSpPr>
          <p:nvPr>
            <p:ph type="sldNum" sz="quarter" idx="11"/>
          </p:nvPr>
        </p:nvSpPr>
        <p:spPr>
          <a:xfrm>
            <a:off x="6553200" y="6096000"/>
            <a:ext cx="2133600" cy="457200"/>
          </a:xfrm>
          <a:noFill/>
        </p:spPr>
        <p:txBody>
          <a:bodyPr/>
          <a:lstStyle/>
          <a:p>
            <a:fld id="{42CFF092-EC84-40CF-A617-DBABA32D8808}" type="slidenum">
              <a:rPr lang="zh-TW" altLang="en-US">
                <a:latin typeface="Georgia" panose="02040502050405020303" pitchFamily="18" charset="0"/>
              </a:rPr>
              <a:pPr/>
              <a:t>28</a:t>
            </a:fld>
            <a:endParaRPr lang="en-US" altLang="zh-TW">
              <a:latin typeface="Georgia" panose="02040502050405020303" pitchFamily="18" charset="0"/>
            </a:endParaRPr>
          </a:p>
        </p:txBody>
      </p:sp>
      <p:sp>
        <p:nvSpPr>
          <p:cNvPr id="30723" name="WordArt 4"/>
          <p:cNvSpPr>
            <a:spLocks noChangeArrowheads="1" noChangeShapeType="1" noTextEdit="1"/>
          </p:cNvSpPr>
          <p:nvPr/>
        </p:nvSpPr>
        <p:spPr bwMode="auto">
          <a:xfrm>
            <a:off x="400050" y="1752600"/>
            <a:ext cx="6181725"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800080"/>
                </a:solidFill>
                <a:effectLst>
                  <a:outerShdw dist="45791" dir="2021404" algn="ctr" rotWithShape="0">
                    <a:srgbClr val="B2B2B2">
                      <a:alpha val="79999"/>
                    </a:srgbClr>
                  </a:outerShdw>
                </a:effectLst>
                <a:latin typeface="Times New Roman"/>
                <a:cs typeface="Times New Roman"/>
              </a:rPr>
              <a:t>Special sample cleaning: ion sputter cleaning</a:t>
            </a:r>
          </a:p>
        </p:txBody>
      </p:sp>
      <p:sp>
        <p:nvSpPr>
          <p:cNvPr id="30724"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30725" name="Text Box 6"/>
          <p:cNvSpPr txBox="1">
            <a:spLocks noChangeArrowheads="1"/>
          </p:cNvSpPr>
          <p:nvPr/>
        </p:nvSpPr>
        <p:spPr bwMode="auto">
          <a:xfrm>
            <a:off x="914400" y="914400"/>
            <a:ext cx="7273925" cy="519113"/>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surface spectroscopy</a:t>
            </a:r>
          </a:p>
        </p:txBody>
      </p:sp>
      <p:pic>
        <p:nvPicPr>
          <p:cNvPr id="30726" name="Picture 8" descr="SP_13"/>
          <p:cNvPicPr>
            <a:picLocks noChangeAspect="1" noChangeArrowheads="1"/>
          </p:cNvPicPr>
          <p:nvPr/>
        </p:nvPicPr>
        <p:blipFill>
          <a:blip r:embed="rId2" cstate="print"/>
          <a:srcRect/>
          <a:stretch>
            <a:fillRect/>
          </a:stretch>
        </p:blipFill>
        <p:spPr bwMode="auto">
          <a:xfrm>
            <a:off x="228600" y="2362200"/>
            <a:ext cx="4648200" cy="3871913"/>
          </a:xfrm>
          <a:prstGeom prst="rect">
            <a:avLst/>
          </a:prstGeom>
          <a:noFill/>
          <a:ln w="9525">
            <a:noFill/>
            <a:miter lim="800000"/>
            <a:headEnd/>
            <a:tailEnd/>
          </a:ln>
        </p:spPr>
      </p:pic>
      <p:pic>
        <p:nvPicPr>
          <p:cNvPr id="30727" name="Picture 9" descr="SP_13b"/>
          <p:cNvPicPr>
            <a:picLocks noChangeAspect="1" noChangeArrowheads="1"/>
          </p:cNvPicPr>
          <p:nvPr/>
        </p:nvPicPr>
        <p:blipFill>
          <a:blip r:embed="rId3" cstate="print"/>
          <a:srcRect/>
          <a:stretch>
            <a:fillRect/>
          </a:stretch>
        </p:blipFill>
        <p:spPr bwMode="auto">
          <a:xfrm>
            <a:off x="4629150" y="2322513"/>
            <a:ext cx="4343400" cy="3870325"/>
          </a:xfrm>
          <a:prstGeom prst="rect">
            <a:avLst/>
          </a:prstGeom>
          <a:noFill/>
          <a:ln w="9525">
            <a:noFill/>
            <a:miter lim="800000"/>
            <a:headEnd/>
            <a:tailEnd/>
          </a:ln>
        </p:spPr>
      </p:pic>
      <p:sp>
        <p:nvSpPr>
          <p:cNvPr id="68618" name="Text Box 10"/>
          <p:cNvSpPr txBox="1">
            <a:spLocks noChangeArrowheads="1"/>
          </p:cNvSpPr>
          <p:nvPr/>
        </p:nvSpPr>
        <p:spPr bwMode="auto">
          <a:xfrm>
            <a:off x="2628900" y="2667000"/>
            <a:ext cx="2377574" cy="307777"/>
          </a:xfrm>
          <a:prstGeom prst="rect">
            <a:avLst/>
          </a:prstGeom>
          <a:noFill/>
          <a:ln w="9525">
            <a:noFill/>
            <a:miter lim="800000"/>
            <a:headEnd/>
            <a:tailEnd/>
          </a:ln>
          <a:effectLst/>
        </p:spPr>
        <p:txBody>
          <a:bodyPr wrap="none">
            <a:spAutoFit/>
          </a:bodyPr>
          <a:lstStyle/>
          <a:p>
            <a:pPr>
              <a:defRPr/>
            </a:pPr>
            <a:r>
              <a:rPr lang="en-US" altLang="zh-TW" sz="1400" b="1" i="1">
                <a:solidFill>
                  <a:srgbClr val="FF3300"/>
                </a:solidFill>
                <a:effectLst>
                  <a:outerShdw blurRad="38100" dist="38100" dir="2700000" algn="tl">
                    <a:srgbClr val="C0C0C0"/>
                  </a:outerShdw>
                </a:effectLst>
                <a:latin typeface="Georgia" panose="02040502050405020303" pitchFamily="18" charset="0"/>
                <a:ea typeface="新細明體" pitchFamily="18" charset="-120"/>
              </a:rPr>
              <a:t>Before sputter cleaning</a:t>
            </a:r>
          </a:p>
        </p:txBody>
      </p:sp>
      <p:sp>
        <p:nvSpPr>
          <p:cNvPr id="68619" name="Text Box 11"/>
          <p:cNvSpPr txBox="1">
            <a:spLocks noChangeArrowheads="1"/>
          </p:cNvSpPr>
          <p:nvPr/>
        </p:nvSpPr>
        <p:spPr bwMode="auto">
          <a:xfrm>
            <a:off x="6838950" y="2638425"/>
            <a:ext cx="2239716" cy="307777"/>
          </a:xfrm>
          <a:prstGeom prst="rect">
            <a:avLst/>
          </a:prstGeom>
          <a:noFill/>
          <a:ln w="9525">
            <a:noFill/>
            <a:miter lim="800000"/>
            <a:headEnd/>
            <a:tailEnd/>
          </a:ln>
          <a:effectLst/>
        </p:spPr>
        <p:txBody>
          <a:bodyPr wrap="none">
            <a:spAutoFit/>
          </a:bodyPr>
          <a:lstStyle/>
          <a:p>
            <a:pPr>
              <a:defRPr/>
            </a:pPr>
            <a:r>
              <a:rPr lang="en-US" altLang="zh-TW" sz="1400" b="1" i="1">
                <a:solidFill>
                  <a:srgbClr val="008000"/>
                </a:solidFill>
                <a:effectLst>
                  <a:outerShdw blurRad="38100" dist="38100" dir="2700000" algn="tl">
                    <a:srgbClr val="C0C0C0"/>
                  </a:outerShdw>
                </a:effectLst>
                <a:latin typeface="Georgia" panose="02040502050405020303" pitchFamily="18" charset="0"/>
                <a:ea typeface="新細明體" pitchFamily="18" charset="-120"/>
              </a:rPr>
              <a:t>After sputter cleaning</a:t>
            </a:r>
          </a:p>
        </p:txBody>
      </p:sp>
      <p:sp>
        <p:nvSpPr>
          <p:cNvPr id="30730" name="Text Box 12"/>
          <p:cNvSpPr txBox="1">
            <a:spLocks noChangeArrowheads="1"/>
          </p:cNvSpPr>
          <p:nvPr/>
        </p:nvSpPr>
        <p:spPr bwMode="auto">
          <a:xfrm>
            <a:off x="2971800" y="6248400"/>
            <a:ext cx="3684022" cy="369332"/>
          </a:xfrm>
          <a:prstGeom prst="rect">
            <a:avLst/>
          </a:prstGeom>
          <a:noFill/>
          <a:ln w="9525">
            <a:noFill/>
            <a:miter lim="800000"/>
            <a:headEnd/>
            <a:tailEnd/>
          </a:ln>
        </p:spPr>
        <p:txBody>
          <a:bodyPr wrap="none">
            <a:spAutoFit/>
          </a:bodyPr>
          <a:lstStyle/>
          <a:p>
            <a:r>
              <a:rPr lang="en-US" altLang="zh-TW">
                <a:latin typeface="Georgia" panose="02040502050405020303" pitchFamily="18" charset="0"/>
                <a:ea typeface="新細明體" pitchFamily="18" charset="-120"/>
              </a:rPr>
              <a:t>Sample: Thin film superconductor</a:t>
            </a:r>
          </a:p>
        </p:txBody>
      </p:sp>
      <p:sp>
        <p:nvSpPr>
          <p:cNvPr id="30731" name="Oval 11"/>
          <p:cNvSpPr>
            <a:spLocks noChangeArrowheads="1"/>
          </p:cNvSpPr>
          <p:nvPr/>
        </p:nvSpPr>
        <p:spPr bwMode="auto">
          <a:xfrm>
            <a:off x="3429000" y="4038600"/>
            <a:ext cx="533400" cy="381000"/>
          </a:xfrm>
          <a:prstGeom prst="ellipse">
            <a:avLst/>
          </a:prstGeom>
          <a:noFill/>
          <a:ln w="19050">
            <a:solidFill>
              <a:srgbClr val="FF0000"/>
            </a:solidFill>
            <a:round/>
            <a:headEnd/>
            <a:tailEnd/>
          </a:ln>
        </p:spPr>
        <p:txBody>
          <a:bodyPr wrap="none" anchor="ctr"/>
          <a:lstStyle/>
          <a:p>
            <a:endParaRPr lang="en-US">
              <a:latin typeface="Georgia" panose="02040502050405020303"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31747" name="Text Box 6"/>
          <p:cNvSpPr txBox="1">
            <a:spLocks noChangeArrowheads="1"/>
          </p:cNvSpPr>
          <p:nvPr/>
        </p:nvSpPr>
        <p:spPr bwMode="auto">
          <a:xfrm>
            <a:off x="935037" y="914400"/>
            <a:ext cx="7273925" cy="519113"/>
          </a:xfrm>
          <a:prstGeom prst="rect">
            <a:avLst/>
          </a:prstGeom>
          <a:noFill/>
          <a:ln w="9525">
            <a:noFill/>
            <a:miter lim="800000"/>
            <a:headEnd/>
            <a:tailEnd/>
          </a:ln>
        </p:spPr>
        <p:txBody>
          <a:bodyPr wrap="none">
            <a:spAutoFit/>
          </a:bodyPr>
          <a:lstStyle/>
          <a:p>
            <a:r>
              <a:rPr lang="en-US" altLang="zh-TW" sz="2800">
                <a:latin typeface="Georgia" panose="02040502050405020303" pitchFamily="18" charset="0"/>
                <a:ea typeface="新細明體" pitchFamily="18" charset="-120"/>
              </a:rPr>
              <a:t>Sample preparation for surface spectroscopy</a:t>
            </a:r>
          </a:p>
        </p:txBody>
      </p:sp>
      <p:pic>
        <p:nvPicPr>
          <p:cNvPr id="31748" name="Picture 8" descr="SP_14"/>
          <p:cNvPicPr>
            <a:picLocks noChangeAspect="1" noChangeArrowheads="1"/>
          </p:cNvPicPr>
          <p:nvPr/>
        </p:nvPicPr>
        <p:blipFill>
          <a:blip r:embed="rId3" cstate="print"/>
          <a:srcRect/>
          <a:stretch>
            <a:fillRect/>
          </a:stretch>
        </p:blipFill>
        <p:spPr bwMode="auto">
          <a:xfrm>
            <a:off x="1392237" y="1990725"/>
            <a:ext cx="6172200" cy="4714875"/>
          </a:xfrm>
          <a:prstGeom prst="rect">
            <a:avLst/>
          </a:prstGeom>
          <a:noFill/>
          <a:ln w="9525">
            <a:noFill/>
            <a:miter lim="800000"/>
            <a:headEnd/>
            <a:tailEnd/>
          </a:ln>
        </p:spPr>
      </p:pic>
      <p:sp>
        <p:nvSpPr>
          <p:cNvPr id="31749" name="WordArt 4"/>
          <p:cNvSpPr>
            <a:spLocks noChangeArrowheads="1" noChangeShapeType="1" noTextEdit="1"/>
          </p:cNvSpPr>
          <p:nvPr/>
        </p:nvSpPr>
        <p:spPr bwMode="auto">
          <a:xfrm>
            <a:off x="420687" y="1638300"/>
            <a:ext cx="6181725" cy="400050"/>
          </a:xfrm>
          <a:prstGeom prst="rect">
            <a:avLst/>
          </a:prstGeom>
        </p:spPr>
        <p:txBody>
          <a:bodyPr wrap="none" fromWordArt="1">
            <a:prstTxWarp prst="textPlain">
              <a:avLst>
                <a:gd name="adj" fmla="val 50000"/>
              </a:avLst>
            </a:prstTxWarp>
          </a:bodyPr>
          <a:lstStyle/>
          <a:p>
            <a:pPr algn="ctr"/>
            <a:r>
              <a:rPr lang="en-US" sz="2800" kern="10">
                <a:ln w="9525">
                  <a:noFill/>
                  <a:round/>
                  <a:headEnd/>
                  <a:tailEnd/>
                </a:ln>
                <a:solidFill>
                  <a:srgbClr val="800080"/>
                </a:solidFill>
                <a:effectLst>
                  <a:outerShdw dist="45791" dir="2021404" algn="ctr" rotWithShape="0">
                    <a:srgbClr val="B2B2B2">
                      <a:alpha val="79999"/>
                    </a:srgbClr>
                  </a:outerShdw>
                </a:effectLst>
                <a:latin typeface="Times New Roman"/>
                <a:cs typeface="Times New Roman"/>
              </a:rPr>
              <a:t>Special sample cleaning: ion sputter cleaning</a:t>
            </a:r>
          </a:p>
        </p:txBody>
      </p:sp>
      <p:sp>
        <p:nvSpPr>
          <p:cNvPr id="69641" name="Text Box 9"/>
          <p:cNvSpPr txBox="1">
            <a:spLocks noChangeArrowheads="1"/>
          </p:cNvSpPr>
          <p:nvPr/>
        </p:nvSpPr>
        <p:spPr bwMode="auto">
          <a:xfrm>
            <a:off x="5507037" y="2133600"/>
            <a:ext cx="1890261" cy="307777"/>
          </a:xfrm>
          <a:prstGeom prst="rect">
            <a:avLst/>
          </a:prstGeom>
          <a:solidFill>
            <a:schemeClr val="bg1"/>
          </a:solidFill>
          <a:ln w="9525">
            <a:noFill/>
            <a:miter lim="800000"/>
            <a:headEnd/>
            <a:tailEnd/>
          </a:ln>
          <a:effectLst/>
        </p:spPr>
        <p:txBody>
          <a:bodyPr wrap="none">
            <a:spAutoFit/>
          </a:bodyPr>
          <a:lstStyle/>
          <a:p>
            <a:pPr>
              <a:defRPr/>
            </a:pPr>
            <a:r>
              <a:rPr lang="en-US" altLang="zh-TW" sz="1400" b="1" i="1">
                <a:solidFill>
                  <a:schemeClr val="bg2"/>
                </a:solidFill>
                <a:effectLst>
                  <a:outerShdw blurRad="38100" dist="38100" dir="2700000" algn="tl">
                    <a:srgbClr val="C0C0C0"/>
                  </a:outerShdw>
                </a:effectLst>
                <a:latin typeface="Georgia" panose="02040502050405020303" pitchFamily="18" charset="0"/>
                <a:ea typeface="新細明體" pitchFamily="18" charset="-120"/>
              </a:rPr>
              <a:t>Ba 3d XPS spectra</a:t>
            </a:r>
          </a:p>
        </p:txBody>
      </p:sp>
      <p:sp>
        <p:nvSpPr>
          <p:cNvPr id="69642" name="Text Box 10"/>
          <p:cNvSpPr txBox="1">
            <a:spLocks noChangeArrowheads="1"/>
          </p:cNvSpPr>
          <p:nvPr/>
        </p:nvSpPr>
        <p:spPr bwMode="auto">
          <a:xfrm>
            <a:off x="2459037" y="2438400"/>
            <a:ext cx="2927350" cy="738664"/>
          </a:xfrm>
          <a:prstGeom prst="rect">
            <a:avLst/>
          </a:prstGeom>
          <a:noFill/>
          <a:ln w="9525">
            <a:noFill/>
            <a:miter lim="800000"/>
            <a:headEnd/>
            <a:tailEnd/>
          </a:ln>
          <a:effectLst/>
        </p:spPr>
        <p:txBody>
          <a:bodyPr>
            <a:spAutoFit/>
          </a:bodyPr>
          <a:lstStyle/>
          <a:p>
            <a:pPr>
              <a:defRPr/>
            </a:pPr>
            <a:r>
              <a:rPr lang="en-US" altLang="zh-TW" sz="1400" i="1">
                <a:solidFill>
                  <a:schemeClr val="hlink"/>
                </a:solidFill>
                <a:effectLst>
                  <a:outerShdw blurRad="38100" dist="38100" dir="2700000" algn="tl">
                    <a:srgbClr val="C0C0C0"/>
                  </a:outerShdw>
                </a:effectLst>
                <a:latin typeface="Georgia" panose="02040502050405020303" pitchFamily="18" charset="0"/>
                <a:ea typeface="新細明體" pitchFamily="18" charset="-120"/>
              </a:rPr>
              <a:t>Surface contaminants like</a:t>
            </a:r>
          </a:p>
          <a:p>
            <a:pPr>
              <a:defRPr/>
            </a:pPr>
            <a:r>
              <a:rPr lang="en-US" altLang="zh-TW" sz="1400" i="1">
                <a:solidFill>
                  <a:schemeClr val="hlink"/>
                </a:solidFill>
                <a:effectLst>
                  <a:outerShdw blurRad="38100" dist="38100" dir="2700000" algn="tl">
                    <a:srgbClr val="C0C0C0"/>
                  </a:outerShdw>
                </a:effectLst>
                <a:latin typeface="Georgia" panose="02040502050405020303" pitchFamily="18" charset="0"/>
                <a:ea typeface="新細明體" pitchFamily="18" charset="-120"/>
              </a:rPr>
              <a:t>Ba hydroxides and carbonates are removed by ion sputter cleaning</a:t>
            </a:r>
          </a:p>
        </p:txBody>
      </p:sp>
      <p:sp>
        <p:nvSpPr>
          <p:cNvPr id="2" name="Slide Number Placeholder 1">
            <a:extLst>
              <a:ext uri="{FF2B5EF4-FFF2-40B4-BE49-F238E27FC236}">
                <a16:creationId xmlns:a16="http://schemas.microsoft.com/office/drawing/2014/main" id="{3065C842-80B0-41BD-9645-5391FC25849C}"/>
              </a:ext>
            </a:extLst>
          </p:cNvPr>
          <p:cNvSpPr>
            <a:spLocks noGrp="1"/>
          </p:cNvSpPr>
          <p:nvPr>
            <p:ph type="sldNum" sz="quarter" idx="11"/>
          </p:nvPr>
        </p:nvSpPr>
        <p:spPr>
          <a:xfrm>
            <a:off x="6934200" y="6324600"/>
            <a:ext cx="2133600" cy="457200"/>
          </a:xfrm>
        </p:spPr>
        <p:txBody>
          <a:bodyPr/>
          <a:lstStyle/>
          <a:p>
            <a:pPr>
              <a:defRPr/>
            </a:pPr>
            <a:fld id="{5C194D1D-C057-4136-B4EC-30B00CAA371F}" type="slidenum">
              <a:rPr lang="zh-TW" altLang="en-US" smtClean="0">
                <a:latin typeface="Georgia" panose="02040502050405020303" pitchFamily="18" charset="0"/>
              </a:rPr>
              <a:pPr>
                <a:defRPr/>
              </a:pPr>
              <a:t>29</a:t>
            </a:fld>
            <a:endParaRPr lang="en-US" altLang="zh-TW" dirty="0">
              <a:latin typeface="Georgia" panose="02040502050405020303"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Sample preparation for specific material characterization</a:t>
            </a:r>
          </a:p>
        </p:txBody>
      </p:sp>
      <p:sp>
        <p:nvSpPr>
          <p:cNvPr id="32771" name="Text Box 5"/>
          <p:cNvSpPr txBox="1">
            <a:spLocks noChangeArrowheads="1"/>
          </p:cNvSpPr>
          <p:nvPr/>
        </p:nvSpPr>
        <p:spPr bwMode="auto">
          <a:xfrm>
            <a:off x="914400" y="990600"/>
            <a:ext cx="7273925" cy="519113"/>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Sample preparation for surface spectroscopy</a:t>
            </a:r>
          </a:p>
        </p:txBody>
      </p:sp>
      <p:sp>
        <p:nvSpPr>
          <p:cNvPr id="32772" name="WordArt 6"/>
          <p:cNvSpPr>
            <a:spLocks noChangeArrowheads="1" noChangeShapeType="1" noTextEdit="1"/>
          </p:cNvSpPr>
          <p:nvPr/>
        </p:nvSpPr>
        <p:spPr bwMode="auto">
          <a:xfrm>
            <a:off x="228600" y="1733550"/>
            <a:ext cx="8534400" cy="400050"/>
          </a:xfrm>
          <a:prstGeom prst="rect">
            <a:avLst/>
          </a:prstGeom>
        </p:spPr>
        <p:txBody>
          <a:bodyPr wrap="none" fromWordArt="1">
            <a:prstTxWarp prst="textPlain">
              <a:avLst>
                <a:gd name="adj" fmla="val 50000"/>
              </a:avLst>
            </a:prstTxWarp>
          </a:bodyPr>
          <a:lstStyle/>
          <a:p>
            <a:pPr algn="ctr"/>
            <a:r>
              <a:rPr lang="en-US" sz="2800" i="1" kern="10" dirty="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rPr>
              <a:t>Other special sample preparation methods for surface analysis</a:t>
            </a:r>
          </a:p>
        </p:txBody>
      </p:sp>
      <p:sp>
        <p:nvSpPr>
          <p:cNvPr id="32773" name="WordArt 7"/>
          <p:cNvSpPr>
            <a:spLocks noChangeArrowheads="1" noChangeShapeType="1" noTextEdit="1"/>
          </p:cNvSpPr>
          <p:nvPr/>
        </p:nvSpPr>
        <p:spPr bwMode="auto">
          <a:xfrm>
            <a:off x="476250" y="2379109"/>
            <a:ext cx="1990725" cy="400050"/>
          </a:xfrm>
          <a:prstGeom prst="rect">
            <a:avLst/>
          </a:prstGeom>
        </p:spPr>
        <p:txBody>
          <a:bodyPr wrap="none" fromWordArt="1">
            <a:prstTxWarp prst="textPlain">
              <a:avLst>
                <a:gd name="adj" fmla="val 50000"/>
              </a:avLst>
            </a:prstTxWarp>
          </a:bodyPr>
          <a:lstStyle/>
          <a:p>
            <a:pPr algn="ctr"/>
            <a:r>
              <a:rPr lang="en-US" sz="2800" i="1" kern="1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In-situ heating</a:t>
            </a:r>
          </a:p>
        </p:txBody>
      </p:sp>
      <p:sp>
        <p:nvSpPr>
          <p:cNvPr id="32774" name="Text Box 8"/>
          <p:cNvSpPr txBox="1">
            <a:spLocks noChangeArrowheads="1"/>
          </p:cNvSpPr>
          <p:nvPr/>
        </p:nvSpPr>
        <p:spPr bwMode="auto">
          <a:xfrm>
            <a:off x="914400" y="2750584"/>
            <a:ext cx="7391400" cy="830997"/>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latin typeface="Georgia" panose="02040502050405020303" pitchFamily="18" charset="0"/>
                <a:ea typeface="新細明體" pitchFamily="18" charset="-120"/>
              </a:rPr>
              <a:t>Refractory metals and silicon surfaces can be cleaned sufficiently by flash heating, that is heating the samples to a very high temperature for a very short time whereby the surface oxides becomes unstable and vaporize in vacuum.</a:t>
            </a:r>
          </a:p>
        </p:txBody>
      </p:sp>
      <p:sp>
        <p:nvSpPr>
          <p:cNvPr id="32775" name="WordArt 9"/>
          <p:cNvSpPr>
            <a:spLocks noChangeArrowheads="1" noChangeShapeType="1" noTextEdit="1"/>
          </p:cNvSpPr>
          <p:nvPr/>
        </p:nvSpPr>
        <p:spPr bwMode="auto">
          <a:xfrm>
            <a:off x="476250" y="3960259"/>
            <a:ext cx="4229100" cy="409575"/>
          </a:xfrm>
          <a:prstGeom prst="rect">
            <a:avLst/>
          </a:prstGeom>
        </p:spPr>
        <p:txBody>
          <a:bodyPr wrap="none" fromWordArt="1">
            <a:prstTxWarp prst="textPlain">
              <a:avLst>
                <a:gd name="adj" fmla="val 50000"/>
              </a:avLst>
            </a:prstTxWarp>
          </a:bodyPr>
          <a:lstStyle/>
          <a:p>
            <a:pPr algn="ctr"/>
            <a:r>
              <a:rPr lang="en-US" sz="2800" i="1" kern="10" dirty="0">
                <a:ln w="9525">
                  <a:noFill/>
                  <a:round/>
                  <a:headEnd/>
                  <a:tailEnd/>
                </a:ln>
                <a:solidFill>
                  <a:srgbClr val="993366"/>
                </a:solidFill>
                <a:effectLst>
                  <a:outerShdw dist="45791" dir="2021404" algn="ctr" rotWithShape="0">
                    <a:srgbClr val="B2B2B2">
                      <a:alpha val="79999"/>
                    </a:srgbClr>
                  </a:outerShdw>
                </a:effectLst>
                <a:latin typeface="Times New Roman"/>
                <a:cs typeface="Times New Roman"/>
              </a:rPr>
              <a:t>In-situ abrasion and scraping</a:t>
            </a:r>
          </a:p>
        </p:txBody>
      </p:sp>
      <p:sp>
        <p:nvSpPr>
          <p:cNvPr id="32776" name="Text Box 10"/>
          <p:cNvSpPr txBox="1">
            <a:spLocks noChangeArrowheads="1"/>
          </p:cNvSpPr>
          <p:nvPr/>
        </p:nvSpPr>
        <p:spPr bwMode="auto">
          <a:xfrm>
            <a:off x="914400" y="4388884"/>
            <a:ext cx="7391400" cy="5810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latin typeface="Georgia" panose="02040502050405020303" pitchFamily="18" charset="0"/>
                <a:ea typeface="新細明體" pitchFamily="18" charset="-120"/>
              </a:rPr>
              <a:t>A razor blade or a grinding tool is attached at an appropriate angle to rotating or sliding shafts inside the vacuum system to grind the sample surface.</a:t>
            </a:r>
          </a:p>
        </p:txBody>
      </p:sp>
      <p:sp>
        <p:nvSpPr>
          <p:cNvPr id="32777" name="WordArt 11"/>
          <p:cNvSpPr>
            <a:spLocks noChangeArrowheads="1" noChangeShapeType="1" noTextEdit="1"/>
          </p:cNvSpPr>
          <p:nvPr/>
        </p:nvSpPr>
        <p:spPr bwMode="auto">
          <a:xfrm>
            <a:off x="476250" y="5246134"/>
            <a:ext cx="2247900" cy="409575"/>
          </a:xfrm>
          <a:prstGeom prst="rect">
            <a:avLst/>
          </a:prstGeom>
        </p:spPr>
        <p:txBody>
          <a:bodyPr wrap="none" fromWordArt="1">
            <a:prstTxWarp prst="textPlain">
              <a:avLst>
                <a:gd name="adj" fmla="val 50000"/>
              </a:avLst>
            </a:prstTxWarp>
          </a:bodyPr>
          <a:lstStyle/>
          <a:p>
            <a:pPr algn="ctr"/>
            <a:r>
              <a:rPr lang="en-US" sz="2800" i="1" kern="10" dirty="0">
                <a:ln w="9525">
                  <a:noFill/>
                  <a:round/>
                  <a:headEnd/>
                  <a:tailEnd/>
                </a:ln>
                <a:solidFill>
                  <a:srgbClr val="008000"/>
                </a:solidFill>
                <a:effectLst>
                  <a:outerShdw dist="45791" dir="2021404" algn="ctr" rotWithShape="0">
                    <a:srgbClr val="B2B2B2">
                      <a:alpha val="79999"/>
                    </a:srgbClr>
                  </a:outerShdw>
                </a:effectLst>
                <a:latin typeface="Times New Roman"/>
                <a:cs typeface="Times New Roman"/>
              </a:rPr>
              <a:t>In-situ cleavage</a:t>
            </a:r>
          </a:p>
        </p:txBody>
      </p:sp>
      <p:sp>
        <p:nvSpPr>
          <p:cNvPr id="32778" name="Text Box 12">
            <a:hlinkClick r:id="rId2"/>
          </p:cNvPr>
          <p:cNvSpPr txBox="1">
            <a:spLocks noChangeArrowheads="1"/>
          </p:cNvSpPr>
          <p:nvPr/>
        </p:nvSpPr>
        <p:spPr bwMode="auto">
          <a:xfrm>
            <a:off x="914400" y="5770009"/>
            <a:ext cx="7391400" cy="581025"/>
          </a:xfrm>
          <a:prstGeom prst="rect">
            <a:avLst/>
          </a:prstGeom>
          <a:noFill/>
          <a:ln w="9525">
            <a:noFill/>
            <a:miter lim="800000"/>
            <a:headEnd/>
            <a:tailEnd/>
          </a:ln>
        </p:spPr>
        <p:txBody>
          <a:bodyPr>
            <a:spAutoFit/>
          </a:bodyPr>
          <a:lstStyle/>
          <a:p>
            <a:pPr marL="180975" indent="-180975" algn="just">
              <a:spcBef>
                <a:spcPct val="30000"/>
              </a:spcBef>
              <a:buFontTx/>
              <a:buChar char="•"/>
            </a:pPr>
            <a:r>
              <a:rPr lang="en-US" altLang="zh-TW" sz="1600" dirty="0">
                <a:latin typeface="Georgia" panose="02040502050405020303" pitchFamily="18" charset="0"/>
                <a:ea typeface="新細明體" pitchFamily="18" charset="-120"/>
              </a:rPr>
              <a:t>Some crystalline materials have preferred cleavage planes that can be cleaved easily inside the vacuum chamber using a blade or a rod.</a:t>
            </a:r>
          </a:p>
        </p:txBody>
      </p:sp>
      <p:sp>
        <p:nvSpPr>
          <p:cNvPr id="2" name="Slide Number Placeholder 1">
            <a:extLst>
              <a:ext uri="{FF2B5EF4-FFF2-40B4-BE49-F238E27FC236}">
                <a16:creationId xmlns:a16="http://schemas.microsoft.com/office/drawing/2014/main" id="{D560095E-DFDA-419F-992E-296D76456455}"/>
              </a:ext>
            </a:extLst>
          </p:cNvPr>
          <p:cNvSpPr>
            <a:spLocks noGrp="1"/>
          </p:cNvSpPr>
          <p:nvPr>
            <p:ph type="sldNum" sz="quarter" idx="11"/>
          </p:nvPr>
        </p:nvSpPr>
        <p:spPr>
          <a:xfrm>
            <a:off x="6572250" y="6112909"/>
            <a:ext cx="2133600" cy="457200"/>
          </a:xfrm>
        </p:spPr>
        <p:txBody>
          <a:bodyPr/>
          <a:lstStyle/>
          <a:p>
            <a:pPr>
              <a:defRPr/>
            </a:pPr>
            <a:fld id="{5C194D1D-C057-4136-B4EC-30B00CAA371F}" type="slidenum">
              <a:rPr lang="zh-TW" altLang="en-US" smtClean="0">
                <a:latin typeface="Georgia" panose="02040502050405020303" pitchFamily="18" charset="0"/>
              </a:rPr>
              <a:pPr>
                <a:defRPr/>
              </a:pPr>
              <a:t>30</a:t>
            </a:fld>
            <a:endParaRPr lang="en-US" altLang="zh-TW">
              <a:latin typeface="Georgia" panose="02040502050405020303"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BABA83-BF45-5814-E7D4-57FA03BDCFA3}"/>
              </a:ext>
            </a:extLst>
          </p:cNvPr>
          <p:cNvSpPr>
            <a:spLocks noGrp="1"/>
          </p:cNvSpPr>
          <p:nvPr>
            <p:ph type="sldNum" sz="quarter" idx="11"/>
          </p:nvPr>
        </p:nvSpPr>
        <p:spPr>
          <a:xfrm>
            <a:off x="6573061" y="6248400"/>
            <a:ext cx="2133600" cy="457200"/>
          </a:xfrm>
        </p:spPr>
        <p:txBody>
          <a:bodyPr/>
          <a:lstStyle/>
          <a:p>
            <a:pPr>
              <a:defRPr/>
            </a:pPr>
            <a:fld id="{5C194D1D-C057-4136-B4EC-30B00CAA371F}" type="slidenum">
              <a:rPr lang="zh-TW" altLang="en-US" smtClean="0">
                <a:latin typeface="Georgia" panose="02040502050405020303" pitchFamily="18" charset="0"/>
              </a:rPr>
              <a:pPr>
                <a:defRPr/>
              </a:pPr>
              <a:t>31</a:t>
            </a:fld>
            <a:endParaRPr lang="en-US" altLang="zh-TW">
              <a:latin typeface="Georgia" panose="02040502050405020303" pitchFamily="18" charset="0"/>
            </a:endParaRPr>
          </a:p>
        </p:txBody>
      </p:sp>
      <p:sp>
        <p:nvSpPr>
          <p:cNvPr id="3" name="TextBox 2">
            <a:extLst>
              <a:ext uri="{FF2B5EF4-FFF2-40B4-BE49-F238E27FC236}">
                <a16:creationId xmlns:a16="http://schemas.microsoft.com/office/drawing/2014/main" id="{7A795B94-C8B8-EE13-97DB-21A023688A2D}"/>
              </a:ext>
            </a:extLst>
          </p:cNvPr>
          <p:cNvSpPr txBox="1"/>
          <p:nvPr/>
        </p:nvSpPr>
        <p:spPr>
          <a:xfrm>
            <a:off x="1315261" y="228600"/>
            <a:ext cx="4105611" cy="461665"/>
          </a:xfrm>
          <a:prstGeom prst="rect">
            <a:avLst/>
          </a:prstGeom>
          <a:noFill/>
        </p:spPr>
        <p:txBody>
          <a:bodyPr wrap="none" rtlCol="0">
            <a:spAutoFit/>
          </a:bodyPr>
          <a:lstStyle/>
          <a:p>
            <a:r>
              <a:rPr lang="en-HK" sz="2400" dirty="0">
                <a:solidFill>
                  <a:schemeClr val="bg1"/>
                </a:solidFill>
                <a:latin typeface="Georgia" panose="02040502050405020303" pitchFamily="18" charset="0"/>
              </a:rPr>
              <a:t>Short review on sample prep</a:t>
            </a:r>
          </a:p>
        </p:txBody>
      </p:sp>
      <p:sp>
        <p:nvSpPr>
          <p:cNvPr id="4" name="TextBox 3">
            <a:extLst>
              <a:ext uri="{FF2B5EF4-FFF2-40B4-BE49-F238E27FC236}">
                <a16:creationId xmlns:a16="http://schemas.microsoft.com/office/drawing/2014/main" id="{5433B636-C524-A157-4075-D5F9376670BF}"/>
              </a:ext>
            </a:extLst>
          </p:cNvPr>
          <p:cNvSpPr txBox="1"/>
          <p:nvPr/>
        </p:nvSpPr>
        <p:spPr>
          <a:xfrm>
            <a:off x="457200" y="1066800"/>
            <a:ext cx="3863558" cy="4278094"/>
          </a:xfrm>
          <a:prstGeom prst="rect">
            <a:avLst/>
          </a:prstGeom>
          <a:noFill/>
        </p:spPr>
        <p:txBody>
          <a:bodyPr wrap="none" rtlCol="0">
            <a:spAutoFit/>
          </a:bodyPr>
          <a:lstStyle/>
          <a:p>
            <a:r>
              <a:rPr lang="en-HK" sz="2800" dirty="0">
                <a:latin typeface="Georgia" panose="02040502050405020303" pitchFamily="18" charset="0"/>
              </a:rPr>
              <a:t>Purpose</a:t>
            </a:r>
          </a:p>
          <a:p>
            <a:endParaRPr lang="en-HK" sz="2800" dirty="0">
              <a:latin typeface="Georgia" panose="02040502050405020303" pitchFamily="18" charset="0"/>
            </a:endParaRPr>
          </a:p>
          <a:p>
            <a:pPr marL="342900" indent="-342900">
              <a:buFont typeface="Arial" panose="020B0604020202020204" pitchFamily="34" charset="0"/>
              <a:buChar char="•"/>
            </a:pPr>
            <a:r>
              <a:rPr lang="en-HK" sz="2400" dirty="0">
                <a:latin typeface="Georgia" panose="02040502050405020303" pitchFamily="18" charset="0"/>
              </a:rPr>
              <a:t>Shaping/Thinning down</a:t>
            </a:r>
          </a:p>
          <a:p>
            <a:pPr marL="342900" indent="-342900">
              <a:buFont typeface="Arial" panose="020B0604020202020204" pitchFamily="34" charset="0"/>
              <a:buChar char="•"/>
            </a:pPr>
            <a:endParaRPr lang="en-HK" sz="2400" dirty="0">
              <a:latin typeface="Georgia" panose="02040502050405020303" pitchFamily="18" charset="0"/>
            </a:endParaRPr>
          </a:p>
          <a:p>
            <a:pPr marL="342900" indent="-342900">
              <a:buFont typeface="Arial" panose="020B0604020202020204" pitchFamily="34" charset="0"/>
              <a:buChar char="•"/>
            </a:pPr>
            <a:endParaRPr lang="en-HK" sz="2400" dirty="0">
              <a:latin typeface="Georgia" panose="02040502050405020303" pitchFamily="18" charset="0"/>
            </a:endParaRPr>
          </a:p>
          <a:p>
            <a:pPr marL="342900" indent="-342900">
              <a:buFont typeface="Arial" panose="020B0604020202020204" pitchFamily="34" charset="0"/>
              <a:buChar char="•"/>
            </a:pPr>
            <a:r>
              <a:rPr lang="en-HK" sz="2400" dirty="0">
                <a:latin typeface="Georgia" panose="02040502050405020303" pitchFamily="18" charset="0"/>
              </a:rPr>
              <a:t>Making it flat</a:t>
            </a:r>
          </a:p>
          <a:p>
            <a:pPr marL="342900" indent="-342900">
              <a:buFont typeface="Arial" panose="020B0604020202020204" pitchFamily="34" charset="0"/>
              <a:buChar char="•"/>
            </a:pPr>
            <a:endParaRPr lang="en-HK" sz="2400" dirty="0">
              <a:latin typeface="Georgia" panose="02040502050405020303" pitchFamily="18" charset="0"/>
            </a:endParaRPr>
          </a:p>
          <a:p>
            <a:pPr marL="342900" indent="-342900">
              <a:buFont typeface="Arial" panose="020B0604020202020204" pitchFamily="34" charset="0"/>
              <a:buChar char="•"/>
            </a:pPr>
            <a:endParaRPr lang="en-HK" sz="2400" dirty="0">
              <a:latin typeface="Georgia" panose="02040502050405020303" pitchFamily="18" charset="0"/>
            </a:endParaRPr>
          </a:p>
          <a:p>
            <a:pPr marL="342900" indent="-342900">
              <a:buFont typeface="Arial" panose="020B0604020202020204" pitchFamily="34" charset="0"/>
              <a:buChar char="•"/>
            </a:pPr>
            <a:r>
              <a:rPr lang="en-HK" sz="2400" dirty="0">
                <a:latin typeface="Georgia" panose="02040502050405020303" pitchFamily="18" charset="0"/>
              </a:rPr>
              <a:t>Cleaning it up </a:t>
            </a:r>
          </a:p>
          <a:p>
            <a:endParaRPr lang="en-HK" sz="2400" dirty="0">
              <a:latin typeface="Georgia" panose="02040502050405020303" pitchFamily="18" charset="0"/>
            </a:endParaRPr>
          </a:p>
          <a:p>
            <a:endParaRPr lang="en-HK" sz="2400" dirty="0">
              <a:latin typeface="Georgia" panose="02040502050405020303" pitchFamily="18" charset="0"/>
            </a:endParaRPr>
          </a:p>
        </p:txBody>
      </p:sp>
      <p:sp>
        <p:nvSpPr>
          <p:cNvPr id="5" name="TextBox 4">
            <a:extLst>
              <a:ext uri="{FF2B5EF4-FFF2-40B4-BE49-F238E27FC236}">
                <a16:creationId xmlns:a16="http://schemas.microsoft.com/office/drawing/2014/main" id="{933693E1-8798-51E8-B584-46A7BD762FF0}"/>
              </a:ext>
            </a:extLst>
          </p:cNvPr>
          <p:cNvSpPr txBox="1"/>
          <p:nvPr/>
        </p:nvSpPr>
        <p:spPr>
          <a:xfrm>
            <a:off x="4972861" y="920621"/>
            <a:ext cx="3436825" cy="3970318"/>
          </a:xfrm>
          <a:prstGeom prst="rect">
            <a:avLst/>
          </a:prstGeom>
          <a:noFill/>
        </p:spPr>
        <p:txBody>
          <a:bodyPr wrap="square" rtlCol="0">
            <a:spAutoFit/>
          </a:bodyPr>
          <a:lstStyle/>
          <a:p>
            <a:r>
              <a:rPr lang="en-HK" sz="2800" dirty="0">
                <a:latin typeface="Georgia" panose="02040502050405020303" pitchFamily="18" charset="0"/>
              </a:rPr>
              <a:t>Methods</a:t>
            </a:r>
          </a:p>
          <a:p>
            <a:endParaRPr lang="en-HK" sz="2800" dirty="0">
              <a:latin typeface="Georgia" panose="02040502050405020303" pitchFamily="18" charset="0"/>
            </a:endParaRPr>
          </a:p>
          <a:p>
            <a:endParaRPr lang="en-HK" sz="2800" dirty="0">
              <a:latin typeface="Georgia" panose="02040502050405020303" pitchFamily="18" charset="0"/>
            </a:endParaRPr>
          </a:p>
          <a:p>
            <a:pPr marL="342900" indent="-342900">
              <a:buFont typeface="Arial" panose="020B0604020202020204" pitchFamily="34" charset="0"/>
              <a:buChar char="•"/>
            </a:pPr>
            <a:r>
              <a:rPr lang="en-HK" sz="2400" dirty="0">
                <a:latin typeface="Georgia" panose="02040502050405020303" pitchFamily="18" charset="0"/>
              </a:rPr>
              <a:t>Cutting/slicing</a:t>
            </a:r>
          </a:p>
          <a:p>
            <a:pPr marL="342900" indent="-342900">
              <a:buFont typeface="Arial" panose="020B0604020202020204" pitchFamily="34" charset="0"/>
              <a:buChar char="•"/>
            </a:pPr>
            <a:r>
              <a:rPr lang="en-HK" sz="2400" dirty="0">
                <a:latin typeface="Georgia" panose="02040502050405020303" pitchFamily="18" charset="0"/>
              </a:rPr>
              <a:t>Mechanical polishing</a:t>
            </a:r>
          </a:p>
          <a:p>
            <a:pPr marL="342900" indent="-342900">
              <a:buFont typeface="Arial" panose="020B0604020202020204" pitchFamily="34" charset="0"/>
              <a:buChar char="•"/>
            </a:pPr>
            <a:r>
              <a:rPr lang="en-HK" sz="2400" dirty="0">
                <a:latin typeface="Georgia" panose="02040502050405020303" pitchFamily="18" charset="0"/>
              </a:rPr>
              <a:t>Chemical etching</a:t>
            </a:r>
          </a:p>
          <a:p>
            <a:pPr marL="342900" indent="-342900">
              <a:buFont typeface="Arial" panose="020B0604020202020204" pitchFamily="34" charset="0"/>
              <a:buChar char="•"/>
            </a:pPr>
            <a:r>
              <a:rPr lang="en-HK" sz="2400" dirty="0">
                <a:latin typeface="Georgia" panose="02040502050405020303" pitchFamily="18" charset="0"/>
              </a:rPr>
              <a:t>Thermal etching</a:t>
            </a:r>
          </a:p>
          <a:p>
            <a:pPr marL="342900" indent="-342900">
              <a:buFont typeface="Arial" panose="020B0604020202020204" pitchFamily="34" charset="0"/>
              <a:buChar char="•"/>
            </a:pPr>
            <a:r>
              <a:rPr lang="en-HK" sz="2400" dirty="0">
                <a:latin typeface="Georgia" panose="02040502050405020303" pitchFamily="18" charset="0"/>
              </a:rPr>
              <a:t>Ion etching</a:t>
            </a:r>
          </a:p>
          <a:p>
            <a:endParaRPr lang="en-HK" sz="2400" dirty="0">
              <a:latin typeface="Georgia" panose="02040502050405020303" pitchFamily="18" charset="0"/>
            </a:endParaRPr>
          </a:p>
          <a:p>
            <a:endParaRPr lang="en-HK" sz="2400" dirty="0">
              <a:latin typeface="Georgia" panose="02040502050405020303" pitchFamily="18" charset="0"/>
            </a:endParaRPr>
          </a:p>
        </p:txBody>
      </p:sp>
      <p:sp>
        <p:nvSpPr>
          <p:cNvPr id="7" name="TextBox 6">
            <a:extLst>
              <a:ext uri="{FF2B5EF4-FFF2-40B4-BE49-F238E27FC236}">
                <a16:creationId xmlns:a16="http://schemas.microsoft.com/office/drawing/2014/main" id="{0190E4F5-8F11-2DBF-8D36-5FAC15328980}"/>
              </a:ext>
            </a:extLst>
          </p:cNvPr>
          <p:cNvSpPr txBox="1"/>
          <p:nvPr/>
        </p:nvSpPr>
        <p:spPr>
          <a:xfrm>
            <a:off x="626272" y="4863405"/>
            <a:ext cx="8001000" cy="1384995"/>
          </a:xfrm>
          <a:prstGeom prst="rect">
            <a:avLst/>
          </a:prstGeom>
          <a:noFill/>
        </p:spPr>
        <p:txBody>
          <a:bodyPr wrap="square">
            <a:spAutoFit/>
          </a:bodyPr>
          <a:lstStyle/>
          <a:p>
            <a:r>
              <a:rPr lang="en-HK" sz="2400" dirty="0">
                <a:latin typeface="Georgia" panose="02040502050405020303" pitchFamily="18" charset="0"/>
              </a:rPr>
              <a:t>Questions to think about </a:t>
            </a:r>
          </a:p>
          <a:p>
            <a:pPr marL="457200" indent="-457200">
              <a:buAutoNum type="arabicPeriod"/>
            </a:pPr>
            <a:r>
              <a:rPr lang="en-HK" sz="2000">
                <a:latin typeface="Georgia" panose="02040502050405020303" pitchFamily="18" charset="0"/>
              </a:rPr>
              <a:t>Tricks </a:t>
            </a:r>
            <a:r>
              <a:rPr lang="en-HK" sz="2000" dirty="0">
                <a:latin typeface="Georgia" panose="02040502050405020303" pitchFamily="18" charset="0"/>
              </a:rPr>
              <a:t>when sample is thin?</a:t>
            </a:r>
          </a:p>
          <a:p>
            <a:pPr marL="457200" indent="-457200">
              <a:buAutoNum type="arabicPeriod"/>
            </a:pPr>
            <a:r>
              <a:rPr lang="en-HK" sz="2000" dirty="0">
                <a:latin typeface="Georgia" panose="02040502050405020303" pitchFamily="18" charset="0"/>
              </a:rPr>
              <a:t>How to prepare the peacock feather sample? (soft materials)</a:t>
            </a:r>
          </a:p>
          <a:p>
            <a:pPr marL="457200" indent="-457200">
              <a:buAutoNum type="arabicPeriod"/>
            </a:pPr>
            <a:r>
              <a:rPr lang="en-HK" sz="2000" dirty="0">
                <a:latin typeface="Georgia" panose="02040502050405020303" pitchFamily="18" charset="0"/>
              </a:rPr>
              <a:t>How to make a cross-sectional sample?</a:t>
            </a:r>
          </a:p>
        </p:txBody>
      </p:sp>
    </p:spTree>
    <p:extLst>
      <p:ext uri="{BB962C8B-B14F-4D97-AF65-F5344CB8AC3E}">
        <p14:creationId xmlns:p14="http://schemas.microsoft.com/office/powerpoint/2010/main" val="261672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838200" y="2438400"/>
            <a:ext cx="7772400" cy="812723"/>
          </a:xfrm>
          <a:prstGeom prst="rect">
            <a:avLst/>
          </a:prstGeom>
          <a:noFill/>
          <a:ln w="9525">
            <a:noFill/>
            <a:miter lim="800000"/>
            <a:headEnd/>
            <a:tailEnd/>
          </a:ln>
        </p:spPr>
        <p:txBody>
          <a:bodyPr>
            <a:spAutoFit/>
          </a:bodyPr>
          <a:lstStyle/>
          <a:p>
            <a:pPr algn="ctr">
              <a:lnSpc>
                <a:spcPct val="130000"/>
              </a:lnSpc>
            </a:pPr>
            <a:r>
              <a:rPr lang="en-US" altLang="zh-TW" sz="4000" dirty="0">
                <a:latin typeface="Times New Roman" pitchFamily="18" charset="0"/>
                <a:ea typeface="新細明體" pitchFamily="18" charset="-120"/>
              </a:rPr>
              <a:t>Creating vacuum environment</a:t>
            </a:r>
          </a:p>
        </p:txBody>
      </p:sp>
      <p:sp>
        <p:nvSpPr>
          <p:cNvPr id="18435"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a:solidFill>
                  <a:schemeClr val="bg1"/>
                </a:solidFill>
                <a:ea typeface="新細明體" pitchFamily="18" charset="-120"/>
              </a:rPr>
              <a:t>PHYS 5350 techniques in materials characterization</a:t>
            </a:r>
          </a:p>
        </p:txBody>
      </p:sp>
      <p:sp>
        <p:nvSpPr>
          <p:cNvPr id="2" name="Slide Number Placeholder 1">
            <a:extLst>
              <a:ext uri="{FF2B5EF4-FFF2-40B4-BE49-F238E27FC236}">
                <a16:creationId xmlns:a16="http://schemas.microsoft.com/office/drawing/2014/main" id="{BD01231D-772A-4699-B111-27546F9CB8B2}"/>
              </a:ext>
            </a:extLst>
          </p:cNvPr>
          <p:cNvSpPr>
            <a:spLocks noGrp="1"/>
          </p:cNvSpPr>
          <p:nvPr>
            <p:ph type="sldNum" sz="quarter" idx="11"/>
          </p:nvPr>
        </p:nvSpPr>
        <p:spPr/>
        <p:txBody>
          <a:bodyPr/>
          <a:lstStyle/>
          <a:p>
            <a:pPr>
              <a:defRPr/>
            </a:pPr>
            <a:fld id="{5C194D1D-C057-4136-B4EC-30B00CAA371F}" type="slidenum">
              <a:rPr lang="zh-TW" altLang="en-US" smtClean="0"/>
              <a:pPr>
                <a:defRPr/>
              </a:pPr>
              <a:t>32</a:t>
            </a:fld>
            <a:endParaRPr lang="en-US" altLang="zh-TW"/>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8FBDCA7-9E69-5032-A3F1-CF6B9A658059}"/>
              </a:ext>
            </a:extLst>
          </p:cNvPr>
          <p:cNvSpPr>
            <a:spLocks noGrp="1" noChangeArrowheads="1"/>
          </p:cNvSpPr>
          <p:nvPr>
            <p:ph type="title"/>
          </p:nvPr>
        </p:nvSpPr>
        <p:spPr>
          <a:xfrm>
            <a:off x="762000" y="985837"/>
            <a:ext cx="8229600" cy="1143000"/>
          </a:xfrm>
        </p:spPr>
        <p:txBody>
          <a:bodyPr/>
          <a:lstStyle/>
          <a:p>
            <a:pPr eaLnBrk="1" hangingPunct="1"/>
            <a:r>
              <a:rPr lang="en-US" altLang="zh-CN" sz="3600" dirty="0">
                <a:latin typeface="Times New Roman" panose="02020603050405020304" pitchFamily="18" charset="0"/>
              </a:rPr>
              <a:t>Basic requirements to study surfaces</a:t>
            </a:r>
            <a:br>
              <a:rPr lang="en-US" altLang="zh-CN" sz="3600" dirty="0">
                <a:latin typeface="Times New Roman" panose="02020603050405020304" pitchFamily="18" charset="0"/>
              </a:rPr>
            </a:br>
            <a:r>
              <a:rPr lang="en-US" altLang="zh-CN" sz="3600" dirty="0">
                <a:latin typeface="Times New Roman" panose="02020603050405020304" pitchFamily="18" charset="0"/>
              </a:rPr>
              <a:t>			</a:t>
            </a:r>
            <a:r>
              <a:rPr lang="en-US" altLang="zh-CN" sz="3200" i="1" dirty="0">
                <a:latin typeface="Times New Roman" panose="02020603050405020304" pitchFamily="18" charset="0"/>
              </a:rPr>
              <a:t>--The need of vacuum</a:t>
            </a:r>
          </a:p>
        </p:txBody>
      </p:sp>
      <p:sp>
        <p:nvSpPr>
          <p:cNvPr id="23555" name="Rectangle 3">
            <a:extLst>
              <a:ext uri="{FF2B5EF4-FFF2-40B4-BE49-F238E27FC236}">
                <a16:creationId xmlns:a16="http://schemas.microsoft.com/office/drawing/2014/main" id="{7255C854-0F67-4D25-9BB9-80BA1BAA2EF6}"/>
              </a:ext>
            </a:extLst>
          </p:cNvPr>
          <p:cNvSpPr>
            <a:spLocks noGrp="1" noChangeArrowheads="1"/>
          </p:cNvSpPr>
          <p:nvPr>
            <p:ph type="body" idx="1"/>
          </p:nvPr>
        </p:nvSpPr>
        <p:spPr>
          <a:xfrm>
            <a:off x="1295400" y="2895600"/>
            <a:ext cx="6805613" cy="2405063"/>
          </a:xfrm>
        </p:spPr>
        <p:txBody>
          <a:bodyPr/>
          <a:lstStyle/>
          <a:p>
            <a:pPr eaLnBrk="1" hangingPunct="1"/>
            <a:r>
              <a:rPr lang="en-US" altLang="zh-TW" sz="2800">
                <a:latin typeface="Times New Roman" panose="02020603050405020304" pitchFamily="18" charset="0"/>
                <a:ea typeface="新細明體" panose="02020500000000000000" pitchFamily="18" charset="-120"/>
              </a:rPr>
              <a:t>Physical phenomena in “vacuum”</a:t>
            </a:r>
          </a:p>
          <a:p>
            <a:pPr eaLnBrk="1" hangingPunct="1"/>
            <a:r>
              <a:rPr lang="en-US" altLang="zh-CN" sz="2800">
                <a:latin typeface="Times New Roman" panose="02020603050405020304" pitchFamily="18" charset="0"/>
              </a:rPr>
              <a:t>Definition of vacuum</a:t>
            </a:r>
          </a:p>
          <a:p>
            <a:pPr eaLnBrk="1" hangingPunct="1"/>
            <a:r>
              <a:rPr lang="en-US" altLang="zh-TW" sz="2800">
                <a:latin typeface="Times New Roman" panose="02020603050405020304" pitchFamily="18" charset="0"/>
                <a:ea typeface="新細明體" panose="02020500000000000000" pitchFamily="18" charset="-120"/>
              </a:rPr>
              <a:t>Generation and maintenance of vacuum</a:t>
            </a:r>
          </a:p>
          <a:p>
            <a:pPr eaLnBrk="1" hangingPunct="1"/>
            <a:endParaRPr lang="en-US" altLang="zh-CN" sz="2800"/>
          </a:p>
          <a:p>
            <a:pPr eaLnBrk="1" hangingPunct="1"/>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0246EF2A-2AD5-7653-EB83-A42AEEC16FB7}"/>
              </a:ext>
            </a:extLst>
          </p:cNvPr>
          <p:cNvSpPr txBox="1">
            <a:spLocks noChangeArrowheads="1"/>
          </p:cNvSpPr>
          <p:nvPr/>
        </p:nvSpPr>
        <p:spPr bwMode="auto">
          <a:xfrm>
            <a:off x="2133600" y="652556"/>
            <a:ext cx="4349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dirty="0">
                <a:latin typeface="Georgia" panose="02040502050405020303" pitchFamily="18" charset="0"/>
                <a:cs typeface="Arial" panose="020B0604020202020204" pitchFamily="34" charset="0"/>
              </a:rPr>
              <a:t>The need of vacuum</a:t>
            </a:r>
          </a:p>
        </p:txBody>
      </p:sp>
      <p:sp>
        <p:nvSpPr>
          <p:cNvPr id="4099" name="Text Box 3">
            <a:extLst>
              <a:ext uri="{FF2B5EF4-FFF2-40B4-BE49-F238E27FC236}">
                <a16:creationId xmlns:a16="http://schemas.microsoft.com/office/drawing/2014/main" id="{84D5BAE9-9784-51E2-3163-A02DBA4ED99A}"/>
              </a:ext>
            </a:extLst>
          </p:cNvPr>
          <p:cNvSpPr txBox="1">
            <a:spLocks noChangeArrowheads="1"/>
          </p:cNvSpPr>
          <p:nvPr/>
        </p:nvSpPr>
        <p:spPr bwMode="auto">
          <a:xfrm>
            <a:off x="914400" y="1295400"/>
            <a:ext cx="7239000" cy="5207000"/>
          </a:xfrm>
          <a:prstGeom prst="rect">
            <a:avLst/>
          </a:prstGeom>
          <a:noFill/>
          <a:ln w="9525">
            <a:noFill/>
            <a:miter lim="800000"/>
            <a:headEnd/>
            <a:tailEnd/>
          </a:ln>
          <a:effectLst/>
        </p:spPr>
        <p:txBody>
          <a:bodyPr>
            <a:spAutoFit/>
          </a:bodyPr>
          <a:lstStyle/>
          <a:p>
            <a:pPr marL="120650">
              <a:lnSpc>
                <a:spcPct val="120000"/>
              </a:lnSpc>
              <a:buClr>
                <a:schemeClr val="bg2"/>
              </a:buClr>
              <a:buFont typeface="Wingdings" pitchFamily="2" charset="2"/>
              <a:buNone/>
              <a:defRPr/>
            </a:pPr>
            <a:r>
              <a:rPr lang="en-US" altLang="zh-TW" sz="2800" dirty="0">
                <a:latin typeface="Georgia" panose="02040502050405020303" pitchFamily="18" charset="0"/>
                <a:ea typeface="新細明體" pitchFamily="18" charset="-120"/>
                <a:cs typeface="Arial" charset="0"/>
              </a:rPr>
              <a:t>Important terminologies</a:t>
            </a:r>
            <a:r>
              <a:rPr lang="en-US" altLang="zh-TW" sz="2500" dirty="0">
                <a:latin typeface="Georgia" panose="02040502050405020303" pitchFamily="18" charset="0"/>
                <a:ea typeface="新細明體" pitchFamily="18" charset="-120"/>
                <a:cs typeface="Arial" charset="0"/>
              </a:rPr>
              <a:t>     </a:t>
            </a:r>
          </a:p>
          <a:p>
            <a:pPr marL="120650">
              <a:lnSpc>
                <a:spcPct val="120000"/>
              </a:lnSpc>
              <a:buClr>
                <a:schemeClr val="bg2"/>
              </a:buClr>
              <a:buFont typeface="Wingdings" pitchFamily="2" charset="2"/>
              <a:buNone/>
              <a:defRPr/>
            </a:pPr>
            <a:r>
              <a:rPr lang="en-US" altLang="zh-TW" sz="2500" dirty="0">
                <a:latin typeface="Georgia" panose="02040502050405020303" pitchFamily="18" charset="0"/>
                <a:ea typeface="新細明體" pitchFamily="18" charset="-120"/>
                <a:cs typeface="Arial" charset="0"/>
              </a:rPr>
              <a:t>I.	Mean free path</a:t>
            </a:r>
          </a:p>
          <a:p>
            <a:pPr marL="1033463" lvl="1" indent="-523875">
              <a:lnSpc>
                <a:spcPct val="120000"/>
              </a:lnSpc>
              <a:buClr>
                <a:schemeClr val="bg2"/>
              </a:buClr>
              <a:buFont typeface="Wingdings" pitchFamily="2" charset="2"/>
              <a:buNone/>
              <a:defRPr/>
            </a:pPr>
            <a:r>
              <a:rPr lang="en-US" altLang="zh-TW" sz="2100" dirty="0">
                <a:latin typeface="Georgia" panose="02040502050405020303" pitchFamily="18" charset="0"/>
                <a:ea typeface="新細明體" pitchFamily="18" charset="-120"/>
                <a:cs typeface="Arial" charset="0"/>
              </a:rPr>
              <a:t> 	</a:t>
            </a:r>
            <a:r>
              <a:rPr lang="en-US" altLang="zh-TW" sz="2100" i="1" dirty="0">
                <a:latin typeface="Georgia" panose="02040502050405020303" pitchFamily="18" charset="0"/>
                <a:ea typeface="新細明體" pitchFamily="18" charset="-120"/>
                <a:cs typeface="Arial" charset="0"/>
              </a:rPr>
              <a:t>It is the average distance that a molecule travels in a gas between two successive collisions with other molecule of that gas.</a:t>
            </a:r>
          </a:p>
          <a:p>
            <a:pPr marL="120650">
              <a:lnSpc>
                <a:spcPct val="120000"/>
              </a:lnSpc>
              <a:buClr>
                <a:schemeClr val="bg2"/>
              </a:buClr>
              <a:buFont typeface="Wingdings" pitchFamily="2" charset="2"/>
              <a:buNone/>
              <a:defRPr/>
            </a:pPr>
            <a:r>
              <a:rPr lang="en-US" altLang="zh-TW" sz="2500" dirty="0">
                <a:latin typeface="Georgia" panose="02040502050405020303" pitchFamily="18" charset="0"/>
                <a:ea typeface="新細明體" pitchFamily="18" charset="-120"/>
                <a:cs typeface="Arial" charset="0"/>
              </a:rPr>
              <a:t>II.	Molecular incident rate (or impinging rate)</a:t>
            </a:r>
          </a:p>
          <a:p>
            <a:pPr marL="1033463" lvl="1" indent="-523875">
              <a:lnSpc>
                <a:spcPct val="120000"/>
              </a:lnSpc>
              <a:buClr>
                <a:schemeClr val="bg2"/>
              </a:buClr>
              <a:buFont typeface="Wingdings" pitchFamily="2" charset="2"/>
              <a:buNone/>
              <a:defRPr/>
            </a:pPr>
            <a:r>
              <a:rPr lang="en-US" altLang="zh-TW" sz="2200" dirty="0">
                <a:latin typeface="Georgia" panose="02040502050405020303" pitchFamily="18" charset="0"/>
                <a:ea typeface="新細明體" pitchFamily="18" charset="-120"/>
                <a:cs typeface="Arial" charset="0"/>
              </a:rPr>
              <a:t>      </a:t>
            </a:r>
            <a:r>
              <a:rPr lang="en-US" altLang="zh-TW" sz="2100" i="1" dirty="0">
                <a:latin typeface="Georgia" panose="02040502050405020303" pitchFamily="18" charset="0"/>
                <a:ea typeface="新細明體" pitchFamily="18" charset="-120"/>
                <a:cs typeface="Arial" charset="0"/>
              </a:rPr>
              <a:t> It is the number of molecules striking the  surface per unit area per unit time</a:t>
            </a:r>
            <a:r>
              <a:rPr lang="en-US" altLang="zh-TW" sz="2500" dirty="0">
                <a:latin typeface="Georgia" panose="02040502050405020303" pitchFamily="18" charset="0"/>
                <a:ea typeface="新細明體" pitchFamily="18" charset="-120"/>
                <a:cs typeface="Arial" charset="0"/>
              </a:rPr>
              <a:t> </a:t>
            </a:r>
          </a:p>
          <a:p>
            <a:pPr marL="576263" indent="-523875">
              <a:lnSpc>
                <a:spcPct val="120000"/>
              </a:lnSpc>
              <a:buClr>
                <a:schemeClr val="bg2"/>
              </a:buClr>
              <a:buFont typeface="Wingdings" pitchFamily="2" charset="2"/>
              <a:buNone/>
              <a:defRPr/>
            </a:pPr>
            <a:r>
              <a:rPr lang="en-US" altLang="zh-TW" sz="2500" dirty="0">
                <a:latin typeface="Georgia" panose="02040502050405020303" pitchFamily="18" charset="0"/>
                <a:ea typeface="新細明體" pitchFamily="18" charset="-120"/>
                <a:cs typeface="Arial" charset="0"/>
              </a:rPr>
              <a:t>III.       Monolayer formation time</a:t>
            </a:r>
          </a:p>
          <a:p>
            <a:pPr marL="1033463" lvl="1" indent="-523875">
              <a:lnSpc>
                <a:spcPct val="120000"/>
              </a:lnSpc>
              <a:buClr>
                <a:schemeClr val="bg2"/>
              </a:buClr>
              <a:buFont typeface="Wingdings" pitchFamily="2" charset="2"/>
              <a:buNone/>
              <a:defRPr/>
            </a:pPr>
            <a:r>
              <a:rPr lang="en-US" altLang="zh-TW" sz="2200" dirty="0">
                <a:latin typeface="Georgia" panose="02040502050405020303" pitchFamily="18" charset="0"/>
                <a:ea typeface="新細明體" pitchFamily="18" charset="-120"/>
                <a:cs typeface="Arial" charset="0"/>
              </a:rPr>
              <a:t>   	</a:t>
            </a:r>
            <a:r>
              <a:rPr lang="en-US" altLang="zh-TW" sz="2100" i="1" dirty="0">
                <a:latin typeface="Georgia" panose="02040502050405020303" pitchFamily="18" charset="0"/>
                <a:ea typeface="新細明體" pitchFamily="18" charset="-120"/>
                <a:cs typeface="Arial" charset="0"/>
              </a:rPr>
              <a:t>It is the time required for a freshly cleaved surface to  be covered by a layer of the gas of ONE molecule thickness.</a:t>
            </a:r>
            <a:endParaRPr lang="en-US" altLang="zh-TW" sz="2100" dirty="0">
              <a:latin typeface="Georgia" panose="02040502050405020303" pitchFamily="18" charset="0"/>
              <a:ea typeface="新細明體" pitchFamily="18" charset="-12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36A2A05-4656-E8C3-FFFD-D288110772C8}"/>
              </a:ext>
            </a:extLst>
          </p:cNvPr>
          <p:cNvSpPr>
            <a:spLocks noChangeArrowheads="1"/>
          </p:cNvSpPr>
          <p:nvPr/>
        </p:nvSpPr>
        <p:spPr bwMode="auto">
          <a:xfrm>
            <a:off x="724647" y="4191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dirty="0">
                <a:latin typeface="Times New Roman" panose="02020603050405020304" pitchFamily="18" charset="0"/>
                <a:ea typeface="新細明體" panose="02020500000000000000" pitchFamily="18" charset="-120"/>
              </a:rPr>
              <a:t>Ideal gas </a:t>
            </a:r>
            <a:r>
              <a:rPr lang="en-US" altLang="zh-TW" sz="3600" i="1" dirty="0">
                <a:latin typeface="Times New Roman" panose="02020603050405020304" pitchFamily="18" charset="0"/>
                <a:ea typeface="新細明體" panose="02020500000000000000" pitchFamily="18" charset="-120"/>
              </a:rPr>
              <a:t>vs.</a:t>
            </a:r>
            <a:r>
              <a:rPr lang="en-US" altLang="zh-TW" sz="3600" dirty="0">
                <a:latin typeface="Times New Roman" panose="02020603050405020304" pitchFamily="18" charset="0"/>
                <a:ea typeface="新細明體" panose="02020500000000000000" pitchFamily="18" charset="-120"/>
              </a:rPr>
              <a:t> Real gas</a:t>
            </a:r>
            <a:endParaRPr lang="en-US" altLang="zh-TW" sz="3600" i="1" dirty="0">
              <a:latin typeface="Times New Roman" panose="02020603050405020304" pitchFamily="18" charset="0"/>
              <a:ea typeface="新細明體" panose="02020500000000000000" pitchFamily="18" charset="-120"/>
            </a:endParaRPr>
          </a:p>
        </p:txBody>
      </p:sp>
      <p:sp>
        <p:nvSpPr>
          <p:cNvPr id="25603" name="Text Box 3">
            <a:extLst>
              <a:ext uri="{FF2B5EF4-FFF2-40B4-BE49-F238E27FC236}">
                <a16:creationId xmlns:a16="http://schemas.microsoft.com/office/drawing/2014/main" id="{BE74CB85-3537-DB36-4887-57549AF4170A}"/>
              </a:ext>
            </a:extLst>
          </p:cNvPr>
          <p:cNvSpPr txBox="1">
            <a:spLocks noChangeArrowheads="1"/>
          </p:cNvSpPr>
          <p:nvPr/>
        </p:nvSpPr>
        <p:spPr bwMode="auto">
          <a:xfrm>
            <a:off x="762000" y="1412875"/>
            <a:ext cx="36576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28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400">
                <a:latin typeface="Times New Roman" panose="02020603050405020304" pitchFamily="18" charset="0"/>
                <a:ea typeface="新細明體" panose="02020500000000000000" pitchFamily="18" charset="-120"/>
                <a:cs typeface="Arial" panose="020B0604020202020204" pitchFamily="34" charset="0"/>
              </a:rPr>
              <a:t>Ideal gas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molecules are minute spheres.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Their volume is very small compared with that actually occupied by the gas.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molecules DO NOT exert forces on each other.</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molecules travel along rectilinear paths in a perfectly random fashion.</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molecules make perfectly elastic collisions.</a:t>
            </a:r>
          </a:p>
        </p:txBody>
      </p:sp>
      <p:sp>
        <p:nvSpPr>
          <p:cNvPr id="25604" name="Text Box 4">
            <a:extLst>
              <a:ext uri="{FF2B5EF4-FFF2-40B4-BE49-F238E27FC236}">
                <a16:creationId xmlns:a16="http://schemas.microsoft.com/office/drawing/2014/main" id="{3B8B62AB-FB57-F44B-BA50-7584BEB7A451}"/>
              </a:ext>
            </a:extLst>
          </p:cNvPr>
          <p:cNvSpPr txBox="1">
            <a:spLocks noChangeArrowheads="1"/>
          </p:cNvSpPr>
          <p:nvPr/>
        </p:nvSpPr>
        <p:spPr bwMode="auto">
          <a:xfrm>
            <a:off x="4495800" y="1447800"/>
            <a:ext cx="4267200"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28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400">
                <a:latin typeface="Times New Roman" panose="02020603050405020304" pitchFamily="18" charset="0"/>
                <a:ea typeface="新細明體" panose="02020500000000000000" pitchFamily="18" charset="-120"/>
                <a:cs typeface="Arial" panose="020B0604020202020204" pitchFamily="34" charset="0"/>
              </a:rPr>
              <a:t>Real gas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Each molecule has certain significant volume which exclude other molecules.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There are intermolecular forces among the molecules.</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These interactions lead to phenomenon such as condensation, vaporization, melting, freezing, and etc</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Random but inelastic collisions are expected among molecules.</a:t>
            </a:r>
          </a:p>
        </p:txBody>
      </p:sp>
      <p:sp>
        <p:nvSpPr>
          <p:cNvPr id="25605" name="Rectangle 5">
            <a:extLst>
              <a:ext uri="{FF2B5EF4-FFF2-40B4-BE49-F238E27FC236}">
                <a16:creationId xmlns:a16="http://schemas.microsoft.com/office/drawing/2014/main" id="{155DB245-C73D-3BB0-F647-D523B9C62C1B}"/>
              </a:ext>
            </a:extLst>
          </p:cNvPr>
          <p:cNvSpPr>
            <a:spLocks noChangeArrowheads="1"/>
          </p:cNvSpPr>
          <p:nvPr/>
        </p:nvSpPr>
        <p:spPr bwMode="auto">
          <a:xfrm>
            <a:off x="914400" y="1981200"/>
            <a:ext cx="3429000" cy="175260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606" name="Rectangle 6">
            <a:extLst>
              <a:ext uri="{FF2B5EF4-FFF2-40B4-BE49-F238E27FC236}">
                <a16:creationId xmlns:a16="http://schemas.microsoft.com/office/drawing/2014/main" id="{4CA41AA2-FAD6-CA65-F39A-6ED6A85BAEB0}"/>
              </a:ext>
            </a:extLst>
          </p:cNvPr>
          <p:cNvSpPr>
            <a:spLocks noChangeArrowheads="1"/>
          </p:cNvSpPr>
          <p:nvPr/>
        </p:nvSpPr>
        <p:spPr bwMode="auto">
          <a:xfrm>
            <a:off x="4681538" y="1990725"/>
            <a:ext cx="3875087" cy="1023938"/>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607" name="Rectangle 7">
            <a:extLst>
              <a:ext uri="{FF2B5EF4-FFF2-40B4-BE49-F238E27FC236}">
                <a16:creationId xmlns:a16="http://schemas.microsoft.com/office/drawing/2014/main" id="{1AD566ED-4596-A017-2453-539E03D8347B}"/>
              </a:ext>
            </a:extLst>
          </p:cNvPr>
          <p:cNvSpPr>
            <a:spLocks noChangeArrowheads="1"/>
          </p:cNvSpPr>
          <p:nvPr/>
        </p:nvSpPr>
        <p:spPr bwMode="auto">
          <a:xfrm>
            <a:off x="903288" y="3810000"/>
            <a:ext cx="3429000" cy="663575"/>
          </a:xfrm>
          <a:prstGeom prst="rect">
            <a:avLst/>
          </a:prstGeom>
          <a:noFill/>
          <a:ln w="38100">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608" name="Rectangle 8">
            <a:extLst>
              <a:ext uri="{FF2B5EF4-FFF2-40B4-BE49-F238E27FC236}">
                <a16:creationId xmlns:a16="http://schemas.microsoft.com/office/drawing/2014/main" id="{3E85540B-FA2F-06E5-9D51-81FF34A404D4}"/>
              </a:ext>
            </a:extLst>
          </p:cNvPr>
          <p:cNvSpPr>
            <a:spLocks noChangeArrowheads="1"/>
          </p:cNvSpPr>
          <p:nvPr/>
        </p:nvSpPr>
        <p:spPr bwMode="auto">
          <a:xfrm>
            <a:off x="914400" y="4572000"/>
            <a:ext cx="3429000" cy="1752600"/>
          </a:xfrm>
          <a:prstGeom prst="rect">
            <a:avLst/>
          </a:prstGeom>
          <a:noFill/>
          <a:ln w="381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609" name="Rectangle 9">
            <a:extLst>
              <a:ext uri="{FF2B5EF4-FFF2-40B4-BE49-F238E27FC236}">
                <a16:creationId xmlns:a16="http://schemas.microsoft.com/office/drawing/2014/main" id="{801CE84E-6087-8206-FDB0-21AAB3740559}"/>
              </a:ext>
            </a:extLst>
          </p:cNvPr>
          <p:cNvSpPr>
            <a:spLocks noChangeArrowheads="1"/>
          </p:cNvSpPr>
          <p:nvPr/>
        </p:nvSpPr>
        <p:spPr bwMode="auto">
          <a:xfrm>
            <a:off x="4691063" y="3092450"/>
            <a:ext cx="3863975" cy="2090738"/>
          </a:xfrm>
          <a:prstGeom prst="rect">
            <a:avLst/>
          </a:prstGeom>
          <a:noFill/>
          <a:ln w="38100">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610" name="Rectangle 10">
            <a:extLst>
              <a:ext uri="{FF2B5EF4-FFF2-40B4-BE49-F238E27FC236}">
                <a16:creationId xmlns:a16="http://schemas.microsoft.com/office/drawing/2014/main" id="{4A115667-0FFE-9473-8A24-43995D174D38}"/>
              </a:ext>
            </a:extLst>
          </p:cNvPr>
          <p:cNvSpPr>
            <a:spLocks noChangeArrowheads="1"/>
          </p:cNvSpPr>
          <p:nvPr/>
        </p:nvSpPr>
        <p:spPr bwMode="auto">
          <a:xfrm>
            <a:off x="4691063" y="5268913"/>
            <a:ext cx="3854450" cy="739775"/>
          </a:xfrm>
          <a:prstGeom prst="rect">
            <a:avLst/>
          </a:prstGeom>
          <a:noFill/>
          <a:ln w="381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a:extLst>
              <a:ext uri="{FF2B5EF4-FFF2-40B4-BE49-F238E27FC236}">
                <a16:creationId xmlns:a16="http://schemas.microsoft.com/office/drawing/2014/main" id="{D342DF49-E94E-3F88-525B-61AEF626F8E6}"/>
              </a:ext>
            </a:extLst>
          </p:cNvPr>
          <p:cNvSpPr>
            <a:spLocks noChangeArrowheads="1"/>
          </p:cNvSpPr>
          <p:nvPr/>
        </p:nvSpPr>
        <p:spPr bwMode="auto">
          <a:xfrm>
            <a:off x="2438400" y="76200"/>
            <a:ext cx="3886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Gas Laws</a:t>
            </a:r>
          </a:p>
        </p:txBody>
      </p:sp>
      <p:sp>
        <p:nvSpPr>
          <p:cNvPr id="1031" name="Text Box 3">
            <a:extLst>
              <a:ext uri="{FF2B5EF4-FFF2-40B4-BE49-F238E27FC236}">
                <a16:creationId xmlns:a16="http://schemas.microsoft.com/office/drawing/2014/main" id="{1A2B7AF6-89B4-FD1D-1372-5A89ED631133}"/>
              </a:ext>
            </a:extLst>
          </p:cNvPr>
          <p:cNvSpPr txBox="1">
            <a:spLocks noChangeArrowheads="1"/>
          </p:cNvSpPr>
          <p:nvPr/>
        </p:nvSpPr>
        <p:spPr bwMode="auto">
          <a:xfrm>
            <a:off x="533400" y="762000"/>
            <a:ext cx="76200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28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I.	 Boyle’s Law [Boyle (1662) &amp; Mariotte (1679)]</a:t>
            </a:r>
            <a:endParaRPr lang="en-US" altLang="zh-TW" sz="2400" b="1" i="1">
              <a:latin typeface="Times New Roman" panose="02020603050405020304" pitchFamily="18" charset="0"/>
              <a:ea typeface="新細明體" panose="02020500000000000000" pitchFamily="18" charset="-120"/>
              <a:cs typeface="Arial" panose="020B0604020202020204" pitchFamily="34" charset="0"/>
            </a:endParaRP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Boyle’s Law is valid for gases at all temperature except at above the “critical point”.</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“critical point” is the temperature above which the gas cannot be liquefied at any pressure.</a:t>
            </a:r>
          </a:p>
        </p:txBody>
      </p:sp>
      <p:graphicFrame>
        <p:nvGraphicFramePr>
          <p:cNvPr id="1026" name="Object 4">
            <a:extLst>
              <a:ext uri="{FF2B5EF4-FFF2-40B4-BE49-F238E27FC236}">
                <a16:creationId xmlns:a16="http://schemas.microsoft.com/office/drawing/2014/main" id="{771A88B6-EADA-2020-1000-22B631B47A72}"/>
              </a:ext>
            </a:extLst>
          </p:cNvPr>
          <p:cNvGraphicFramePr>
            <a:graphicFrameLocks noChangeAspect="1"/>
          </p:cNvGraphicFramePr>
          <p:nvPr/>
        </p:nvGraphicFramePr>
        <p:xfrm>
          <a:off x="6781800" y="762000"/>
          <a:ext cx="1676400" cy="277813"/>
        </p:xfrm>
        <a:graphic>
          <a:graphicData uri="http://schemas.openxmlformats.org/presentationml/2006/ole">
            <mc:AlternateContent xmlns:mc="http://schemas.openxmlformats.org/markup-compatibility/2006">
              <mc:Choice xmlns:v="urn:schemas-microsoft-com:vml" Requires="v">
                <p:oleObj r:id="rId2" imgW="1206500" imgH="203200" progId="Equation.3">
                  <p:embed/>
                </p:oleObj>
              </mc:Choice>
              <mc:Fallback>
                <p:oleObj r:id="rId2" imgW="1206500" imgH="203200" progId="Equation.3">
                  <p:embed/>
                  <p:pic>
                    <p:nvPicPr>
                      <p:cNvPr id="1026" name="Object 4">
                        <a:extLst>
                          <a:ext uri="{FF2B5EF4-FFF2-40B4-BE49-F238E27FC236}">
                            <a16:creationId xmlns:a16="http://schemas.microsoft.com/office/drawing/2014/main" id="{771A88B6-EADA-2020-1000-22B631B47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762000"/>
                        <a:ext cx="1676400" cy="277813"/>
                      </a:xfrm>
                      <a:prstGeom prst="rect">
                        <a:avLst/>
                      </a:prstGeom>
                      <a:solidFill>
                        <a:schemeClr val="accent1"/>
                      </a:solidFill>
                    </p:spPr>
                  </p:pic>
                </p:oleObj>
              </mc:Fallback>
            </mc:AlternateContent>
          </a:graphicData>
        </a:graphic>
      </p:graphicFrame>
      <p:sp>
        <p:nvSpPr>
          <p:cNvPr id="1032" name="Text Box 5">
            <a:extLst>
              <a:ext uri="{FF2B5EF4-FFF2-40B4-BE49-F238E27FC236}">
                <a16:creationId xmlns:a16="http://schemas.microsoft.com/office/drawing/2014/main" id="{1C069E6C-9D99-A4C5-24E7-8AC3C98E7E09}"/>
              </a:ext>
            </a:extLst>
          </p:cNvPr>
          <p:cNvSpPr txBox="1">
            <a:spLocks noChangeArrowheads="1"/>
          </p:cNvSpPr>
          <p:nvPr/>
        </p:nvSpPr>
        <p:spPr bwMode="auto">
          <a:xfrm>
            <a:off x="533400" y="2590800"/>
            <a:ext cx="73152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II. Charles’s Law [Charles &amp; Gay-Lussac (1802]</a:t>
            </a:r>
            <a:endParaRPr lang="en-US" altLang="zh-TW" sz="2000" b="1" i="1">
              <a:latin typeface="Times New Roman" panose="02020603050405020304" pitchFamily="18" charset="0"/>
              <a:ea typeface="新細明體" panose="02020500000000000000" pitchFamily="18" charset="-120"/>
              <a:cs typeface="Arial" panose="020B0604020202020204" pitchFamily="34" charset="0"/>
            </a:endParaRPr>
          </a:p>
          <a:p>
            <a:pPr eaLnBrk="1" hangingPunct="1">
              <a:lnSpc>
                <a:spcPct val="120000"/>
              </a:lnSpc>
              <a:buClr>
                <a:schemeClr val="tx1"/>
              </a:buClr>
              <a:buFontTx/>
              <a:buChar char="•"/>
            </a:pPr>
            <a:r>
              <a:rPr lang="en-US" altLang="zh-TW" sz="2000" i="1">
                <a:latin typeface="Times New Roman" panose="02020603050405020304" pitchFamily="18" charset="0"/>
                <a:ea typeface="新細明體" panose="02020500000000000000" pitchFamily="18" charset="-120"/>
                <a:cs typeface="Arial" panose="020B0604020202020204" pitchFamily="34" charset="0"/>
              </a:rPr>
              <a:t>P</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T</a:t>
            </a:r>
            <a:r>
              <a:rPr lang="en-US" altLang="zh-TW" sz="2000" i="1">
                <a:latin typeface="Times New Roman" panose="02020603050405020304" pitchFamily="18" charset="0"/>
                <a:ea typeface="新細明體" panose="02020500000000000000" pitchFamily="18" charset="-120"/>
                <a:cs typeface="Arial" panose="020B0604020202020204" pitchFamily="34" charset="0"/>
              </a:rPr>
              <a:t> = P</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0</a:t>
            </a:r>
            <a:r>
              <a:rPr lang="en-US" altLang="zh-TW" sz="2000" i="1">
                <a:latin typeface="Times New Roman" panose="02020603050405020304" pitchFamily="18" charset="0"/>
                <a:ea typeface="新細明體" panose="02020500000000000000" pitchFamily="18" charset="-120"/>
                <a:cs typeface="Arial" panose="020B0604020202020204" pitchFamily="34" charset="0"/>
              </a:rPr>
              <a:t> (1 + </a:t>
            </a:r>
            <a:r>
              <a:rPr lang="en-US" altLang="zh-TW" sz="2000" i="1">
                <a:latin typeface="Times New Roman" panose="02020603050405020304" pitchFamily="18" charset="0"/>
                <a:ea typeface="新細明體" panose="02020500000000000000" pitchFamily="18" charset="-120"/>
                <a:cs typeface="Arial" panose="020B0604020202020204" pitchFamily="34" charset="0"/>
                <a:sym typeface="Symbol" panose="05050102010706020507" pitchFamily="18" charset="2"/>
              </a:rPr>
              <a:t></a:t>
            </a:r>
            <a:r>
              <a:rPr lang="en-US" altLang="zh-TW" sz="2000" i="1">
                <a:latin typeface="Times New Roman" panose="02020603050405020304" pitchFamily="18" charset="0"/>
                <a:ea typeface="新細明體" panose="02020500000000000000" pitchFamily="18" charset="-120"/>
                <a:cs typeface="Arial" panose="020B0604020202020204" pitchFamily="34" charset="0"/>
              </a:rPr>
              <a:t>t</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c</a:t>
            </a:r>
            <a:r>
              <a:rPr lang="en-US" altLang="zh-TW" sz="2000" i="1">
                <a:latin typeface="Times New Roman" panose="02020603050405020304" pitchFamily="18" charset="0"/>
                <a:ea typeface="新細明體" panose="02020500000000000000" pitchFamily="18" charset="-120"/>
                <a:cs typeface="Arial" panose="020B0604020202020204" pitchFamily="34" charset="0"/>
              </a:rPr>
              <a:t>)</a:t>
            </a:r>
            <a:r>
              <a:rPr lang="en-US" altLang="zh-TW" sz="2000">
                <a:latin typeface="Times New Roman" panose="02020603050405020304" pitchFamily="18" charset="0"/>
                <a:ea typeface="新細明體" panose="02020500000000000000" pitchFamily="18" charset="-120"/>
                <a:cs typeface="Arial" panose="020B0604020202020204" pitchFamily="34" charset="0"/>
              </a:rPr>
              <a:t> and </a:t>
            </a:r>
            <a:r>
              <a:rPr lang="en-US" altLang="zh-TW" sz="2000" i="1">
                <a:latin typeface="Times New Roman" panose="02020603050405020304" pitchFamily="18" charset="0"/>
                <a:ea typeface="新細明體" panose="02020500000000000000" pitchFamily="18" charset="-120"/>
                <a:cs typeface="Arial" panose="020B0604020202020204" pitchFamily="34" charset="0"/>
              </a:rPr>
              <a:t>V</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T</a:t>
            </a:r>
            <a:r>
              <a:rPr lang="en-US" altLang="zh-TW" sz="2000" i="1">
                <a:latin typeface="Times New Roman" panose="02020603050405020304" pitchFamily="18" charset="0"/>
                <a:ea typeface="新細明體" panose="02020500000000000000" pitchFamily="18" charset="-120"/>
                <a:cs typeface="Arial" panose="020B0604020202020204" pitchFamily="34" charset="0"/>
              </a:rPr>
              <a:t> = V</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0</a:t>
            </a:r>
            <a:r>
              <a:rPr lang="en-US" altLang="zh-TW" sz="2000" i="1">
                <a:latin typeface="Times New Roman" panose="02020603050405020304" pitchFamily="18" charset="0"/>
                <a:ea typeface="新細明體" panose="02020500000000000000" pitchFamily="18" charset="-120"/>
                <a:cs typeface="Arial" panose="020B0604020202020204" pitchFamily="34" charset="0"/>
              </a:rPr>
              <a:t> (1 + </a:t>
            </a:r>
            <a:r>
              <a:rPr lang="en-US" altLang="zh-TW" sz="2000" i="1">
                <a:latin typeface="Times New Roman" panose="02020603050405020304" pitchFamily="18" charset="0"/>
                <a:ea typeface="新細明體" panose="02020500000000000000" pitchFamily="18" charset="-120"/>
                <a:cs typeface="Arial" panose="020B0604020202020204" pitchFamily="34" charset="0"/>
                <a:sym typeface="Symbol" panose="05050102010706020507" pitchFamily="18" charset="2"/>
              </a:rPr>
              <a:t></a:t>
            </a:r>
            <a:r>
              <a:rPr lang="en-US" altLang="zh-TW" sz="2000" i="1">
                <a:latin typeface="Times New Roman" panose="02020603050405020304" pitchFamily="18" charset="0"/>
                <a:ea typeface="新細明體" panose="02020500000000000000" pitchFamily="18" charset="-120"/>
                <a:cs typeface="Arial" panose="020B0604020202020204" pitchFamily="34" charset="0"/>
              </a:rPr>
              <a:t>t</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c</a:t>
            </a:r>
            <a:r>
              <a:rPr lang="en-US" altLang="zh-TW" sz="2000" i="1">
                <a:latin typeface="Times New Roman" panose="02020603050405020304" pitchFamily="18" charset="0"/>
                <a:ea typeface="新細明體" panose="02020500000000000000" pitchFamily="18" charset="-120"/>
                <a:cs typeface="Arial" panose="020B0604020202020204" pitchFamily="34" charset="0"/>
              </a:rPr>
              <a:t>)</a:t>
            </a:r>
            <a:r>
              <a:rPr lang="en-US" altLang="zh-TW" sz="2000">
                <a:latin typeface="Times New Roman" panose="02020603050405020304" pitchFamily="18" charset="0"/>
                <a:ea typeface="新細明體" panose="02020500000000000000" pitchFamily="18" charset="-120"/>
                <a:cs typeface="Arial" panose="020B0604020202020204" pitchFamily="34" charset="0"/>
              </a:rPr>
              <a:t>;</a:t>
            </a:r>
          </a:p>
          <a:p>
            <a:pPr eaLnBrk="1" hangingPunct="1">
              <a:lnSpc>
                <a:spcPct val="120000"/>
              </a:lnSpc>
              <a:buClr>
                <a:schemeClr val="tx1"/>
              </a:buClr>
              <a:buFontTx/>
              <a:buChar char="•"/>
            </a:pPr>
            <a:r>
              <a:rPr lang="en-US" altLang="zh-TW" sz="2000" i="1">
                <a:latin typeface="Times New Roman" panose="02020603050405020304" pitchFamily="18" charset="0"/>
                <a:ea typeface="新細明體" panose="02020500000000000000" pitchFamily="18" charset="-120"/>
                <a:cs typeface="Arial" panose="020B0604020202020204" pitchFamily="34" charset="0"/>
              </a:rPr>
              <a:t>P</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0</a:t>
            </a:r>
            <a:r>
              <a:rPr lang="en-US" altLang="zh-TW" sz="2000">
                <a:latin typeface="Times New Roman" panose="02020603050405020304" pitchFamily="18" charset="0"/>
                <a:ea typeface="新細明體" panose="02020500000000000000" pitchFamily="18" charset="-120"/>
                <a:cs typeface="Arial" panose="020B0604020202020204" pitchFamily="34" charset="0"/>
              </a:rPr>
              <a:t> and </a:t>
            </a:r>
            <a:r>
              <a:rPr lang="en-US" altLang="zh-TW" sz="2000" i="1">
                <a:latin typeface="Times New Roman" panose="02020603050405020304" pitchFamily="18" charset="0"/>
                <a:ea typeface="新細明體" panose="02020500000000000000" pitchFamily="18" charset="-120"/>
                <a:cs typeface="Arial" panose="020B0604020202020204" pitchFamily="34" charset="0"/>
              </a:rPr>
              <a:t>V</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0</a:t>
            </a:r>
            <a:r>
              <a:rPr lang="en-US" altLang="zh-TW" sz="2000">
                <a:latin typeface="Times New Roman" panose="02020603050405020304" pitchFamily="18" charset="0"/>
                <a:ea typeface="新細明體" panose="02020500000000000000" pitchFamily="18" charset="-120"/>
                <a:cs typeface="Arial" panose="020B0604020202020204" pitchFamily="34" charset="0"/>
              </a:rPr>
              <a:t> are pressure and volume at</a:t>
            </a:r>
            <a:r>
              <a:rPr lang="en-US" altLang="zh-TW" sz="2000" i="1">
                <a:latin typeface="Times New Roman" panose="02020603050405020304" pitchFamily="18" charset="0"/>
                <a:ea typeface="新細明體" panose="02020500000000000000" pitchFamily="18" charset="-120"/>
                <a:cs typeface="Arial" panose="020B0604020202020204" pitchFamily="34" charset="0"/>
              </a:rPr>
              <a:t> t</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c</a:t>
            </a:r>
            <a:r>
              <a:rPr lang="en-US" altLang="zh-TW" sz="2000">
                <a:latin typeface="Times New Roman" panose="02020603050405020304" pitchFamily="18" charset="0"/>
                <a:ea typeface="新細明體" panose="02020500000000000000" pitchFamily="18" charset="-120"/>
                <a:cs typeface="Arial" panose="020B0604020202020204" pitchFamily="34" charset="0"/>
              </a:rPr>
              <a:t> equal to zero; and </a:t>
            </a:r>
            <a:r>
              <a:rPr lang="en-US" altLang="zh-TW" sz="2000" i="1">
                <a:latin typeface="Times New Roman" panose="02020603050405020304" pitchFamily="18" charset="0"/>
                <a:ea typeface="新細明體" panose="02020500000000000000" pitchFamily="18" charset="-120"/>
                <a:cs typeface="Arial" panose="020B0604020202020204" pitchFamily="34" charset="0"/>
              </a:rPr>
              <a:t>t</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c</a:t>
            </a:r>
            <a:r>
              <a:rPr lang="en-US" altLang="zh-TW" sz="2000" i="1">
                <a:latin typeface="Times New Roman" panose="02020603050405020304" pitchFamily="18" charset="0"/>
                <a:ea typeface="新細明體" panose="02020500000000000000" pitchFamily="18" charset="-120"/>
                <a:cs typeface="Arial" panose="020B0604020202020204" pitchFamily="34" charset="0"/>
              </a:rPr>
              <a:t> = </a:t>
            </a:r>
            <a:r>
              <a:rPr lang="en-US" altLang="zh-TW" sz="2000" i="1">
                <a:latin typeface="Times New Roman" panose="02020603050405020304" pitchFamily="18" charset="0"/>
                <a:ea typeface="新細明體" panose="02020500000000000000" pitchFamily="18" charset="-120"/>
                <a:cs typeface="Arial" panose="020B0604020202020204" pitchFamily="34" charset="0"/>
                <a:sym typeface="Symbol" panose="05050102010706020507" pitchFamily="18" charset="2"/>
              </a:rPr>
              <a:t></a:t>
            </a:r>
            <a:r>
              <a:rPr lang="en-US" altLang="zh-TW" sz="2000" i="1" baseline="30000">
                <a:latin typeface="Times New Roman" panose="02020603050405020304" pitchFamily="18" charset="0"/>
                <a:ea typeface="新細明體" panose="02020500000000000000" pitchFamily="18" charset="-120"/>
                <a:cs typeface="Arial" panose="020B0604020202020204" pitchFamily="34" charset="0"/>
              </a:rPr>
              <a:t>-1</a:t>
            </a:r>
            <a:r>
              <a:rPr lang="en-US" altLang="zh-TW" sz="2000" i="1">
                <a:latin typeface="Times New Roman" panose="02020603050405020304" pitchFamily="18" charset="0"/>
                <a:ea typeface="新細明體" panose="02020500000000000000" pitchFamily="18" charset="-120"/>
                <a:cs typeface="Arial" panose="020B0604020202020204" pitchFamily="34" charset="0"/>
              </a:rPr>
              <a:t> + T </a:t>
            </a:r>
            <a:r>
              <a:rPr lang="en-US" altLang="zh-TW" sz="2000">
                <a:latin typeface="Times New Roman" panose="02020603050405020304" pitchFamily="18" charset="0"/>
                <a:ea typeface="新細明體" panose="02020500000000000000" pitchFamily="18" charset="-120"/>
                <a:cs typeface="Arial" panose="020B0604020202020204" pitchFamily="34" charset="0"/>
              </a:rPr>
              <a:t>(in degree);</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 </a:t>
            </a:r>
            <a:r>
              <a:rPr lang="en-US" altLang="zh-TW" sz="2000" i="1">
                <a:latin typeface="Symbol" panose="05050102010706020507" pitchFamily="18" charset="2"/>
                <a:ea typeface="新細明體" panose="02020500000000000000" pitchFamily="18" charset="-120"/>
                <a:cs typeface="Arial" panose="020B0604020202020204" pitchFamily="34" charset="0"/>
              </a:rPr>
              <a:t>b</a:t>
            </a:r>
            <a:r>
              <a:rPr lang="en-US" altLang="zh-TW" sz="2000">
                <a:latin typeface="Times New Roman" panose="02020603050405020304" pitchFamily="18" charset="0"/>
                <a:ea typeface="新細明體" panose="02020500000000000000" pitchFamily="18" charset="-120"/>
                <a:cs typeface="Arial" panose="020B0604020202020204" pitchFamily="34" charset="0"/>
              </a:rPr>
              <a:t> is equal to 1/273;</a:t>
            </a:r>
          </a:p>
        </p:txBody>
      </p:sp>
      <p:graphicFrame>
        <p:nvGraphicFramePr>
          <p:cNvPr id="1027" name="Object 6">
            <a:extLst>
              <a:ext uri="{FF2B5EF4-FFF2-40B4-BE49-F238E27FC236}">
                <a16:creationId xmlns:a16="http://schemas.microsoft.com/office/drawing/2014/main" id="{CD2BD576-4C66-C10A-150B-774BEE626B2B}"/>
              </a:ext>
            </a:extLst>
          </p:cNvPr>
          <p:cNvGraphicFramePr>
            <a:graphicFrameLocks noChangeAspect="1"/>
          </p:cNvGraphicFramePr>
          <p:nvPr/>
        </p:nvGraphicFramePr>
        <p:xfrm>
          <a:off x="6629400" y="2514600"/>
          <a:ext cx="2057400" cy="706438"/>
        </p:xfrm>
        <a:graphic>
          <a:graphicData uri="http://schemas.openxmlformats.org/presentationml/2006/ole">
            <mc:AlternateContent xmlns:mc="http://schemas.openxmlformats.org/markup-compatibility/2006">
              <mc:Choice xmlns:v="urn:schemas-microsoft-com:vml" Requires="v">
                <p:oleObj r:id="rId4" imgW="1638300" imgH="558800" progId="Equation.3">
                  <p:embed/>
                </p:oleObj>
              </mc:Choice>
              <mc:Fallback>
                <p:oleObj r:id="rId4" imgW="1638300" imgH="558800" progId="Equation.3">
                  <p:embed/>
                  <p:pic>
                    <p:nvPicPr>
                      <p:cNvPr id="1027" name="Object 6">
                        <a:extLst>
                          <a:ext uri="{FF2B5EF4-FFF2-40B4-BE49-F238E27FC236}">
                            <a16:creationId xmlns:a16="http://schemas.microsoft.com/office/drawing/2014/main" id="{CD2BD576-4C66-C10A-150B-774BEE626B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514600"/>
                        <a:ext cx="2057400" cy="706438"/>
                      </a:xfrm>
                      <a:prstGeom prst="rect">
                        <a:avLst/>
                      </a:prstGeom>
                      <a:solidFill>
                        <a:schemeClr val="accent1"/>
                      </a:solidFill>
                    </p:spPr>
                  </p:pic>
                </p:oleObj>
              </mc:Fallback>
            </mc:AlternateContent>
          </a:graphicData>
        </a:graphic>
      </p:graphicFrame>
      <p:sp>
        <p:nvSpPr>
          <p:cNvPr id="1033" name="Text Box 7">
            <a:extLst>
              <a:ext uri="{FF2B5EF4-FFF2-40B4-BE49-F238E27FC236}">
                <a16:creationId xmlns:a16="http://schemas.microsoft.com/office/drawing/2014/main" id="{EA832414-59EC-601A-7863-E4BC9DEA7937}"/>
              </a:ext>
            </a:extLst>
          </p:cNvPr>
          <p:cNvSpPr txBox="1">
            <a:spLocks noChangeArrowheads="1"/>
          </p:cNvSpPr>
          <p:nvPr/>
        </p:nvSpPr>
        <p:spPr bwMode="auto">
          <a:xfrm>
            <a:off x="609600" y="4648200"/>
            <a:ext cx="8001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III. General Gas Law</a:t>
            </a:r>
            <a:r>
              <a:rPr lang="en-US" altLang="zh-TW" sz="2000" b="1" i="1">
                <a:latin typeface="Times New Roman" panose="02020603050405020304" pitchFamily="18" charset="0"/>
                <a:ea typeface="新細明體" panose="02020500000000000000" pitchFamily="18" charset="-120"/>
                <a:cs typeface="Arial" panose="020B0604020202020204" pitchFamily="34" charset="0"/>
              </a:rPr>
              <a:t>                               </a:t>
            </a:r>
          </a:p>
          <a:p>
            <a:pPr eaLnBrk="1" hangingPunct="1">
              <a:lnSpc>
                <a:spcPct val="120000"/>
              </a:lnSpc>
              <a:buClr>
                <a:schemeClr val="tx1"/>
              </a:buClr>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R is the universal gas constant, N is the no. of moles of molecules/unit volume, k is the Boltzmann constant (k = R/N</a:t>
            </a:r>
            <a:r>
              <a:rPr lang="en-US" altLang="zh-TW" sz="2000" baseline="-25000">
                <a:latin typeface="Times New Roman" panose="02020603050405020304" pitchFamily="18" charset="0"/>
                <a:ea typeface="新細明體" panose="02020500000000000000" pitchFamily="18" charset="-120"/>
                <a:cs typeface="Arial" panose="020B0604020202020204" pitchFamily="34" charset="0"/>
              </a:rPr>
              <a:t>A</a:t>
            </a:r>
            <a:r>
              <a:rPr lang="en-US" altLang="zh-TW" sz="2000">
                <a:latin typeface="Times New Roman" panose="02020603050405020304" pitchFamily="18" charset="0"/>
                <a:ea typeface="新細明體" panose="02020500000000000000" pitchFamily="18" charset="-120"/>
                <a:cs typeface="Arial" panose="020B0604020202020204" pitchFamily="34" charset="0"/>
              </a:rPr>
              <a:t>), N</a:t>
            </a:r>
            <a:r>
              <a:rPr lang="en-US" altLang="zh-TW" sz="2000" baseline="-25000">
                <a:latin typeface="Times New Roman" panose="02020603050405020304" pitchFamily="18" charset="0"/>
                <a:ea typeface="新細明體" panose="02020500000000000000" pitchFamily="18" charset="-120"/>
                <a:cs typeface="Arial" panose="020B0604020202020204" pitchFamily="34" charset="0"/>
              </a:rPr>
              <a:t>A</a:t>
            </a:r>
            <a:r>
              <a:rPr lang="en-US" altLang="zh-TW" sz="2000">
                <a:latin typeface="Times New Roman" panose="02020603050405020304" pitchFamily="18" charset="0"/>
                <a:ea typeface="新細明體" panose="02020500000000000000" pitchFamily="18" charset="-120"/>
                <a:cs typeface="Arial" panose="020B0604020202020204" pitchFamily="34" charset="0"/>
              </a:rPr>
              <a:t> is the Avogradro’s number n is thus the number density;</a:t>
            </a:r>
          </a:p>
        </p:txBody>
      </p:sp>
      <p:graphicFrame>
        <p:nvGraphicFramePr>
          <p:cNvPr id="1028" name="Object 8">
            <a:extLst>
              <a:ext uri="{FF2B5EF4-FFF2-40B4-BE49-F238E27FC236}">
                <a16:creationId xmlns:a16="http://schemas.microsoft.com/office/drawing/2014/main" id="{F075E9EA-2AFD-37E5-B6B1-19716B75EFC2}"/>
              </a:ext>
            </a:extLst>
          </p:cNvPr>
          <p:cNvGraphicFramePr>
            <a:graphicFrameLocks noChangeAspect="1"/>
          </p:cNvGraphicFramePr>
          <p:nvPr/>
        </p:nvGraphicFramePr>
        <p:xfrm>
          <a:off x="6389688" y="3886200"/>
          <a:ext cx="2362200" cy="728663"/>
        </p:xfrm>
        <a:graphic>
          <a:graphicData uri="http://schemas.openxmlformats.org/presentationml/2006/ole">
            <mc:AlternateContent xmlns:mc="http://schemas.openxmlformats.org/markup-compatibility/2006">
              <mc:Choice xmlns:v="urn:schemas-microsoft-com:vml" Requires="v">
                <p:oleObj r:id="rId6" imgW="1816100" imgH="558800" progId="Equation.3">
                  <p:embed/>
                </p:oleObj>
              </mc:Choice>
              <mc:Fallback>
                <p:oleObj r:id="rId6" imgW="1816100" imgH="558800" progId="Equation.3">
                  <p:embed/>
                  <p:pic>
                    <p:nvPicPr>
                      <p:cNvPr id="1028" name="Object 8">
                        <a:extLst>
                          <a:ext uri="{FF2B5EF4-FFF2-40B4-BE49-F238E27FC236}">
                            <a16:creationId xmlns:a16="http://schemas.microsoft.com/office/drawing/2014/main" id="{F075E9EA-2AFD-37E5-B6B1-19716B75EF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9688" y="3886200"/>
                        <a:ext cx="2362200" cy="728663"/>
                      </a:xfrm>
                      <a:prstGeom prst="rect">
                        <a:avLst/>
                      </a:prstGeom>
                      <a:solidFill>
                        <a:schemeClr val="accent1"/>
                      </a:solidFill>
                    </p:spPr>
                  </p:pic>
                </p:oleObj>
              </mc:Fallback>
            </mc:AlternateContent>
          </a:graphicData>
        </a:graphic>
      </p:graphicFrame>
      <p:graphicFrame>
        <p:nvGraphicFramePr>
          <p:cNvPr id="1029" name="Object 9">
            <a:extLst>
              <a:ext uri="{FF2B5EF4-FFF2-40B4-BE49-F238E27FC236}">
                <a16:creationId xmlns:a16="http://schemas.microsoft.com/office/drawing/2014/main" id="{366ACF85-4882-AA25-0079-4A5BA0B806A7}"/>
              </a:ext>
            </a:extLst>
          </p:cNvPr>
          <p:cNvGraphicFramePr>
            <a:graphicFrameLocks noChangeAspect="1"/>
          </p:cNvGraphicFramePr>
          <p:nvPr/>
        </p:nvGraphicFramePr>
        <p:xfrm>
          <a:off x="6389688" y="4648200"/>
          <a:ext cx="2373312" cy="323850"/>
        </p:xfrm>
        <a:graphic>
          <a:graphicData uri="http://schemas.openxmlformats.org/presentationml/2006/ole">
            <mc:AlternateContent xmlns:mc="http://schemas.openxmlformats.org/markup-compatibility/2006">
              <mc:Choice xmlns:v="urn:schemas-microsoft-com:vml" Requires="v">
                <p:oleObj name="Equation" r:id="rId8" imgW="1295280" imgH="177480" progId="Equation.3">
                  <p:embed/>
                </p:oleObj>
              </mc:Choice>
              <mc:Fallback>
                <p:oleObj name="Equation" r:id="rId8" imgW="1295280" imgH="177480" progId="Equation.3">
                  <p:embed/>
                  <p:pic>
                    <p:nvPicPr>
                      <p:cNvPr id="1029" name="Object 9">
                        <a:extLst>
                          <a:ext uri="{FF2B5EF4-FFF2-40B4-BE49-F238E27FC236}">
                            <a16:creationId xmlns:a16="http://schemas.microsoft.com/office/drawing/2014/main" id="{366ACF85-4882-AA25-0079-4A5BA0B806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89688" y="4648200"/>
                        <a:ext cx="2373312" cy="323850"/>
                      </a:xfrm>
                      <a:prstGeom prst="rect">
                        <a:avLst/>
                      </a:prstGeom>
                      <a:solidFill>
                        <a:schemeClr val="accent1"/>
                      </a:solidFill>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a:extLst>
              <a:ext uri="{FF2B5EF4-FFF2-40B4-BE49-F238E27FC236}">
                <a16:creationId xmlns:a16="http://schemas.microsoft.com/office/drawing/2014/main" id="{BEC476B6-4943-1150-3CE6-CBA1C152FBC9}"/>
              </a:ext>
            </a:extLst>
          </p:cNvPr>
          <p:cNvSpPr txBox="1">
            <a:spLocks noChangeArrowheads="1"/>
          </p:cNvSpPr>
          <p:nvPr/>
        </p:nvSpPr>
        <p:spPr bwMode="auto">
          <a:xfrm>
            <a:off x="609600" y="914400"/>
            <a:ext cx="7315200"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3000" dirty="0">
                <a:latin typeface="Times New Roman" panose="02020603050405020304" pitchFamily="18" charset="0"/>
                <a:ea typeface="新細明體" panose="02020500000000000000" pitchFamily="18" charset="-120"/>
                <a:cs typeface="Arial" panose="020B0604020202020204" pitchFamily="34" charset="0"/>
              </a:rPr>
              <a:t>IV. Equation of state of real gas</a:t>
            </a:r>
            <a:endParaRPr lang="en-US" altLang="zh-TW" sz="2500" dirty="0">
              <a:latin typeface="Times New Roman" panose="02020603050405020304" pitchFamily="18" charset="0"/>
              <a:ea typeface="新細明體" panose="02020500000000000000" pitchFamily="18" charset="-120"/>
              <a:cs typeface="Arial" panose="020B0604020202020204" pitchFamily="34" charset="0"/>
            </a:endParaRPr>
          </a:p>
          <a:p>
            <a:pPr algn="ctr" eaLnBrk="1" hangingPunct="1">
              <a:lnSpc>
                <a:spcPct val="120000"/>
              </a:lnSpc>
              <a:buClr>
                <a:schemeClr val="bg2"/>
              </a:buClr>
              <a:buFont typeface="Wingdings" panose="05000000000000000000" pitchFamily="2" charset="2"/>
              <a:buNone/>
            </a:pPr>
            <a:endParaRPr lang="en-US" altLang="zh-TW" sz="2500" b="1" i="1" dirty="0">
              <a:latin typeface="Times New Roman" panose="02020603050405020304" pitchFamily="18" charset="0"/>
              <a:ea typeface="新細明體" panose="02020500000000000000" pitchFamily="18" charset="-120"/>
              <a:cs typeface="Arial" panose="020B0604020202020204" pitchFamily="34" charset="0"/>
            </a:endParaRPr>
          </a:p>
          <a:p>
            <a:pPr eaLnBrk="1" hangingPunct="1">
              <a:lnSpc>
                <a:spcPct val="120000"/>
              </a:lnSpc>
              <a:buClr>
                <a:schemeClr val="bg2"/>
              </a:buClr>
              <a:buFont typeface="Wingdings" panose="05000000000000000000" pitchFamily="2" charset="2"/>
              <a:buNone/>
            </a:pPr>
            <a:r>
              <a:rPr lang="en-US" altLang="zh-TW" sz="2800" b="1" i="1" dirty="0">
                <a:latin typeface="Times New Roman" panose="02020603050405020304" pitchFamily="18" charset="0"/>
                <a:ea typeface="新細明體" panose="02020500000000000000" pitchFamily="18" charset="-120"/>
                <a:cs typeface="Arial" panose="020B0604020202020204" pitchFamily="34" charset="0"/>
              </a:rPr>
              <a:t>                                  </a:t>
            </a:r>
          </a:p>
          <a:p>
            <a:pPr eaLnBrk="1" hangingPunct="1">
              <a:lnSpc>
                <a:spcPct val="120000"/>
              </a:lnSpc>
              <a:buClr>
                <a:schemeClr val="bg2"/>
              </a:buClr>
              <a:buFontTx/>
              <a:buChar char="•"/>
            </a:pPr>
            <a:endParaRPr lang="en-US" altLang="zh-TW" sz="2000" b="1" i="1" dirty="0">
              <a:latin typeface="Times New Roman" panose="02020603050405020304" pitchFamily="18" charset="0"/>
              <a:ea typeface="新細明體" panose="02020500000000000000" pitchFamily="18" charset="-120"/>
              <a:cs typeface="Arial" panose="020B0604020202020204" pitchFamily="34" charset="0"/>
            </a:endParaRPr>
          </a:p>
          <a:p>
            <a:pPr eaLnBrk="1" hangingPunct="1">
              <a:lnSpc>
                <a:spcPct val="120000"/>
              </a:lnSpc>
              <a:buClr>
                <a:schemeClr val="tx1"/>
              </a:buClr>
              <a:buFontTx/>
              <a:buChar char="•"/>
            </a:pPr>
            <a:r>
              <a:rPr lang="en-US" altLang="zh-TW" sz="2500" i="1" dirty="0">
                <a:latin typeface="Times New Roman" panose="02020603050405020304" pitchFamily="18" charset="0"/>
                <a:ea typeface="新細明體" panose="02020500000000000000" pitchFamily="18" charset="-120"/>
                <a:cs typeface="Arial" panose="020B0604020202020204" pitchFamily="34" charset="0"/>
              </a:rPr>
              <a:t>Introduced by van der Waals</a:t>
            </a:r>
            <a:r>
              <a:rPr lang="en-US" altLang="zh-TW" sz="2500" dirty="0">
                <a:latin typeface="Times New Roman" panose="02020603050405020304" pitchFamily="18" charset="0"/>
                <a:ea typeface="新細明體" panose="02020500000000000000" pitchFamily="18" charset="-120"/>
                <a:cs typeface="Arial" panose="020B0604020202020204" pitchFamily="34" charset="0"/>
              </a:rPr>
              <a:t>;</a:t>
            </a:r>
          </a:p>
          <a:p>
            <a:pPr eaLnBrk="1" hangingPunct="1">
              <a:lnSpc>
                <a:spcPct val="120000"/>
              </a:lnSpc>
              <a:buClr>
                <a:schemeClr val="tx1"/>
              </a:buClr>
              <a:buFontTx/>
              <a:buChar char="•"/>
            </a:pPr>
            <a:r>
              <a:rPr lang="en-US" altLang="zh-TW" sz="2500" i="1" dirty="0">
                <a:latin typeface="Times New Roman" panose="02020603050405020304" pitchFamily="18" charset="0"/>
                <a:ea typeface="新細明體" panose="02020500000000000000" pitchFamily="18" charset="-120"/>
                <a:cs typeface="Arial" panose="020B0604020202020204" pitchFamily="34" charset="0"/>
              </a:rPr>
              <a:t>The term (A/V</a:t>
            </a:r>
            <a:r>
              <a:rPr lang="en-US" altLang="zh-TW" sz="2500" i="1" baseline="30000" dirty="0">
                <a:latin typeface="Times New Roman" panose="02020603050405020304" pitchFamily="18" charset="0"/>
                <a:ea typeface="新細明體" panose="02020500000000000000" pitchFamily="18" charset="-120"/>
                <a:cs typeface="Arial" panose="020B0604020202020204" pitchFamily="34" charset="0"/>
              </a:rPr>
              <a:t>2</a:t>
            </a:r>
            <a:r>
              <a:rPr lang="en-US" altLang="zh-TW" sz="2500" i="1" dirty="0">
                <a:latin typeface="Times New Roman" panose="02020603050405020304" pitchFamily="18" charset="0"/>
                <a:ea typeface="新細明體" panose="02020500000000000000" pitchFamily="18" charset="-120"/>
                <a:cs typeface="Arial" panose="020B0604020202020204" pitchFamily="34" charset="0"/>
              </a:rPr>
              <a:t>) takes into account the attractive forces between molecules, which have the same effect as an addition pressure;</a:t>
            </a:r>
          </a:p>
          <a:p>
            <a:pPr eaLnBrk="1" hangingPunct="1">
              <a:lnSpc>
                <a:spcPct val="120000"/>
              </a:lnSpc>
              <a:buClr>
                <a:schemeClr val="tx1"/>
              </a:buClr>
              <a:buFontTx/>
              <a:buChar char="•"/>
            </a:pPr>
            <a:r>
              <a:rPr lang="en-US" altLang="zh-TW" sz="2500" i="1" dirty="0">
                <a:latin typeface="Times New Roman" panose="02020603050405020304" pitchFamily="18" charset="0"/>
                <a:ea typeface="新細明體" panose="02020500000000000000" pitchFamily="18" charset="-120"/>
                <a:cs typeface="Arial" panose="020B0604020202020204" pitchFamily="34" charset="0"/>
              </a:rPr>
              <a:t>The term (V-b) is the reduced volume, where b is the volume occupied by the molecules.</a:t>
            </a:r>
            <a:endParaRPr lang="en-US" altLang="zh-TW" sz="2500" dirty="0">
              <a:latin typeface="Times New Roman" panose="02020603050405020304" pitchFamily="18" charset="0"/>
              <a:ea typeface="新細明體" panose="02020500000000000000" pitchFamily="18" charset="-120"/>
              <a:cs typeface="Arial" panose="020B0604020202020204" pitchFamily="34" charset="0"/>
            </a:endParaRPr>
          </a:p>
        </p:txBody>
      </p:sp>
      <mc:AlternateContent xmlns:mc="http://schemas.openxmlformats.org/markup-compatibility/2006" xmlns:a14="http://schemas.microsoft.com/office/drawing/2010/main">
        <mc:Choice Requires="a14">
          <p:sp>
            <p:nvSpPr>
              <p:cNvPr id="2050" name="Object 3">
                <a:extLst>
                  <a:ext uri="{FF2B5EF4-FFF2-40B4-BE49-F238E27FC236}">
                    <a16:creationId xmlns:a16="http://schemas.microsoft.com/office/drawing/2014/main" id="{7ED15A28-6A40-9AA6-16C3-2C24BBDED875}"/>
                  </a:ext>
                </a:extLst>
              </p:cNvPr>
              <p:cNvSpPr txBox="1"/>
              <p:nvPr/>
            </p:nvSpPr>
            <p:spPr bwMode="auto">
              <a:xfrm>
                <a:off x="2514600" y="1752600"/>
                <a:ext cx="3352800" cy="981075"/>
              </a:xfrm>
              <a:prstGeom prst="rect">
                <a:avLst/>
              </a:prstGeom>
              <a:solidFill>
                <a:srgbClr val="CCFF99"/>
              </a:solidFill>
              <a:ln>
                <a:noFill/>
              </a:ln>
              <a:effectLst/>
            </p:spPr>
            <p:txBody>
              <a:bodyPr>
                <a:normAutofit/>
              </a:bodyPr>
              <a:lstStyle/>
              <a:p>
                <a:pPr/>
                <a14:m>
                  <m:oMathPara xmlns:m="http://schemas.openxmlformats.org/officeDocument/2006/math">
                    <m:oMathParaPr>
                      <m:jc m:val="left"/>
                    </m:oMathParaPr>
                    <m:oMath>
                      <m:d>
                        <m:dPr>
                          <m:begChr m:val="["/>
                          <m:endChr m:val="]"/>
                          <m:ctrlPr>
                            <a:rPr lang="en-HK" i="1">
                              <a:solidFill>
                                <a:srgbClr val="000000"/>
                              </a:solidFill>
                              <a:latin typeface="Cambria Math" panose="02040503050406030204" pitchFamily="18" charset="0"/>
                            </a:rPr>
                          </m:ctrlPr>
                        </m:dPr>
                        <m:e>
                          <m:r>
                            <a:rPr lang="en-HK" i="1">
                              <a:solidFill>
                                <a:srgbClr val="000000"/>
                              </a:solidFill>
                              <a:latin typeface="Cambria Math" panose="02040503050406030204" pitchFamily="18" charset="0"/>
                            </a:rPr>
                            <m:t>𝑃</m:t>
                          </m:r>
                          <m:r>
                            <a:rPr lang="en-HK" i="1">
                              <a:solidFill>
                                <a:srgbClr val="000000"/>
                              </a:solidFill>
                              <a:latin typeface="Cambria Math" panose="02040503050406030204" pitchFamily="18" charset="0"/>
                            </a:rPr>
                            <m:t>+</m:t>
                          </m:r>
                          <m:d>
                            <m:dPr>
                              <m:ctrlPr>
                                <a:rPr lang="en-HK" i="1">
                                  <a:solidFill>
                                    <a:srgbClr val="000000"/>
                                  </a:solidFill>
                                  <a:latin typeface="Cambria Math" panose="02040503050406030204" pitchFamily="18" charset="0"/>
                                </a:rPr>
                              </m:ctrlPr>
                            </m:dPr>
                            <m:e>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𝐴</m:t>
                                  </m:r>
                                </m:num>
                                <m:den>
                                  <m:sSup>
                                    <m:sSupPr>
                                      <m:ctrlPr>
                                        <a:rPr lang="en-HK" i="1">
                                          <a:solidFill>
                                            <a:srgbClr val="000000"/>
                                          </a:solidFill>
                                          <a:latin typeface="Cambria Math" panose="02040503050406030204" pitchFamily="18" charset="0"/>
                                        </a:rPr>
                                      </m:ctrlPr>
                                    </m:sSupPr>
                                    <m:e>
                                      <m:r>
                                        <a:rPr lang="en-HK" i="1">
                                          <a:solidFill>
                                            <a:srgbClr val="000000"/>
                                          </a:solidFill>
                                          <a:latin typeface="Cambria Math" panose="02040503050406030204" pitchFamily="18" charset="0"/>
                                        </a:rPr>
                                        <m:t>𝑉</m:t>
                                      </m:r>
                                    </m:e>
                                    <m:sup>
                                      <m:r>
                                        <a:rPr lang="en-HK" i="1">
                                          <a:solidFill>
                                            <a:srgbClr val="000000"/>
                                          </a:solidFill>
                                          <a:latin typeface="Cambria Math" panose="02040503050406030204" pitchFamily="18" charset="0"/>
                                        </a:rPr>
                                        <m:t>2</m:t>
                                      </m:r>
                                    </m:sup>
                                  </m:sSup>
                                </m:den>
                              </m:f>
                            </m:e>
                          </m:d>
                        </m:e>
                      </m:d>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𝑉</m:t>
                      </m:r>
                      <m:r>
                        <a:rPr lang="en-HK" i="1">
                          <a:solidFill>
                            <a:srgbClr val="000000"/>
                          </a:solidFill>
                          <a:latin typeface="Cambria Math" panose="02040503050406030204" pitchFamily="18" charset="0"/>
                        </a:rPr>
                        <m:t>−</m:t>
                      </m:r>
                      <m:r>
                        <a:rPr lang="en-HK" i="1">
                          <a:solidFill>
                            <a:srgbClr val="000000"/>
                          </a:solidFill>
                          <a:latin typeface="Cambria Math" panose="02040503050406030204" pitchFamily="18" charset="0"/>
                        </a:rPr>
                        <m:t>𝑏</m:t>
                      </m:r>
                      <m:r>
                        <a:rPr lang="en-HK" i="1">
                          <a:solidFill>
                            <a:srgbClr val="000000"/>
                          </a:solidFill>
                          <a:latin typeface="Cambria Math" panose="02040503050406030204" pitchFamily="18" charset="0"/>
                        </a:rPr>
                        <m:t>)=</m:t>
                      </m:r>
                      <m:r>
                        <a:rPr lang="en-HK" b="0" i="1" smtClean="0">
                          <a:solidFill>
                            <a:srgbClr val="000000"/>
                          </a:solidFill>
                          <a:latin typeface="Cambria Math" panose="02040503050406030204" pitchFamily="18" charset="0"/>
                        </a:rPr>
                        <m:t>𝑁</m:t>
                      </m:r>
                      <m:r>
                        <a:rPr lang="en-HK" i="1">
                          <a:solidFill>
                            <a:srgbClr val="000000"/>
                          </a:solidFill>
                          <a:latin typeface="Cambria Math" panose="02040503050406030204" pitchFamily="18" charset="0"/>
                        </a:rPr>
                        <m:t>𝑅𝑇</m:t>
                      </m:r>
                    </m:oMath>
                  </m:oMathPara>
                </a14:m>
                <a:endParaRPr lang="en-HK" dirty="0"/>
              </a:p>
            </p:txBody>
          </p:sp>
        </mc:Choice>
        <mc:Fallback xmlns="">
          <p:sp>
            <p:nvSpPr>
              <p:cNvPr id="2050" name="Object 3">
                <a:extLst>
                  <a:ext uri="{FF2B5EF4-FFF2-40B4-BE49-F238E27FC236}">
                    <a16:creationId xmlns:a16="http://schemas.microsoft.com/office/drawing/2014/main" id="{7ED15A28-6A40-9AA6-16C3-2C24BBDED875}"/>
                  </a:ext>
                </a:extLst>
              </p:cNvPr>
              <p:cNvSpPr txBox="1">
                <a:spLocks noRot="1" noChangeAspect="1" noMove="1" noResize="1" noEditPoints="1" noAdjustHandles="1" noChangeArrowheads="1" noChangeShapeType="1" noTextEdit="1"/>
              </p:cNvSpPr>
              <p:nvPr/>
            </p:nvSpPr>
            <p:spPr bwMode="auto">
              <a:xfrm>
                <a:off x="2514600" y="1752600"/>
                <a:ext cx="3352800" cy="981075"/>
              </a:xfrm>
              <a:prstGeom prst="rect">
                <a:avLst/>
              </a:prstGeom>
              <a:blipFill>
                <a:blip r:embed="rId2"/>
                <a:stretch>
                  <a:fillRect/>
                </a:stretch>
              </a:blipFill>
              <a:ln>
                <a:noFill/>
              </a:ln>
              <a:effectLst/>
            </p:spPr>
            <p:txBody>
              <a:bodyPr/>
              <a:lstStyle/>
              <a:p>
                <a:r>
                  <a:rPr lang="en-HK">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a:extLst>
              <a:ext uri="{FF2B5EF4-FFF2-40B4-BE49-F238E27FC236}">
                <a16:creationId xmlns:a16="http://schemas.microsoft.com/office/drawing/2014/main" id="{C7D4DBC4-6832-3A1D-9A9F-C46D3987ED3D}"/>
              </a:ext>
            </a:extLst>
          </p:cNvPr>
          <p:cNvSpPr>
            <a:spLocks noChangeArrowheads="1"/>
          </p:cNvSpPr>
          <p:nvPr/>
        </p:nvSpPr>
        <p:spPr bwMode="auto">
          <a:xfrm>
            <a:off x="762000" y="463769"/>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dirty="0">
                <a:latin typeface="Times New Roman" panose="02020603050405020304" pitchFamily="18" charset="0"/>
                <a:ea typeface="新細明體" panose="02020500000000000000" pitchFamily="18" charset="-120"/>
              </a:rPr>
              <a:t>Maxwell-Boltzmann </a:t>
            </a:r>
            <a:br>
              <a:rPr lang="en-US" altLang="zh-TW" sz="3600" dirty="0">
                <a:latin typeface="Times New Roman" panose="02020603050405020304" pitchFamily="18" charset="0"/>
                <a:ea typeface="新細明體" panose="02020500000000000000" pitchFamily="18" charset="-120"/>
              </a:rPr>
            </a:br>
            <a:r>
              <a:rPr lang="en-US" altLang="zh-TW" sz="3600" dirty="0">
                <a:latin typeface="Times New Roman" panose="02020603050405020304" pitchFamily="18" charset="0"/>
                <a:ea typeface="新細明體" panose="02020500000000000000" pitchFamily="18" charset="-120"/>
              </a:rPr>
              <a:t>velocity distribution of gases</a:t>
            </a:r>
          </a:p>
        </p:txBody>
      </p:sp>
      <p:sp>
        <p:nvSpPr>
          <p:cNvPr id="3078" name="Text Box 3">
            <a:extLst>
              <a:ext uri="{FF2B5EF4-FFF2-40B4-BE49-F238E27FC236}">
                <a16:creationId xmlns:a16="http://schemas.microsoft.com/office/drawing/2014/main" id="{8CCA81AA-E016-4A52-6C0B-BDA60027BC84}"/>
              </a:ext>
            </a:extLst>
          </p:cNvPr>
          <p:cNvSpPr txBox="1">
            <a:spLocks noChangeArrowheads="1"/>
          </p:cNvSpPr>
          <p:nvPr/>
        </p:nvSpPr>
        <p:spPr bwMode="auto">
          <a:xfrm>
            <a:off x="533400" y="1752600"/>
            <a:ext cx="77724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400">
                <a:latin typeface="Times New Roman" panose="02020603050405020304" pitchFamily="18" charset="0"/>
                <a:ea typeface="新細明體" panose="02020500000000000000" pitchFamily="18" charset="-120"/>
                <a:cs typeface="Arial" panose="020B0604020202020204" pitchFamily="34" charset="0"/>
              </a:rPr>
              <a:t>I. Probability density function of distribution of gas velocity</a:t>
            </a:r>
            <a:r>
              <a:rPr lang="en-US" altLang="zh-TW" sz="2800" b="1" i="1">
                <a:latin typeface="Times New Roman" panose="02020603050405020304" pitchFamily="18" charset="0"/>
                <a:ea typeface="新細明體" panose="02020500000000000000" pitchFamily="18" charset="-120"/>
                <a:cs typeface="Arial" panose="020B0604020202020204" pitchFamily="34" charset="0"/>
              </a:rPr>
              <a:t>                              </a:t>
            </a:r>
            <a:endParaRPr lang="en-US" altLang="zh-TW" sz="2000" b="1" i="1">
              <a:latin typeface="Times New Roman" panose="02020603050405020304" pitchFamily="18" charset="0"/>
              <a:ea typeface="新細明體" panose="02020500000000000000" pitchFamily="18" charset="-120"/>
              <a:cs typeface="Arial" panose="020B0604020202020204" pitchFamily="34" charset="0"/>
            </a:endParaRPr>
          </a:p>
        </p:txBody>
      </p:sp>
      <p:sp>
        <p:nvSpPr>
          <p:cNvPr id="3079" name="Rectangle 4">
            <a:extLst>
              <a:ext uri="{FF2B5EF4-FFF2-40B4-BE49-F238E27FC236}">
                <a16:creationId xmlns:a16="http://schemas.microsoft.com/office/drawing/2014/main" id="{AAE0B677-9BFF-FEB2-F167-777AD8774630}"/>
              </a:ext>
            </a:extLst>
          </p:cNvPr>
          <p:cNvSpPr>
            <a:spLocks noChangeArrowheads="1"/>
          </p:cNvSpPr>
          <p:nvPr/>
        </p:nvSpPr>
        <p:spPr bwMode="auto">
          <a:xfrm>
            <a:off x="1066800" y="2590800"/>
            <a:ext cx="6629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TW" altLang="en-US" sz="2400" b="1">
              <a:latin typeface="Times New Roman" panose="02020603050405020304" pitchFamily="18" charset="0"/>
              <a:ea typeface="新細明體" panose="02020500000000000000" pitchFamily="18" charset="-120"/>
              <a:cs typeface="Arial" panose="020B0604020202020204" pitchFamily="34" charset="0"/>
            </a:endParaRPr>
          </a:p>
        </p:txBody>
      </p:sp>
      <p:graphicFrame>
        <p:nvGraphicFramePr>
          <p:cNvPr id="3074" name="Object 5">
            <a:extLst>
              <a:ext uri="{FF2B5EF4-FFF2-40B4-BE49-F238E27FC236}">
                <a16:creationId xmlns:a16="http://schemas.microsoft.com/office/drawing/2014/main" id="{406246E3-B20A-A63E-85AF-D6BD1BF5A77D}"/>
              </a:ext>
            </a:extLst>
          </p:cNvPr>
          <p:cNvGraphicFramePr>
            <a:graphicFrameLocks noChangeAspect="1"/>
          </p:cNvGraphicFramePr>
          <p:nvPr/>
        </p:nvGraphicFramePr>
        <p:xfrm>
          <a:off x="1133475" y="2362200"/>
          <a:ext cx="3414713" cy="687388"/>
        </p:xfrm>
        <a:graphic>
          <a:graphicData uri="http://schemas.openxmlformats.org/presentationml/2006/ole">
            <mc:AlternateContent xmlns:mc="http://schemas.openxmlformats.org/markup-compatibility/2006">
              <mc:Choice xmlns:v="urn:schemas-microsoft-com:vml" Requires="v">
                <p:oleObj r:id="rId2" imgW="1955800" imgH="431800" progId="Equation.3">
                  <p:embed/>
                </p:oleObj>
              </mc:Choice>
              <mc:Fallback>
                <p:oleObj r:id="rId2" imgW="1955800" imgH="431800" progId="Equation.3">
                  <p:embed/>
                  <p:pic>
                    <p:nvPicPr>
                      <p:cNvPr id="3074" name="Object 5">
                        <a:extLst>
                          <a:ext uri="{FF2B5EF4-FFF2-40B4-BE49-F238E27FC236}">
                            <a16:creationId xmlns:a16="http://schemas.microsoft.com/office/drawing/2014/main" id="{406246E3-B20A-A63E-85AF-D6BD1BF5A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475" y="2362200"/>
                        <a:ext cx="3414713"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Object 6">
            <a:extLst>
              <a:ext uri="{FF2B5EF4-FFF2-40B4-BE49-F238E27FC236}">
                <a16:creationId xmlns:a16="http://schemas.microsoft.com/office/drawing/2014/main" id="{11478833-0D9A-C015-9EF1-D64772698196}"/>
              </a:ext>
            </a:extLst>
          </p:cNvPr>
          <p:cNvGraphicFramePr>
            <a:graphicFrameLocks noChangeAspect="1"/>
          </p:cNvGraphicFramePr>
          <p:nvPr/>
        </p:nvGraphicFramePr>
        <p:xfrm>
          <a:off x="1133475" y="3124200"/>
          <a:ext cx="3971925" cy="701675"/>
        </p:xfrm>
        <a:graphic>
          <a:graphicData uri="http://schemas.openxmlformats.org/presentationml/2006/ole">
            <mc:AlternateContent xmlns:mc="http://schemas.openxmlformats.org/markup-compatibility/2006">
              <mc:Choice xmlns:v="urn:schemas-microsoft-com:vml" Requires="v">
                <p:oleObj r:id="rId4" imgW="2171700" imgH="419100" progId="Equation.3">
                  <p:embed/>
                </p:oleObj>
              </mc:Choice>
              <mc:Fallback>
                <p:oleObj r:id="rId4" imgW="2171700" imgH="419100" progId="Equation.3">
                  <p:embed/>
                  <p:pic>
                    <p:nvPicPr>
                      <p:cNvPr id="3075" name="Object 6">
                        <a:extLst>
                          <a:ext uri="{FF2B5EF4-FFF2-40B4-BE49-F238E27FC236}">
                            <a16:creationId xmlns:a16="http://schemas.microsoft.com/office/drawing/2014/main" id="{11478833-0D9A-C015-9EF1-D647726981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3475" y="3124200"/>
                        <a:ext cx="3971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0" name="Rectangle 7">
            <a:extLst>
              <a:ext uri="{FF2B5EF4-FFF2-40B4-BE49-F238E27FC236}">
                <a16:creationId xmlns:a16="http://schemas.microsoft.com/office/drawing/2014/main" id="{2CCAAFAE-8FB6-24FF-FAC9-944374320D20}"/>
              </a:ext>
            </a:extLst>
          </p:cNvPr>
          <p:cNvSpPr>
            <a:spLocks noChangeArrowheads="1"/>
          </p:cNvSpPr>
          <p:nvPr/>
        </p:nvSpPr>
        <p:spPr bwMode="auto">
          <a:xfrm>
            <a:off x="5334000" y="2514600"/>
            <a:ext cx="27527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in one direction</a:t>
            </a:r>
          </a:p>
          <a:p>
            <a:pPr eaLnBrk="1" hangingPunct="1"/>
            <a:endParaRPr lang="en-US" altLang="zh-TW" sz="2400" i="1">
              <a:latin typeface="Times New Roman" panose="02020603050405020304" pitchFamily="18" charset="0"/>
              <a:ea typeface="新細明體" panose="02020500000000000000" pitchFamily="18" charset="-120"/>
              <a:cs typeface="Arial" panose="020B0604020202020204" pitchFamily="34" charset="0"/>
            </a:endParaRPr>
          </a:p>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in 3 directions</a:t>
            </a:r>
          </a:p>
        </p:txBody>
      </p:sp>
      <p:sp>
        <p:nvSpPr>
          <p:cNvPr id="3081" name="Text Box 8">
            <a:extLst>
              <a:ext uri="{FF2B5EF4-FFF2-40B4-BE49-F238E27FC236}">
                <a16:creationId xmlns:a16="http://schemas.microsoft.com/office/drawing/2014/main" id="{426F06E9-0325-A86C-DB3B-25777EEBF760}"/>
              </a:ext>
            </a:extLst>
          </p:cNvPr>
          <p:cNvSpPr txBox="1">
            <a:spLocks noChangeArrowheads="1"/>
          </p:cNvSpPr>
          <p:nvPr/>
        </p:nvSpPr>
        <p:spPr bwMode="auto">
          <a:xfrm>
            <a:off x="533400" y="3733800"/>
            <a:ext cx="84582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5613" indent="-4000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400">
                <a:latin typeface="Times New Roman" panose="02020603050405020304" pitchFamily="18" charset="0"/>
                <a:ea typeface="新細明體" panose="02020500000000000000" pitchFamily="18" charset="-120"/>
                <a:cs typeface="Arial" panose="020B0604020202020204" pitchFamily="34" charset="0"/>
              </a:rPr>
              <a:t>II. Probability that a particle having a speed between </a:t>
            </a:r>
            <a:r>
              <a:rPr lang="en-US" altLang="zh-TW" sz="2400" i="1">
                <a:latin typeface="Symbol" panose="05050102010706020507" pitchFamily="18" charset="2"/>
                <a:ea typeface="新細明體" panose="02020500000000000000" pitchFamily="18" charset="-120"/>
                <a:cs typeface="Arial" panose="020B0604020202020204" pitchFamily="34" charset="0"/>
              </a:rPr>
              <a:t>n</a:t>
            </a:r>
            <a:r>
              <a:rPr lang="en-US" altLang="zh-TW" sz="2400">
                <a:latin typeface="Times New Roman" panose="02020603050405020304" pitchFamily="18" charset="0"/>
                <a:ea typeface="新細明體" panose="02020500000000000000" pitchFamily="18" charset="-120"/>
                <a:cs typeface="Arial" panose="020B0604020202020204" pitchFamily="34" charset="0"/>
              </a:rPr>
              <a:t>  and </a:t>
            </a:r>
            <a:r>
              <a:rPr lang="en-US" altLang="zh-TW" sz="2400" i="1">
                <a:latin typeface="Symbol" panose="05050102010706020507" pitchFamily="18" charset="2"/>
                <a:ea typeface="新細明體" panose="02020500000000000000" pitchFamily="18" charset="-120"/>
                <a:cs typeface="Arial" panose="020B0604020202020204" pitchFamily="34" charset="0"/>
              </a:rPr>
              <a:t>n + </a:t>
            </a:r>
            <a:r>
              <a:rPr lang="en-US" altLang="zh-TW" sz="2400" i="1">
                <a:latin typeface="Times New Roman" panose="02020603050405020304" pitchFamily="18" charset="0"/>
                <a:ea typeface="新細明體" panose="02020500000000000000" pitchFamily="18" charset="-120"/>
                <a:cs typeface="Arial" panose="020B0604020202020204" pitchFamily="34" charset="0"/>
              </a:rPr>
              <a:t>d</a:t>
            </a:r>
            <a:r>
              <a:rPr lang="en-US" altLang="zh-TW" sz="2400" i="1">
                <a:latin typeface="Symbol" panose="05050102010706020507" pitchFamily="18" charset="2"/>
                <a:ea typeface="新細明體" panose="02020500000000000000" pitchFamily="18" charset="-120"/>
                <a:cs typeface="Arial" panose="020B0604020202020204" pitchFamily="34" charset="0"/>
              </a:rPr>
              <a:t>n</a:t>
            </a:r>
            <a:r>
              <a:rPr lang="en-US" altLang="zh-TW" sz="2800" b="1" i="1">
                <a:latin typeface="Times New Roman" panose="02020603050405020304" pitchFamily="18" charset="0"/>
                <a:ea typeface="新細明體" panose="02020500000000000000" pitchFamily="18" charset="-120"/>
                <a:cs typeface="Arial" panose="020B0604020202020204" pitchFamily="34" charset="0"/>
              </a:rPr>
              <a:t>                              </a:t>
            </a:r>
          </a:p>
        </p:txBody>
      </p:sp>
      <p:sp>
        <p:nvSpPr>
          <p:cNvPr id="3082" name="Rectangle 9">
            <a:extLst>
              <a:ext uri="{FF2B5EF4-FFF2-40B4-BE49-F238E27FC236}">
                <a16:creationId xmlns:a16="http://schemas.microsoft.com/office/drawing/2014/main" id="{376AD2B6-50D0-9A29-6445-ABF711B731A7}"/>
              </a:ext>
            </a:extLst>
          </p:cNvPr>
          <p:cNvSpPr>
            <a:spLocks noChangeArrowheads="1"/>
          </p:cNvSpPr>
          <p:nvPr/>
        </p:nvSpPr>
        <p:spPr bwMode="auto">
          <a:xfrm>
            <a:off x="1066800" y="4343400"/>
            <a:ext cx="7543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TW" altLang="en-US" sz="2400" b="1" u="sng">
              <a:latin typeface="Times New Roman" panose="02020603050405020304" pitchFamily="18" charset="0"/>
              <a:ea typeface="新細明體" panose="02020500000000000000" pitchFamily="18" charset="-120"/>
              <a:cs typeface="Arial" panose="020B0604020202020204" pitchFamily="34" charset="0"/>
            </a:endParaRPr>
          </a:p>
        </p:txBody>
      </p:sp>
      <p:graphicFrame>
        <p:nvGraphicFramePr>
          <p:cNvPr id="3076" name="Object 10">
            <a:extLst>
              <a:ext uri="{FF2B5EF4-FFF2-40B4-BE49-F238E27FC236}">
                <a16:creationId xmlns:a16="http://schemas.microsoft.com/office/drawing/2014/main" id="{F3017181-015A-89A5-53AD-A09DDA0DC1E7}"/>
              </a:ext>
            </a:extLst>
          </p:cNvPr>
          <p:cNvGraphicFramePr>
            <a:graphicFrameLocks noChangeAspect="1"/>
          </p:cNvGraphicFramePr>
          <p:nvPr/>
        </p:nvGraphicFramePr>
        <p:xfrm>
          <a:off x="1219200" y="4419600"/>
          <a:ext cx="5410200" cy="700088"/>
        </p:xfrm>
        <a:graphic>
          <a:graphicData uri="http://schemas.openxmlformats.org/presentationml/2006/ole">
            <mc:AlternateContent xmlns:mc="http://schemas.openxmlformats.org/markup-compatibility/2006">
              <mc:Choice xmlns:v="urn:schemas-microsoft-com:vml" Requires="v">
                <p:oleObj r:id="rId6" imgW="3238500" imgH="419100" progId="Equation.3">
                  <p:embed/>
                </p:oleObj>
              </mc:Choice>
              <mc:Fallback>
                <p:oleObj r:id="rId6" imgW="3238500" imgH="419100" progId="Equation.3">
                  <p:embed/>
                  <p:pic>
                    <p:nvPicPr>
                      <p:cNvPr id="3076" name="Object 10">
                        <a:extLst>
                          <a:ext uri="{FF2B5EF4-FFF2-40B4-BE49-F238E27FC236}">
                            <a16:creationId xmlns:a16="http://schemas.microsoft.com/office/drawing/2014/main" id="{F3017181-015A-89A5-53AD-A09DDA0DC1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4419600"/>
                        <a:ext cx="541020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3" name="Text Box 11">
            <a:extLst>
              <a:ext uri="{FF2B5EF4-FFF2-40B4-BE49-F238E27FC236}">
                <a16:creationId xmlns:a16="http://schemas.microsoft.com/office/drawing/2014/main" id="{794FE8B6-8070-0B08-9292-50FA6C6FBC6D}"/>
              </a:ext>
            </a:extLst>
          </p:cNvPr>
          <p:cNvSpPr txBox="1">
            <a:spLocks noChangeArrowheads="1"/>
          </p:cNvSpPr>
          <p:nvPr/>
        </p:nvSpPr>
        <p:spPr bwMode="auto">
          <a:xfrm>
            <a:off x="1143000" y="5486400"/>
            <a:ext cx="678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000">
                <a:latin typeface="Times New Roman" panose="02020603050405020304" pitchFamily="18" charset="0"/>
                <a:ea typeface="新細明體" panose="02020500000000000000" pitchFamily="18" charset="-120"/>
                <a:cs typeface="Arial" panose="020B0604020202020204" pitchFamily="34" charset="0"/>
              </a:rPr>
              <a:t>where f(v) is also the fraction of the number molecules having a speed  between v and v+dv</a:t>
            </a:r>
            <a:r>
              <a:rPr lang="en-US" altLang="zh-TW">
                <a:latin typeface="Times New Roman" panose="02020603050405020304" pitchFamily="18" charset="0"/>
                <a:ea typeface="新細明體" panose="02020500000000000000" pitchFamily="18" charset="-120"/>
                <a:cs typeface="Arial" panose="020B0604020202020204" pitchFamily="34" charset="0"/>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a:extLst>
              <a:ext uri="{FF2B5EF4-FFF2-40B4-BE49-F238E27FC236}">
                <a16:creationId xmlns:a16="http://schemas.microsoft.com/office/drawing/2014/main" id="{0683DF4F-D45B-E69F-939F-F0F7B6B5C344}"/>
              </a:ext>
            </a:extLst>
          </p:cNvPr>
          <p:cNvSpPr txBox="1">
            <a:spLocks noChangeArrowheads="1"/>
          </p:cNvSpPr>
          <p:nvPr/>
        </p:nvSpPr>
        <p:spPr bwMode="auto">
          <a:xfrm>
            <a:off x="609600" y="685800"/>
            <a:ext cx="78565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Derive the most probable velocity V</a:t>
            </a:r>
            <a:r>
              <a:rPr lang="en-US" altLang="zh-TW" sz="2400" i="1" baseline="-25000">
                <a:latin typeface="Times New Roman" panose="02020603050405020304" pitchFamily="18" charset="0"/>
                <a:ea typeface="新細明體" panose="02020500000000000000" pitchFamily="18" charset="-120"/>
                <a:cs typeface="Arial" panose="020B0604020202020204" pitchFamily="34" charset="0"/>
              </a:rPr>
              <a:t>p </a:t>
            </a:r>
            <a:r>
              <a:rPr lang="en-US" altLang="zh-TW" sz="2400" i="1">
                <a:latin typeface="Times New Roman" panose="02020603050405020304" pitchFamily="18" charset="0"/>
                <a:ea typeface="新細明體" panose="02020500000000000000" pitchFamily="18" charset="-120"/>
                <a:cs typeface="Arial" panose="020B0604020202020204" pitchFamily="34" charset="0"/>
              </a:rPr>
              <a:t>, the average velocity, V</a:t>
            </a:r>
            <a:r>
              <a:rPr lang="en-US" altLang="zh-TW" sz="2400" i="1" baseline="-25000">
                <a:latin typeface="Times New Roman" panose="02020603050405020304" pitchFamily="18" charset="0"/>
                <a:ea typeface="新細明體" panose="02020500000000000000" pitchFamily="18" charset="-120"/>
                <a:cs typeface="Arial" panose="020B0604020202020204" pitchFamily="34" charset="0"/>
              </a:rPr>
              <a:t>av</a:t>
            </a:r>
            <a:endParaRPr lang="en-US" altLang="zh-TW" sz="2400" i="1">
              <a:latin typeface="Times New Roman" panose="02020603050405020304" pitchFamily="18" charset="0"/>
              <a:ea typeface="新細明體" panose="02020500000000000000" pitchFamily="18" charset="-120"/>
              <a:cs typeface="Arial" panose="020B0604020202020204" pitchFamily="34" charset="0"/>
            </a:endParaRPr>
          </a:p>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and the root-mean-square velocity, V</a:t>
            </a:r>
            <a:r>
              <a:rPr lang="en-US" altLang="zh-TW" sz="2400" i="1" baseline="-25000">
                <a:latin typeface="Times New Roman" panose="02020603050405020304" pitchFamily="18" charset="0"/>
                <a:ea typeface="新細明體" panose="02020500000000000000" pitchFamily="18" charset="-120"/>
                <a:cs typeface="Arial" panose="020B0604020202020204" pitchFamily="34" charset="0"/>
              </a:rPr>
              <a:t>r </a:t>
            </a:r>
            <a:r>
              <a:rPr lang="en-US" altLang="zh-TW" sz="2400" i="1">
                <a:latin typeface="Times New Roman" panose="02020603050405020304" pitchFamily="18" charset="0"/>
                <a:ea typeface="新細明體" panose="02020500000000000000" pitchFamily="18" charset="-120"/>
                <a:cs typeface="Arial" panose="020B0604020202020204" pitchFamily="34" charset="0"/>
              </a:rPr>
              <a:t>.</a:t>
            </a:r>
          </a:p>
        </p:txBody>
      </p:sp>
      <p:grpSp>
        <p:nvGrpSpPr>
          <p:cNvPr id="26627" name="Group 6">
            <a:extLst>
              <a:ext uri="{FF2B5EF4-FFF2-40B4-BE49-F238E27FC236}">
                <a16:creationId xmlns:a16="http://schemas.microsoft.com/office/drawing/2014/main" id="{58E7523F-88F5-47E5-837D-57B2760E26E5}"/>
              </a:ext>
            </a:extLst>
          </p:cNvPr>
          <p:cNvGrpSpPr>
            <a:grpSpLocks/>
          </p:cNvGrpSpPr>
          <p:nvPr/>
        </p:nvGrpSpPr>
        <p:grpSpPr bwMode="auto">
          <a:xfrm>
            <a:off x="838200" y="1524000"/>
            <a:ext cx="7696200" cy="5078413"/>
            <a:chOff x="528" y="960"/>
            <a:chExt cx="4848" cy="3199"/>
          </a:xfrm>
        </p:grpSpPr>
        <p:pic>
          <p:nvPicPr>
            <p:cNvPr id="26628" name="Picture 2" descr="VelocityDist">
              <a:extLst>
                <a:ext uri="{FF2B5EF4-FFF2-40B4-BE49-F238E27FC236}">
                  <a16:creationId xmlns:a16="http://schemas.microsoft.com/office/drawing/2014/main" id="{1776DDC2-6992-E9DE-776A-A4B187F01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960"/>
              <a:ext cx="4848" cy="3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Rectangle 4">
              <a:extLst>
                <a:ext uri="{FF2B5EF4-FFF2-40B4-BE49-F238E27FC236}">
                  <a16:creationId xmlns:a16="http://schemas.microsoft.com/office/drawing/2014/main" id="{0904F666-614C-8439-2468-E98ED842277C}"/>
                </a:ext>
              </a:extLst>
            </p:cNvPr>
            <p:cNvSpPr>
              <a:spLocks noChangeArrowheads="1"/>
            </p:cNvSpPr>
            <p:nvPr/>
          </p:nvSpPr>
          <p:spPr bwMode="auto">
            <a:xfrm>
              <a:off x="880" y="3929"/>
              <a:ext cx="425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6630" name="Text Box 5">
              <a:extLst>
                <a:ext uri="{FF2B5EF4-FFF2-40B4-BE49-F238E27FC236}">
                  <a16:creationId xmlns:a16="http://schemas.microsoft.com/office/drawing/2014/main" id="{2A36A535-7549-C79B-AD47-93D60CEF7903}"/>
                </a:ext>
              </a:extLst>
            </p:cNvPr>
            <p:cNvSpPr txBox="1">
              <a:spLocks noChangeArrowheads="1"/>
            </p:cNvSpPr>
            <p:nvPr/>
          </p:nvSpPr>
          <p:spPr bwMode="auto">
            <a:xfrm rot="10800000">
              <a:off x="929" y="2160"/>
              <a:ext cx="289" cy="3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F</a:t>
              </a:r>
              <a:r>
                <a:rPr lang="en-US" altLang="zh-CN" baseline="-25000"/>
                <a:t>v</a:t>
              </a:r>
              <a:endParaRPr lang="en-US" altLang="zh-CN"/>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60" name="Object 4">
            <a:extLst>
              <a:ext uri="{FF2B5EF4-FFF2-40B4-BE49-F238E27FC236}">
                <a16:creationId xmlns:a16="http://schemas.microsoft.com/office/drawing/2014/main" id="{9A95DF82-5B6E-388B-FF87-AA3F19B8EC1B}"/>
              </a:ext>
            </a:extLst>
          </p:cNvPr>
          <p:cNvGraphicFramePr>
            <a:graphicFrameLocks noChangeAspect="1"/>
          </p:cNvGraphicFramePr>
          <p:nvPr>
            <p:extLst>
              <p:ext uri="{D42A27DB-BD31-4B8C-83A1-F6EECF244321}">
                <p14:modId xmlns:p14="http://schemas.microsoft.com/office/powerpoint/2010/main" val="1337242241"/>
              </p:ext>
            </p:extLst>
          </p:nvPr>
        </p:nvGraphicFramePr>
        <p:xfrm>
          <a:off x="1936750" y="1660525"/>
          <a:ext cx="4910138" cy="99377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5060" name="Object 4">
                        <a:extLst>
                          <a:ext uri="{FF2B5EF4-FFF2-40B4-BE49-F238E27FC236}">
                            <a16:creationId xmlns:a16="http://schemas.microsoft.com/office/drawing/2014/main" id="{9A95DF82-5B6E-388B-FF87-AA3F19B8E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0" y="1660525"/>
                        <a:ext cx="4910138"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1" name="Object 5">
            <a:extLst>
              <a:ext uri="{FF2B5EF4-FFF2-40B4-BE49-F238E27FC236}">
                <a16:creationId xmlns:a16="http://schemas.microsoft.com/office/drawing/2014/main" id="{6D354ADC-5DBF-0D5D-3597-C3F7E6EBD58E}"/>
              </a:ext>
            </a:extLst>
          </p:cNvPr>
          <p:cNvGraphicFramePr>
            <a:graphicFrameLocks noChangeAspect="1"/>
          </p:cNvGraphicFramePr>
          <p:nvPr>
            <p:extLst>
              <p:ext uri="{D42A27DB-BD31-4B8C-83A1-F6EECF244321}">
                <p14:modId xmlns:p14="http://schemas.microsoft.com/office/powerpoint/2010/main" val="3998927532"/>
              </p:ext>
            </p:extLst>
          </p:nvPr>
        </p:nvGraphicFramePr>
        <p:xfrm>
          <a:off x="2155825" y="5626100"/>
          <a:ext cx="4446588" cy="1003300"/>
        </p:xfrm>
        <a:graphic>
          <a:graphicData uri="http://schemas.openxmlformats.org/presentationml/2006/ole">
            <mc:AlternateContent xmlns:mc="http://schemas.openxmlformats.org/markup-compatibility/2006">
              <mc:Choice xmlns:v="urn:schemas-microsoft-com:vml" Requires="v">
                <p:oleObj name="Equation" r:id="rId4" imgW="1968480" imgH="444240" progId="Equation.DSMT4">
                  <p:embed/>
                </p:oleObj>
              </mc:Choice>
              <mc:Fallback>
                <p:oleObj name="Equation" r:id="rId4" imgW="1968480" imgH="444240" progId="Equation.DSMT4">
                  <p:embed/>
                  <p:pic>
                    <p:nvPicPr>
                      <p:cNvPr id="45061" name="Object 5">
                        <a:extLst>
                          <a:ext uri="{FF2B5EF4-FFF2-40B4-BE49-F238E27FC236}">
                            <a16:creationId xmlns:a16="http://schemas.microsoft.com/office/drawing/2014/main" id="{6D354ADC-5DBF-0D5D-3597-C3F7E6EBD5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5825" y="5626100"/>
                        <a:ext cx="4446588"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2" name="Object 6">
            <a:extLst>
              <a:ext uri="{FF2B5EF4-FFF2-40B4-BE49-F238E27FC236}">
                <a16:creationId xmlns:a16="http://schemas.microsoft.com/office/drawing/2014/main" id="{AC5B952A-7CA7-325F-A2F6-02EE2F6A4CAE}"/>
              </a:ext>
            </a:extLst>
          </p:cNvPr>
          <p:cNvGraphicFramePr>
            <a:graphicFrameLocks noChangeAspect="1"/>
          </p:cNvGraphicFramePr>
          <p:nvPr>
            <p:extLst>
              <p:ext uri="{D42A27DB-BD31-4B8C-83A1-F6EECF244321}">
                <p14:modId xmlns:p14="http://schemas.microsoft.com/office/powerpoint/2010/main" val="2299171568"/>
              </p:ext>
            </p:extLst>
          </p:nvPr>
        </p:nvGraphicFramePr>
        <p:xfrm>
          <a:off x="2225675" y="3532188"/>
          <a:ext cx="3759200" cy="1019175"/>
        </p:xfrm>
        <a:graphic>
          <a:graphicData uri="http://schemas.openxmlformats.org/presentationml/2006/ole">
            <mc:AlternateContent xmlns:mc="http://schemas.openxmlformats.org/markup-compatibility/2006">
              <mc:Choice xmlns:v="urn:schemas-microsoft-com:vml" Requires="v">
                <p:oleObj name="Equation" r:id="rId6" imgW="1638000" imgH="444240" progId="Equation.DSMT4">
                  <p:embed/>
                </p:oleObj>
              </mc:Choice>
              <mc:Fallback>
                <p:oleObj name="Equation" r:id="rId6" imgW="1638000" imgH="444240" progId="Equation.DSMT4">
                  <p:embed/>
                  <p:pic>
                    <p:nvPicPr>
                      <p:cNvPr id="45062" name="Object 6">
                        <a:extLst>
                          <a:ext uri="{FF2B5EF4-FFF2-40B4-BE49-F238E27FC236}">
                            <a16:creationId xmlns:a16="http://schemas.microsoft.com/office/drawing/2014/main" id="{AC5B952A-7CA7-325F-A2F6-02EE2F6A4C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5675" y="3532188"/>
                        <a:ext cx="3759200"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3" name="Text Box 7">
            <a:extLst>
              <a:ext uri="{FF2B5EF4-FFF2-40B4-BE49-F238E27FC236}">
                <a16:creationId xmlns:a16="http://schemas.microsoft.com/office/drawing/2014/main" id="{2280C74A-4D17-B91F-458D-2098A0E343EF}"/>
              </a:ext>
            </a:extLst>
          </p:cNvPr>
          <p:cNvSpPr txBox="1">
            <a:spLocks noChangeArrowheads="1"/>
          </p:cNvSpPr>
          <p:nvPr/>
        </p:nvSpPr>
        <p:spPr bwMode="auto">
          <a:xfrm>
            <a:off x="682625" y="868363"/>
            <a:ext cx="80660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cs typeface="Times New Roman" panose="02020603050405020304" pitchFamily="18" charset="0"/>
              </a:rPr>
              <a:t>The </a:t>
            </a:r>
            <a:r>
              <a:rPr lang="en-US" altLang="zh-CN" sz="2000" b="1">
                <a:latin typeface="Times New Roman" panose="02020603050405020304" pitchFamily="18" charset="0"/>
                <a:cs typeface="Times New Roman" panose="02020603050405020304" pitchFamily="18" charset="0"/>
              </a:rPr>
              <a:t>most probable velocity</a:t>
            </a:r>
            <a:r>
              <a:rPr lang="en-US" altLang="zh-CN" sz="2000">
                <a:latin typeface="Times New Roman" panose="02020603050405020304" pitchFamily="18" charset="0"/>
                <a:cs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rPr>
              <a:t>v</a:t>
            </a:r>
            <a:r>
              <a:rPr lang="en-US" altLang="zh-CN" sz="2000" i="1" baseline="-25000">
                <a:latin typeface="Times New Roman" panose="02020603050405020304" pitchFamily="18" charset="0"/>
                <a:cs typeface="Times New Roman" panose="02020603050405020304" pitchFamily="18" charset="0"/>
              </a:rPr>
              <a:t>p</a:t>
            </a:r>
            <a:r>
              <a:rPr lang="en-US" altLang="zh-CN" sz="2000">
                <a:latin typeface="Times New Roman" panose="02020603050405020304" pitchFamily="18" charset="0"/>
                <a:cs typeface="Times New Roman" panose="02020603050405020304" pitchFamily="18" charset="0"/>
              </a:rPr>
              <a:t>, is the speed most likely to be possessed by any molecule in the system and corresponds to the maximum value of </a:t>
            </a:r>
            <a:r>
              <a:rPr lang="en-US" altLang="zh-CN" sz="2000" i="1">
                <a:latin typeface="Times New Roman" panose="02020603050405020304" pitchFamily="18" charset="0"/>
                <a:cs typeface="Times New Roman" panose="02020603050405020304" pitchFamily="18" charset="0"/>
              </a:rPr>
              <a:t>F</a:t>
            </a:r>
            <a:r>
              <a:rPr lang="en-US" altLang="zh-CN" sz="2000">
                <a:latin typeface="Times New Roman" panose="02020603050405020304" pitchFamily="18" charset="0"/>
                <a:cs typeface="Times New Roman" panose="02020603050405020304" pitchFamily="18" charset="0"/>
              </a:rPr>
              <a:t>(</a:t>
            </a:r>
            <a:r>
              <a:rPr lang="en-US" altLang="zh-CN" sz="2000" i="1">
                <a:latin typeface="Times New Roman" panose="02020603050405020304" pitchFamily="18" charset="0"/>
                <a:cs typeface="Times New Roman" panose="02020603050405020304" pitchFamily="18" charset="0"/>
              </a:rPr>
              <a:t>v</a:t>
            </a:r>
            <a:r>
              <a:rPr lang="en-US" altLang="zh-CN" sz="2000">
                <a:latin typeface="Times New Roman" panose="02020603050405020304" pitchFamily="18" charset="0"/>
                <a:cs typeface="Times New Roman" panose="02020603050405020304" pitchFamily="18" charset="0"/>
              </a:rPr>
              <a:t>) </a:t>
            </a:r>
          </a:p>
        </p:txBody>
      </p:sp>
      <p:sp>
        <p:nvSpPr>
          <p:cNvPr id="45064" name="Text Box 8">
            <a:extLst>
              <a:ext uri="{FF2B5EF4-FFF2-40B4-BE49-F238E27FC236}">
                <a16:creationId xmlns:a16="http://schemas.microsoft.com/office/drawing/2014/main" id="{08C753FA-1FF8-E3EF-ECB0-9B8A9CB24387}"/>
              </a:ext>
            </a:extLst>
          </p:cNvPr>
          <p:cNvSpPr txBox="1">
            <a:spLocks noChangeArrowheads="1"/>
          </p:cNvSpPr>
          <p:nvPr/>
        </p:nvSpPr>
        <p:spPr bwMode="auto">
          <a:xfrm>
            <a:off x="684213" y="2919413"/>
            <a:ext cx="7596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cs typeface="Times New Roman" panose="02020603050405020304" pitchFamily="18" charset="0"/>
              </a:rPr>
              <a:t>The </a:t>
            </a:r>
            <a:r>
              <a:rPr lang="en-US" altLang="zh-CN" sz="2000" b="1">
                <a:latin typeface="Times New Roman" panose="02020603050405020304" pitchFamily="18" charset="0"/>
                <a:cs typeface="Times New Roman" panose="02020603050405020304" pitchFamily="18" charset="0"/>
              </a:rPr>
              <a:t>mean velocity</a:t>
            </a:r>
            <a:r>
              <a:rPr lang="en-US" altLang="zh-CN" sz="2000">
                <a:latin typeface="Times New Roman" panose="02020603050405020304" pitchFamily="18" charset="0"/>
                <a:cs typeface="Times New Roman" panose="02020603050405020304" pitchFamily="18" charset="0"/>
              </a:rPr>
              <a:t> is the mathematical average of the speed distribution</a:t>
            </a:r>
            <a:r>
              <a:rPr lang="en-US" altLang="zh-CN"/>
              <a:t> </a:t>
            </a:r>
          </a:p>
        </p:txBody>
      </p:sp>
      <p:sp>
        <p:nvSpPr>
          <p:cNvPr id="45065" name="Text Box 9">
            <a:extLst>
              <a:ext uri="{FF2B5EF4-FFF2-40B4-BE49-F238E27FC236}">
                <a16:creationId xmlns:a16="http://schemas.microsoft.com/office/drawing/2014/main" id="{F979473F-1A3D-830E-2C09-F1FBCCF48FB3}"/>
              </a:ext>
            </a:extLst>
          </p:cNvPr>
          <p:cNvSpPr txBox="1">
            <a:spLocks noChangeArrowheads="1"/>
          </p:cNvSpPr>
          <p:nvPr/>
        </p:nvSpPr>
        <p:spPr bwMode="auto">
          <a:xfrm>
            <a:off x="684213" y="4719638"/>
            <a:ext cx="77041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cs typeface="Times New Roman" panose="02020603050405020304" pitchFamily="18" charset="0"/>
              </a:rPr>
              <a:t>The </a:t>
            </a:r>
            <a:r>
              <a:rPr lang="en-US" altLang="zh-CN" sz="2000" b="1">
                <a:latin typeface="Times New Roman" panose="02020603050405020304" pitchFamily="18" charset="0"/>
                <a:cs typeface="Times New Roman" panose="02020603050405020304" pitchFamily="18" charset="0"/>
              </a:rPr>
              <a:t>root mean square velocity</a:t>
            </a:r>
            <a:r>
              <a:rPr lang="en-US" altLang="zh-CN" sz="2000">
                <a:latin typeface="Times New Roman" panose="02020603050405020304" pitchFamily="18" charset="0"/>
                <a:cs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rPr>
              <a:t>v</a:t>
            </a:r>
            <a:r>
              <a:rPr lang="en-US" altLang="zh-CN" sz="2000">
                <a:latin typeface="Times New Roman" panose="02020603050405020304" pitchFamily="18" charset="0"/>
                <a:cs typeface="Times New Roman" panose="02020603050405020304" pitchFamily="18" charset="0"/>
              </a:rPr>
              <a:t>rms is the square root of the average squared velocity</a:t>
            </a:r>
            <a:r>
              <a:rPr lang="en-US" altLang="zh-CN"/>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50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06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5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p:bldP spid="45064" grpId="0"/>
      <p:bldP spid="4506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DF80B6E7-EBC0-CA1A-3E84-CCCE895CA051}"/>
              </a:ext>
            </a:extLst>
          </p:cNvPr>
          <p:cNvSpPr>
            <a:spLocks noChangeArrowheads="1"/>
          </p:cNvSpPr>
          <p:nvPr/>
        </p:nvSpPr>
        <p:spPr bwMode="auto">
          <a:xfrm>
            <a:off x="2025650" y="635000"/>
            <a:ext cx="5715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3600">
                <a:latin typeface="Times New Roman" panose="02020603050405020304" pitchFamily="18" charset="0"/>
                <a:ea typeface="新細明體" panose="02020500000000000000" pitchFamily="18" charset="-120"/>
                <a:cs typeface="Arial" panose="020B0604020202020204" pitchFamily="34" charset="0"/>
              </a:rPr>
              <a:t>Molecular incident rate </a:t>
            </a:r>
          </a:p>
        </p:txBody>
      </p:sp>
      <p:sp>
        <p:nvSpPr>
          <p:cNvPr id="5124" name="Text Box 3">
            <a:extLst>
              <a:ext uri="{FF2B5EF4-FFF2-40B4-BE49-F238E27FC236}">
                <a16:creationId xmlns:a16="http://schemas.microsoft.com/office/drawing/2014/main" id="{EF26830F-BE13-9534-D32C-50C8A0B86DDC}"/>
              </a:ext>
            </a:extLst>
          </p:cNvPr>
          <p:cNvSpPr txBox="1">
            <a:spLocks noChangeArrowheads="1"/>
          </p:cNvSpPr>
          <p:nvPr/>
        </p:nvSpPr>
        <p:spPr bwMode="auto">
          <a:xfrm>
            <a:off x="762000" y="1441450"/>
            <a:ext cx="7635875"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Recall: n = number density = no. of molecules/unit volume</a:t>
            </a:r>
          </a:p>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            n</a:t>
            </a:r>
            <a:r>
              <a:rPr lang="en-US" altLang="zh-TW" sz="2400" i="1" baseline="-25000">
                <a:latin typeface="Times New Roman" panose="02020603050405020304" pitchFamily="18" charset="0"/>
                <a:ea typeface="新細明體" panose="02020500000000000000" pitchFamily="18" charset="-120"/>
                <a:cs typeface="Arial" panose="020B0604020202020204" pitchFamily="34" charset="0"/>
              </a:rPr>
              <a:t>x</a:t>
            </a:r>
            <a:r>
              <a:rPr lang="en-US" altLang="zh-TW" sz="2400" i="1">
                <a:latin typeface="Times New Roman" panose="02020603050405020304" pitchFamily="18" charset="0"/>
                <a:ea typeface="新細明體" panose="02020500000000000000" pitchFamily="18" charset="-120"/>
                <a:cs typeface="Arial" panose="020B0604020202020204" pitchFamily="34" charset="0"/>
              </a:rPr>
              <a:t> = no. of molecules/unit volume in x-direction</a:t>
            </a:r>
          </a:p>
          <a:p>
            <a:pPr eaLnBrk="1" hangingPunct="1"/>
            <a:endParaRPr lang="en-US" altLang="zh-TW" i="1">
              <a:latin typeface="Times New Roman" panose="02020603050405020304" pitchFamily="18" charset="0"/>
              <a:ea typeface="新細明體" panose="02020500000000000000" pitchFamily="18" charset="-120"/>
              <a:cs typeface="Arial" panose="020B0604020202020204" pitchFamily="34" charset="0"/>
            </a:endParaRPr>
          </a:p>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Therefore, no. of molecules striking the surface per unit area per unit time is:</a:t>
            </a:r>
          </a:p>
        </p:txBody>
      </p:sp>
      <p:grpSp>
        <p:nvGrpSpPr>
          <p:cNvPr id="2" name="Group 44">
            <a:extLst>
              <a:ext uri="{FF2B5EF4-FFF2-40B4-BE49-F238E27FC236}">
                <a16:creationId xmlns:a16="http://schemas.microsoft.com/office/drawing/2014/main" id="{D7FE5221-4D90-2CB9-DB6B-6E8CB3207BB6}"/>
              </a:ext>
            </a:extLst>
          </p:cNvPr>
          <p:cNvGrpSpPr>
            <a:grpSpLocks/>
          </p:cNvGrpSpPr>
          <p:nvPr/>
        </p:nvGrpSpPr>
        <p:grpSpPr bwMode="auto">
          <a:xfrm>
            <a:off x="2987675" y="3343275"/>
            <a:ext cx="4298950" cy="771525"/>
            <a:chOff x="1968" y="1852"/>
            <a:chExt cx="2708" cy="486"/>
          </a:xfrm>
        </p:grpSpPr>
        <p:graphicFrame>
          <p:nvGraphicFramePr>
            <p:cNvPr id="5122" name="Object 4">
              <a:extLst>
                <a:ext uri="{FF2B5EF4-FFF2-40B4-BE49-F238E27FC236}">
                  <a16:creationId xmlns:a16="http://schemas.microsoft.com/office/drawing/2014/main" id="{1133DCDF-56E5-BE0C-7C2B-18D04FF508C2}"/>
                </a:ext>
              </a:extLst>
            </p:cNvPr>
            <p:cNvGraphicFramePr>
              <a:graphicFrameLocks noChangeAspect="1"/>
            </p:cNvGraphicFramePr>
            <p:nvPr/>
          </p:nvGraphicFramePr>
          <p:xfrm>
            <a:off x="1968" y="1852"/>
            <a:ext cx="1152" cy="486"/>
          </p:xfrm>
          <a:graphic>
            <a:graphicData uri="http://schemas.openxmlformats.org/presentationml/2006/ole">
              <mc:AlternateContent xmlns:mc="http://schemas.openxmlformats.org/markup-compatibility/2006">
                <mc:Choice xmlns:v="urn:schemas-microsoft-com:vml" Requires="v">
                  <p:oleObj r:id="rId2" imgW="787400" imgH="330200" progId="Equation.3">
                    <p:embed/>
                  </p:oleObj>
                </mc:Choice>
                <mc:Fallback>
                  <p:oleObj r:id="rId2" imgW="787400" imgH="330200" progId="Equation.3">
                    <p:embed/>
                    <p:pic>
                      <p:nvPicPr>
                        <p:cNvPr id="5122" name="Object 4">
                          <a:extLst>
                            <a:ext uri="{FF2B5EF4-FFF2-40B4-BE49-F238E27FC236}">
                              <a16:creationId xmlns:a16="http://schemas.microsoft.com/office/drawing/2014/main" id="{1133DCDF-56E5-BE0C-7C2B-18D04FF50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1852"/>
                          <a:ext cx="1152" cy="48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65" name="Text Box 5">
              <a:extLst>
                <a:ext uri="{FF2B5EF4-FFF2-40B4-BE49-F238E27FC236}">
                  <a16:creationId xmlns:a16="http://schemas.microsoft.com/office/drawing/2014/main" id="{34C261A1-22AF-28E1-027E-B1DB6CBDC387}"/>
                </a:ext>
              </a:extLst>
            </p:cNvPr>
            <p:cNvSpPr txBox="1">
              <a:spLocks noChangeArrowheads="1"/>
            </p:cNvSpPr>
            <p:nvPr/>
          </p:nvSpPr>
          <p:spPr bwMode="auto">
            <a:xfrm>
              <a:off x="3312" y="1996"/>
              <a:ext cx="1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TW" altLang="en-US" sz="2000">
                  <a:latin typeface="Times New Roman" panose="02020603050405020304" pitchFamily="18" charset="0"/>
                  <a:ea typeface="新細明體" panose="02020500000000000000" pitchFamily="18" charset="-120"/>
                  <a:cs typeface="Arial" panose="020B0604020202020204" pitchFamily="34" charset="0"/>
                </a:rPr>
                <a:t>[</a:t>
              </a:r>
              <a:r>
                <a:rPr lang="en-US" altLang="zh-TW" sz="2000">
                  <a:latin typeface="Times New Roman" panose="02020603050405020304" pitchFamily="18" charset="0"/>
                  <a:ea typeface="新細明體" panose="02020500000000000000" pitchFamily="18" charset="-120"/>
                  <a:cs typeface="Arial" panose="020B0604020202020204" pitchFamily="34" charset="0"/>
                </a:rPr>
                <a:t>molecules/cm</a:t>
              </a:r>
              <a:r>
                <a:rPr lang="en-US" altLang="zh-TW" sz="2000" baseline="30000">
                  <a:latin typeface="Times New Roman" panose="02020603050405020304" pitchFamily="18" charset="0"/>
                  <a:ea typeface="新細明體" panose="02020500000000000000" pitchFamily="18" charset="-120"/>
                  <a:cs typeface="Arial" panose="020B0604020202020204" pitchFamily="34" charset="0"/>
                </a:rPr>
                <a:t>2</a:t>
              </a:r>
              <a:r>
                <a:rPr lang="en-US" altLang="zh-TW" sz="2000">
                  <a:latin typeface="Times New Roman" panose="02020603050405020304" pitchFamily="18" charset="0"/>
                  <a:ea typeface="新細明體" panose="02020500000000000000" pitchFamily="18" charset="-120"/>
                  <a:cs typeface="Arial" panose="020B0604020202020204" pitchFamily="34" charset="0"/>
                </a:rPr>
                <a:t>sec]</a:t>
              </a:r>
            </a:p>
          </p:txBody>
        </p:sp>
      </p:grpSp>
      <p:grpSp>
        <p:nvGrpSpPr>
          <p:cNvPr id="5126" name="Group 45">
            <a:extLst>
              <a:ext uri="{FF2B5EF4-FFF2-40B4-BE49-F238E27FC236}">
                <a16:creationId xmlns:a16="http://schemas.microsoft.com/office/drawing/2014/main" id="{D51B807C-DF72-495D-F25B-916DAE7F9116}"/>
              </a:ext>
            </a:extLst>
          </p:cNvPr>
          <p:cNvGrpSpPr>
            <a:grpSpLocks/>
          </p:cNvGrpSpPr>
          <p:nvPr/>
        </p:nvGrpSpPr>
        <p:grpSpPr bwMode="auto">
          <a:xfrm>
            <a:off x="1712913" y="4025900"/>
            <a:ext cx="5954712" cy="3003550"/>
            <a:chOff x="1008" y="2380"/>
            <a:chExt cx="3751" cy="1892"/>
          </a:xfrm>
        </p:grpSpPr>
        <p:sp>
          <p:nvSpPr>
            <p:cNvPr id="5127" name="AutoShape 6">
              <a:extLst>
                <a:ext uri="{FF2B5EF4-FFF2-40B4-BE49-F238E27FC236}">
                  <a16:creationId xmlns:a16="http://schemas.microsoft.com/office/drawing/2014/main" id="{5FA76B95-D4CB-2367-D5A6-E70C74E17551}"/>
                </a:ext>
              </a:extLst>
            </p:cNvPr>
            <p:cNvSpPr>
              <a:spLocks noChangeAspect="1" noChangeArrowheads="1" noTextEdit="1"/>
            </p:cNvSpPr>
            <p:nvPr/>
          </p:nvSpPr>
          <p:spPr bwMode="auto">
            <a:xfrm>
              <a:off x="1728" y="2860"/>
              <a:ext cx="3031"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HK"/>
            </a:p>
          </p:txBody>
        </p:sp>
        <p:sp>
          <p:nvSpPr>
            <p:cNvPr id="5128" name="Freeform 7">
              <a:extLst>
                <a:ext uri="{FF2B5EF4-FFF2-40B4-BE49-F238E27FC236}">
                  <a16:creationId xmlns:a16="http://schemas.microsoft.com/office/drawing/2014/main" id="{3844633E-5658-265F-B420-AA88ECF5116C}"/>
                </a:ext>
              </a:extLst>
            </p:cNvPr>
            <p:cNvSpPr>
              <a:spLocks/>
            </p:cNvSpPr>
            <p:nvPr/>
          </p:nvSpPr>
          <p:spPr bwMode="auto">
            <a:xfrm>
              <a:off x="3840" y="2380"/>
              <a:ext cx="384" cy="1392"/>
            </a:xfrm>
            <a:custGeom>
              <a:avLst/>
              <a:gdLst>
                <a:gd name="T0" fmla="*/ 0 w 384"/>
                <a:gd name="T1" fmla="*/ 297 h 1392"/>
                <a:gd name="T2" fmla="*/ 384 w 384"/>
                <a:gd name="T3" fmla="*/ 0 h 1392"/>
                <a:gd name="T4" fmla="*/ 384 w 384"/>
                <a:gd name="T5" fmla="*/ 1095 h 1392"/>
                <a:gd name="T6" fmla="*/ 0 w 384"/>
                <a:gd name="T7" fmla="*/ 1392 h 1392"/>
                <a:gd name="T8" fmla="*/ 0 w 384"/>
                <a:gd name="T9" fmla="*/ 297 h 1392"/>
                <a:gd name="T10" fmla="*/ 0 60000 65536"/>
                <a:gd name="T11" fmla="*/ 0 60000 65536"/>
                <a:gd name="T12" fmla="*/ 0 60000 65536"/>
                <a:gd name="T13" fmla="*/ 0 60000 65536"/>
                <a:gd name="T14" fmla="*/ 0 60000 65536"/>
                <a:gd name="T15" fmla="*/ 0 w 384"/>
                <a:gd name="T16" fmla="*/ 0 h 1392"/>
                <a:gd name="T17" fmla="*/ 384 w 384"/>
                <a:gd name="T18" fmla="*/ 1392 h 1392"/>
              </a:gdLst>
              <a:ahLst/>
              <a:cxnLst>
                <a:cxn ang="T10">
                  <a:pos x="T0" y="T1"/>
                </a:cxn>
                <a:cxn ang="T11">
                  <a:pos x="T2" y="T3"/>
                </a:cxn>
                <a:cxn ang="T12">
                  <a:pos x="T4" y="T5"/>
                </a:cxn>
                <a:cxn ang="T13">
                  <a:pos x="T6" y="T7"/>
                </a:cxn>
                <a:cxn ang="T14">
                  <a:pos x="T8" y="T9"/>
                </a:cxn>
              </a:cxnLst>
              <a:rect l="T15" t="T16" r="T17" b="T18"/>
              <a:pathLst>
                <a:path w="384" h="1392">
                  <a:moveTo>
                    <a:pt x="0" y="297"/>
                  </a:moveTo>
                  <a:lnTo>
                    <a:pt x="384" y="0"/>
                  </a:lnTo>
                  <a:lnTo>
                    <a:pt x="384" y="1095"/>
                  </a:lnTo>
                  <a:lnTo>
                    <a:pt x="0" y="1392"/>
                  </a:lnTo>
                  <a:lnTo>
                    <a:pt x="0" y="29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29" name="Freeform 8">
              <a:extLst>
                <a:ext uri="{FF2B5EF4-FFF2-40B4-BE49-F238E27FC236}">
                  <a16:creationId xmlns:a16="http://schemas.microsoft.com/office/drawing/2014/main" id="{8604AF3A-199D-CDF5-89F4-588343EF73F0}"/>
                </a:ext>
              </a:extLst>
            </p:cNvPr>
            <p:cNvSpPr>
              <a:spLocks/>
            </p:cNvSpPr>
            <p:nvPr/>
          </p:nvSpPr>
          <p:spPr bwMode="auto">
            <a:xfrm>
              <a:off x="1958" y="3409"/>
              <a:ext cx="107" cy="107"/>
            </a:xfrm>
            <a:custGeom>
              <a:avLst/>
              <a:gdLst>
                <a:gd name="T0" fmla="*/ 54 w 107"/>
                <a:gd name="T1" fmla="*/ 0 h 107"/>
                <a:gd name="T2" fmla="*/ 63 w 107"/>
                <a:gd name="T3" fmla="*/ 2 h 107"/>
                <a:gd name="T4" fmla="*/ 75 w 107"/>
                <a:gd name="T5" fmla="*/ 6 h 107"/>
                <a:gd name="T6" fmla="*/ 82 w 107"/>
                <a:gd name="T7" fmla="*/ 9 h 107"/>
                <a:gd name="T8" fmla="*/ 92 w 107"/>
                <a:gd name="T9" fmla="*/ 17 h 107"/>
                <a:gd name="T10" fmla="*/ 98 w 107"/>
                <a:gd name="T11" fmla="*/ 25 h 107"/>
                <a:gd name="T12" fmla="*/ 103 w 107"/>
                <a:gd name="T13" fmla="*/ 32 h 107"/>
                <a:gd name="T14" fmla="*/ 105 w 107"/>
                <a:gd name="T15" fmla="*/ 44 h 107"/>
                <a:gd name="T16" fmla="*/ 107 w 107"/>
                <a:gd name="T17" fmla="*/ 54 h 107"/>
                <a:gd name="T18" fmla="*/ 105 w 107"/>
                <a:gd name="T19" fmla="*/ 65 h 107"/>
                <a:gd name="T20" fmla="*/ 103 w 107"/>
                <a:gd name="T21" fmla="*/ 75 h 107"/>
                <a:gd name="T22" fmla="*/ 98 w 107"/>
                <a:gd name="T23" fmla="*/ 84 h 107"/>
                <a:gd name="T24" fmla="*/ 92 w 107"/>
                <a:gd name="T25" fmla="*/ 92 h 107"/>
                <a:gd name="T26" fmla="*/ 82 w 107"/>
                <a:gd name="T27" fmla="*/ 100 h 107"/>
                <a:gd name="T28" fmla="*/ 75 w 107"/>
                <a:gd name="T29" fmla="*/ 103 h 107"/>
                <a:gd name="T30" fmla="*/ 63 w 107"/>
                <a:gd name="T31" fmla="*/ 107 h 107"/>
                <a:gd name="T32" fmla="*/ 54 w 107"/>
                <a:gd name="T33" fmla="*/ 107 h 107"/>
                <a:gd name="T34" fmla="*/ 42 w 107"/>
                <a:gd name="T35" fmla="*/ 107 h 107"/>
                <a:gd name="T36" fmla="*/ 32 w 107"/>
                <a:gd name="T37" fmla="*/ 103 h 107"/>
                <a:gd name="T38" fmla="*/ 23 w 107"/>
                <a:gd name="T39" fmla="*/ 100 h 107"/>
                <a:gd name="T40" fmla="*/ 15 w 107"/>
                <a:gd name="T41" fmla="*/ 92 h 107"/>
                <a:gd name="T42" fmla="*/ 9 w 107"/>
                <a:gd name="T43" fmla="*/ 84 h 107"/>
                <a:gd name="T44" fmla="*/ 4 w 107"/>
                <a:gd name="T45" fmla="*/ 75 h 107"/>
                <a:gd name="T46" fmla="*/ 0 w 107"/>
                <a:gd name="T47" fmla="*/ 65 h 107"/>
                <a:gd name="T48" fmla="*/ 0 w 107"/>
                <a:gd name="T49" fmla="*/ 54 h 107"/>
                <a:gd name="T50" fmla="*/ 0 w 107"/>
                <a:gd name="T51" fmla="*/ 44 h 107"/>
                <a:gd name="T52" fmla="*/ 4 w 107"/>
                <a:gd name="T53" fmla="*/ 32 h 107"/>
                <a:gd name="T54" fmla="*/ 9 w 107"/>
                <a:gd name="T55" fmla="*/ 25 h 107"/>
                <a:gd name="T56" fmla="*/ 15 w 107"/>
                <a:gd name="T57" fmla="*/ 17 h 107"/>
                <a:gd name="T58" fmla="*/ 23 w 107"/>
                <a:gd name="T59" fmla="*/ 9 h 107"/>
                <a:gd name="T60" fmla="*/ 32 w 107"/>
                <a:gd name="T61" fmla="*/ 6 h 107"/>
                <a:gd name="T62" fmla="*/ 42 w 107"/>
                <a:gd name="T63" fmla="*/ 2 h 107"/>
                <a:gd name="T64" fmla="*/ 54 w 107"/>
                <a:gd name="T65" fmla="*/ 0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7"/>
                <a:gd name="T100" fmla="*/ 0 h 107"/>
                <a:gd name="T101" fmla="*/ 107 w 107"/>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7" h="107">
                  <a:moveTo>
                    <a:pt x="54" y="0"/>
                  </a:moveTo>
                  <a:lnTo>
                    <a:pt x="63" y="2"/>
                  </a:lnTo>
                  <a:lnTo>
                    <a:pt x="75" y="6"/>
                  </a:lnTo>
                  <a:lnTo>
                    <a:pt x="82" y="9"/>
                  </a:lnTo>
                  <a:lnTo>
                    <a:pt x="92" y="17"/>
                  </a:lnTo>
                  <a:lnTo>
                    <a:pt x="98" y="25"/>
                  </a:lnTo>
                  <a:lnTo>
                    <a:pt x="103" y="32"/>
                  </a:lnTo>
                  <a:lnTo>
                    <a:pt x="105" y="44"/>
                  </a:lnTo>
                  <a:lnTo>
                    <a:pt x="107" y="54"/>
                  </a:lnTo>
                  <a:lnTo>
                    <a:pt x="105" y="65"/>
                  </a:lnTo>
                  <a:lnTo>
                    <a:pt x="103" y="75"/>
                  </a:lnTo>
                  <a:lnTo>
                    <a:pt x="98" y="84"/>
                  </a:lnTo>
                  <a:lnTo>
                    <a:pt x="92" y="92"/>
                  </a:lnTo>
                  <a:lnTo>
                    <a:pt x="82" y="100"/>
                  </a:lnTo>
                  <a:lnTo>
                    <a:pt x="75" y="103"/>
                  </a:lnTo>
                  <a:lnTo>
                    <a:pt x="63" y="107"/>
                  </a:lnTo>
                  <a:lnTo>
                    <a:pt x="54" y="107"/>
                  </a:lnTo>
                  <a:lnTo>
                    <a:pt x="42" y="107"/>
                  </a:lnTo>
                  <a:lnTo>
                    <a:pt x="32" y="103"/>
                  </a:lnTo>
                  <a:lnTo>
                    <a:pt x="23" y="100"/>
                  </a:lnTo>
                  <a:lnTo>
                    <a:pt x="15" y="92"/>
                  </a:lnTo>
                  <a:lnTo>
                    <a:pt x="9" y="84"/>
                  </a:lnTo>
                  <a:lnTo>
                    <a:pt x="4" y="75"/>
                  </a:lnTo>
                  <a:lnTo>
                    <a:pt x="0" y="65"/>
                  </a:lnTo>
                  <a:lnTo>
                    <a:pt x="0" y="54"/>
                  </a:lnTo>
                  <a:lnTo>
                    <a:pt x="0" y="44"/>
                  </a:lnTo>
                  <a:lnTo>
                    <a:pt x="4" y="32"/>
                  </a:lnTo>
                  <a:lnTo>
                    <a:pt x="9" y="25"/>
                  </a:lnTo>
                  <a:lnTo>
                    <a:pt x="15" y="17"/>
                  </a:lnTo>
                  <a:lnTo>
                    <a:pt x="23" y="9"/>
                  </a:lnTo>
                  <a:lnTo>
                    <a:pt x="32" y="6"/>
                  </a:lnTo>
                  <a:lnTo>
                    <a:pt x="42" y="2"/>
                  </a:lnTo>
                  <a:lnTo>
                    <a:pt x="54"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0" name="Freeform 9">
              <a:extLst>
                <a:ext uri="{FF2B5EF4-FFF2-40B4-BE49-F238E27FC236}">
                  <a16:creationId xmlns:a16="http://schemas.microsoft.com/office/drawing/2014/main" id="{A36C4450-D4D2-8BE3-1838-92C626459FFA}"/>
                </a:ext>
              </a:extLst>
            </p:cNvPr>
            <p:cNvSpPr>
              <a:spLocks/>
            </p:cNvSpPr>
            <p:nvPr/>
          </p:nvSpPr>
          <p:spPr bwMode="auto">
            <a:xfrm>
              <a:off x="2012" y="3397"/>
              <a:ext cx="65" cy="66"/>
            </a:xfrm>
            <a:custGeom>
              <a:avLst/>
              <a:gdLst>
                <a:gd name="T0" fmla="*/ 65 w 65"/>
                <a:gd name="T1" fmla="*/ 66 h 66"/>
                <a:gd name="T2" fmla="*/ 63 w 65"/>
                <a:gd name="T3" fmla="*/ 54 h 66"/>
                <a:gd name="T4" fmla="*/ 59 w 65"/>
                <a:gd name="T5" fmla="*/ 41 h 66"/>
                <a:gd name="T6" fmla="*/ 53 w 65"/>
                <a:gd name="T7" fmla="*/ 29 h 66"/>
                <a:gd name="T8" fmla="*/ 46 w 65"/>
                <a:gd name="T9" fmla="*/ 20 h 66"/>
                <a:gd name="T10" fmla="*/ 36 w 65"/>
                <a:gd name="T11" fmla="*/ 12 h 66"/>
                <a:gd name="T12" fmla="*/ 24 w 65"/>
                <a:gd name="T13" fmla="*/ 6 h 66"/>
                <a:gd name="T14" fmla="*/ 13 w 65"/>
                <a:gd name="T15" fmla="*/ 2 h 66"/>
                <a:gd name="T16" fmla="*/ 0 w 65"/>
                <a:gd name="T17" fmla="*/ 0 h 66"/>
                <a:gd name="T18" fmla="*/ 0 w 65"/>
                <a:gd name="T19" fmla="*/ 23 h 66"/>
                <a:gd name="T20" fmla="*/ 7 w 65"/>
                <a:gd name="T21" fmla="*/ 25 h 66"/>
                <a:gd name="T22" fmla="*/ 15 w 65"/>
                <a:gd name="T23" fmla="*/ 27 h 66"/>
                <a:gd name="T24" fmla="*/ 23 w 65"/>
                <a:gd name="T25" fmla="*/ 31 h 66"/>
                <a:gd name="T26" fmla="*/ 28 w 65"/>
                <a:gd name="T27" fmla="*/ 37 h 66"/>
                <a:gd name="T28" fmla="*/ 34 w 65"/>
                <a:gd name="T29" fmla="*/ 43 h 66"/>
                <a:gd name="T30" fmla="*/ 38 w 65"/>
                <a:gd name="T31" fmla="*/ 50 h 66"/>
                <a:gd name="T32" fmla="*/ 40 w 65"/>
                <a:gd name="T33" fmla="*/ 58 h 66"/>
                <a:gd name="T34" fmla="*/ 42 w 65"/>
                <a:gd name="T35" fmla="*/ 66 h 66"/>
                <a:gd name="T36" fmla="*/ 65 w 65"/>
                <a:gd name="T37" fmla="*/ 6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6"/>
                <a:gd name="T59" fmla="*/ 65 w 65"/>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6">
                  <a:moveTo>
                    <a:pt x="65" y="66"/>
                  </a:moveTo>
                  <a:lnTo>
                    <a:pt x="63" y="54"/>
                  </a:lnTo>
                  <a:lnTo>
                    <a:pt x="59" y="41"/>
                  </a:lnTo>
                  <a:lnTo>
                    <a:pt x="53" y="29"/>
                  </a:lnTo>
                  <a:lnTo>
                    <a:pt x="46" y="20"/>
                  </a:lnTo>
                  <a:lnTo>
                    <a:pt x="36" y="12"/>
                  </a:lnTo>
                  <a:lnTo>
                    <a:pt x="24" y="6"/>
                  </a:lnTo>
                  <a:lnTo>
                    <a:pt x="13" y="2"/>
                  </a:lnTo>
                  <a:lnTo>
                    <a:pt x="0" y="0"/>
                  </a:lnTo>
                  <a:lnTo>
                    <a:pt x="0" y="23"/>
                  </a:lnTo>
                  <a:lnTo>
                    <a:pt x="7" y="25"/>
                  </a:lnTo>
                  <a:lnTo>
                    <a:pt x="15" y="27"/>
                  </a:lnTo>
                  <a:lnTo>
                    <a:pt x="23" y="31"/>
                  </a:lnTo>
                  <a:lnTo>
                    <a:pt x="28" y="37"/>
                  </a:lnTo>
                  <a:lnTo>
                    <a:pt x="34" y="43"/>
                  </a:lnTo>
                  <a:lnTo>
                    <a:pt x="38" y="50"/>
                  </a:lnTo>
                  <a:lnTo>
                    <a:pt x="40" y="58"/>
                  </a:lnTo>
                  <a:lnTo>
                    <a:pt x="42" y="66"/>
                  </a:lnTo>
                  <a:lnTo>
                    <a:pt x="65" y="66"/>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1" name="Freeform 10">
              <a:extLst>
                <a:ext uri="{FF2B5EF4-FFF2-40B4-BE49-F238E27FC236}">
                  <a16:creationId xmlns:a16="http://schemas.microsoft.com/office/drawing/2014/main" id="{F625BF6F-CE84-2B00-04C0-8176AF12B136}"/>
                </a:ext>
              </a:extLst>
            </p:cNvPr>
            <p:cNvSpPr>
              <a:spLocks/>
            </p:cNvSpPr>
            <p:nvPr/>
          </p:nvSpPr>
          <p:spPr bwMode="auto">
            <a:xfrm>
              <a:off x="2012" y="3463"/>
              <a:ext cx="65" cy="65"/>
            </a:xfrm>
            <a:custGeom>
              <a:avLst/>
              <a:gdLst>
                <a:gd name="T0" fmla="*/ 0 w 65"/>
                <a:gd name="T1" fmla="*/ 65 h 65"/>
                <a:gd name="T2" fmla="*/ 13 w 65"/>
                <a:gd name="T3" fmla="*/ 65 h 65"/>
                <a:gd name="T4" fmla="*/ 24 w 65"/>
                <a:gd name="T5" fmla="*/ 61 h 65"/>
                <a:gd name="T6" fmla="*/ 36 w 65"/>
                <a:gd name="T7" fmla="*/ 55 h 65"/>
                <a:gd name="T8" fmla="*/ 46 w 65"/>
                <a:gd name="T9" fmla="*/ 46 h 65"/>
                <a:gd name="T10" fmla="*/ 53 w 65"/>
                <a:gd name="T11" fmla="*/ 36 h 65"/>
                <a:gd name="T12" fmla="*/ 59 w 65"/>
                <a:gd name="T13" fmla="*/ 26 h 65"/>
                <a:gd name="T14" fmla="*/ 63 w 65"/>
                <a:gd name="T15" fmla="*/ 13 h 65"/>
                <a:gd name="T16" fmla="*/ 65 w 65"/>
                <a:gd name="T17" fmla="*/ 0 h 65"/>
                <a:gd name="T18" fmla="*/ 42 w 65"/>
                <a:gd name="T19" fmla="*/ 0 h 65"/>
                <a:gd name="T20" fmla="*/ 40 w 65"/>
                <a:gd name="T21" fmla="*/ 9 h 65"/>
                <a:gd name="T22" fmla="*/ 38 w 65"/>
                <a:gd name="T23" fmla="*/ 17 h 65"/>
                <a:gd name="T24" fmla="*/ 34 w 65"/>
                <a:gd name="T25" fmla="*/ 25 h 65"/>
                <a:gd name="T26" fmla="*/ 28 w 65"/>
                <a:gd name="T27" fmla="*/ 30 h 65"/>
                <a:gd name="T28" fmla="*/ 23 w 65"/>
                <a:gd name="T29" fmla="*/ 36 h 65"/>
                <a:gd name="T30" fmla="*/ 15 w 65"/>
                <a:gd name="T31" fmla="*/ 40 h 65"/>
                <a:gd name="T32" fmla="*/ 7 w 65"/>
                <a:gd name="T33" fmla="*/ 42 h 65"/>
                <a:gd name="T34" fmla="*/ 0 w 65"/>
                <a:gd name="T35" fmla="*/ 42 h 65"/>
                <a:gd name="T36" fmla="*/ 0 w 65"/>
                <a:gd name="T37" fmla="*/ 65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5"/>
                <a:gd name="T59" fmla="*/ 65 w 65"/>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5">
                  <a:moveTo>
                    <a:pt x="0" y="65"/>
                  </a:moveTo>
                  <a:lnTo>
                    <a:pt x="13" y="65"/>
                  </a:lnTo>
                  <a:lnTo>
                    <a:pt x="24" y="61"/>
                  </a:lnTo>
                  <a:lnTo>
                    <a:pt x="36" y="55"/>
                  </a:lnTo>
                  <a:lnTo>
                    <a:pt x="46" y="46"/>
                  </a:lnTo>
                  <a:lnTo>
                    <a:pt x="53" y="36"/>
                  </a:lnTo>
                  <a:lnTo>
                    <a:pt x="59" y="26"/>
                  </a:lnTo>
                  <a:lnTo>
                    <a:pt x="63" y="13"/>
                  </a:lnTo>
                  <a:lnTo>
                    <a:pt x="65" y="0"/>
                  </a:lnTo>
                  <a:lnTo>
                    <a:pt x="42" y="0"/>
                  </a:lnTo>
                  <a:lnTo>
                    <a:pt x="40" y="9"/>
                  </a:lnTo>
                  <a:lnTo>
                    <a:pt x="38" y="17"/>
                  </a:lnTo>
                  <a:lnTo>
                    <a:pt x="34" y="25"/>
                  </a:lnTo>
                  <a:lnTo>
                    <a:pt x="28" y="30"/>
                  </a:lnTo>
                  <a:lnTo>
                    <a:pt x="23" y="36"/>
                  </a:lnTo>
                  <a:lnTo>
                    <a:pt x="15" y="40"/>
                  </a:lnTo>
                  <a:lnTo>
                    <a:pt x="7" y="42"/>
                  </a:lnTo>
                  <a:lnTo>
                    <a:pt x="0" y="42"/>
                  </a:lnTo>
                  <a:lnTo>
                    <a:pt x="0" y="65"/>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2" name="Freeform 11">
              <a:extLst>
                <a:ext uri="{FF2B5EF4-FFF2-40B4-BE49-F238E27FC236}">
                  <a16:creationId xmlns:a16="http://schemas.microsoft.com/office/drawing/2014/main" id="{9F109424-493D-B098-23DB-0E025AE70FBF}"/>
                </a:ext>
              </a:extLst>
            </p:cNvPr>
            <p:cNvSpPr>
              <a:spLocks/>
            </p:cNvSpPr>
            <p:nvPr/>
          </p:nvSpPr>
          <p:spPr bwMode="auto">
            <a:xfrm>
              <a:off x="1946" y="3463"/>
              <a:ext cx="66" cy="65"/>
            </a:xfrm>
            <a:custGeom>
              <a:avLst/>
              <a:gdLst>
                <a:gd name="T0" fmla="*/ 0 w 66"/>
                <a:gd name="T1" fmla="*/ 0 h 65"/>
                <a:gd name="T2" fmla="*/ 0 w 66"/>
                <a:gd name="T3" fmla="*/ 13 h 65"/>
                <a:gd name="T4" fmla="*/ 4 w 66"/>
                <a:gd name="T5" fmla="*/ 26 h 65"/>
                <a:gd name="T6" fmla="*/ 12 w 66"/>
                <a:gd name="T7" fmla="*/ 36 h 65"/>
                <a:gd name="T8" fmla="*/ 19 w 66"/>
                <a:gd name="T9" fmla="*/ 46 h 65"/>
                <a:gd name="T10" fmla="*/ 29 w 66"/>
                <a:gd name="T11" fmla="*/ 55 h 65"/>
                <a:gd name="T12" fmla="*/ 41 w 66"/>
                <a:gd name="T13" fmla="*/ 61 h 65"/>
                <a:gd name="T14" fmla="*/ 52 w 66"/>
                <a:gd name="T15" fmla="*/ 65 h 65"/>
                <a:gd name="T16" fmla="*/ 66 w 66"/>
                <a:gd name="T17" fmla="*/ 65 h 65"/>
                <a:gd name="T18" fmla="*/ 66 w 66"/>
                <a:gd name="T19" fmla="*/ 42 h 65"/>
                <a:gd name="T20" fmla="*/ 56 w 66"/>
                <a:gd name="T21" fmla="*/ 42 h 65"/>
                <a:gd name="T22" fmla="*/ 48 w 66"/>
                <a:gd name="T23" fmla="*/ 40 h 65"/>
                <a:gd name="T24" fmla="*/ 41 w 66"/>
                <a:gd name="T25" fmla="*/ 36 h 65"/>
                <a:gd name="T26" fmla="*/ 35 w 66"/>
                <a:gd name="T27" fmla="*/ 30 h 65"/>
                <a:gd name="T28" fmla="*/ 29 w 66"/>
                <a:gd name="T29" fmla="*/ 25 h 65"/>
                <a:gd name="T30" fmla="*/ 25 w 66"/>
                <a:gd name="T31" fmla="*/ 17 h 65"/>
                <a:gd name="T32" fmla="*/ 23 w 66"/>
                <a:gd name="T33" fmla="*/ 9 h 65"/>
                <a:gd name="T34" fmla="*/ 23 w 66"/>
                <a:gd name="T35" fmla="*/ 0 h 65"/>
                <a:gd name="T36" fmla="*/ 0 w 66"/>
                <a:gd name="T37" fmla="*/ 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5"/>
                <a:gd name="T59" fmla="*/ 66 w 66"/>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5">
                  <a:moveTo>
                    <a:pt x="0" y="0"/>
                  </a:moveTo>
                  <a:lnTo>
                    <a:pt x="0" y="13"/>
                  </a:lnTo>
                  <a:lnTo>
                    <a:pt x="4" y="26"/>
                  </a:lnTo>
                  <a:lnTo>
                    <a:pt x="12" y="36"/>
                  </a:lnTo>
                  <a:lnTo>
                    <a:pt x="19" y="46"/>
                  </a:lnTo>
                  <a:lnTo>
                    <a:pt x="29" y="55"/>
                  </a:lnTo>
                  <a:lnTo>
                    <a:pt x="41" y="61"/>
                  </a:lnTo>
                  <a:lnTo>
                    <a:pt x="52" y="65"/>
                  </a:lnTo>
                  <a:lnTo>
                    <a:pt x="66" y="65"/>
                  </a:lnTo>
                  <a:lnTo>
                    <a:pt x="66" y="42"/>
                  </a:lnTo>
                  <a:lnTo>
                    <a:pt x="56" y="42"/>
                  </a:lnTo>
                  <a:lnTo>
                    <a:pt x="48" y="40"/>
                  </a:lnTo>
                  <a:lnTo>
                    <a:pt x="41" y="36"/>
                  </a:lnTo>
                  <a:lnTo>
                    <a:pt x="35" y="30"/>
                  </a:lnTo>
                  <a:lnTo>
                    <a:pt x="29" y="25"/>
                  </a:lnTo>
                  <a:lnTo>
                    <a:pt x="25" y="17"/>
                  </a:lnTo>
                  <a:lnTo>
                    <a:pt x="23" y="9"/>
                  </a:lnTo>
                  <a:lnTo>
                    <a:pt x="23" y="0"/>
                  </a:lnTo>
                  <a:lnTo>
                    <a:pt x="0"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3" name="Freeform 12">
              <a:extLst>
                <a:ext uri="{FF2B5EF4-FFF2-40B4-BE49-F238E27FC236}">
                  <a16:creationId xmlns:a16="http://schemas.microsoft.com/office/drawing/2014/main" id="{1BEF260A-4825-CAA6-88BA-A3C448C9D57D}"/>
                </a:ext>
              </a:extLst>
            </p:cNvPr>
            <p:cNvSpPr>
              <a:spLocks/>
            </p:cNvSpPr>
            <p:nvPr/>
          </p:nvSpPr>
          <p:spPr bwMode="auto">
            <a:xfrm>
              <a:off x="1946" y="3397"/>
              <a:ext cx="66" cy="66"/>
            </a:xfrm>
            <a:custGeom>
              <a:avLst/>
              <a:gdLst>
                <a:gd name="T0" fmla="*/ 66 w 66"/>
                <a:gd name="T1" fmla="*/ 0 h 66"/>
                <a:gd name="T2" fmla="*/ 52 w 66"/>
                <a:gd name="T3" fmla="*/ 2 h 66"/>
                <a:gd name="T4" fmla="*/ 41 w 66"/>
                <a:gd name="T5" fmla="*/ 6 h 66"/>
                <a:gd name="T6" fmla="*/ 29 w 66"/>
                <a:gd name="T7" fmla="*/ 12 h 66"/>
                <a:gd name="T8" fmla="*/ 19 w 66"/>
                <a:gd name="T9" fmla="*/ 20 h 66"/>
                <a:gd name="T10" fmla="*/ 12 w 66"/>
                <a:gd name="T11" fmla="*/ 29 h 66"/>
                <a:gd name="T12" fmla="*/ 4 w 66"/>
                <a:gd name="T13" fmla="*/ 41 h 66"/>
                <a:gd name="T14" fmla="*/ 0 w 66"/>
                <a:gd name="T15" fmla="*/ 54 h 66"/>
                <a:gd name="T16" fmla="*/ 0 w 66"/>
                <a:gd name="T17" fmla="*/ 66 h 66"/>
                <a:gd name="T18" fmla="*/ 23 w 66"/>
                <a:gd name="T19" fmla="*/ 66 h 66"/>
                <a:gd name="T20" fmla="*/ 23 w 66"/>
                <a:gd name="T21" fmla="*/ 58 h 66"/>
                <a:gd name="T22" fmla="*/ 25 w 66"/>
                <a:gd name="T23" fmla="*/ 50 h 66"/>
                <a:gd name="T24" fmla="*/ 29 w 66"/>
                <a:gd name="T25" fmla="*/ 43 h 66"/>
                <a:gd name="T26" fmla="*/ 35 w 66"/>
                <a:gd name="T27" fmla="*/ 37 h 66"/>
                <a:gd name="T28" fmla="*/ 41 w 66"/>
                <a:gd name="T29" fmla="*/ 31 h 66"/>
                <a:gd name="T30" fmla="*/ 48 w 66"/>
                <a:gd name="T31" fmla="*/ 27 h 66"/>
                <a:gd name="T32" fmla="*/ 56 w 66"/>
                <a:gd name="T33" fmla="*/ 25 h 66"/>
                <a:gd name="T34" fmla="*/ 66 w 66"/>
                <a:gd name="T35" fmla="*/ 23 h 66"/>
                <a:gd name="T36" fmla="*/ 66 w 6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6"/>
                <a:gd name="T59" fmla="*/ 66 w 6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6">
                  <a:moveTo>
                    <a:pt x="66" y="0"/>
                  </a:moveTo>
                  <a:lnTo>
                    <a:pt x="52" y="2"/>
                  </a:lnTo>
                  <a:lnTo>
                    <a:pt x="41" y="6"/>
                  </a:lnTo>
                  <a:lnTo>
                    <a:pt x="29" y="12"/>
                  </a:lnTo>
                  <a:lnTo>
                    <a:pt x="19" y="20"/>
                  </a:lnTo>
                  <a:lnTo>
                    <a:pt x="12" y="29"/>
                  </a:lnTo>
                  <a:lnTo>
                    <a:pt x="4" y="41"/>
                  </a:lnTo>
                  <a:lnTo>
                    <a:pt x="0" y="54"/>
                  </a:lnTo>
                  <a:lnTo>
                    <a:pt x="0" y="66"/>
                  </a:lnTo>
                  <a:lnTo>
                    <a:pt x="23" y="66"/>
                  </a:lnTo>
                  <a:lnTo>
                    <a:pt x="23" y="58"/>
                  </a:lnTo>
                  <a:lnTo>
                    <a:pt x="25" y="50"/>
                  </a:lnTo>
                  <a:lnTo>
                    <a:pt x="29" y="43"/>
                  </a:lnTo>
                  <a:lnTo>
                    <a:pt x="35" y="37"/>
                  </a:lnTo>
                  <a:lnTo>
                    <a:pt x="41" y="31"/>
                  </a:lnTo>
                  <a:lnTo>
                    <a:pt x="48" y="27"/>
                  </a:lnTo>
                  <a:lnTo>
                    <a:pt x="56" y="25"/>
                  </a:lnTo>
                  <a:lnTo>
                    <a:pt x="66" y="23"/>
                  </a:lnTo>
                  <a:lnTo>
                    <a:pt x="66"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4" name="Freeform 13">
              <a:extLst>
                <a:ext uri="{FF2B5EF4-FFF2-40B4-BE49-F238E27FC236}">
                  <a16:creationId xmlns:a16="http://schemas.microsoft.com/office/drawing/2014/main" id="{1E71BF9B-545B-3103-0A1F-58E02449B62D}"/>
                </a:ext>
              </a:extLst>
            </p:cNvPr>
            <p:cNvSpPr>
              <a:spLocks/>
            </p:cNvSpPr>
            <p:nvPr/>
          </p:nvSpPr>
          <p:spPr bwMode="auto">
            <a:xfrm>
              <a:off x="1019" y="2918"/>
              <a:ext cx="106" cy="107"/>
            </a:xfrm>
            <a:custGeom>
              <a:avLst/>
              <a:gdLst>
                <a:gd name="T0" fmla="*/ 52 w 106"/>
                <a:gd name="T1" fmla="*/ 0 h 107"/>
                <a:gd name="T2" fmla="*/ 63 w 106"/>
                <a:gd name="T3" fmla="*/ 0 h 107"/>
                <a:gd name="T4" fmla="*/ 73 w 106"/>
                <a:gd name="T5" fmla="*/ 4 h 107"/>
                <a:gd name="T6" fmla="*/ 83 w 106"/>
                <a:gd name="T7" fmla="*/ 9 h 107"/>
                <a:gd name="T8" fmla="*/ 90 w 106"/>
                <a:gd name="T9" fmla="*/ 15 h 107"/>
                <a:gd name="T10" fmla="*/ 98 w 106"/>
                <a:gd name="T11" fmla="*/ 23 h 107"/>
                <a:gd name="T12" fmla="*/ 102 w 106"/>
                <a:gd name="T13" fmla="*/ 32 h 107"/>
                <a:gd name="T14" fmla="*/ 106 w 106"/>
                <a:gd name="T15" fmla="*/ 42 h 107"/>
                <a:gd name="T16" fmla="*/ 106 w 106"/>
                <a:gd name="T17" fmla="*/ 53 h 107"/>
                <a:gd name="T18" fmla="*/ 106 w 106"/>
                <a:gd name="T19" fmla="*/ 65 h 107"/>
                <a:gd name="T20" fmla="*/ 102 w 106"/>
                <a:gd name="T21" fmla="*/ 75 h 107"/>
                <a:gd name="T22" fmla="*/ 98 w 106"/>
                <a:gd name="T23" fmla="*/ 84 h 107"/>
                <a:gd name="T24" fmla="*/ 90 w 106"/>
                <a:gd name="T25" fmla="*/ 92 h 107"/>
                <a:gd name="T26" fmla="*/ 83 w 106"/>
                <a:gd name="T27" fmla="*/ 98 h 107"/>
                <a:gd name="T28" fmla="*/ 73 w 106"/>
                <a:gd name="T29" fmla="*/ 103 h 107"/>
                <a:gd name="T30" fmla="*/ 63 w 106"/>
                <a:gd name="T31" fmla="*/ 105 h 107"/>
                <a:gd name="T32" fmla="*/ 52 w 106"/>
                <a:gd name="T33" fmla="*/ 107 h 107"/>
                <a:gd name="T34" fmla="*/ 42 w 106"/>
                <a:gd name="T35" fmla="*/ 105 h 107"/>
                <a:gd name="T36" fmla="*/ 33 w 106"/>
                <a:gd name="T37" fmla="*/ 103 h 107"/>
                <a:gd name="T38" fmla="*/ 23 w 106"/>
                <a:gd name="T39" fmla="*/ 98 h 107"/>
                <a:gd name="T40" fmla="*/ 15 w 106"/>
                <a:gd name="T41" fmla="*/ 92 h 107"/>
                <a:gd name="T42" fmla="*/ 8 w 106"/>
                <a:gd name="T43" fmla="*/ 84 h 107"/>
                <a:gd name="T44" fmla="*/ 4 w 106"/>
                <a:gd name="T45" fmla="*/ 75 h 107"/>
                <a:gd name="T46" fmla="*/ 0 w 106"/>
                <a:gd name="T47" fmla="*/ 65 h 107"/>
                <a:gd name="T48" fmla="*/ 0 w 106"/>
                <a:gd name="T49" fmla="*/ 53 h 107"/>
                <a:gd name="T50" fmla="*/ 0 w 106"/>
                <a:gd name="T51" fmla="*/ 42 h 107"/>
                <a:gd name="T52" fmla="*/ 4 w 106"/>
                <a:gd name="T53" fmla="*/ 32 h 107"/>
                <a:gd name="T54" fmla="*/ 8 w 106"/>
                <a:gd name="T55" fmla="*/ 23 h 107"/>
                <a:gd name="T56" fmla="*/ 15 w 106"/>
                <a:gd name="T57" fmla="*/ 15 h 107"/>
                <a:gd name="T58" fmla="*/ 23 w 106"/>
                <a:gd name="T59" fmla="*/ 9 h 107"/>
                <a:gd name="T60" fmla="*/ 33 w 106"/>
                <a:gd name="T61" fmla="*/ 4 h 107"/>
                <a:gd name="T62" fmla="*/ 42 w 106"/>
                <a:gd name="T63" fmla="*/ 0 h 107"/>
                <a:gd name="T64" fmla="*/ 52 w 106"/>
                <a:gd name="T65" fmla="*/ 0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6"/>
                <a:gd name="T100" fmla="*/ 0 h 107"/>
                <a:gd name="T101" fmla="*/ 106 w 106"/>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6" h="107">
                  <a:moveTo>
                    <a:pt x="52" y="0"/>
                  </a:moveTo>
                  <a:lnTo>
                    <a:pt x="63" y="0"/>
                  </a:lnTo>
                  <a:lnTo>
                    <a:pt x="73" y="4"/>
                  </a:lnTo>
                  <a:lnTo>
                    <a:pt x="83" y="9"/>
                  </a:lnTo>
                  <a:lnTo>
                    <a:pt x="90" y="15"/>
                  </a:lnTo>
                  <a:lnTo>
                    <a:pt x="98" y="23"/>
                  </a:lnTo>
                  <a:lnTo>
                    <a:pt x="102" y="32"/>
                  </a:lnTo>
                  <a:lnTo>
                    <a:pt x="106" y="42"/>
                  </a:lnTo>
                  <a:lnTo>
                    <a:pt x="106" y="53"/>
                  </a:lnTo>
                  <a:lnTo>
                    <a:pt x="106" y="65"/>
                  </a:lnTo>
                  <a:lnTo>
                    <a:pt x="102" y="75"/>
                  </a:lnTo>
                  <a:lnTo>
                    <a:pt x="98" y="84"/>
                  </a:lnTo>
                  <a:lnTo>
                    <a:pt x="90" y="92"/>
                  </a:lnTo>
                  <a:lnTo>
                    <a:pt x="83" y="98"/>
                  </a:lnTo>
                  <a:lnTo>
                    <a:pt x="73" y="103"/>
                  </a:lnTo>
                  <a:lnTo>
                    <a:pt x="63" y="105"/>
                  </a:lnTo>
                  <a:lnTo>
                    <a:pt x="52" y="107"/>
                  </a:lnTo>
                  <a:lnTo>
                    <a:pt x="42" y="105"/>
                  </a:lnTo>
                  <a:lnTo>
                    <a:pt x="33" y="103"/>
                  </a:lnTo>
                  <a:lnTo>
                    <a:pt x="23" y="98"/>
                  </a:lnTo>
                  <a:lnTo>
                    <a:pt x="15" y="92"/>
                  </a:lnTo>
                  <a:lnTo>
                    <a:pt x="8" y="84"/>
                  </a:lnTo>
                  <a:lnTo>
                    <a:pt x="4" y="75"/>
                  </a:lnTo>
                  <a:lnTo>
                    <a:pt x="0" y="65"/>
                  </a:lnTo>
                  <a:lnTo>
                    <a:pt x="0" y="53"/>
                  </a:lnTo>
                  <a:lnTo>
                    <a:pt x="0" y="42"/>
                  </a:lnTo>
                  <a:lnTo>
                    <a:pt x="4" y="32"/>
                  </a:lnTo>
                  <a:lnTo>
                    <a:pt x="8" y="23"/>
                  </a:lnTo>
                  <a:lnTo>
                    <a:pt x="15" y="15"/>
                  </a:lnTo>
                  <a:lnTo>
                    <a:pt x="23" y="9"/>
                  </a:lnTo>
                  <a:lnTo>
                    <a:pt x="33" y="4"/>
                  </a:lnTo>
                  <a:lnTo>
                    <a:pt x="42" y="0"/>
                  </a:lnTo>
                  <a:lnTo>
                    <a:pt x="52"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5" name="Freeform 14">
              <a:extLst>
                <a:ext uri="{FF2B5EF4-FFF2-40B4-BE49-F238E27FC236}">
                  <a16:creationId xmlns:a16="http://schemas.microsoft.com/office/drawing/2014/main" id="{1BE4D391-98B0-9FDD-4953-FBD48C1645BE}"/>
                </a:ext>
              </a:extLst>
            </p:cNvPr>
            <p:cNvSpPr>
              <a:spLocks/>
            </p:cNvSpPr>
            <p:nvPr/>
          </p:nvSpPr>
          <p:spPr bwMode="auto">
            <a:xfrm>
              <a:off x="1071" y="2906"/>
              <a:ext cx="65" cy="65"/>
            </a:xfrm>
            <a:custGeom>
              <a:avLst/>
              <a:gdLst>
                <a:gd name="T0" fmla="*/ 65 w 65"/>
                <a:gd name="T1" fmla="*/ 65 h 65"/>
                <a:gd name="T2" fmla="*/ 65 w 65"/>
                <a:gd name="T3" fmla="*/ 52 h 65"/>
                <a:gd name="T4" fmla="*/ 61 w 65"/>
                <a:gd name="T5" fmla="*/ 41 h 65"/>
                <a:gd name="T6" fmla="*/ 56 w 65"/>
                <a:gd name="T7" fmla="*/ 29 h 65"/>
                <a:gd name="T8" fmla="*/ 48 w 65"/>
                <a:gd name="T9" fmla="*/ 19 h 65"/>
                <a:gd name="T10" fmla="*/ 36 w 65"/>
                <a:gd name="T11" fmla="*/ 12 h 65"/>
                <a:gd name="T12" fmla="*/ 27 w 65"/>
                <a:gd name="T13" fmla="*/ 6 h 65"/>
                <a:gd name="T14" fmla="*/ 13 w 65"/>
                <a:gd name="T15" fmla="*/ 2 h 65"/>
                <a:gd name="T16" fmla="*/ 0 w 65"/>
                <a:gd name="T17" fmla="*/ 0 h 65"/>
                <a:gd name="T18" fmla="*/ 0 w 65"/>
                <a:gd name="T19" fmla="*/ 23 h 65"/>
                <a:gd name="T20" fmla="*/ 10 w 65"/>
                <a:gd name="T21" fmla="*/ 23 h 65"/>
                <a:gd name="T22" fmla="*/ 17 w 65"/>
                <a:gd name="T23" fmla="*/ 27 h 65"/>
                <a:gd name="T24" fmla="*/ 25 w 65"/>
                <a:gd name="T25" fmla="*/ 31 h 65"/>
                <a:gd name="T26" fmla="*/ 31 w 65"/>
                <a:gd name="T27" fmla="*/ 35 h 65"/>
                <a:gd name="T28" fmla="*/ 36 w 65"/>
                <a:gd name="T29" fmla="*/ 42 h 65"/>
                <a:gd name="T30" fmla="*/ 40 w 65"/>
                <a:gd name="T31" fmla="*/ 48 h 65"/>
                <a:gd name="T32" fmla="*/ 42 w 65"/>
                <a:gd name="T33" fmla="*/ 56 h 65"/>
                <a:gd name="T34" fmla="*/ 42 w 65"/>
                <a:gd name="T35" fmla="*/ 65 h 65"/>
                <a:gd name="T36" fmla="*/ 65 w 65"/>
                <a:gd name="T37" fmla="*/ 65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5"/>
                <a:gd name="T59" fmla="*/ 65 w 65"/>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5">
                  <a:moveTo>
                    <a:pt x="65" y="65"/>
                  </a:moveTo>
                  <a:lnTo>
                    <a:pt x="65" y="52"/>
                  </a:lnTo>
                  <a:lnTo>
                    <a:pt x="61" y="41"/>
                  </a:lnTo>
                  <a:lnTo>
                    <a:pt x="56" y="29"/>
                  </a:lnTo>
                  <a:lnTo>
                    <a:pt x="48" y="19"/>
                  </a:lnTo>
                  <a:lnTo>
                    <a:pt x="36" y="12"/>
                  </a:lnTo>
                  <a:lnTo>
                    <a:pt x="27" y="6"/>
                  </a:lnTo>
                  <a:lnTo>
                    <a:pt x="13" y="2"/>
                  </a:lnTo>
                  <a:lnTo>
                    <a:pt x="0" y="0"/>
                  </a:lnTo>
                  <a:lnTo>
                    <a:pt x="0" y="23"/>
                  </a:lnTo>
                  <a:lnTo>
                    <a:pt x="10" y="23"/>
                  </a:lnTo>
                  <a:lnTo>
                    <a:pt x="17" y="27"/>
                  </a:lnTo>
                  <a:lnTo>
                    <a:pt x="25" y="31"/>
                  </a:lnTo>
                  <a:lnTo>
                    <a:pt x="31" y="35"/>
                  </a:lnTo>
                  <a:lnTo>
                    <a:pt x="36" y="42"/>
                  </a:lnTo>
                  <a:lnTo>
                    <a:pt x="40" y="48"/>
                  </a:lnTo>
                  <a:lnTo>
                    <a:pt x="42" y="56"/>
                  </a:lnTo>
                  <a:lnTo>
                    <a:pt x="42" y="65"/>
                  </a:lnTo>
                  <a:lnTo>
                    <a:pt x="65" y="65"/>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6" name="Freeform 15">
              <a:extLst>
                <a:ext uri="{FF2B5EF4-FFF2-40B4-BE49-F238E27FC236}">
                  <a16:creationId xmlns:a16="http://schemas.microsoft.com/office/drawing/2014/main" id="{C4F46A24-C08A-5AF5-5961-F53F5D24D999}"/>
                </a:ext>
              </a:extLst>
            </p:cNvPr>
            <p:cNvSpPr>
              <a:spLocks/>
            </p:cNvSpPr>
            <p:nvPr/>
          </p:nvSpPr>
          <p:spPr bwMode="auto">
            <a:xfrm>
              <a:off x="1071" y="2971"/>
              <a:ext cx="65" cy="66"/>
            </a:xfrm>
            <a:custGeom>
              <a:avLst/>
              <a:gdLst>
                <a:gd name="T0" fmla="*/ 0 w 65"/>
                <a:gd name="T1" fmla="*/ 66 h 66"/>
                <a:gd name="T2" fmla="*/ 13 w 65"/>
                <a:gd name="T3" fmla="*/ 64 h 66"/>
                <a:gd name="T4" fmla="*/ 27 w 65"/>
                <a:gd name="T5" fmla="*/ 60 h 66"/>
                <a:gd name="T6" fmla="*/ 36 w 65"/>
                <a:gd name="T7" fmla="*/ 54 h 66"/>
                <a:gd name="T8" fmla="*/ 48 w 65"/>
                <a:gd name="T9" fmla="*/ 46 h 66"/>
                <a:gd name="T10" fmla="*/ 56 w 65"/>
                <a:gd name="T11" fmla="*/ 37 h 66"/>
                <a:gd name="T12" fmla="*/ 61 w 65"/>
                <a:gd name="T13" fmla="*/ 25 h 66"/>
                <a:gd name="T14" fmla="*/ 65 w 65"/>
                <a:gd name="T15" fmla="*/ 14 h 66"/>
                <a:gd name="T16" fmla="*/ 65 w 65"/>
                <a:gd name="T17" fmla="*/ 0 h 66"/>
                <a:gd name="T18" fmla="*/ 42 w 65"/>
                <a:gd name="T19" fmla="*/ 0 h 66"/>
                <a:gd name="T20" fmla="*/ 42 w 65"/>
                <a:gd name="T21" fmla="*/ 8 h 66"/>
                <a:gd name="T22" fmla="*/ 40 w 65"/>
                <a:gd name="T23" fmla="*/ 16 h 66"/>
                <a:gd name="T24" fmla="*/ 36 w 65"/>
                <a:gd name="T25" fmla="*/ 23 h 66"/>
                <a:gd name="T26" fmla="*/ 31 w 65"/>
                <a:gd name="T27" fmla="*/ 29 h 66"/>
                <a:gd name="T28" fmla="*/ 25 w 65"/>
                <a:gd name="T29" fmla="*/ 35 h 66"/>
                <a:gd name="T30" fmla="*/ 17 w 65"/>
                <a:gd name="T31" fmla="*/ 39 h 66"/>
                <a:gd name="T32" fmla="*/ 10 w 65"/>
                <a:gd name="T33" fmla="*/ 41 h 66"/>
                <a:gd name="T34" fmla="*/ 0 w 65"/>
                <a:gd name="T35" fmla="*/ 43 h 66"/>
                <a:gd name="T36" fmla="*/ 0 w 65"/>
                <a:gd name="T37" fmla="*/ 6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6"/>
                <a:gd name="T59" fmla="*/ 65 w 65"/>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6">
                  <a:moveTo>
                    <a:pt x="0" y="66"/>
                  </a:moveTo>
                  <a:lnTo>
                    <a:pt x="13" y="64"/>
                  </a:lnTo>
                  <a:lnTo>
                    <a:pt x="27" y="60"/>
                  </a:lnTo>
                  <a:lnTo>
                    <a:pt x="36" y="54"/>
                  </a:lnTo>
                  <a:lnTo>
                    <a:pt x="48" y="46"/>
                  </a:lnTo>
                  <a:lnTo>
                    <a:pt x="56" y="37"/>
                  </a:lnTo>
                  <a:lnTo>
                    <a:pt x="61" y="25"/>
                  </a:lnTo>
                  <a:lnTo>
                    <a:pt x="65" y="14"/>
                  </a:lnTo>
                  <a:lnTo>
                    <a:pt x="65" y="0"/>
                  </a:lnTo>
                  <a:lnTo>
                    <a:pt x="42" y="0"/>
                  </a:lnTo>
                  <a:lnTo>
                    <a:pt x="42" y="8"/>
                  </a:lnTo>
                  <a:lnTo>
                    <a:pt x="40" y="16"/>
                  </a:lnTo>
                  <a:lnTo>
                    <a:pt x="36" y="23"/>
                  </a:lnTo>
                  <a:lnTo>
                    <a:pt x="31" y="29"/>
                  </a:lnTo>
                  <a:lnTo>
                    <a:pt x="25" y="35"/>
                  </a:lnTo>
                  <a:lnTo>
                    <a:pt x="17" y="39"/>
                  </a:lnTo>
                  <a:lnTo>
                    <a:pt x="10" y="41"/>
                  </a:lnTo>
                  <a:lnTo>
                    <a:pt x="0" y="43"/>
                  </a:lnTo>
                  <a:lnTo>
                    <a:pt x="0" y="66"/>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7" name="Freeform 16">
              <a:extLst>
                <a:ext uri="{FF2B5EF4-FFF2-40B4-BE49-F238E27FC236}">
                  <a16:creationId xmlns:a16="http://schemas.microsoft.com/office/drawing/2014/main" id="{F3A02171-171C-1D6C-020A-719DE110A156}"/>
                </a:ext>
              </a:extLst>
            </p:cNvPr>
            <p:cNvSpPr>
              <a:spLocks/>
            </p:cNvSpPr>
            <p:nvPr/>
          </p:nvSpPr>
          <p:spPr bwMode="auto">
            <a:xfrm>
              <a:off x="1008" y="2971"/>
              <a:ext cx="63" cy="66"/>
            </a:xfrm>
            <a:custGeom>
              <a:avLst/>
              <a:gdLst>
                <a:gd name="T0" fmla="*/ 0 w 63"/>
                <a:gd name="T1" fmla="*/ 0 h 66"/>
                <a:gd name="T2" fmla="*/ 0 w 63"/>
                <a:gd name="T3" fmla="*/ 14 h 66"/>
                <a:gd name="T4" fmla="*/ 3 w 63"/>
                <a:gd name="T5" fmla="*/ 25 h 66"/>
                <a:gd name="T6" fmla="*/ 9 w 63"/>
                <a:gd name="T7" fmla="*/ 37 h 66"/>
                <a:gd name="T8" fmla="*/ 17 w 63"/>
                <a:gd name="T9" fmla="*/ 46 h 66"/>
                <a:gd name="T10" fmla="*/ 28 w 63"/>
                <a:gd name="T11" fmla="*/ 54 h 66"/>
                <a:gd name="T12" fmla="*/ 38 w 63"/>
                <a:gd name="T13" fmla="*/ 60 h 66"/>
                <a:gd name="T14" fmla="*/ 51 w 63"/>
                <a:gd name="T15" fmla="*/ 64 h 66"/>
                <a:gd name="T16" fmla="*/ 63 w 63"/>
                <a:gd name="T17" fmla="*/ 66 h 66"/>
                <a:gd name="T18" fmla="*/ 63 w 63"/>
                <a:gd name="T19" fmla="*/ 43 h 66"/>
                <a:gd name="T20" fmla="*/ 55 w 63"/>
                <a:gd name="T21" fmla="*/ 41 h 66"/>
                <a:gd name="T22" fmla="*/ 48 w 63"/>
                <a:gd name="T23" fmla="*/ 39 h 66"/>
                <a:gd name="T24" fmla="*/ 40 w 63"/>
                <a:gd name="T25" fmla="*/ 35 h 66"/>
                <a:gd name="T26" fmla="*/ 34 w 63"/>
                <a:gd name="T27" fmla="*/ 29 h 66"/>
                <a:gd name="T28" fmla="*/ 28 w 63"/>
                <a:gd name="T29" fmla="*/ 23 h 66"/>
                <a:gd name="T30" fmla="*/ 25 w 63"/>
                <a:gd name="T31" fmla="*/ 16 h 66"/>
                <a:gd name="T32" fmla="*/ 23 w 63"/>
                <a:gd name="T33" fmla="*/ 8 h 66"/>
                <a:gd name="T34" fmla="*/ 23 w 63"/>
                <a:gd name="T35" fmla="*/ 0 h 66"/>
                <a:gd name="T36" fmla="*/ 0 w 63"/>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66"/>
                <a:gd name="T59" fmla="*/ 63 w 63"/>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66">
                  <a:moveTo>
                    <a:pt x="0" y="0"/>
                  </a:moveTo>
                  <a:lnTo>
                    <a:pt x="0" y="14"/>
                  </a:lnTo>
                  <a:lnTo>
                    <a:pt x="3" y="25"/>
                  </a:lnTo>
                  <a:lnTo>
                    <a:pt x="9" y="37"/>
                  </a:lnTo>
                  <a:lnTo>
                    <a:pt x="17" y="46"/>
                  </a:lnTo>
                  <a:lnTo>
                    <a:pt x="28" y="54"/>
                  </a:lnTo>
                  <a:lnTo>
                    <a:pt x="38" y="60"/>
                  </a:lnTo>
                  <a:lnTo>
                    <a:pt x="51" y="64"/>
                  </a:lnTo>
                  <a:lnTo>
                    <a:pt x="63" y="66"/>
                  </a:lnTo>
                  <a:lnTo>
                    <a:pt x="63" y="43"/>
                  </a:lnTo>
                  <a:lnTo>
                    <a:pt x="55" y="41"/>
                  </a:lnTo>
                  <a:lnTo>
                    <a:pt x="48" y="39"/>
                  </a:lnTo>
                  <a:lnTo>
                    <a:pt x="40" y="35"/>
                  </a:lnTo>
                  <a:lnTo>
                    <a:pt x="34" y="29"/>
                  </a:lnTo>
                  <a:lnTo>
                    <a:pt x="28" y="23"/>
                  </a:lnTo>
                  <a:lnTo>
                    <a:pt x="25" y="16"/>
                  </a:lnTo>
                  <a:lnTo>
                    <a:pt x="23" y="8"/>
                  </a:lnTo>
                  <a:lnTo>
                    <a:pt x="23" y="0"/>
                  </a:lnTo>
                  <a:lnTo>
                    <a:pt x="0"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8" name="Freeform 17">
              <a:extLst>
                <a:ext uri="{FF2B5EF4-FFF2-40B4-BE49-F238E27FC236}">
                  <a16:creationId xmlns:a16="http://schemas.microsoft.com/office/drawing/2014/main" id="{AC069A38-0CF0-BFE4-DBCF-1FD9E0DD282B}"/>
                </a:ext>
              </a:extLst>
            </p:cNvPr>
            <p:cNvSpPr>
              <a:spLocks/>
            </p:cNvSpPr>
            <p:nvPr/>
          </p:nvSpPr>
          <p:spPr bwMode="auto">
            <a:xfrm>
              <a:off x="1008" y="2906"/>
              <a:ext cx="63" cy="65"/>
            </a:xfrm>
            <a:custGeom>
              <a:avLst/>
              <a:gdLst>
                <a:gd name="T0" fmla="*/ 63 w 63"/>
                <a:gd name="T1" fmla="*/ 0 h 65"/>
                <a:gd name="T2" fmla="*/ 51 w 63"/>
                <a:gd name="T3" fmla="*/ 2 h 65"/>
                <a:gd name="T4" fmla="*/ 38 w 63"/>
                <a:gd name="T5" fmla="*/ 6 h 65"/>
                <a:gd name="T6" fmla="*/ 28 w 63"/>
                <a:gd name="T7" fmla="*/ 12 h 65"/>
                <a:gd name="T8" fmla="*/ 17 w 63"/>
                <a:gd name="T9" fmla="*/ 19 h 65"/>
                <a:gd name="T10" fmla="*/ 9 w 63"/>
                <a:gd name="T11" fmla="*/ 29 h 65"/>
                <a:gd name="T12" fmla="*/ 3 w 63"/>
                <a:gd name="T13" fmla="*/ 41 h 65"/>
                <a:gd name="T14" fmla="*/ 0 w 63"/>
                <a:gd name="T15" fmla="*/ 52 h 65"/>
                <a:gd name="T16" fmla="*/ 0 w 63"/>
                <a:gd name="T17" fmla="*/ 65 h 65"/>
                <a:gd name="T18" fmla="*/ 23 w 63"/>
                <a:gd name="T19" fmla="*/ 65 h 65"/>
                <a:gd name="T20" fmla="*/ 23 w 63"/>
                <a:gd name="T21" fmla="*/ 56 h 65"/>
                <a:gd name="T22" fmla="*/ 25 w 63"/>
                <a:gd name="T23" fmla="*/ 48 h 65"/>
                <a:gd name="T24" fmla="*/ 28 w 63"/>
                <a:gd name="T25" fmla="*/ 42 h 65"/>
                <a:gd name="T26" fmla="*/ 34 w 63"/>
                <a:gd name="T27" fmla="*/ 35 h 65"/>
                <a:gd name="T28" fmla="*/ 40 w 63"/>
                <a:gd name="T29" fmla="*/ 31 h 65"/>
                <a:gd name="T30" fmla="*/ 48 w 63"/>
                <a:gd name="T31" fmla="*/ 27 h 65"/>
                <a:gd name="T32" fmla="*/ 55 w 63"/>
                <a:gd name="T33" fmla="*/ 23 h 65"/>
                <a:gd name="T34" fmla="*/ 63 w 63"/>
                <a:gd name="T35" fmla="*/ 23 h 65"/>
                <a:gd name="T36" fmla="*/ 63 w 63"/>
                <a:gd name="T37" fmla="*/ 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65"/>
                <a:gd name="T59" fmla="*/ 63 w 63"/>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65">
                  <a:moveTo>
                    <a:pt x="63" y="0"/>
                  </a:moveTo>
                  <a:lnTo>
                    <a:pt x="51" y="2"/>
                  </a:lnTo>
                  <a:lnTo>
                    <a:pt x="38" y="6"/>
                  </a:lnTo>
                  <a:lnTo>
                    <a:pt x="28" y="12"/>
                  </a:lnTo>
                  <a:lnTo>
                    <a:pt x="17" y="19"/>
                  </a:lnTo>
                  <a:lnTo>
                    <a:pt x="9" y="29"/>
                  </a:lnTo>
                  <a:lnTo>
                    <a:pt x="3" y="41"/>
                  </a:lnTo>
                  <a:lnTo>
                    <a:pt x="0" y="52"/>
                  </a:lnTo>
                  <a:lnTo>
                    <a:pt x="0" y="65"/>
                  </a:lnTo>
                  <a:lnTo>
                    <a:pt x="23" y="65"/>
                  </a:lnTo>
                  <a:lnTo>
                    <a:pt x="23" y="56"/>
                  </a:lnTo>
                  <a:lnTo>
                    <a:pt x="25" y="48"/>
                  </a:lnTo>
                  <a:lnTo>
                    <a:pt x="28" y="42"/>
                  </a:lnTo>
                  <a:lnTo>
                    <a:pt x="34" y="35"/>
                  </a:lnTo>
                  <a:lnTo>
                    <a:pt x="40" y="31"/>
                  </a:lnTo>
                  <a:lnTo>
                    <a:pt x="48" y="27"/>
                  </a:lnTo>
                  <a:lnTo>
                    <a:pt x="55" y="23"/>
                  </a:lnTo>
                  <a:lnTo>
                    <a:pt x="63" y="23"/>
                  </a:lnTo>
                  <a:lnTo>
                    <a:pt x="63"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39" name="Freeform 18">
              <a:extLst>
                <a:ext uri="{FF2B5EF4-FFF2-40B4-BE49-F238E27FC236}">
                  <a16:creationId xmlns:a16="http://schemas.microsoft.com/office/drawing/2014/main" id="{3301DF1C-4C62-C698-A5EA-719C58A11D72}"/>
                </a:ext>
              </a:extLst>
            </p:cNvPr>
            <p:cNvSpPr>
              <a:spLocks/>
            </p:cNvSpPr>
            <p:nvPr/>
          </p:nvSpPr>
          <p:spPr bwMode="auto">
            <a:xfrm>
              <a:off x="2388" y="2799"/>
              <a:ext cx="107" cy="107"/>
            </a:xfrm>
            <a:custGeom>
              <a:avLst/>
              <a:gdLst>
                <a:gd name="T0" fmla="*/ 54 w 107"/>
                <a:gd name="T1" fmla="*/ 0 h 107"/>
                <a:gd name="T2" fmla="*/ 63 w 107"/>
                <a:gd name="T3" fmla="*/ 2 h 107"/>
                <a:gd name="T4" fmla="*/ 75 w 107"/>
                <a:gd name="T5" fmla="*/ 6 h 107"/>
                <a:gd name="T6" fmla="*/ 82 w 107"/>
                <a:gd name="T7" fmla="*/ 9 h 107"/>
                <a:gd name="T8" fmla="*/ 90 w 107"/>
                <a:gd name="T9" fmla="*/ 17 h 107"/>
                <a:gd name="T10" fmla="*/ 98 w 107"/>
                <a:gd name="T11" fmla="*/ 25 h 107"/>
                <a:gd name="T12" fmla="*/ 102 w 107"/>
                <a:gd name="T13" fmla="*/ 32 h 107"/>
                <a:gd name="T14" fmla="*/ 105 w 107"/>
                <a:gd name="T15" fmla="*/ 44 h 107"/>
                <a:gd name="T16" fmla="*/ 107 w 107"/>
                <a:gd name="T17" fmla="*/ 53 h 107"/>
                <a:gd name="T18" fmla="*/ 105 w 107"/>
                <a:gd name="T19" fmla="*/ 65 h 107"/>
                <a:gd name="T20" fmla="*/ 102 w 107"/>
                <a:gd name="T21" fmla="*/ 75 h 107"/>
                <a:gd name="T22" fmla="*/ 98 w 107"/>
                <a:gd name="T23" fmla="*/ 84 h 107"/>
                <a:gd name="T24" fmla="*/ 90 w 107"/>
                <a:gd name="T25" fmla="*/ 92 h 107"/>
                <a:gd name="T26" fmla="*/ 82 w 107"/>
                <a:gd name="T27" fmla="*/ 100 h 107"/>
                <a:gd name="T28" fmla="*/ 75 w 107"/>
                <a:gd name="T29" fmla="*/ 103 h 107"/>
                <a:gd name="T30" fmla="*/ 63 w 107"/>
                <a:gd name="T31" fmla="*/ 107 h 107"/>
                <a:gd name="T32" fmla="*/ 54 w 107"/>
                <a:gd name="T33" fmla="*/ 107 h 107"/>
                <a:gd name="T34" fmla="*/ 42 w 107"/>
                <a:gd name="T35" fmla="*/ 107 h 107"/>
                <a:gd name="T36" fmla="*/ 32 w 107"/>
                <a:gd name="T37" fmla="*/ 103 h 107"/>
                <a:gd name="T38" fmla="*/ 23 w 107"/>
                <a:gd name="T39" fmla="*/ 100 h 107"/>
                <a:gd name="T40" fmla="*/ 15 w 107"/>
                <a:gd name="T41" fmla="*/ 92 h 107"/>
                <a:gd name="T42" fmla="*/ 7 w 107"/>
                <a:gd name="T43" fmla="*/ 84 h 107"/>
                <a:gd name="T44" fmla="*/ 4 w 107"/>
                <a:gd name="T45" fmla="*/ 75 h 107"/>
                <a:gd name="T46" fmla="*/ 0 w 107"/>
                <a:gd name="T47" fmla="*/ 65 h 107"/>
                <a:gd name="T48" fmla="*/ 0 w 107"/>
                <a:gd name="T49" fmla="*/ 53 h 107"/>
                <a:gd name="T50" fmla="*/ 0 w 107"/>
                <a:gd name="T51" fmla="*/ 44 h 107"/>
                <a:gd name="T52" fmla="*/ 4 w 107"/>
                <a:gd name="T53" fmla="*/ 32 h 107"/>
                <a:gd name="T54" fmla="*/ 7 w 107"/>
                <a:gd name="T55" fmla="*/ 25 h 107"/>
                <a:gd name="T56" fmla="*/ 15 w 107"/>
                <a:gd name="T57" fmla="*/ 17 h 107"/>
                <a:gd name="T58" fmla="*/ 23 w 107"/>
                <a:gd name="T59" fmla="*/ 9 h 107"/>
                <a:gd name="T60" fmla="*/ 32 w 107"/>
                <a:gd name="T61" fmla="*/ 6 h 107"/>
                <a:gd name="T62" fmla="*/ 42 w 107"/>
                <a:gd name="T63" fmla="*/ 2 h 107"/>
                <a:gd name="T64" fmla="*/ 54 w 107"/>
                <a:gd name="T65" fmla="*/ 0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7"/>
                <a:gd name="T100" fmla="*/ 0 h 107"/>
                <a:gd name="T101" fmla="*/ 107 w 107"/>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7" h="107">
                  <a:moveTo>
                    <a:pt x="54" y="0"/>
                  </a:moveTo>
                  <a:lnTo>
                    <a:pt x="63" y="2"/>
                  </a:lnTo>
                  <a:lnTo>
                    <a:pt x="75" y="6"/>
                  </a:lnTo>
                  <a:lnTo>
                    <a:pt x="82" y="9"/>
                  </a:lnTo>
                  <a:lnTo>
                    <a:pt x="90" y="17"/>
                  </a:lnTo>
                  <a:lnTo>
                    <a:pt x="98" y="25"/>
                  </a:lnTo>
                  <a:lnTo>
                    <a:pt x="102" y="32"/>
                  </a:lnTo>
                  <a:lnTo>
                    <a:pt x="105" y="44"/>
                  </a:lnTo>
                  <a:lnTo>
                    <a:pt x="107" y="53"/>
                  </a:lnTo>
                  <a:lnTo>
                    <a:pt x="105" y="65"/>
                  </a:lnTo>
                  <a:lnTo>
                    <a:pt x="102" y="75"/>
                  </a:lnTo>
                  <a:lnTo>
                    <a:pt x="98" y="84"/>
                  </a:lnTo>
                  <a:lnTo>
                    <a:pt x="90" y="92"/>
                  </a:lnTo>
                  <a:lnTo>
                    <a:pt x="82" y="100"/>
                  </a:lnTo>
                  <a:lnTo>
                    <a:pt x="75" y="103"/>
                  </a:lnTo>
                  <a:lnTo>
                    <a:pt x="63" y="107"/>
                  </a:lnTo>
                  <a:lnTo>
                    <a:pt x="54" y="107"/>
                  </a:lnTo>
                  <a:lnTo>
                    <a:pt x="42" y="107"/>
                  </a:lnTo>
                  <a:lnTo>
                    <a:pt x="32" y="103"/>
                  </a:lnTo>
                  <a:lnTo>
                    <a:pt x="23" y="100"/>
                  </a:lnTo>
                  <a:lnTo>
                    <a:pt x="15" y="92"/>
                  </a:lnTo>
                  <a:lnTo>
                    <a:pt x="7" y="84"/>
                  </a:lnTo>
                  <a:lnTo>
                    <a:pt x="4" y="75"/>
                  </a:lnTo>
                  <a:lnTo>
                    <a:pt x="0" y="65"/>
                  </a:lnTo>
                  <a:lnTo>
                    <a:pt x="0" y="53"/>
                  </a:lnTo>
                  <a:lnTo>
                    <a:pt x="0" y="44"/>
                  </a:lnTo>
                  <a:lnTo>
                    <a:pt x="4" y="32"/>
                  </a:lnTo>
                  <a:lnTo>
                    <a:pt x="7" y="25"/>
                  </a:lnTo>
                  <a:lnTo>
                    <a:pt x="15" y="17"/>
                  </a:lnTo>
                  <a:lnTo>
                    <a:pt x="23" y="9"/>
                  </a:lnTo>
                  <a:lnTo>
                    <a:pt x="32" y="6"/>
                  </a:lnTo>
                  <a:lnTo>
                    <a:pt x="42" y="2"/>
                  </a:lnTo>
                  <a:lnTo>
                    <a:pt x="54"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0" name="Freeform 19">
              <a:extLst>
                <a:ext uri="{FF2B5EF4-FFF2-40B4-BE49-F238E27FC236}">
                  <a16:creationId xmlns:a16="http://schemas.microsoft.com/office/drawing/2014/main" id="{D3F15DF2-36EF-A234-4C3B-891D4008C236}"/>
                </a:ext>
              </a:extLst>
            </p:cNvPr>
            <p:cNvSpPr>
              <a:spLocks/>
            </p:cNvSpPr>
            <p:nvPr/>
          </p:nvSpPr>
          <p:spPr bwMode="auto">
            <a:xfrm>
              <a:off x="2442" y="2787"/>
              <a:ext cx="65" cy="65"/>
            </a:xfrm>
            <a:custGeom>
              <a:avLst/>
              <a:gdLst>
                <a:gd name="T0" fmla="*/ 65 w 65"/>
                <a:gd name="T1" fmla="*/ 65 h 65"/>
                <a:gd name="T2" fmla="*/ 63 w 65"/>
                <a:gd name="T3" fmla="*/ 52 h 65"/>
                <a:gd name="T4" fmla="*/ 59 w 65"/>
                <a:gd name="T5" fmla="*/ 41 h 65"/>
                <a:gd name="T6" fmla="*/ 53 w 65"/>
                <a:gd name="T7" fmla="*/ 29 h 65"/>
                <a:gd name="T8" fmla="*/ 46 w 65"/>
                <a:gd name="T9" fmla="*/ 19 h 65"/>
                <a:gd name="T10" fmla="*/ 36 w 65"/>
                <a:gd name="T11" fmla="*/ 12 h 65"/>
                <a:gd name="T12" fmla="*/ 24 w 65"/>
                <a:gd name="T13" fmla="*/ 6 h 65"/>
                <a:gd name="T14" fmla="*/ 11 w 65"/>
                <a:gd name="T15" fmla="*/ 2 h 65"/>
                <a:gd name="T16" fmla="*/ 0 w 65"/>
                <a:gd name="T17" fmla="*/ 0 h 65"/>
                <a:gd name="T18" fmla="*/ 0 w 65"/>
                <a:gd name="T19" fmla="*/ 23 h 65"/>
                <a:gd name="T20" fmla="*/ 7 w 65"/>
                <a:gd name="T21" fmla="*/ 25 h 65"/>
                <a:gd name="T22" fmla="*/ 15 w 65"/>
                <a:gd name="T23" fmla="*/ 27 h 65"/>
                <a:gd name="T24" fmla="*/ 23 w 65"/>
                <a:gd name="T25" fmla="*/ 31 h 65"/>
                <a:gd name="T26" fmla="*/ 28 w 65"/>
                <a:gd name="T27" fmla="*/ 37 h 65"/>
                <a:gd name="T28" fmla="*/ 34 w 65"/>
                <a:gd name="T29" fmla="*/ 42 h 65"/>
                <a:gd name="T30" fmla="*/ 38 w 65"/>
                <a:gd name="T31" fmla="*/ 50 h 65"/>
                <a:gd name="T32" fmla="*/ 40 w 65"/>
                <a:gd name="T33" fmla="*/ 58 h 65"/>
                <a:gd name="T34" fmla="*/ 42 w 65"/>
                <a:gd name="T35" fmla="*/ 65 h 65"/>
                <a:gd name="T36" fmla="*/ 65 w 65"/>
                <a:gd name="T37" fmla="*/ 65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5"/>
                <a:gd name="T59" fmla="*/ 65 w 65"/>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5">
                  <a:moveTo>
                    <a:pt x="65" y="65"/>
                  </a:moveTo>
                  <a:lnTo>
                    <a:pt x="63" y="52"/>
                  </a:lnTo>
                  <a:lnTo>
                    <a:pt x="59" y="41"/>
                  </a:lnTo>
                  <a:lnTo>
                    <a:pt x="53" y="29"/>
                  </a:lnTo>
                  <a:lnTo>
                    <a:pt x="46" y="19"/>
                  </a:lnTo>
                  <a:lnTo>
                    <a:pt x="36" y="12"/>
                  </a:lnTo>
                  <a:lnTo>
                    <a:pt x="24" y="6"/>
                  </a:lnTo>
                  <a:lnTo>
                    <a:pt x="11" y="2"/>
                  </a:lnTo>
                  <a:lnTo>
                    <a:pt x="0" y="0"/>
                  </a:lnTo>
                  <a:lnTo>
                    <a:pt x="0" y="23"/>
                  </a:lnTo>
                  <a:lnTo>
                    <a:pt x="7" y="25"/>
                  </a:lnTo>
                  <a:lnTo>
                    <a:pt x="15" y="27"/>
                  </a:lnTo>
                  <a:lnTo>
                    <a:pt x="23" y="31"/>
                  </a:lnTo>
                  <a:lnTo>
                    <a:pt x="28" y="37"/>
                  </a:lnTo>
                  <a:lnTo>
                    <a:pt x="34" y="42"/>
                  </a:lnTo>
                  <a:lnTo>
                    <a:pt x="38" y="50"/>
                  </a:lnTo>
                  <a:lnTo>
                    <a:pt x="40" y="58"/>
                  </a:lnTo>
                  <a:lnTo>
                    <a:pt x="42" y="65"/>
                  </a:lnTo>
                  <a:lnTo>
                    <a:pt x="65" y="65"/>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1" name="Freeform 20">
              <a:extLst>
                <a:ext uri="{FF2B5EF4-FFF2-40B4-BE49-F238E27FC236}">
                  <a16:creationId xmlns:a16="http://schemas.microsoft.com/office/drawing/2014/main" id="{F87A0904-4D0E-3B45-E4EA-C956521952A0}"/>
                </a:ext>
              </a:extLst>
            </p:cNvPr>
            <p:cNvSpPr>
              <a:spLocks/>
            </p:cNvSpPr>
            <p:nvPr/>
          </p:nvSpPr>
          <p:spPr bwMode="auto">
            <a:xfrm>
              <a:off x="2442" y="2852"/>
              <a:ext cx="65" cy="66"/>
            </a:xfrm>
            <a:custGeom>
              <a:avLst/>
              <a:gdLst>
                <a:gd name="T0" fmla="*/ 0 w 65"/>
                <a:gd name="T1" fmla="*/ 66 h 66"/>
                <a:gd name="T2" fmla="*/ 11 w 65"/>
                <a:gd name="T3" fmla="*/ 66 h 66"/>
                <a:gd name="T4" fmla="*/ 24 w 65"/>
                <a:gd name="T5" fmla="*/ 62 h 66"/>
                <a:gd name="T6" fmla="*/ 36 w 65"/>
                <a:gd name="T7" fmla="*/ 54 h 66"/>
                <a:gd name="T8" fmla="*/ 46 w 65"/>
                <a:gd name="T9" fmla="*/ 47 h 66"/>
                <a:gd name="T10" fmla="*/ 53 w 65"/>
                <a:gd name="T11" fmla="*/ 37 h 66"/>
                <a:gd name="T12" fmla="*/ 59 w 65"/>
                <a:gd name="T13" fmla="*/ 27 h 66"/>
                <a:gd name="T14" fmla="*/ 63 w 65"/>
                <a:gd name="T15" fmla="*/ 14 h 66"/>
                <a:gd name="T16" fmla="*/ 65 w 65"/>
                <a:gd name="T17" fmla="*/ 0 h 66"/>
                <a:gd name="T18" fmla="*/ 42 w 65"/>
                <a:gd name="T19" fmla="*/ 0 h 66"/>
                <a:gd name="T20" fmla="*/ 40 w 65"/>
                <a:gd name="T21" fmla="*/ 10 h 66"/>
                <a:gd name="T22" fmla="*/ 38 w 65"/>
                <a:gd name="T23" fmla="*/ 18 h 66"/>
                <a:gd name="T24" fmla="*/ 34 w 65"/>
                <a:gd name="T25" fmla="*/ 25 h 66"/>
                <a:gd name="T26" fmla="*/ 28 w 65"/>
                <a:gd name="T27" fmla="*/ 31 h 66"/>
                <a:gd name="T28" fmla="*/ 23 w 65"/>
                <a:gd name="T29" fmla="*/ 37 h 66"/>
                <a:gd name="T30" fmla="*/ 15 w 65"/>
                <a:gd name="T31" fmla="*/ 41 h 66"/>
                <a:gd name="T32" fmla="*/ 7 w 65"/>
                <a:gd name="T33" fmla="*/ 43 h 66"/>
                <a:gd name="T34" fmla="*/ 0 w 65"/>
                <a:gd name="T35" fmla="*/ 43 h 66"/>
                <a:gd name="T36" fmla="*/ 0 w 65"/>
                <a:gd name="T37" fmla="*/ 6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6"/>
                <a:gd name="T59" fmla="*/ 65 w 65"/>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6">
                  <a:moveTo>
                    <a:pt x="0" y="66"/>
                  </a:moveTo>
                  <a:lnTo>
                    <a:pt x="11" y="66"/>
                  </a:lnTo>
                  <a:lnTo>
                    <a:pt x="24" y="62"/>
                  </a:lnTo>
                  <a:lnTo>
                    <a:pt x="36" y="54"/>
                  </a:lnTo>
                  <a:lnTo>
                    <a:pt x="46" y="47"/>
                  </a:lnTo>
                  <a:lnTo>
                    <a:pt x="53" y="37"/>
                  </a:lnTo>
                  <a:lnTo>
                    <a:pt x="59" y="27"/>
                  </a:lnTo>
                  <a:lnTo>
                    <a:pt x="63" y="14"/>
                  </a:lnTo>
                  <a:lnTo>
                    <a:pt x="65" y="0"/>
                  </a:lnTo>
                  <a:lnTo>
                    <a:pt x="42" y="0"/>
                  </a:lnTo>
                  <a:lnTo>
                    <a:pt x="40" y="10"/>
                  </a:lnTo>
                  <a:lnTo>
                    <a:pt x="38" y="18"/>
                  </a:lnTo>
                  <a:lnTo>
                    <a:pt x="34" y="25"/>
                  </a:lnTo>
                  <a:lnTo>
                    <a:pt x="28" y="31"/>
                  </a:lnTo>
                  <a:lnTo>
                    <a:pt x="23" y="37"/>
                  </a:lnTo>
                  <a:lnTo>
                    <a:pt x="15" y="41"/>
                  </a:lnTo>
                  <a:lnTo>
                    <a:pt x="7" y="43"/>
                  </a:lnTo>
                  <a:lnTo>
                    <a:pt x="0" y="43"/>
                  </a:lnTo>
                  <a:lnTo>
                    <a:pt x="0" y="66"/>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2" name="Freeform 21">
              <a:extLst>
                <a:ext uri="{FF2B5EF4-FFF2-40B4-BE49-F238E27FC236}">
                  <a16:creationId xmlns:a16="http://schemas.microsoft.com/office/drawing/2014/main" id="{63D89195-FEC9-50E5-88EB-9068EBECF002}"/>
                </a:ext>
              </a:extLst>
            </p:cNvPr>
            <p:cNvSpPr>
              <a:spLocks/>
            </p:cNvSpPr>
            <p:nvPr/>
          </p:nvSpPr>
          <p:spPr bwMode="auto">
            <a:xfrm>
              <a:off x="2376" y="2852"/>
              <a:ext cx="66" cy="66"/>
            </a:xfrm>
            <a:custGeom>
              <a:avLst/>
              <a:gdLst>
                <a:gd name="T0" fmla="*/ 0 w 66"/>
                <a:gd name="T1" fmla="*/ 0 h 66"/>
                <a:gd name="T2" fmla="*/ 0 w 66"/>
                <a:gd name="T3" fmla="*/ 14 h 66"/>
                <a:gd name="T4" fmla="*/ 4 w 66"/>
                <a:gd name="T5" fmla="*/ 27 h 66"/>
                <a:gd name="T6" fmla="*/ 10 w 66"/>
                <a:gd name="T7" fmla="*/ 37 h 66"/>
                <a:gd name="T8" fmla="*/ 19 w 66"/>
                <a:gd name="T9" fmla="*/ 47 h 66"/>
                <a:gd name="T10" fmla="*/ 29 w 66"/>
                <a:gd name="T11" fmla="*/ 54 h 66"/>
                <a:gd name="T12" fmla="*/ 39 w 66"/>
                <a:gd name="T13" fmla="*/ 62 h 66"/>
                <a:gd name="T14" fmla="*/ 52 w 66"/>
                <a:gd name="T15" fmla="*/ 66 h 66"/>
                <a:gd name="T16" fmla="*/ 66 w 66"/>
                <a:gd name="T17" fmla="*/ 66 h 66"/>
                <a:gd name="T18" fmla="*/ 66 w 66"/>
                <a:gd name="T19" fmla="*/ 43 h 66"/>
                <a:gd name="T20" fmla="*/ 56 w 66"/>
                <a:gd name="T21" fmla="*/ 43 h 66"/>
                <a:gd name="T22" fmla="*/ 48 w 66"/>
                <a:gd name="T23" fmla="*/ 41 h 66"/>
                <a:gd name="T24" fmla="*/ 41 w 66"/>
                <a:gd name="T25" fmla="*/ 37 h 66"/>
                <a:gd name="T26" fmla="*/ 35 w 66"/>
                <a:gd name="T27" fmla="*/ 31 h 66"/>
                <a:gd name="T28" fmla="*/ 29 w 66"/>
                <a:gd name="T29" fmla="*/ 25 h 66"/>
                <a:gd name="T30" fmla="*/ 25 w 66"/>
                <a:gd name="T31" fmla="*/ 18 h 66"/>
                <a:gd name="T32" fmla="*/ 23 w 66"/>
                <a:gd name="T33" fmla="*/ 10 h 66"/>
                <a:gd name="T34" fmla="*/ 23 w 66"/>
                <a:gd name="T35" fmla="*/ 0 h 66"/>
                <a:gd name="T36" fmla="*/ 0 w 6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6"/>
                <a:gd name="T59" fmla="*/ 66 w 6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6">
                  <a:moveTo>
                    <a:pt x="0" y="0"/>
                  </a:moveTo>
                  <a:lnTo>
                    <a:pt x="0" y="14"/>
                  </a:lnTo>
                  <a:lnTo>
                    <a:pt x="4" y="27"/>
                  </a:lnTo>
                  <a:lnTo>
                    <a:pt x="10" y="37"/>
                  </a:lnTo>
                  <a:lnTo>
                    <a:pt x="19" y="47"/>
                  </a:lnTo>
                  <a:lnTo>
                    <a:pt x="29" y="54"/>
                  </a:lnTo>
                  <a:lnTo>
                    <a:pt x="39" y="62"/>
                  </a:lnTo>
                  <a:lnTo>
                    <a:pt x="52" y="66"/>
                  </a:lnTo>
                  <a:lnTo>
                    <a:pt x="66" y="66"/>
                  </a:lnTo>
                  <a:lnTo>
                    <a:pt x="66" y="43"/>
                  </a:lnTo>
                  <a:lnTo>
                    <a:pt x="56" y="43"/>
                  </a:lnTo>
                  <a:lnTo>
                    <a:pt x="48" y="41"/>
                  </a:lnTo>
                  <a:lnTo>
                    <a:pt x="41" y="37"/>
                  </a:lnTo>
                  <a:lnTo>
                    <a:pt x="35" y="31"/>
                  </a:lnTo>
                  <a:lnTo>
                    <a:pt x="29" y="25"/>
                  </a:lnTo>
                  <a:lnTo>
                    <a:pt x="25" y="18"/>
                  </a:lnTo>
                  <a:lnTo>
                    <a:pt x="23" y="10"/>
                  </a:lnTo>
                  <a:lnTo>
                    <a:pt x="23" y="0"/>
                  </a:lnTo>
                  <a:lnTo>
                    <a:pt x="0"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3" name="Freeform 22">
              <a:extLst>
                <a:ext uri="{FF2B5EF4-FFF2-40B4-BE49-F238E27FC236}">
                  <a16:creationId xmlns:a16="http://schemas.microsoft.com/office/drawing/2014/main" id="{A3D471D4-FDED-451A-A718-64FE20F2B4A0}"/>
                </a:ext>
              </a:extLst>
            </p:cNvPr>
            <p:cNvSpPr>
              <a:spLocks/>
            </p:cNvSpPr>
            <p:nvPr/>
          </p:nvSpPr>
          <p:spPr bwMode="auto">
            <a:xfrm>
              <a:off x="2376" y="2787"/>
              <a:ext cx="66" cy="65"/>
            </a:xfrm>
            <a:custGeom>
              <a:avLst/>
              <a:gdLst>
                <a:gd name="T0" fmla="*/ 66 w 66"/>
                <a:gd name="T1" fmla="*/ 0 h 65"/>
                <a:gd name="T2" fmla="*/ 52 w 66"/>
                <a:gd name="T3" fmla="*/ 2 h 65"/>
                <a:gd name="T4" fmla="*/ 39 w 66"/>
                <a:gd name="T5" fmla="*/ 6 h 65"/>
                <a:gd name="T6" fmla="*/ 29 w 66"/>
                <a:gd name="T7" fmla="*/ 12 h 65"/>
                <a:gd name="T8" fmla="*/ 19 w 66"/>
                <a:gd name="T9" fmla="*/ 19 h 65"/>
                <a:gd name="T10" fmla="*/ 10 w 66"/>
                <a:gd name="T11" fmla="*/ 29 h 65"/>
                <a:gd name="T12" fmla="*/ 4 w 66"/>
                <a:gd name="T13" fmla="*/ 41 h 65"/>
                <a:gd name="T14" fmla="*/ 0 w 66"/>
                <a:gd name="T15" fmla="*/ 52 h 65"/>
                <a:gd name="T16" fmla="*/ 0 w 66"/>
                <a:gd name="T17" fmla="*/ 65 h 65"/>
                <a:gd name="T18" fmla="*/ 23 w 66"/>
                <a:gd name="T19" fmla="*/ 65 h 65"/>
                <a:gd name="T20" fmla="*/ 23 w 66"/>
                <a:gd name="T21" fmla="*/ 58 h 65"/>
                <a:gd name="T22" fmla="*/ 25 w 66"/>
                <a:gd name="T23" fmla="*/ 50 h 65"/>
                <a:gd name="T24" fmla="*/ 29 w 66"/>
                <a:gd name="T25" fmla="*/ 42 h 65"/>
                <a:gd name="T26" fmla="*/ 35 w 66"/>
                <a:gd name="T27" fmla="*/ 37 h 65"/>
                <a:gd name="T28" fmla="*/ 41 w 66"/>
                <a:gd name="T29" fmla="*/ 31 h 65"/>
                <a:gd name="T30" fmla="*/ 48 w 66"/>
                <a:gd name="T31" fmla="*/ 27 h 65"/>
                <a:gd name="T32" fmla="*/ 56 w 66"/>
                <a:gd name="T33" fmla="*/ 25 h 65"/>
                <a:gd name="T34" fmla="*/ 66 w 66"/>
                <a:gd name="T35" fmla="*/ 23 h 65"/>
                <a:gd name="T36" fmla="*/ 66 w 66"/>
                <a:gd name="T37" fmla="*/ 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5"/>
                <a:gd name="T59" fmla="*/ 66 w 66"/>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5">
                  <a:moveTo>
                    <a:pt x="66" y="0"/>
                  </a:moveTo>
                  <a:lnTo>
                    <a:pt x="52" y="2"/>
                  </a:lnTo>
                  <a:lnTo>
                    <a:pt x="39" y="6"/>
                  </a:lnTo>
                  <a:lnTo>
                    <a:pt x="29" y="12"/>
                  </a:lnTo>
                  <a:lnTo>
                    <a:pt x="19" y="19"/>
                  </a:lnTo>
                  <a:lnTo>
                    <a:pt x="10" y="29"/>
                  </a:lnTo>
                  <a:lnTo>
                    <a:pt x="4" y="41"/>
                  </a:lnTo>
                  <a:lnTo>
                    <a:pt x="0" y="52"/>
                  </a:lnTo>
                  <a:lnTo>
                    <a:pt x="0" y="65"/>
                  </a:lnTo>
                  <a:lnTo>
                    <a:pt x="23" y="65"/>
                  </a:lnTo>
                  <a:lnTo>
                    <a:pt x="23" y="58"/>
                  </a:lnTo>
                  <a:lnTo>
                    <a:pt x="25" y="50"/>
                  </a:lnTo>
                  <a:lnTo>
                    <a:pt x="29" y="42"/>
                  </a:lnTo>
                  <a:lnTo>
                    <a:pt x="35" y="37"/>
                  </a:lnTo>
                  <a:lnTo>
                    <a:pt x="41" y="31"/>
                  </a:lnTo>
                  <a:lnTo>
                    <a:pt x="48" y="27"/>
                  </a:lnTo>
                  <a:lnTo>
                    <a:pt x="56" y="25"/>
                  </a:lnTo>
                  <a:lnTo>
                    <a:pt x="66" y="23"/>
                  </a:lnTo>
                  <a:lnTo>
                    <a:pt x="66"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4" name="Freeform 23">
              <a:extLst>
                <a:ext uri="{FF2B5EF4-FFF2-40B4-BE49-F238E27FC236}">
                  <a16:creationId xmlns:a16="http://schemas.microsoft.com/office/drawing/2014/main" id="{6E0304A0-611B-D37F-C2BC-77726E203454}"/>
                </a:ext>
              </a:extLst>
            </p:cNvPr>
            <p:cNvSpPr>
              <a:spLocks/>
            </p:cNvSpPr>
            <p:nvPr/>
          </p:nvSpPr>
          <p:spPr bwMode="auto">
            <a:xfrm>
              <a:off x="1499" y="3158"/>
              <a:ext cx="108" cy="107"/>
            </a:xfrm>
            <a:custGeom>
              <a:avLst/>
              <a:gdLst>
                <a:gd name="T0" fmla="*/ 54 w 108"/>
                <a:gd name="T1" fmla="*/ 0 h 107"/>
                <a:gd name="T2" fmla="*/ 65 w 108"/>
                <a:gd name="T3" fmla="*/ 1 h 107"/>
                <a:gd name="T4" fmla="*/ 75 w 108"/>
                <a:gd name="T5" fmla="*/ 3 h 107"/>
                <a:gd name="T6" fmla="*/ 84 w 108"/>
                <a:gd name="T7" fmla="*/ 9 h 107"/>
                <a:gd name="T8" fmla="*/ 92 w 108"/>
                <a:gd name="T9" fmla="*/ 17 h 107"/>
                <a:gd name="T10" fmla="*/ 98 w 108"/>
                <a:gd name="T11" fmla="*/ 24 h 107"/>
                <a:gd name="T12" fmla="*/ 104 w 108"/>
                <a:gd name="T13" fmla="*/ 32 h 107"/>
                <a:gd name="T14" fmla="*/ 108 w 108"/>
                <a:gd name="T15" fmla="*/ 44 h 107"/>
                <a:gd name="T16" fmla="*/ 108 w 108"/>
                <a:gd name="T17" fmla="*/ 53 h 107"/>
                <a:gd name="T18" fmla="*/ 108 w 108"/>
                <a:gd name="T19" fmla="*/ 65 h 107"/>
                <a:gd name="T20" fmla="*/ 104 w 108"/>
                <a:gd name="T21" fmla="*/ 74 h 107"/>
                <a:gd name="T22" fmla="*/ 98 w 108"/>
                <a:gd name="T23" fmla="*/ 84 h 107"/>
                <a:gd name="T24" fmla="*/ 92 w 108"/>
                <a:gd name="T25" fmla="*/ 92 h 107"/>
                <a:gd name="T26" fmla="*/ 84 w 108"/>
                <a:gd name="T27" fmla="*/ 97 h 107"/>
                <a:gd name="T28" fmla="*/ 75 w 108"/>
                <a:gd name="T29" fmla="*/ 103 h 107"/>
                <a:gd name="T30" fmla="*/ 65 w 108"/>
                <a:gd name="T31" fmla="*/ 107 h 107"/>
                <a:gd name="T32" fmla="*/ 54 w 108"/>
                <a:gd name="T33" fmla="*/ 107 h 107"/>
                <a:gd name="T34" fmla="*/ 44 w 108"/>
                <a:gd name="T35" fmla="*/ 107 h 107"/>
                <a:gd name="T36" fmla="*/ 33 w 108"/>
                <a:gd name="T37" fmla="*/ 103 h 107"/>
                <a:gd name="T38" fmla="*/ 25 w 108"/>
                <a:gd name="T39" fmla="*/ 97 h 107"/>
                <a:gd name="T40" fmla="*/ 17 w 108"/>
                <a:gd name="T41" fmla="*/ 92 h 107"/>
                <a:gd name="T42" fmla="*/ 10 w 108"/>
                <a:gd name="T43" fmla="*/ 84 h 107"/>
                <a:gd name="T44" fmla="*/ 4 w 108"/>
                <a:gd name="T45" fmla="*/ 74 h 107"/>
                <a:gd name="T46" fmla="*/ 2 w 108"/>
                <a:gd name="T47" fmla="*/ 65 h 107"/>
                <a:gd name="T48" fmla="*/ 0 w 108"/>
                <a:gd name="T49" fmla="*/ 53 h 107"/>
                <a:gd name="T50" fmla="*/ 2 w 108"/>
                <a:gd name="T51" fmla="*/ 44 h 107"/>
                <a:gd name="T52" fmla="*/ 4 w 108"/>
                <a:gd name="T53" fmla="*/ 32 h 107"/>
                <a:gd name="T54" fmla="*/ 10 w 108"/>
                <a:gd name="T55" fmla="*/ 24 h 107"/>
                <a:gd name="T56" fmla="*/ 17 w 108"/>
                <a:gd name="T57" fmla="*/ 17 h 107"/>
                <a:gd name="T58" fmla="*/ 25 w 108"/>
                <a:gd name="T59" fmla="*/ 9 h 107"/>
                <a:gd name="T60" fmla="*/ 33 w 108"/>
                <a:gd name="T61" fmla="*/ 3 h 107"/>
                <a:gd name="T62" fmla="*/ 44 w 108"/>
                <a:gd name="T63" fmla="*/ 1 h 107"/>
                <a:gd name="T64" fmla="*/ 54 w 108"/>
                <a:gd name="T65" fmla="*/ 0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8"/>
                <a:gd name="T100" fmla="*/ 0 h 107"/>
                <a:gd name="T101" fmla="*/ 108 w 108"/>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8" h="107">
                  <a:moveTo>
                    <a:pt x="54" y="0"/>
                  </a:moveTo>
                  <a:lnTo>
                    <a:pt x="65" y="1"/>
                  </a:lnTo>
                  <a:lnTo>
                    <a:pt x="75" y="3"/>
                  </a:lnTo>
                  <a:lnTo>
                    <a:pt x="84" y="9"/>
                  </a:lnTo>
                  <a:lnTo>
                    <a:pt x="92" y="17"/>
                  </a:lnTo>
                  <a:lnTo>
                    <a:pt x="98" y="24"/>
                  </a:lnTo>
                  <a:lnTo>
                    <a:pt x="104" y="32"/>
                  </a:lnTo>
                  <a:lnTo>
                    <a:pt x="108" y="44"/>
                  </a:lnTo>
                  <a:lnTo>
                    <a:pt x="108" y="53"/>
                  </a:lnTo>
                  <a:lnTo>
                    <a:pt x="108" y="65"/>
                  </a:lnTo>
                  <a:lnTo>
                    <a:pt x="104" y="74"/>
                  </a:lnTo>
                  <a:lnTo>
                    <a:pt x="98" y="84"/>
                  </a:lnTo>
                  <a:lnTo>
                    <a:pt x="92" y="92"/>
                  </a:lnTo>
                  <a:lnTo>
                    <a:pt x="84" y="97"/>
                  </a:lnTo>
                  <a:lnTo>
                    <a:pt x="75" y="103"/>
                  </a:lnTo>
                  <a:lnTo>
                    <a:pt x="65" y="107"/>
                  </a:lnTo>
                  <a:lnTo>
                    <a:pt x="54" y="107"/>
                  </a:lnTo>
                  <a:lnTo>
                    <a:pt x="44" y="107"/>
                  </a:lnTo>
                  <a:lnTo>
                    <a:pt x="33" y="103"/>
                  </a:lnTo>
                  <a:lnTo>
                    <a:pt x="25" y="97"/>
                  </a:lnTo>
                  <a:lnTo>
                    <a:pt x="17" y="92"/>
                  </a:lnTo>
                  <a:lnTo>
                    <a:pt x="10" y="84"/>
                  </a:lnTo>
                  <a:lnTo>
                    <a:pt x="4" y="74"/>
                  </a:lnTo>
                  <a:lnTo>
                    <a:pt x="2" y="65"/>
                  </a:lnTo>
                  <a:lnTo>
                    <a:pt x="0" y="53"/>
                  </a:lnTo>
                  <a:lnTo>
                    <a:pt x="2" y="44"/>
                  </a:lnTo>
                  <a:lnTo>
                    <a:pt x="4" y="32"/>
                  </a:lnTo>
                  <a:lnTo>
                    <a:pt x="10" y="24"/>
                  </a:lnTo>
                  <a:lnTo>
                    <a:pt x="17" y="17"/>
                  </a:lnTo>
                  <a:lnTo>
                    <a:pt x="25" y="9"/>
                  </a:lnTo>
                  <a:lnTo>
                    <a:pt x="33" y="3"/>
                  </a:lnTo>
                  <a:lnTo>
                    <a:pt x="44" y="1"/>
                  </a:lnTo>
                  <a:lnTo>
                    <a:pt x="54"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5" name="Freeform 24">
              <a:extLst>
                <a:ext uri="{FF2B5EF4-FFF2-40B4-BE49-F238E27FC236}">
                  <a16:creationId xmlns:a16="http://schemas.microsoft.com/office/drawing/2014/main" id="{F0D5D8B4-ECA6-D38F-F64E-0AC5DED1813F}"/>
                </a:ext>
              </a:extLst>
            </p:cNvPr>
            <p:cNvSpPr>
              <a:spLocks/>
            </p:cNvSpPr>
            <p:nvPr/>
          </p:nvSpPr>
          <p:spPr bwMode="auto">
            <a:xfrm>
              <a:off x="1553" y="3146"/>
              <a:ext cx="65" cy="65"/>
            </a:xfrm>
            <a:custGeom>
              <a:avLst/>
              <a:gdLst>
                <a:gd name="T0" fmla="*/ 65 w 65"/>
                <a:gd name="T1" fmla="*/ 65 h 65"/>
                <a:gd name="T2" fmla="*/ 65 w 65"/>
                <a:gd name="T3" fmla="*/ 52 h 65"/>
                <a:gd name="T4" fmla="*/ 61 w 65"/>
                <a:gd name="T5" fmla="*/ 40 h 65"/>
                <a:gd name="T6" fmla="*/ 54 w 65"/>
                <a:gd name="T7" fmla="*/ 29 h 65"/>
                <a:gd name="T8" fmla="*/ 46 w 65"/>
                <a:gd name="T9" fmla="*/ 19 h 65"/>
                <a:gd name="T10" fmla="*/ 36 w 65"/>
                <a:gd name="T11" fmla="*/ 12 h 65"/>
                <a:gd name="T12" fmla="*/ 25 w 65"/>
                <a:gd name="T13" fmla="*/ 6 h 65"/>
                <a:gd name="T14" fmla="*/ 13 w 65"/>
                <a:gd name="T15" fmla="*/ 2 h 65"/>
                <a:gd name="T16" fmla="*/ 0 w 65"/>
                <a:gd name="T17" fmla="*/ 0 h 65"/>
                <a:gd name="T18" fmla="*/ 0 w 65"/>
                <a:gd name="T19" fmla="*/ 23 h 65"/>
                <a:gd name="T20" fmla="*/ 9 w 65"/>
                <a:gd name="T21" fmla="*/ 25 h 65"/>
                <a:gd name="T22" fmla="*/ 17 w 65"/>
                <a:gd name="T23" fmla="*/ 27 h 65"/>
                <a:gd name="T24" fmla="*/ 25 w 65"/>
                <a:gd name="T25" fmla="*/ 31 h 65"/>
                <a:gd name="T26" fmla="*/ 30 w 65"/>
                <a:gd name="T27" fmla="*/ 36 h 65"/>
                <a:gd name="T28" fmla="*/ 36 w 65"/>
                <a:gd name="T29" fmla="*/ 42 h 65"/>
                <a:gd name="T30" fmla="*/ 40 w 65"/>
                <a:gd name="T31" fmla="*/ 50 h 65"/>
                <a:gd name="T32" fmla="*/ 42 w 65"/>
                <a:gd name="T33" fmla="*/ 58 h 65"/>
                <a:gd name="T34" fmla="*/ 42 w 65"/>
                <a:gd name="T35" fmla="*/ 65 h 65"/>
                <a:gd name="T36" fmla="*/ 65 w 65"/>
                <a:gd name="T37" fmla="*/ 65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5"/>
                <a:gd name="T59" fmla="*/ 65 w 65"/>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5">
                  <a:moveTo>
                    <a:pt x="65" y="65"/>
                  </a:moveTo>
                  <a:lnTo>
                    <a:pt x="65" y="52"/>
                  </a:lnTo>
                  <a:lnTo>
                    <a:pt x="61" y="40"/>
                  </a:lnTo>
                  <a:lnTo>
                    <a:pt x="54" y="29"/>
                  </a:lnTo>
                  <a:lnTo>
                    <a:pt x="46" y="19"/>
                  </a:lnTo>
                  <a:lnTo>
                    <a:pt x="36" y="12"/>
                  </a:lnTo>
                  <a:lnTo>
                    <a:pt x="25" y="6"/>
                  </a:lnTo>
                  <a:lnTo>
                    <a:pt x="13" y="2"/>
                  </a:lnTo>
                  <a:lnTo>
                    <a:pt x="0" y="0"/>
                  </a:lnTo>
                  <a:lnTo>
                    <a:pt x="0" y="23"/>
                  </a:lnTo>
                  <a:lnTo>
                    <a:pt x="9" y="25"/>
                  </a:lnTo>
                  <a:lnTo>
                    <a:pt x="17" y="27"/>
                  </a:lnTo>
                  <a:lnTo>
                    <a:pt x="25" y="31"/>
                  </a:lnTo>
                  <a:lnTo>
                    <a:pt x="30" y="36"/>
                  </a:lnTo>
                  <a:lnTo>
                    <a:pt x="36" y="42"/>
                  </a:lnTo>
                  <a:lnTo>
                    <a:pt x="40" y="50"/>
                  </a:lnTo>
                  <a:lnTo>
                    <a:pt x="42" y="58"/>
                  </a:lnTo>
                  <a:lnTo>
                    <a:pt x="42" y="65"/>
                  </a:lnTo>
                  <a:lnTo>
                    <a:pt x="65" y="65"/>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6" name="Freeform 25">
              <a:extLst>
                <a:ext uri="{FF2B5EF4-FFF2-40B4-BE49-F238E27FC236}">
                  <a16:creationId xmlns:a16="http://schemas.microsoft.com/office/drawing/2014/main" id="{4C522771-61C8-8670-A139-B28DF27119B8}"/>
                </a:ext>
              </a:extLst>
            </p:cNvPr>
            <p:cNvSpPr>
              <a:spLocks/>
            </p:cNvSpPr>
            <p:nvPr/>
          </p:nvSpPr>
          <p:spPr bwMode="auto">
            <a:xfrm>
              <a:off x="1553" y="3211"/>
              <a:ext cx="65" cy="65"/>
            </a:xfrm>
            <a:custGeom>
              <a:avLst/>
              <a:gdLst>
                <a:gd name="T0" fmla="*/ 0 w 65"/>
                <a:gd name="T1" fmla="*/ 65 h 65"/>
                <a:gd name="T2" fmla="*/ 13 w 65"/>
                <a:gd name="T3" fmla="*/ 65 h 65"/>
                <a:gd name="T4" fmla="*/ 25 w 65"/>
                <a:gd name="T5" fmla="*/ 62 h 65"/>
                <a:gd name="T6" fmla="*/ 36 w 65"/>
                <a:gd name="T7" fmla="*/ 54 h 65"/>
                <a:gd name="T8" fmla="*/ 46 w 65"/>
                <a:gd name="T9" fmla="*/ 46 h 65"/>
                <a:gd name="T10" fmla="*/ 54 w 65"/>
                <a:gd name="T11" fmla="*/ 37 h 65"/>
                <a:gd name="T12" fmla="*/ 61 w 65"/>
                <a:gd name="T13" fmla="*/ 25 h 65"/>
                <a:gd name="T14" fmla="*/ 65 w 65"/>
                <a:gd name="T15" fmla="*/ 14 h 65"/>
                <a:gd name="T16" fmla="*/ 65 w 65"/>
                <a:gd name="T17" fmla="*/ 0 h 65"/>
                <a:gd name="T18" fmla="*/ 42 w 65"/>
                <a:gd name="T19" fmla="*/ 0 h 65"/>
                <a:gd name="T20" fmla="*/ 42 w 65"/>
                <a:gd name="T21" fmla="*/ 10 h 65"/>
                <a:gd name="T22" fmla="*/ 40 w 65"/>
                <a:gd name="T23" fmla="*/ 18 h 65"/>
                <a:gd name="T24" fmla="*/ 36 w 65"/>
                <a:gd name="T25" fmla="*/ 25 h 65"/>
                <a:gd name="T26" fmla="*/ 30 w 65"/>
                <a:gd name="T27" fmla="*/ 31 h 65"/>
                <a:gd name="T28" fmla="*/ 25 w 65"/>
                <a:gd name="T29" fmla="*/ 37 h 65"/>
                <a:gd name="T30" fmla="*/ 17 w 65"/>
                <a:gd name="T31" fmla="*/ 41 h 65"/>
                <a:gd name="T32" fmla="*/ 9 w 65"/>
                <a:gd name="T33" fmla="*/ 42 h 65"/>
                <a:gd name="T34" fmla="*/ 0 w 65"/>
                <a:gd name="T35" fmla="*/ 42 h 65"/>
                <a:gd name="T36" fmla="*/ 0 w 65"/>
                <a:gd name="T37" fmla="*/ 65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65"/>
                <a:gd name="T59" fmla="*/ 65 w 65"/>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65">
                  <a:moveTo>
                    <a:pt x="0" y="65"/>
                  </a:moveTo>
                  <a:lnTo>
                    <a:pt x="13" y="65"/>
                  </a:lnTo>
                  <a:lnTo>
                    <a:pt x="25" y="62"/>
                  </a:lnTo>
                  <a:lnTo>
                    <a:pt x="36" y="54"/>
                  </a:lnTo>
                  <a:lnTo>
                    <a:pt x="46" y="46"/>
                  </a:lnTo>
                  <a:lnTo>
                    <a:pt x="54" y="37"/>
                  </a:lnTo>
                  <a:lnTo>
                    <a:pt x="61" y="25"/>
                  </a:lnTo>
                  <a:lnTo>
                    <a:pt x="65" y="14"/>
                  </a:lnTo>
                  <a:lnTo>
                    <a:pt x="65" y="0"/>
                  </a:lnTo>
                  <a:lnTo>
                    <a:pt x="42" y="0"/>
                  </a:lnTo>
                  <a:lnTo>
                    <a:pt x="42" y="10"/>
                  </a:lnTo>
                  <a:lnTo>
                    <a:pt x="40" y="18"/>
                  </a:lnTo>
                  <a:lnTo>
                    <a:pt x="36" y="25"/>
                  </a:lnTo>
                  <a:lnTo>
                    <a:pt x="30" y="31"/>
                  </a:lnTo>
                  <a:lnTo>
                    <a:pt x="25" y="37"/>
                  </a:lnTo>
                  <a:lnTo>
                    <a:pt x="17" y="41"/>
                  </a:lnTo>
                  <a:lnTo>
                    <a:pt x="9" y="42"/>
                  </a:lnTo>
                  <a:lnTo>
                    <a:pt x="0" y="42"/>
                  </a:lnTo>
                  <a:lnTo>
                    <a:pt x="0" y="65"/>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7" name="Freeform 26">
              <a:extLst>
                <a:ext uri="{FF2B5EF4-FFF2-40B4-BE49-F238E27FC236}">
                  <a16:creationId xmlns:a16="http://schemas.microsoft.com/office/drawing/2014/main" id="{24B77441-A071-C42F-6FCA-DFB032133D64}"/>
                </a:ext>
              </a:extLst>
            </p:cNvPr>
            <p:cNvSpPr>
              <a:spLocks/>
            </p:cNvSpPr>
            <p:nvPr/>
          </p:nvSpPr>
          <p:spPr bwMode="auto">
            <a:xfrm>
              <a:off x="1487" y="3211"/>
              <a:ext cx="66" cy="65"/>
            </a:xfrm>
            <a:custGeom>
              <a:avLst/>
              <a:gdLst>
                <a:gd name="T0" fmla="*/ 0 w 66"/>
                <a:gd name="T1" fmla="*/ 0 h 65"/>
                <a:gd name="T2" fmla="*/ 2 w 66"/>
                <a:gd name="T3" fmla="*/ 14 h 65"/>
                <a:gd name="T4" fmla="*/ 6 w 66"/>
                <a:gd name="T5" fmla="*/ 25 h 65"/>
                <a:gd name="T6" fmla="*/ 12 w 66"/>
                <a:gd name="T7" fmla="*/ 37 h 65"/>
                <a:gd name="T8" fmla="*/ 20 w 66"/>
                <a:gd name="T9" fmla="*/ 46 h 65"/>
                <a:gd name="T10" fmla="*/ 29 w 66"/>
                <a:gd name="T11" fmla="*/ 54 h 65"/>
                <a:gd name="T12" fmla="*/ 41 w 66"/>
                <a:gd name="T13" fmla="*/ 62 h 65"/>
                <a:gd name="T14" fmla="*/ 52 w 66"/>
                <a:gd name="T15" fmla="*/ 65 h 65"/>
                <a:gd name="T16" fmla="*/ 66 w 66"/>
                <a:gd name="T17" fmla="*/ 65 h 65"/>
                <a:gd name="T18" fmla="*/ 66 w 66"/>
                <a:gd name="T19" fmla="*/ 42 h 65"/>
                <a:gd name="T20" fmla="*/ 58 w 66"/>
                <a:gd name="T21" fmla="*/ 42 h 65"/>
                <a:gd name="T22" fmla="*/ 50 w 66"/>
                <a:gd name="T23" fmla="*/ 41 h 65"/>
                <a:gd name="T24" fmla="*/ 43 w 66"/>
                <a:gd name="T25" fmla="*/ 37 h 65"/>
                <a:gd name="T26" fmla="*/ 37 w 66"/>
                <a:gd name="T27" fmla="*/ 31 h 65"/>
                <a:gd name="T28" fmla="*/ 31 w 66"/>
                <a:gd name="T29" fmla="*/ 25 h 65"/>
                <a:gd name="T30" fmla="*/ 27 w 66"/>
                <a:gd name="T31" fmla="*/ 18 h 65"/>
                <a:gd name="T32" fmla="*/ 25 w 66"/>
                <a:gd name="T33" fmla="*/ 10 h 65"/>
                <a:gd name="T34" fmla="*/ 24 w 66"/>
                <a:gd name="T35" fmla="*/ 0 h 65"/>
                <a:gd name="T36" fmla="*/ 0 w 66"/>
                <a:gd name="T37" fmla="*/ 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5"/>
                <a:gd name="T59" fmla="*/ 66 w 66"/>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5">
                  <a:moveTo>
                    <a:pt x="0" y="0"/>
                  </a:moveTo>
                  <a:lnTo>
                    <a:pt x="2" y="14"/>
                  </a:lnTo>
                  <a:lnTo>
                    <a:pt x="6" y="25"/>
                  </a:lnTo>
                  <a:lnTo>
                    <a:pt x="12" y="37"/>
                  </a:lnTo>
                  <a:lnTo>
                    <a:pt x="20" y="46"/>
                  </a:lnTo>
                  <a:lnTo>
                    <a:pt x="29" y="54"/>
                  </a:lnTo>
                  <a:lnTo>
                    <a:pt x="41" y="62"/>
                  </a:lnTo>
                  <a:lnTo>
                    <a:pt x="52" y="65"/>
                  </a:lnTo>
                  <a:lnTo>
                    <a:pt x="66" y="65"/>
                  </a:lnTo>
                  <a:lnTo>
                    <a:pt x="66" y="42"/>
                  </a:lnTo>
                  <a:lnTo>
                    <a:pt x="58" y="42"/>
                  </a:lnTo>
                  <a:lnTo>
                    <a:pt x="50" y="41"/>
                  </a:lnTo>
                  <a:lnTo>
                    <a:pt x="43" y="37"/>
                  </a:lnTo>
                  <a:lnTo>
                    <a:pt x="37" y="31"/>
                  </a:lnTo>
                  <a:lnTo>
                    <a:pt x="31" y="25"/>
                  </a:lnTo>
                  <a:lnTo>
                    <a:pt x="27" y="18"/>
                  </a:lnTo>
                  <a:lnTo>
                    <a:pt x="25" y="10"/>
                  </a:lnTo>
                  <a:lnTo>
                    <a:pt x="24" y="0"/>
                  </a:lnTo>
                  <a:lnTo>
                    <a:pt x="0"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8" name="Freeform 27">
              <a:extLst>
                <a:ext uri="{FF2B5EF4-FFF2-40B4-BE49-F238E27FC236}">
                  <a16:creationId xmlns:a16="http://schemas.microsoft.com/office/drawing/2014/main" id="{19D72A1D-7388-F67B-3C36-4277D7004725}"/>
                </a:ext>
              </a:extLst>
            </p:cNvPr>
            <p:cNvSpPr>
              <a:spLocks/>
            </p:cNvSpPr>
            <p:nvPr/>
          </p:nvSpPr>
          <p:spPr bwMode="auto">
            <a:xfrm>
              <a:off x="1487" y="3146"/>
              <a:ext cx="66" cy="65"/>
            </a:xfrm>
            <a:custGeom>
              <a:avLst/>
              <a:gdLst>
                <a:gd name="T0" fmla="*/ 66 w 66"/>
                <a:gd name="T1" fmla="*/ 0 h 65"/>
                <a:gd name="T2" fmla="*/ 52 w 66"/>
                <a:gd name="T3" fmla="*/ 2 h 65"/>
                <a:gd name="T4" fmla="*/ 41 w 66"/>
                <a:gd name="T5" fmla="*/ 6 h 65"/>
                <a:gd name="T6" fmla="*/ 29 w 66"/>
                <a:gd name="T7" fmla="*/ 12 h 65"/>
                <a:gd name="T8" fmla="*/ 20 w 66"/>
                <a:gd name="T9" fmla="*/ 19 h 65"/>
                <a:gd name="T10" fmla="*/ 12 w 66"/>
                <a:gd name="T11" fmla="*/ 29 h 65"/>
                <a:gd name="T12" fmla="*/ 6 w 66"/>
                <a:gd name="T13" fmla="*/ 40 h 65"/>
                <a:gd name="T14" fmla="*/ 2 w 66"/>
                <a:gd name="T15" fmla="*/ 52 h 65"/>
                <a:gd name="T16" fmla="*/ 0 w 66"/>
                <a:gd name="T17" fmla="*/ 65 h 65"/>
                <a:gd name="T18" fmla="*/ 24 w 66"/>
                <a:gd name="T19" fmla="*/ 65 h 65"/>
                <a:gd name="T20" fmla="*/ 25 w 66"/>
                <a:gd name="T21" fmla="*/ 58 h 65"/>
                <a:gd name="T22" fmla="*/ 27 w 66"/>
                <a:gd name="T23" fmla="*/ 50 h 65"/>
                <a:gd name="T24" fmla="*/ 31 w 66"/>
                <a:gd name="T25" fmla="*/ 42 h 65"/>
                <a:gd name="T26" fmla="*/ 37 w 66"/>
                <a:gd name="T27" fmla="*/ 36 h 65"/>
                <a:gd name="T28" fmla="*/ 43 w 66"/>
                <a:gd name="T29" fmla="*/ 31 h 65"/>
                <a:gd name="T30" fmla="*/ 50 w 66"/>
                <a:gd name="T31" fmla="*/ 27 h 65"/>
                <a:gd name="T32" fmla="*/ 58 w 66"/>
                <a:gd name="T33" fmla="*/ 25 h 65"/>
                <a:gd name="T34" fmla="*/ 66 w 66"/>
                <a:gd name="T35" fmla="*/ 23 h 65"/>
                <a:gd name="T36" fmla="*/ 66 w 66"/>
                <a:gd name="T37" fmla="*/ 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65"/>
                <a:gd name="T59" fmla="*/ 66 w 66"/>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65">
                  <a:moveTo>
                    <a:pt x="66" y="0"/>
                  </a:moveTo>
                  <a:lnTo>
                    <a:pt x="52" y="2"/>
                  </a:lnTo>
                  <a:lnTo>
                    <a:pt x="41" y="6"/>
                  </a:lnTo>
                  <a:lnTo>
                    <a:pt x="29" y="12"/>
                  </a:lnTo>
                  <a:lnTo>
                    <a:pt x="20" y="19"/>
                  </a:lnTo>
                  <a:lnTo>
                    <a:pt x="12" y="29"/>
                  </a:lnTo>
                  <a:lnTo>
                    <a:pt x="6" y="40"/>
                  </a:lnTo>
                  <a:lnTo>
                    <a:pt x="2" y="52"/>
                  </a:lnTo>
                  <a:lnTo>
                    <a:pt x="0" y="65"/>
                  </a:lnTo>
                  <a:lnTo>
                    <a:pt x="24" y="65"/>
                  </a:lnTo>
                  <a:lnTo>
                    <a:pt x="25" y="58"/>
                  </a:lnTo>
                  <a:lnTo>
                    <a:pt x="27" y="50"/>
                  </a:lnTo>
                  <a:lnTo>
                    <a:pt x="31" y="42"/>
                  </a:lnTo>
                  <a:lnTo>
                    <a:pt x="37" y="36"/>
                  </a:lnTo>
                  <a:lnTo>
                    <a:pt x="43" y="31"/>
                  </a:lnTo>
                  <a:lnTo>
                    <a:pt x="50" y="27"/>
                  </a:lnTo>
                  <a:lnTo>
                    <a:pt x="58" y="25"/>
                  </a:lnTo>
                  <a:lnTo>
                    <a:pt x="66" y="23"/>
                  </a:lnTo>
                  <a:lnTo>
                    <a:pt x="66" y="0"/>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49" name="Freeform 28">
              <a:extLst>
                <a:ext uri="{FF2B5EF4-FFF2-40B4-BE49-F238E27FC236}">
                  <a16:creationId xmlns:a16="http://schemas.microsoft.com/office/drawing/2014/main" id="{F002A3AC-6D40-0342-4EEA-CD58BAEB4565}"/>
                </a:ext>
              </a:extLst>
            </p:cNvPr>
            <p:cNvSpPr>
              <a:spLocks/>
            </p:cNvSpPr>
            <p:nvPr/>
          </p:nvSpPr>
          <p:spPr bwMode="auto">
            <a:xfrm>
              <a:off x="2167" y="3451"/>
              <a:ext cx="893" cy="23"/>
            </a:xfrm>
            <a:custGeom>
              <a:avLst/>
              <a:gdLst>
                <a:gd name="T0" fmla="*/ 893 w 893"/>
                <a:gd name="T1" fmla="*/ 12 h 23"/>
                <a:gd name="T2" fmla="*/ 893 w 893"/>
                <a:gd name="T3" fmla="*/ 0 h 23"/>
                <a:gd name="T4" fmla="*/ 0 w 893"/>
                <a:gd name="T5" fmla="*/ 0 h 23"/>
                <a:gd name="T6" fmla="*/ 0 w 893"/>
                <a:gd name="T7" fmla="*/ 23 h 23"/>
                <a:gd name="T8" fmla="*/ 893 w 893"/>
                <a:gd name="T9" fmla="*/ 23 h 23"/>
                <a:gd name="T10" fmla="*/ 893 w 893"/>
                <a:gd name="T11" fmla="*/ 12 h 23"/>
                <a:gd name="T12" fmla="*/ 0 60000 65536"/>
                <a:gd name="T13" fmla="*/ 0 60000 65536"/>
                <a:gd name="T14" fmla="*/ 0 60000 65536"/>
                <a:gd name="T15" fmla="*/ 0 60000 65536"/>
                <a:gd name="T16" fmla="*/ 0 60000 65536"/>
                <a:gd name="T17" fmla="*/ 0 60000 65536"/>
                <a:gd name="T18" fmla="*/ 0 w 893"/>
                <a:gd name="T19" fmla="*/ 0 h 23"/>
                <a:gd name="T20" fmla="*/ 893 w 893"/>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893" h="23">
                  <a:moveTo>
                    <a:pt x="893" y="12"/>
                  </a:moveTo>
                  <a:lnTo>
                    <a:pt x="893" y="0"/>
                  </a:lnTo>
                  <a:lnTo>
                    <a:pt x="0" y="0"/>
                  </a:lnTo>
                  <a:lnTo>
                    <a:pt x="0" y="23"/>
                  </a:lnTo>
                  <a:lnTo>
                    <a:pt x="893" y="23"/>
                  </a:lnTo>
                  <a:lnTo>
                    <a:pt x="893" y="12"/>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0" name="Freeform 29">
              <a:extLst>
                <a:ext uri="{FF2B5EF4-FFF2-40B4-BE49-F238E27FC236}">
                  <a16:creationId xmlns:a16="http://schemas.microsoft.com/office/drawing/2014/main" id="{EDA4E55E-C728-0C26-F6E0-95FEEE9A555D}"/>
                </a:ext>
              </a:extLst>
            </p:cNvPr>
            <p:cNvSpPr>
              <a:spLocks/>
            </p:cNvSpPr>
            <p:nvPr/>
          </p:nvSpPr>
          <p:spPr bwMode="auto">
            <a:xfrm>
              <a:off x="2981" y="3395"/>
              <a:ext cx="104" cy="77"/>
            </a:xfrm>
            <a:custGeom>
              <a:avLst/>
              <a:gdLst>
                <a:gd name="T0" fmla="*/ 104 w 104"/>
                <a:gd name="T1" fmla="*/ 77 h 77"/>
                <a:gd name="T2" fmla="*/ 104 w 104"/>
                <a:gd name="T3" fmla="*/ 58 h 77"/>
                <a:gd name="T4" fmla="*/ 13 w 104"/>
                <a:gd name="T5" fmla="*/ 0 h 77"/>
                <a:gd name="T6" fmla="*/ 0 w 104"/>
                <a:gd name="T7" fmla="*/ 20 h 77"/>
                <a:gd name="T8" fmla="*/ 90 w 104"/>
                <a:gd name="T9" fmla="*/ 77 h 77"/>
                <a:gd name="T10" fmla="*/ 90 w 104"/>
                <a:gd name="T11" fmla="*/ 58 h 77"/>
                <a:gd name="T12" fmla="*/ 104 w 104"/>
                <a:gd name="T13" fmla="*/ 77 h 77"/>
                <a:gd name="T14" fmla="*/ 0 60000 65536"/>
                <a:gd name="T15" fmla="*/ 0 60000 65536"/>
                <a:gd name="T16" fmla="*/ 0 60000 65536"/>
                <a:gd name="T17" fmla="*/ 0 60000 65536"/>
                <a:gd name="T18" fmla="*/ 0 60000 65536"/>
                <a:gd name="T19" fmla="*/ 0 60000 65536"/>
                <a:gd name="T20" fmla="*/ 0 60000 65536"/>
                <a:gd name="T21" fmla="*/ 0 w 104"/>
                <a:gd name="T22" fmla="*/ 0 h 77"/>
                <a:gd name="T23" fmla="*/ 104 w 104"/>
                <a:gd name="T24" fmla="*/ 77 h 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77">
                  <a:moveTo>
                    <a:pt x="104" y="77"/>
                  </a:moveTo>
                  <a:lnTo>
                    <a:pt x="104" y="58"/>
                  </a:lnTo>
                  <a:lnTo>
                    <a:pt x="13" y="0"/>
                  </a:lnTo>
                  <a:lnTo>
                    <a:pt x="0" y="20"/>
                  </a:lnTo>
                  <a:lnTo>
                    <a:pt x="90" y="77"/>
                  </a:lnTo>
                  <a:lnTo>
                    <a:pt x="90" y="58"/>
                  </a:lnTo>
                  <a:lnTo>
                    <a:pt x="104" y="77"/>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1" name="Freeform 30">
              <a:extLst>
                <a:ext uri="{FF2B5EF4-FFF2-40B4-BE49-F238E27FC236}">
                  <a16:creationId xmlns:a16="http://schemas.microsoft.com/office/drawing/2014/main" id="{695F3A74-7774-661B-41C3-D17CC7B95C4C}"/>
                </a:ext>
              </a:extLst>
            </p:cNvPr>
            <p:cNvSpPr>
              <a:spLocks/>
            </p:cNvSpPr>
            <p:nvPr/>
          </p:nvSpPr>
          <p:spPr bwMode="auto">
            <a:xfrm>
              <a:off x="3079" y="3453"/>
              <a:ext cx="6" cy="19"/>
            </a:xfrm>
            <a:custGeom>
              <a:avLst/>
              <a:gdLst>
                <a:gd name="T0" fmla="*/ 6 w 6"/>
                <a:gd name="T1" fmla="*/ 19 h 19"/>
                <a:gd name="T2" fmla="*/ 0 w 6"/>
                <a:gd name="T3" fmla="*/ 10 h 19"/>
                <a:gd name="T4" fmla="*/ 6 w 6"/>
                <a:gd name="T5" fmla="*/ 0 h 19"/>
                <a:gd name="T6" fmla="*/ 6 w 6"/>
                <a:gd name="T7" fmla="*/ 19 h 19"/>
                <a:gd name="T8" fmla="*/ 0 60000 65536"/>
                <a:gd name="T9" fmla="*/ 0 60000 65536"/>
                <a:gd name="T10" fmla="*/ 0 60000 65536"/>
                <a:gd name="T11" fmla="*/ 0 60000 65536"/>
                <a:gd name="T12" fmla="*/ 0 w 6"/>
                <a:gd name="T13" fmla="*/ 0 h 19"/>
                <a:gd name="T14" fmla="*/ 6 w 6"/>
                <a:gd name="T15" fmla="*/ 19 h 19"/>
              </a:gdLst>
              <a:ahLst/>
              <a:cxnLst>
                <a:cxn ang="T8">
                  <a:pos x="T0" y="T1"/>
                </a:cxn>
                <a:cxn ang="T9">
                  <a:pos x="T2" y="T3"/>
                </a:cxn>
                <a:cxn ang="T10">
                  <a:pos x="T4" y="T5"/>
                </a:cxn>
                <a:cxn ang="T11">
                  <a:pos x="T6" y="T7"/>
                </a:cxn>
              </a:cxnLst>
              <a:rect l="T12" t="T13" r="T14" b="T15"/>
              <a:pathLst>
                <a:path w="6" h="19">
                  <a:moveTo>
                    <a:pt x="6" y="19"/>
                  </a:moveTo>
                  <a:lnTo>
                    <a:pt x="0" y="10"/>
                  </a:lnTo>
                  <a:lnTo>
                    <a:pt x="6" y="0"/>
                  </a:lnTo>
                  <a:lnTo>
                    <a:pt x="6" y="1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2" name="Freeform 31">
              <a:extLst>
                <a:ext uri="{FF2B5EF4-FFF2-40B4-BE49-F238E27FC236}">
                  <a16:creationId xmlns:a16="http://schemas.microsoft.com/office/drawing/2014/main" id="{E3ABB26F-A651-5734-18F7-6BB98EA8A539}"/>
                </a:ext>
              </a:extLst>
            </p:cNvPr>
            <p:cNvSpPr>
              <a:spLocks/>
            </p:cNvSpPr>
            <p:nvPr/>
          </p:nvSpPr>
          <p:spPr bwMode="auto">
            <a:xfrm>
              <a:off x="2981" y="3453"/>
              <a:ext cx="104" cy="79"/>
            </a:xfrm>
            <a:custGeom>
              <a:avLst/>
              <a:gdLst>
                <a:gd name="T0" fmla="*/ 6 w 104"/>
                <a:gd name="T1" fmla="*/ 69 h 79"/>
                <a:gd name="T2" fmla="*/ 13 w 104"/>
                <a:gd name="T3" fmla="*/ 79 h 79"/>
                <a:gd name="T4" fmla="*/ 104 w 104"/>
                <a:gd name="T5" fmla="*/ 19 h 79"/>
                <a:gd name="T6" fmla="*/ 90 w 104"/>
                <a:gd name="T7" fmla="*/ 0 h 79"/>
                <a:gd name="T8" fmla="*/ 0 w 104"/>
                <a:gd name="T9" fmla="*/ 59 h 79"/>
                <a:gd name="T10" fmla="*/ 6 w 104"/>
                <a:gd name="T11" fmla="*/ 69 h 79"/>
                <a:gd name="T12" fmla="*/ 0 60000 65536"/>
                <a:gd name="T13" fmla="*/ 0 60000 65536"/>
                <a:gd name="T14" fmla="*/ 0 60000 65536"/>
                <a:gd name="T15" fmla="*/ 0 60000 65536"/>
                <a:gd name="T16" fmla="*/ 0 60000 65536"/>
                <a:gd name="T17" fmla="*/ 0 60000 65536"/>
                <a:gd name="T18" fmla="*/ 0 w 104"/>
                <a:gd name="T19" fmla="*/ 0 h 79"/>
                <a:gd name="T20" fmla="*/ 104 w 104"/>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104" h="79">
                  <a:moveTo>
                    <a:pt x="6" y="69"/>
                  </a:moveTo>
                  <a:lnTo>
                    <a:pt x="13" y="79"/>
                  </a:lnTo>
                  <a:lnTo>
                    <a:pt x="104" y="19"/>
                  </a:lnTo>
                  <a:lnTo>
                    <a:pt x="90" y="0"/>
                  </a:lnTo>
                  <a:lnTo>
                    <a:pt x="0" y="59"/>
                  </a:lnTo>
                  <a:lnTo>
                    <a:pt x="6" y="6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3" name="Freeform 32">
              <a:extLst>
                <a:ext uri="{FF2B5EF4-FFF2-40B4-BE49-F238E27FC236}">
                  <a16:creationId xmlns:a16="http://schemas.microsoft.com/office/drawing/2014/main" id="{5DB99042-18C9-E35C-199D-72DEF63E36D6}"/>
                </a:ext>
              </a:extLst>
            </p:cNvPr>
            <p:cNvSpPr>
              <a:spLocks/>
            </p:cNvSpPr>
            <p:nvPr/>
          </p:nvSpPr>
          <p:spPr bwMode="auto">
            <a:xfrm>
              <a:off x="1228" y="2960"/>
              <a:ext cx="893" cy="23"/>
            </a:xfrm>
            <a:custGeom>
              <a:avLst/>
              <a:gdLst>
                <a:gd name="T0" fmla="*/ 893 w 893"/>
                <a:gd name="T1" fmla="*/ 11 h 23"/>
                <a:gd name="T2" fmla="*/ 893 w 893"/>
                <a:gd name="T3" fmla="*/ 0 h 23"/>
                <a:gd name="T4" fmla="*/ 0 w 893"/>
                <a:gd name="T5" fmla="*/ 0 h 23"/>
                <a:gd name="T6" fmla="*/ 0 w 893"/>
                <a:gd name="T7" fmla="*/ 23 h 23"/>
                <a:gd name="T8" fmla="*/ 893 w 893"/>
                <a:gd name="T9" fmla="*/ 23 h 23"/>
                <a:gd name="T10" fmla="*/ 893 w 893"/>
                <a:gd name="T11" fmla="*/ 11 h 23"/>
                <a:gd name="T12" fmla="*/ 0 60000 65536"/>
                <a:gd name="T13" fmla="*/ 0 60000 65536"/>
                <a:gd name="T14" fmla="*/ 0 60000 65536"/>
                <a:gd name="T15" fmla="*/ 0 60000 65536"/>
                <a:gd name="T16" fmla="*/ 0 60000 65536"/>
                <a:gd name="T17" fmla="*/ 0 60000 65536"/>
                <a:gd name="T18" fmla="*/ 0 w 893"/>
                <a:gd name="T19" fmla="*/ 0 h 23"/>
                <a:gd name="T20" fmla="*/ 893 w 893"/>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893" h="23">
                  <a:moveTo>
                    <a:pt x="893" y="11"/>
                  </a:moveTo>
                  <a:lnTo>
                    <a:pt x="893" y="0"/>
                  </a:lnTo>
                  <a:lnTo>
                    <a:pt x="0" y="0"/>
                  </a:lnTo>
                  <a:lnTo>
                    <a:pt x="0" y="23"/>
                  </a:lnTo>
                  <a:lnTo>
                    <a:pt x="893" y="23"/>
                  </a:lnTo>
                  <a:lnTo>
                    <a:pt x="893" y="11"/>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4" name="Freeform 33">
              <a:extLst>
                <a:ext uri="{FF2B5EF4-FFF2-40B4-BE49-F238E27FC236}">
                  <a16:creationId xmlns:a16="http://schemas.microsoft.com/office/drawing/2014/main" id="{9F466B12-710B-E781-EF94-73D78D2AF32C}"/>
                </a:ext>
              </a:extLst>
            </p:cNvPr>
            <p:cNvSpPr>
              <a:spLocks/>
            </p:cNvSpPr>
            <p:nvPr/>
          </p:nvSpPr>
          <p:spPr bwMode="auto">
            <a:xfrm>
              <a:off x="2042" y="2902"/>
              <a:ext cx="104" cy="79"/>
            </a:xfrm>
            <a:custGeom>
              <a:avLst/>
              <a:gdLst>
                <a:gd name="T0" fmla="*/ 104 w 104"/>
                <a:gd name="T1" fmla="*/ 79 h 79"/>
                <a:gd name="T2" fmla="*/ 104 w 104"/>
                <a:gd name="T3" fmla="*/ 60 h 79"/>
                <a:gd name="T4" fmla="*/ 12 w 104"/>
                <a:gd name="T5" fmla="*/ 0 h 79"/>
                <a:gd name="T6" fmla="*/ 0 w 104"/>
                <a:gd name="T7" fmla="*/ 20 h 79"/>
                <a:gd name="T8" fmla="*/ 90 w 104"/>
                <a:gd name="T9" fmla="*/ 79 h 79"/>
                <a:gd name="T10" fmla="*/ 90 w 104"/>
                <a:gd name="T11" fmla="*/ 60 h 79"/>
                <a:gd name="T12" fmla="*/ 104 w 104"/>
                <a:gd name="T13" fmla="*/ 79 h 79"/>
                <a:gd name="T14" fmla="*/ 0 60000 65536"/>
                <a:gd name="T15" fmla="*/ 0 60000 65536"/>
                <a:gd name="T16" fmla="*/ 0 60000 65536"/>
                <a:gd name="T17" fmla="*/ 0 60000 65536"/>
                <a:gd name="T18" fmla="*/ 0 60000 65536"/>
                <a:gd name="T19" fmla="*/ 0 60000 65536"/>
                <a:gd name="T20" fmla="*/ 0 60000 65536"/>
                <a:gd name="T21" fmla="*/ 0 w 104"/>
                <a:gd name="T22" fmla="*/ 0 h 79"/>
                <a:gd name="T23" fmla="*/ 104 w 104"/>
                <a:gd name="T24" fmla="*/ 79 h 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79">
                  <a:moveTo>
                    <a:pt x="104" y="79"/>
                  </a:moveTo>
                  <a:lnTo>
                    <a:pt x="104" y="60"/>
                  </a:lnTo>
                  <a:lnTo>
                    <a:pt x="12" y="0"/>
                  </a:lnTo>
                  <a:lnTo>
                    <a:pt x="0" y="20"/>
                  </a:lnTo>
                  <a:lnTo>
                    <a:pt x="90" y="79"/>
                  </a:lnTo>
                  <a:lnTo>
                    <a:pt x="90" y="60"/>
                  </a:lnTo>
                  <a:lnTo>
                    <a:pt x="104" y="7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5" name="Freeform 34">
              <a:extLst>
                <a:ext uri="{FF2B5EF4-FFF2-40B4-BE49-F238E27FC236}">
                  <a16:creationId xmlns:a16="http://schemas.microsoft.com/office/drawing/2014/main" id="{00B8510F-C235-87AE-43FA-A784A10D6453}"/>
                </a:ext>
              </a:extLst>
            </p:cNvPr>
            <p:cNvSpPr>
              <a:spLocks/>
            </p:cNvSpPr>
            <p:nvPr/>
          </p:nvSpPr>
          <p:spPr bwMode="auto">
            <a:xfrm>
              <a:off x="2138" y="2962"/>
              <a:ext cx="8" cy="19"/>
            </a:xfrm>
            <a:custGeom>
              <a:avLst/>
              <a:gdLst>
                <a:gd name="T0" fmla="*/ 8 w 8"/>
                <a:gd name="T1" fmla="*/ 19 h 19"/>
                <a:gd name="T2" fmla="*/ 0 w 8"/>
                <a:gd name="T3" fmla="*/ 9 h 19"/>
                <a:gd name="T4" fmla="*/ 8 w 8"/>
                <a:gd name="T5" fmla="*/ 0 h 19"/>
                <a:gd name="T6" fmla="*/ 8 w 8"/>
                <a:gd name="T7" fmla="*/ 19 h 19"/>
                <a:gd name="T8" fmla="*/ 0 60000 65536"/>
                <a:gd name="T9" fmla="*/ 0 60000 65536"/>
                <a:gd name="T10" fmla="*/ 0 60000 65536"/>
                <a:gd name="T11" fmla="*/ 0 60000 65536"/>
                <a:gd name="T12" fmla="*/ 0 w 8"/>
                <a:gd name="T13" fmla="*/ 0 h 19"/>
                <a:gd name="T14" fmla="*/ 8 w 8"/>
                <a:gd name="T15" fmla="*/ 19 h 19"/>
              </a:gdLst>
              <a:ahLst/>
              <a:cxnLst>
                <a:cxn ang="T8">
                  <a:pos x="T0" y="T1"/>
                </a:cxn>
                <a:cxn ang="T9">
                  <a:pos x="T2" y="T3"/>
                </a:cxn>
                <a:cxn ang="T10">
                  <a:pos x="T4" y="T5"/>
                </a:cxn>
                <a:cxn ang="T11">
                  <a:pos x="T6" y="T7"/>
                </a:cxn>
              </a:cxnLst>
              <a:rect l="T12" t="T13" r="T14" b="T15"/>
              <a:pathLst>
                <a:path w="8" h="19">
                  <a:moveTo>
                    <a:pt x="8" y="19"/>
                  </a:moveTo>
                  <a:lnTo>
                    <a:pt x="0" y="9"/>
                  </a:lnTo>
                  <a:lnTo>
                    <a:pt x="8" y="0"/>
                  </a:lnTo>
                  <a:lnTo>
                    <a:pt x="8" y="1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6" name="Freeform 35">
              <a:extLst>
                <a:ext uri="{FF2B5EF4-FFF2-40B4-BE49-F238E27FC236}">
                  <a16:creationId xmlns:a16="http://schemas.microsoft.com/office/drawing/2014/main" id="{7400538D-72C0-38A4-E8AC-B3FC0BCA7244}"/>
                </a:ext>
              </a:extLst>
            </p:cNvPr>
            <p:cNvSpPr>
              <a:spLocks/>
            </p:cNvSpPr>
            <p:nvPr/>
          </p:nvSpPr>
          <p:spPr bwMode="auto">
            <a:xfrm>
              <a:off x="2042" y="2962"/>
              <a:ext cx="104" cy="79"/>
            </a:xfrm>
            <a:custGeom>
              <a:avLst/>
              <a:gdLst>
                <a:gd name="T0" fmla="*/ 6 w 104"/>
                <a:gd name="T1" fmla="*/ 69 h 79"/>
                <a:gd name="T2" fmla="*/ 12 w 104"/>
                <a:gd name="T3" fmla="*/ 79 h 79"/>
                <a:gd name="T4" fmla="*/ 104 w 104"/>
                <a:gd name="T5" fmla="*/ 19 h 79"/>
                <a:gd name="T6" fmla="*/ 90 w 104"/>
                <a:gd name="T7" fmla="*/ 0 h 79"/>
                <a:gd name="T8" fmla="*/ 0 w 104"/>
                <a:gd name="T9" fmla="*/ 59 h 79"/>
                <a:gd name="T10" fmla="*/ 6 w 104"/>
                <a:gd name="T11" fmla="*/ 69 h 79"/>
                <a:gd name="T12" fmla="*/ 0 60000 65536"/>
                <a:gd name="T13" fmla="*/ 0 60000 65536"/>
                <a:gd name="T14" fmla="*/ 0 60000 65536"/>
                <a:gd name="T15" fmla="*/ 0 60000 65536"/>
                <a:gd name="T16" fmla="*/ 0 60000 65536"/>
                <a:gd name="T17" fmla="*/ 0 60000 65536"/>
                <a:gd name="T18" fmla="*/ 0 w 104"/>
                <a:gd name="T19" fmla="*/ 0 h 79"/>
                <a:gd name="T20" fmla="*/ 104 w 104"/>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104" h="79">
                  <a:moveTo>
                    <a:pt x="6" y="69"/>
                  </a:moveTo>
                  <a:lnTo>
                    <a:pt x="12" y="79"/>
                  </a:lnTo>
                  <a:lnTo>
                    <a:pt x="104" y="19"/>
                  </a:lnTo>
                  <a:lnTo>
                    <a:pt x="90" y="0"/>
                  </a:lnTo>
                  <a:lnTo>
                    <a:pt x="0" y="59"/>
                  </a:lnTo>
                  <a:lnTo>
                    <a:pt x="6" y="6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7" name="Freeform 36">
              <a:extLst>
                <a:ext uri="{FF2B5EF4-FFF2-40B4-BE49-F238E27FC236}">
                  <a16:creationId xmlns:a16="http://schemas.microsoft.com/office/drawing/2014/main" id="{D9A8637D-DBCF-D733-F891-539178D65380}"/>
                </a:ext>
              </a:extLst>
            </p:cNvPr>
            <p:cNvSpPr>
              <a:spLocks/>
            </p:cNvSpPr>
            <p:nvPr/>
          </p:nvSpPr>
          <p:spPr bwMode="auto">
            <a:xfrm>
              <a:off x="2597" y="2841"/>
              <a:ext cx="893" cy="23"/>
            </a:xfrm>
            <a:custGeom>
              <a:avLst/>
              <a:gdLst>
                <a:gd name="T0" fmla="*/ 893 w 893"/>
                <a:gd name="T1" fmla="*/ 11 h 23"/>
                <a:gd name="T2" fmla="*/ 893 w 893"/>
                <a:gd name="T3" fmla="*/ 0 h 23"/>
                <a:gd name="T4" fmla="*/ 0 w 893"/>
                <a:gd name="T5" fmla="*/ 0 h 23"/>
                <a:gd name="T6" fmla="*/ 0 w 893"/>
                <a:gd name="T7" fmla="*/ 23 h 23"/>
                <a:gd name="T8" fmla="*/ 893 w 893"/>
                <a:gd name="T9" fmla="*/ 23 h 23"/>
                <a:gd name="T10" fmla="*/ 893 w 893"/>
                <a:gd name="T11" fmla="*/ 11 h 23"/>
                <a:gd name="T12" fmla="*/ 0 60000 65536"/>
                <a:gd name="T13" fmla="*/ 0 60000 65536"/>
                <a:gd name="T14" fmla="*/ 0 60000 65536"/>
                <a:gd name="T15" fmla="*/ 0 60000 65536"/>
                <a:gd name="T16" fmla="*/ 0 60000 65536"/>
                <a:gd name="T17" fmla="*/ 0 60000 65536"/>
                <a:gd name="T18" fmla="*/ 0 w 893"/>
                <a:gd name="T19" fmla="*/ 0 h 23"/>
                <a:gd name="T20" fmla="*/ 893 w 893"/>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893" h="23">
                  <a:moveTo>
                    <a:pt x="893" y="11"/>
                  </a:moveTo>
                  <a:lnTo>
                    <a:pt x="893" y="0"/>
                  </a:lnTo>
                  <a:lnTo>
                    <a:pt x="0" y="0"/>
                  </a:lnTo>
                  <a:lnTo>
                    <a:pt x="0" y="23"/>
                  </a:lnTo>
                  <a:lnTo>
                    <a:pt x="893" y="23"/>
                  </a:lnTo>
                  <a:lnTo>
                    <a:pt x="893" y="11"/>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8" name="Freeform 37">
              <a:extLst>
                <a:ext uri="{FF2B5EF4-FFF2-40B4-BE49-F238E27FC236}">
                  <a16:creationId xmlns:a16="http://schemas.microsoft.com/office/drawing/2014/main" id="{B74A39C3-C2AE-479F-CC2A-5B1342651148}"/>
                </a:ext>
              </a:extLst>
            </p:cNvPr>
            <p:cNvSpPr>
              <a:spLocks/>
            </p:cNvSpPr>
            <p:nvPr/>
          </p:nvSpPr>
          <p:spPr bwMode="auto">
            <a:xfrm>
              <a:off x="3411" y="2785"/>
              <a:ext cx="104" cy="77"/>
            </a:xfrm>
            <a:custGeom>
              <a:avLst/>
              <a:gdLst>
                <a:gd name="T0" fmla="*/ 104 w 104"/>
                <a:gd name="T1" fmla="*/ 77 h 77"/>
                <a:gd name="T2" fmla="*/ 104 w 104"/>
                <a:gd name="T3" fmla="*/ 58 h 77"/>
                <a:gd name="T4" fmla="*/ 13 w 104"/>
                <a:gd name="T5" fmla="*/ 0 h 77"/>
                <a:gd name="T6" fmla="*/ 0 w 104"/>
                <a:gd name="T7" fmla="*/ 20 h 77"/>
                <a:gd name="T8" fmla="*/ 90 w 104"/>
                <a:gd name="T9" fmla="*/ 77 h 77"/>
                <a:gd name="T10" fmla="*/ 90 w 104"/>
                <a:gd name="T11" fmla="*/ 58 h 77"/>
                <a:gd name="T12" fmla="*/ 104 w 104"/>
                <a:gd name="T13" fmla="*/ 77 h 77"/>
                <a:gd name="T14" fmla="*/ 0 60000 65536"/>
                <a:gd name="T15" fmla="*/ 0 60000 65536"/>
                <a:gd name="T16" fmla="*/ 0 60000 65536"/>
                <a:gd name="T17" fmla="*/ 0 60000 65536"/>
                <a:gd name="T18" fmla="*/ 0 60000 65536"/>
                <a:gd name="T19" fmla="*/ 0 60000 65536"/>
                <a:gd name="T20" fmla="*/ 0 60000 65536"/>
                <a:gd name="T21" fmla="*/ 0 w 104"/>
                <a:gd name="T22" fmla="*/ 0 h 77"/>
                <a:gd name="T23" fmla="*/ 104 w 104"/>
                <a:gd name="T24" fmla="*/ 77 h 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77">
                  <a:moveTo>
                    <a:pt x="104" y="77"/>
                  </a:moveTo>
                  <a:lnTo>
                    <a:pt x="104" y="58"/>
                  </a:lnTo>
                  <a:lnTo>
                    <a:pt x="13" y="0"/>
                  </a:lnTo>
                  <a:lnTo>
                    <a:pt x="0" y="20"/>
                  </a:lnTo>
                  <a:lnTo>
                    <a:pt x="90" y="77"/>
                  </a:lnTo>
                  <a:lnTo>
                    <a:pt x="90" y="58"/>
                  </a:lnTo>
                  <a:lnTo>
                    <a:pt x="104" y="77"/>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59" name="Freeform 38">
              <a:extLst>
                <a:ext uri="{FF2B5EF4-FFF2-40B4-BE49-F238E27FC236}">
                  <a16:creationId xmlns:a16="http://schemas.microsoft.com/office/drawing/2014/main" id="{5AA22BF1-7FC3-6AE4-7951-EDA07849E0B0}"/>
                </a:ext>
              </a:extLst>
            </p:cNvPr>
            <p:cNvSpPr>
              <a:spLocks/>
            </p:cNvSpPr>
            <p:nvPr/>
          </p:nvSpPr>
          <p:spPr bwMode="auto">
            <a:xfrm>
              <a:off x="3509" y="2843"/>
              <a:ext cx="6" cy="19"/>
            </a:xfrm>
            <a:custGeom>
              <a:avLst/>
              <a:gdLst>
                <a:gd name="T0" fmla="*/ 6 w 6"/>
                <a:gd name="T1" fmla="*/ 19 h 19"/>
                <a:gd name="T2" fmla="*/ 0 w 6"/>
                <a:gd name="T3" fmla="*/ 9 h 19"/>
                <a:gd name="T4" fmla="*/ 6 w 6"/>
                <a:gd name="T5" fmla="*/ 0 h 19"/>
                <a:gd name="T6" fmla="*/ 6 w 6"/>
                <a:gd name="T7" fmla="*/ 19 h 19"/>
                <a:gd name="T8" fmla="*/ 0 60000 65536"/>
                <a:gd name="T9" fmla="*/ 0 60000 65536"/>
                <a:gd name="T10" fmla="*/ 0 60000 65536"/>
                <a:gd name="T11" fmla="*/ 0 60000 65536"/>
                <a:gd name="T12" fmla="*/ 0 w 6"/>
                <a:gd name="T13" fmla="*/ 0 h 19"/>
                <a:gd name="T14" fmla="*/ 6 w 6"/>
                <a:gd name="T15" fmla="*/ 19 h 19"/>
              </a:gdLst>
              <a:ahLst/>
              <a:cxnLst>
                <a:cxn ang="T8">
                  <a:pos x="T0" y="T1"/>
                </a:cxn>
                <a:cxn ang="T9">
                  <a:pos x="T2" y="T3"/>
                </a:cxn>
                <a:cxn ang="T10">
                  <a:pos x="T4" y="T5"/>
                </a:cxn>
                <a:cxn ang="T11">
                  <a:pos x="T6" y="T7"/>
                </a:cxn>
              </a:cxnLst>
              <a:rect l="T12" t="T13" r="T14" b="T15"/>
              <a:pathLst>
                <a:path w="6" h="19">
                  <a:moveTo>
                    <a:pt x="6" y="19"/>
                  </a:moveTo>
                  <a:lnTo>
                    <a:pt x="0" y="9"/>
                  </a:lnTo>
                  <a:lnTo>
                    <a:pt x="6" y="0"/>
                  </a:lnTo>
                  <a:lnTo>
                    <a:pt x="6" y="1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60" name="Freeform 39">
              <a:extLst>
                <a:ext uri="{FF2B5EF4-FFF2-40B4-BE49-F238E27FC236}">
                  <a16:creationId xmlns:a16="http://schemas.microsoft.com/office/drawing/2014/main" id="{702C4C57-FAB8-AF18-8F14-11C9AF784A67}"/>
                </a:ext>
              </a:extLst>
            </p:cNvPr>
            <p:cNvSpPr>
              <a:spLocks/>
            </p:cNvSpPr>
            <p:nvPr/>
          </p:nvSpPr>
          <p:spPr bwMode="auto">
            <a:xfrm>
              <a:off x="3411" y="2843"/>
              <a:ext cx="104" cy="79"/>
            </a:xfrm>
            <a:custGeom>
              <a:avLst/>
              <a:gdLst>
                <a:gd name="T0" fmla="*/ 6 w 104"/>
                <a:gd name="T1" fmla="*/ 69 h 79"/>
                <a:gd name="T2" fmla="*/ 13 w 104"/>
                <a:gd name="T3" fmla="*/ 79 h 79"/>
                <a:gd name="T4" fmla="*/ 104 w 104"/>
                <a:gd name="T5" fmla="*/ 19 h 79"/>
                <a:gd name="T6" fmla="*/ 90 w 104"/>
                <a:gd name="T7" fmla="*/ 0 h 79"/>
                <a:gd name="T8" fmla="*/ 0 w 104"/>
                <a:gd name="T9" fmla="*/ 59 h 79"/>
                <a:gd name="T10" fmla="*/ 6 w 104"/>
                <a:gd name="T11" fmla="*/ 69 h 79"/>
                <a:gd name="T12" fmla="*/ 0 60000 65536"/>
                <a:gd name="T13" fmla="*/ 0 60000 65536"/>
                <a:gd name="T14" fmla="*/ 0 60000 65536"/>
                <a:gd name="T15" fmla="*/ 0 60000 65536"/>
                <a:gd name="T16" fmla="*/ 0 60000 65536"/>
                <a:gd name="T17" fmla="*/ 0 60000 65536"/>
                <a:gd name="T18" fmla="*/ 0 w 104"/>
                <a:gd name="T19" fmla="*/ 0 h 79"/>
                <a:gd name="T20" fmla="*/ 104 w 104"/>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104" h="79">
                  <a:moveTo>
                    <a:pt x="6" y="69"/>
                  </a:moveTo>
                  <a:lnTo>
                    <a:pt x="13" y="79"/>
                  </a:lnTo>
                  <a:lnTo>
                    <a:pt x="104" y="19"/>
                  </a:lnTo>
                  <a:lnTo>
                    <a:pt x="90" y="0"/>
                  </a:lnTo>
                  <a:lnTo>
                    <a:pt x="0" y="59"/>
                  </a:lnTo>
                  <a:lnTo>
                    <a:pt x="6" y="6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61" name="Freeform 40">
              <a:extLst>
                <a:ext uri="{FF2B5EF4-FFF2-40B4-BE49-F238E27FC236}">
                  <a16:creationId xmlns:a16="http://schemas.microsoft.com/office/drawing/2014/main" id="{3D724E98-4378-E4A3-D609-086921696C03}"/>
                </a:ext>
              </a:extLst>
            </p:cNvPr>
            <p:cNvSpPr>
              <a:spLocks/>
            </p:cNvSpPr>
            <p:nvPr/>
          </p:nvSpPr>
          <p:spPr bwMode="auto">
            <a:xfrm>
              <a:off x="1710" y="3200"/>
              <a:ext cx="893" cy="23"/>
            </a:xfrm>
            <a:custGeom>
              <a:avLst/>
              <a:gdLst>
                <a:gd name="T0" fmla="*/ 893 w 893"/>
                <a:gd name="T1" fmla="*/ 11 h 23"/>
                <a:gd name="T2" fmla="*/ 893 w 893"/>
                <a:gd name="T3" fmla="*/ 0 h 23"/>
                <a:gd name="T4" fmla="*/ 0 w 893"/>
                <a:gd name="T5" fmla="*/ 0 h 23"/>
                <a:gd name="T6" fmla="*/ 0 w 893"/>
                <a:gd name="T7" fmla="*/ 23 h 23"/>
                <a:gd name="T8" fmla="*/ 893 w 893"/>
                <a:gd name="T9" fmla="*/ 23 h 23"/>
                <a:gd name="T10" fmla="*/ 893 w 893"/>
                <a:gd name="T11" fmla="*/ 11 h 23"/>
                <a:gd name="T12" fmla="*/ 0 60000 65536"/>
                <a:gd name="T13" fmla="*/ 0 60000 65536"/>
                <a:gd name="T14" fmla="*/ 0 60000 65536"/>
                <a:gd name="T15" fmla="*/ 0 60000 65536"/>
                <a:gd name="T16" fmla="*/ 0 60000 65536"/>
                <a:gd name="T17" fmla="*/ 0 60000 65536"/>
                <a:gd name="T18" fmla="*/ 0 w 893"/>
                <a:gd name="T19" fmla="*/ 0 h 23"/>
                <a:gd name="T20" fmla="*/ 893 w 893"/>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893" h="23">
                  <a:moveTo>
                    <a:pt x="893" y="11"/>
                  </a:moveTo>
                  <a:lnTo>
                    <a:pt x="893" y="0"/>
                  </a:lnTo>
                  <a:lnTo>
                    <a:pt x="0" y="0"/>
                  </a:lnTo>
                  <a:lnTo>
                    <a:pt x="0" y="23"/>
                  </a:lnTo>
                  <a:lnTo>
                    <a:pt x="893" y="23"/>
                  </a:lnTo>
                  <a:lnTo>
                    <a:pt x="893" y="11"/>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62" name="Freeform 41">
              <a:extLst>
                <a:ext uri="{FF2B5EF4-FFF2-40B4-BE49-F238E27FC236}">
                  <a16:creationId xmlns:a16="http://schemas.microsoft.com/office/drawing/2014/main" id="{E6C9565B-0722-C0E4-5614-076E1D34775E}"/>
                </a:ext>
              </a:extLst>
            </p:cNvPr>
            <p:cNvSpPr>
              <a:spLocks/>
            </p:cNvSpPr>
            <p:nvPr/>
          </p:nvSpPr>
          <p:spPr bwMode="auto">
            <a:xfrm>
              <a:off x="2524" y="3144"/>
              <a:ext cx="104" cy="77"/>
            </a:xfrm>
            <a:custGeom>
              <a:avLst/>
              <a:gdLst>
                <a:gd name="T0" fmla="*/ 104 w 104"/>
                <a:gd name="T1" fmla="*/ 77 h 77"/>
                <a:gd name="T2" fmla="*/ 104 w 104"/>
                <a:gd name="T3" fmla="*/ 58 h 77"/>
                <a:gd name="T4" fmla="*/ 12 w 104"/>
                <a:gd name="T5" fmla="*/ 0 h 77"/>
                <a:gd name="T6" fmla="*/ 0 w 104"/>
                <a:gd name="T7" fmla="*/ 19 h 77"/>
                <a:gd name="T8" fmla="*/ 90 w 104"/>
                <a:gd name="T9" fmla="*/ 77 h 77"/>
                <a:gd name="T10" fmla="*/ 90 w 104"/>
                <a:gd name="T11" fmla="*/ 58 h 77"/>
                <a:gd name="T12" fmla="*/ 104 w 104"/>
                <a:gd name="T13" fmla="*/ 77 h 77"/>
                <a:gd name="T14" fmla="*/ 0 60000 65536"/>
                <a:gd name="T15" fmla="*/ 0 60000 65536"/>
                <a:gd name="T16" fmla="*/ 0 60000 65536"/>
                <a:gd name="T17" fmla="*/ 0 60000 65536"/>
                <a:gd name="T18" fmla="*/ 0 60000 65536"/>
                <a:gd name="T19" fmla="*/ 0 60000 65536"/>
                <a:gd name="T20" fmla="*/ 0 60000 65536"/>
                <a:gd name="T21" fmla="*/ 0 w 104"/>
                <a:gd name="T22" fmla="*/ 0 h 77"/>
                <a:gd name="T23" fmla="*/ 104 w 104"/>
                <a:gd name="T24" fmla="*/ 77 h 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77">
                  <a:moveTo>
                    <a:pt x="104" y="77"/>
                  </a:moveTo>
                  <a:lnTo>
                    <a:pt x="104" y="58"/>
                  </a:lnTo>
                  <a:lnTo>
                    <a:pt x="12" y="0"/>
                  </a:lnTo>
                  <a:lnTo>
                    <a:pt x="0" y="19"/>
                  </a:lnTo>
                  <a:lnTo>
                    <a:pt x="90" y="77"/>
                  </a:lnTo>
                  <a:lnTo>
                    <a:pt x="90" y="58"/>
                  </a:lnTo>
                  <a:lnTo>
                    <a:pt x="104" y="77"/>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63" name="Freeform 42">
              <a:extLst>
                <a:ext uri="{FF2B5EF4-FFF2-40B4-BE49-F238E27FC236}">
                  <a16:creationId xmlns:a16="http://schemas.microsoft.com/office/drawing/2014/main" id="{6C4652D5-29CC-1F54-508D-0554D08868B7}"/>
                </a:ext>
              </a:extLst>
            </p:cNvPr>
            <p:cNvSpPr>
              <a:spLocks/>
            </p:cNvSpPr>
            <p:nvPr/>
          </p:nvSpPr>
          <p:spPr bwMode="auto">
            <a:xfrm>
              <a:off x="2620" y="3202"/>
              <a:ext cx="8" cy="19"/>
            </a:xfrm>
            <a:custGeom>
              <a:avLst/>
              <a:gdLst>
                <a:gd name="T0" fmla="*/ 8 w 8"/>
                <a:gd name="T1" fmla="*/ 19 h 19"/>
                <a:gd name="T2" fmla="*/ 0 w 8"/>
                <a:gd name="T3" fmla="*/ 9 h 19"/>
                <a:gd name="T4" fmla="*/ 8 w 8"/>
                <a:gd name="T5" fmla="*/ 0 h 19"/>
                <a:gd name="T6" fmla="*/ 8 w 8"/>
                <a:gd name="T7" fmla="*/ 19 h 19"/>
                <a:gd name="T8" fmla="*/ 0 60000 65536"/>
                <a:gd name="T9" fmla="*/ 0 60000 65536"/>
                <a:gd name="T10" fmla="*/ 0 60000 65536"/>
                <a:gd name="T11" fmla="*/ 0 60000 65536"/>
                <a:gd name="T12" fmla="*/ 0 w 8"/>
                <a:gd name="T13" fmla="*/ 0 h 19"/>
                <a:gd name="T14" fmla="*/ 8 w 8"/>
                <a:gd name="T15" fmla="*/ 19 h 19"/>
              </a:gdLst>
              <a:ahLst/>
              <a:cxnLst>
                <a:cxn ang="T8">
                  <a:pos x="T0" y="T1"/>
                </a:cxn>
                <a:cxn ang="T9">
                  <a:pos x="T2" y="T3"/>
                </a:cxn>
                <a:cxn ang="T10">
                  <a:pos x="T4" y="T5"/>
                </a:cxn>
                <a:cxn ang="T11">
                  <a:pos x="T6" y="T7"/>
                </a:cxn>
              </a:cxnLst>
              <a:rect l="T12" t="T13" r="T14" b="T15"/>
              <a:pathLst>
                <a:path w="8" h="19">
                  <a:moveTo>
                    <a:pt x="8" y="19"/>
                  </a:moveTo>
                  <a:lnTo>
                    <a:pt x="0" y="9"/>
                  </a:lnTo>
                  <a:lnTo>
                    <a:pt x="8" y="0"/>
                  </a:lnTo>
                  <a:lnTo>
                    <a:pt x="8" y="1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5164" name="Freeform 43">
              <a:extLst>
                <a:ext uri="{FF2B5EF4-FFF2-40B4-BE49-F238E27FC236}">
                  <a16:creationId xmlns:a16="http://schemas.microsoft.com/office/drawing/2014/main" id="{500A760E-5541-5B29-2DC0-F47CC155418D}"/>
                </a:ext>
              </a:extLst>
            </p:cNvPr>
            <p:cNvSpPr>
              <a:spLocks/>
            </p:cNvSpPr>
            <p:nvPr/>
          </p:nvSpPr>
          <p:spPr bwMode="auto">
            <a:xfrm>
              <a:off x="2524" y="3202"/>
              <a:ext cx="104" cy="78"/>
            </a:xfrm>
            <a:custGeom>
              <a:avLst/>
              <a:gdLst>
                <a:gd name="T0" fmla="*/ 6 w 104"/>
                <a:gd name="T1" fmla="*/ 69 h 78"/>
                <a:gd name="T2" fmla="*/ 12 w 104"/>
                <a:gd name="T3" fmla="*/ 78 h 78"/>
                <a:gd name="T4" fmla="*/ 104 w 104"/>
                <a:gd name="T5" fmla="*/ 19 h 78"/>
                <a:gd name="T6" fmla="*/ 90 w 104"/>
                <a:gd name="T7" fmla="*/ 0 h 78"/>
                <a:gd name="T8" fmla="*/ 0 w 104"/>
                <a:gd name="T9" fmla="*/ 59 h 78"/>
                <a:gd name="T10" fmla="*/ 6 w 104"/>
                <a:gd name="T11" fmla="*/ 69 h 78"/>
                <a:gd name="T12" fmla="*/ 0 60000 65536"/>
                <a:gd name="T13" fmla="*/ 0 60000 65536"/>
                <a:gd name="T14" fmla="*/ 0 60000 65536"/>
                <a:gd name="T15" fmla="*/ 0 60000 65536"/>
                <a:gd name="T16" fmla="*/ 0 60000 65536"/>
                <a:gd name="T17" fmla="*/ 0 60000 65536"/>
                <a:gd name="T18" fmla="*/ 0 w 104"/>
                <a:gd name="T19" fmla="*/ 0 h 78"/>
                <a:gd name="T20" fmla="*/ 104 w 104"/>
                <a:gd name="T21" fmla="*/ 78 h 78"/>
              </a:gdLst>
              <a:ahLst/>
              <a:cxnLst>
                <a:cxn ang="T12">
                  <a:pos x="T0" y="T1"/>
                </a:cxn>
                <a:cxn ang="T13">
                  <a:pos x="T2" y="T3"/>
                </a:cxn>
                <a:cxn ang="T14">
                  <a:pos x="T4" y="T5"/>
                </a:cxn>
                <a:cxn ang="T15">
                  <a:pos x="T6" y="T7"/>
                </a:cxn>
                <a:cxn ang="T16">
                  <a:pos x="T8" y="T9"/>
                </a:cxn>
                <a:cxn ang="T17">
                  <a:pos x="T10" y="T11"/>
                </a:cxn>
              </a:cxnLst>
              <a:rect l="T18" t="T19" r="T20" b="T21"/>
              <a:pathLst>
                <a:path w="104" h="78">
                  <a:moveTo>
                    <a:pt x="6" y="69"/>
                  </a:moveTo>
                  <a:lnTo>
                    <a:pt x="12" y="78"/>
                  </a:lnTo>
                  <a:lnTo>
                    <a:pt x="104" y="19"/>
                  </a:lnTo>
                  <a:lnTo>
                    <a:pt x="90" y="0"/>
                  </a:lnTo>
                  <a:lnTo>
                    <a:pt x="0" y="59"/>
                  </a:lnTo>
                  <a:lnTo>
                    <a:pt x="6" y="6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grpSp>
      <p:sp>
        <p:nvSpPr>
          <p:cNvPr id="3" name="Oval 2">
            <a:extLst>
              <a:ext uri="{FF2B5EF4-FFF2-40B4-BE49-F238E27FC236}">
                <a16:creationId xmlns:a16="http://schemas.microsoft.com/office/drawing/2014/main" id="{03D484C7-63F0-87EA-20FE-6F263C96AFF5}"/>
              </a:ext>
            </a:extLst>
          </p:cNvPr>
          <p:cNvSpPr/>
          <p:nvPr/>
        </p:nvSpPr>
        <p:spPr bwMode="auto">
          <a:xfrm>
            <a:off x="4235450" y="3113087"/>
            <a:ext cx="609600" cy="1282701"/>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Rectangle 2">
            <a:extLst>
              <a:ext uri="{FF2B5EF4-FFF2-40B4-BE49-F238E27FC236}">
                <a16:creationId xmlns:a16="http://schemas.microsoft.com/office/drawing/2014/main" id="{B73E30A7-52B2-9696-60C6-373AEC4D0691}"/>
              </a:ext>
            </a:extLst>
          </p:cNvPr>
          <p:cNvSpPr>
            <a:spLocks noChangeArrowheads="1"/>
          </p:cNvSpPr>
          <p:nvPr/>
        </p:nvSpPr>
        <p:spPr bwMode="auto">
          <a:xfrm>
            <a:off x="838200" y="1143000"/>
            <a:ext cx="7620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6146" name="Object 3">
            <a:extLst>
              <a:ext uri="{FF2B5EF4-FFF2-40B4-BE49-F238E27FC236}">
                <a16:creationId xmlns:a16="http://schemas.microsoft.com/office/drawing/2014/main" id="{3CE6EB8A-CA55-62FA-31BD-0239A183954A}"/>
              </a:ext>
            </a:extLst>
          </p:cNvPr>
          <p:cNvGraphicFramePr>
            <a:graphicFrameLocks noChangeAspect="1"/>
          </p:cNvGraphicFramePr>
          <p:nvPr>
            <p:extLst>
              <p:ext uri="{D42A27DB-BD31-4B8C-83A1-F6EECF244321}">
                <p14:modId xmlns:p14="http://schemas.microsoft.com/office/powerpoint/2010/main" val="1395082146"/>
              </p:ext>
            </p:extLst>
          </p:nvPr>
        </p:nvGraphicFramePr>
        <p:xfrm>
          <a:off x="1143000" y="533400"/>
          <a:ext cx="3713163" cy="812800"/>
        </p:xfrm>
        <a:graphic>
          <a:graphicData uri="http://schemas.openxmlformats.org/presentationml/2006/ole">
            <mc:AlternateContent xmlns:mc="http://schemas.openxmlformats.org/markup-compatibility/2006">
              <mc:Choice xmlns:v="urn:schemas-microsoft-com:vml" Requires="v">
                <p:oleObj r:id="rId2" imgW="1917700" imgH="419100" progId="Equation.3">
                  <p:embed/>
                </p:oleObj>
              </mc:Choice>
              <mc:Fallback>
                <p:oleObj r:id="rId2" imgW="1917700" imgH="419100" progId="Equation.3">
                  <p:embed/>
                  <p:pic>
                    <p:nvPicPr>
                      <p:cNvPr id="6146" name="Object 3">
                        <a:extLst>
                          <a:ext uri="{FF2B5EF4-FFF2-40B4-BE49-F238E27FC236}">
                            <a16:creationId xmlns:a16="http://schemas.microsoft.com/office/drawing/2014/main" id="{3CE6EB8A-CA55-62FA-31BD-0239A1839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533400"/>
                        <a:ext cx="371316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7" name="Object 4">
            <a:extLst>
              <a:ext uri="{FF2B5EF4-FFF2-40B4-BE49-F238E27FC236}">
                <a16:creationId xmlns:a16="http://schemas.microsoft.com/office/drawing/2014/main" id="{C7A87EF7-06FD-B989-E3B5-8B00F9D16767}"/>
              </a:ext>
            </a:extLst>
          </p:cNvPr>
          <p:cNvGraphicFramePr>
            <a:graphicFrameLocks noChangeAspect="1"/>
          </p:cNvGraphicFramePr>
          <p:nvPr>
            <p:extLst>
              <p:ext uri="{D42A27DB-BD31-4B8C-83A1-F6EECF244321}">
                <p14:modId xmlns:p14="http://schemas.microsoft.com/office/powerpoint/2010/main" val="3857890044"/>
              </p:ext>
            </p:extLst>
          </p:nvPr>
        </p:nvGraphicFramePr>
        <p:xfrm>
          <a:off x="1204913" y="1600200"/>
          <a:ext cx="6262687" cy="812800"/>
        </p:xfrm>
        <a:graphic>
          <a:graphicData uri="http://schemas.openxmlformats.org/presentationml/2006/ole">
            <mc:AlternateContent xmlns:mc="http://schemas.openxmlformats.org/markup-compatibility/2006">
              <mc:Choice xmlns:v="urn:schemas-microsoft-com:vml" Requires="v">
                <p:oleObj r:id="rId4" imgW="3225800" imgH="419100" progId="Equation.3">
                  <p:embed/>
                </p:oleObj>
              </mc:Choice>
              <mc:Fallback>
                <p:oleObj r:id="rId4" imgW="3225800" imgH="419100" progId="Equation.3">
                  <p:embed/>
                  <p:pic>
                    <p:nvPicPr>
                      <p:cNvPr id="6147" name="Object 4">
                        <a:extLst>
                          <a:ext uri="{FF2B5EF4-FFF2-40B4-BE49-F238E27FC236}">
                            <a16:creationId xmlns:a16="http://schemas.microsoft.com/office/drawing/2014/main" id="{C7A87EF7-06FD-B989-E3B5-8B00F9D167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4913" y="1600200"/>
                        <a:ext cx="6262687"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8" name="Object 5">
            <a:extLst>
              <a:ext uri="{FF2B5EF4-FFF2-40B4-BE49-F238E27FC236}">
                <a16:creationId xmlns:a16="http://schemas.microsoft.com/office/drawing/2014/main" id="{6DF0305C-96A8-9042-9449-06ACEF6CA654}"/>
              </a:ext>
            </a:extLst>
          </p:cNvPr>
          <p:cNvGraphicFramePr>
            <a:graphicFrameLocks noChangeAspect="1"/>
          </p:cNvGraphicFramePr>
          <p:nvPr>
            <p:extLst>
              <p:ext uri="{D42A27DB-BD31-4B8C-83A1-F6EECF244321}">
                <p14:modId xmlns:p14="http://schemas.microsoft.com/office/powerpoint/2010/main" val="1001502856"/>
              </p:ext>
            </p:extLst>
          </p:nvPr>
        </p:nvGraphicFramePr>
        <p:xfrm>
          <a:off x="1295400" y="2667000"/>
          <a:ext cx="3990975" cy="812800"/>
        </p:xfrm>
        <a:graphic>
          <a:graphicData uri="http://schemas.openxmlformats.org/presentationml/2006/ole">
            <mc:AlternateContent xmlns:mc="http://schemas.openxmlformats.org/markup-compatibility/2006">
              <mc:Choice xmlns:v="urn:schemas-microsoft-com:vml" Requires="v">
                <p:oleObj r:id="rId6" imgW="2057400" imgH="419100" progId="Equation.3">
                  <p:embed/>
                </p:oleObj>
              </mc:Choice>
              <mc:Fallback>
                <p:oleObj r:id="rId6" imgW="2057400" imgH="419100" progId="Equation.3">
                  <p:embed/>
                  <p:pic>
                    <p:nvPicPr>
                      <p:cNvPr id="6148" name="Object 5">
                        <a:extLst>
                          <a:ext uri="{FF2B5EF4-FFF2-40B4-BE49-F238E27FC236}">
                            <a16:creationId xmlns:a16="http://schemas.microsoft.com/office/drawing/2014/main" id="{6DF0305C-96A8-9042-9449-06ACEF6CA65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2667000"/>
                        <a:ext cx="399097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9" name="Object 6">
            <a:extLst>
              <a:ext uri="{FF2B5EF4-FFF2-40B4-BE49-F238E27FC236}">
                <a16:creationId xmlns:a16="http://schemas.microsoft.com/office/drawing/2014/main" id="{30BC729E-480C-81EF-A20C-B775B26CF14D}"/>
              </a:ext>
            </a:extLst>
          </p:cNvPr>
          <p:cNvGraphicFramePr>
            <a:graphicFrameLocks noChangeAspect="1"/>
          </p:cNvGraphicFramePr>
          <p:nvPr>
            <p:extLst>
              <p:ext uri="{D42A27DB-BD31-4B8C-83A1-F6EECF244321}">
                <p14:modId xmlns:p14="http://schemas.microsoft.com/office/powerpoint/2010/main" val="2728434087"/>
              </p:ext>
            </p:extLst>
          </p:nvPr>
        </p:nvGraphicFramePr>
        <p:xfrm>
          <a:off x="1295400" y="3886200"/>
          <a:ext cx="1600200" cy="674688"/>
        </p:xfrm>
        <a:graphic>
          <a:graphicData uri="http://schemas.openxmlformats.org/presentationml/2006/ole">
            <mc:AlternateContent xmlns:mc="http://schemas.openxmlformats.org/markup-compatibility/2006">
              <mc:Choice xmlns:v="urn:schemas-microsoft-com:vml" Requires="v">
                <p:oleObj r:id="rId8" imgW="787400" imgH="330200" progId="Equation.3">
                  <p:embed/>
                </p:oleObj>
              </mc:Choice>
              <mc:Fallback>
                <p:oleObj r:id="rId8" imgW="787400" imgH="330200" progId="Equation.3">
                  <p:embed/>
                  <p:pic>
                    <p:nvPicPr>
                      <p:cNvPr id="6149" name="Object 6">
                        <a:extLst>
                          <a:ext uri="{FF2B5EF4-FFF2-40B4-BE49-F238E27FC236}">
                            <a16:creationId xmlns:a16="http://schemas.microsoft.com/office/drawing/2014/main" id="{30BC729E-480C-81EF-A20C-B775B26CF1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5400" y="3886200"/>
                        <a:ext cx="1600200" cy="674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0" name="Object 7">
            <a:extLst>
              <a:ext uri="{FF2B5EF4-FFF2-40B4-BE49-F238E27FC236}">
                <a16:creationId xmlns:a16="http://schemas.microsoft.com/office/drawing/2014/main" id="{4CAA749F-1D3C-062A-FFFF-1BE966DDAFD0}"/>
              </a:ext>
            </a:extLst>
          </p:cNvPr>
          <p:cNvGraphicFramePr>
            <a:graphicFrameLocks noChangeAspect="1"/>
          </p:cNvGraphicFramePr>
          <p:nvPr>
            <p:extLst>
              <p:ext uri="{D42A27DB-BD31-4B8C-83A1-F6EECF244321}">
                <p14:modId xmlns:p14="http://schemas.microsoft.com/office/powerpoint/2010/main" val="1119738938"/>
              </p:ext>
            </p:extLst>
          </p:nvPr>
        </p:nvGraphicFramePr>
        <p:xfrm>
          <a:off x="1295400" y="4724400"/>
          <a:ext cx="2457450" cy="757238"/>
        </p:xfrm>
        <a:graphic>
          <a:graphicData uri="http://schemas.openxmlformats.org/presentationml/2006/ole">
            <mc:AlternateContent xmlns:mc="http://schemas.openxmlformats.org/markup-compatibility/2006">
              <mc:Choice xmlns:v="urn:schemas-microsoft-com:vml" Requires="v">
                <p:oleObj r:id="rId10" imgW="1269449" imgH="393529" progId="Equation.3">
                  <p:embed/>
                </p:oleObj>
              </mc:Choice>
              <mc:Fallback>
                <p:oleObj r:id="rId10" imgW="1269449" imgH="393529" progId="Equation.3">
                  <p:embed/>
                  <p:pic>
                    <p:nvPicPr>
                      <p:cNvPr id="6150" name="Object 7">
                        <a:extLst>
                          <a:ext uri="{FF2B5EF4-FFF2-40B4-BE49-F238E27FC236}">
                            <a16:creationId xmlns:a16="http://schemas.microsoft.com/office/drawing/2014/main" id="{4CAA749F-1D3C-062A-FFFF-1BE966DDAFD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95400" y="4724400"/>
                        <a:ext cx="24574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1" name="Object 8">
            <a:extLst>
              <a:ext uri="{FF2B5EF4-FFF2-40B4-BE49-F238E27FC236}">
                <a16:creationId xmlns:a16="http://schemas.microsoft.com/office/drawing/2014/main" id="{44AF5FE1-4F9C-58CA-B2CF-5CA0AB6FDFA2}"/>
              </a:ext>
            </a:extLst>
          </p:cNvPr>
          <p:cNvGraphicFramePr>
            <a:graphicFrameLocks noChangeAspect="1"/>
          </p:cNvGraphicFramePr>
          <p:nvPr>
            <p:extLst>
              <p:ext uri="{D42A27DB-BD31-4B8C-83A1-F6EECF244321}">
                <p14:modId xmlns:p14="http://schemas.microsoft.com/office/powerpoint/2010/main" val="3711529967"/>
              </p:ext>
            </p:extLst>
          </p:nvPr>
        </p:nvGraphicFramePr>
        <p:xfrm>
          <a:off x="1752600" y="5715000"/>
          <a:ext cx="1600200" cy="963613"/>
        </p:xfrm>
        <a:graphic>
          <a:graphicData uri="http://schemas.openxmlformats.org/presentationml/2006/ole">
            <mc:AlternateContent xmlns:mc="http://schemas.openxmlformats.org/markup-compatibility/2006">
              <mc:Choice xmlns:v="urn:schemas-microsoft-com:vml" Requires="v">
                <p:oleObj r:id="rId12" imgW="647419" imgH="393529" progId="Equation.3">
                  <p:embed/>
                </p:oleObj>
              </mc:Choice>
              <mc:Fallback>
                <p:oleObj r:id="rId12" imgW="647419" imgH="393529" progId="Equation.3">
                  <p:embed/>
                  <p:pic>
                    <p:nvPicPr>
                      <p:cNvPr id="6151" name="Object 8">
                        <a:extLst>
                          <a:ext uri="{FF2B5EF4-FFF2-40B4-BE49-F238E27FC236}">
                            <a16:creationId xmlns:a16="http://schemas.microsoft.com/office/drawing/2014/main" id="{44AF5FE1-4F9C-58CA-B2CF-5CA0AB6FDFA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52600" y="5715000"/>
                        <a:ext cx="1600200" cy="963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5" name="Line 11">
            <a:extLst>
              <a:ext uri="{FF2B5EF4-FFF2-40B4-BE49-F238E27FC236}">
                <a16:creationId xmlns:a16="http://schemas.microsoft.com/office/drawing/2014/main" id="{499E9096-BD96-E0D1-FE20-E2F98377F68E}"/>
              </a:ext>
            </a:extLst>
          </p:cNvPr>
          <p:cNvSpPr>
            <a:spLocks noChangeShapeType="1"/>
          </p:cNvSpPr>
          <p:nvPr/>
        </p:nvSpPr>
        <p:spPr bwMode="auto">
          <a:xfrm>
            <a:off x="4495800" y="5334000"/>
            <a:ext cx="762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miter lim="800000"/>
                <a:headEnd/>
                <a:tailEnd type="triangle" w="med" len="med"/>
              </a14:hiddenLine>
            </a:ext>
          </a:extLst>
        </p:spPr>
        <p:txBody>
          <a:bodyPr wrap="none"/>
          <a:lstStyle/>
          <a:p>
            <a:endParaRPr lang="en-HK"/>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94784-78FA-3E37-859A-5977095DAAF4}"/>
              </a:ext>
            </a:extLst>
          </p:cNvPr>
          <p:cNvSpPr>
            <a:spLocks noGrp="1"/>
          </p:cNvSpPr>
          <p:nvPr>
            <p:ph type="sldNum" sz="quarter" idx="11"/>
          </p:nvPr>
        </p:nvSpPr>
        <p:spPr/>
        <p:txBody>
          <a:bodyPr/>
          <a:lstStyle/>
          <a:p>
            <a:pPr>
              <a:defRPr/>
            </a:pPr>
            <a:fld id="{5C194D1D-C057-4136-B4EC-30B00CAA371F}" type="slidenum">
              <a:rPr lang="zh-TW" altLang="en-US" smtClean="0"/>
              <a:pPr>
                <a:defRPr/>
              </a:pPr>
              <a:t>43</a:t>
            </a:fld>
            <a:endParaRPr lang="en-US" altLang="zh-TW"/>
          </a:p>
        </p:txBody>
      </p:sp>
      <p:sp>
        <p:nvSpPr>
          <p:cNvPr id="4" name="TextBox 3">
            <a:extLst>
              <a:ext uri="{FF2B5EF4-FFF2-40B4-BE49-F238E27FC236}">
                <a16:creationId xmlns:a16="http://schemas.microsoft.com/office/drawing/2014/main" id="{836918CF-AB31-3896-152D-43AEC7EC380F}"/>
              </a:ext>
            </a:extLst>
          </p:cNvPr>
          <p:cNvSpPr txBox="1"/>
          <p:nvPr/>
        </p:nvSpPr>
        <p:spPr>
          <a:xfrm>
            <a:off x="1524000" y="2286000"/>
            <a:ext cx="4572000" cy="646331"/>
          </a:xfrm>
          <a:prstGeom prst="rect">
            <a:avLst/>
          </a:prstGeom>
          <a:noFill/>
        </p:spPr>
        <p:txBody>
          <a:bodyPr wrap="square">
            <a:spAutoFit/>
          </a:bodyPr>
          <a:lstStyle/>
          <a:p>
            <a:r>
              <a:rPr lang="en-HK" b="0" i="1" dirty="0">
                <a:effectLst/>
                <a:latin typeface="KaTeX_Math"/>
              </a:rPr>
              <a:t>PV</a:t>
            </a:r>
            <a:r>
              <a:rPr lang="en-HK" b="0" i="0" dirty="0">
                <a:effectLst/>
                <a:latin typeface="KaTeX_Main"/>
              </a:rPr>
              <a:t>=</a:t>
            </a:r>
            <a:r>
              <a:rPr lang="en-HK" b="0" i="1" dirty="0" err="1">
                <a:effectLst/>
                <a:latin typeface="KaTeX_Math"/>
              </a:rPr>
              <a:t>Nk</a:t>
            </a:r>
            <a:r>
              <a:rPr lang="en-HK" b="0" i="1" baseline="-25000" dirty="0" err="1">
                <a:effectLst/>
                <a:latin typeface="KaTeX_Math"/>
              </a:rPr>
              <a:t>B</a:t>
            </a:r>
            <a:r>
              <a:rPr lang="en-HK" b="0" i="0" dirty="0">
                <a:effectLst/>
                <a:latin typeface="KaTeX_Main"/>
              </a:rPr>
              <a:t>​</a:t>
            </a:r>
            <a:r>
              <a:rPr lang="en-HK" b="0" i="1" dirty="0">
                <a:effectLst/>
                <a:latin typeface="KaTeX_Math"/>
              </a:rPr>
              <a:t>T</a:t>
            </a:r>
            <a:br>
              <a:rPr lang="en-HK" dirty="0"/>
            </a:br>
            <a:endParaRPr lang="en-HK" dirty="0"/>
          </a:p>
        </p:txBody>
      </p:sp>
      <p:sp>
        <p:nvSpPr>
          <p:cNvPr id="6" name="TextBox 5">
            <a:extLst>
              <a:ext uri="{FF2B5EF4-FFF2-40B4-BE49-F238E27FC236}">
                <a16:creationId xmlns:a16="http://schemas.microsoft.com/office/drawing/2014/main" id="{3B568C86-80BB-ED61-B03F-8B738673B295}"/>
              </a:ext>
            </a:extLst>
          </p:cNvPr>
          <p:cNvSpPr txBox="1"/>
          <p:nvPr/>
        </p:nvSpPr>
        <p:spPr>
          <a:xfrm>
            <a:off x="1439411" y="2743200"/>
            <a:ext cx="6858000" cy="646331"/>
          </a:xfrm>
          <a:prstGeom prst="rect">
            <a:avLst/>
          </a:prstGeom>
          <a:noFill/>
        </p:spPr>
        <p:txBody>
          <a:bodyPr wrap="square">
            <a:spAutoFit/>
          </a:bodyPr>
          <a:lstStyle/>
          <a:p>
            <a:r>
              <a:rPr lang="en-US" dirty="0"/>
              <a:t> N is the number of molecules. The number density </a:t>
            </a:r>
            <a:r>
              <a:rPr lang="en-HK" i="1" dirty="0">
                <a:effectLst/>
                <a:latin typeface="KaTeX_Math"/>
              </a:rPr>
              <a:t>n</a:t>
            </a:r>
            <a:r>
              <a:rPr lang="en-HK" dirty="0">
                <a:effectLst/>
              </a:rPr>
              <a:t>=</a:t>
            </a:r>
            <a:r>
              <a:rPr lang="en-HK" b="0" i="1" dirty="0">
                <a:effectLst/>
                <a:latin typeface="KaTeX_Math"/>
              </a:rPr>
              <a:t>N/V</a:t>
            </a:r>
            <a:br>
              <a:rPr lang="en-HK" dirty="0">
                <a:effectLst/>
              </a:rPr>
            </a:br>
            <a:endParaRPr lang="en-HK" dirty="0"/>
          </a:p>
        </p:txBody>
      </p:sp>
      <p:graphicFrame>
        <p:nvGraphicFramePr>
          <p:cNvPr id="7" name="Object 8">
            <a:extLst>
              <a:ext uri="{FF2B5EF4-FFF2-40B4-BE49-F238E27FC236}">
                <a16:creationId xmlns:a16="http://schemas.microsoft.com/office/drawing/2014/main" id="{1C9AABA1-69DB-0D77-7D7C-445099446CDF}"/>
              </a:ext>
            </a:extLst>
          </p:cNvPr>
          <p:cNvGraphicFramePr>
            <a:graphicFrameLocks noChangeAspect="1"/>
          </p:cNvGraphicFramePr>
          <p:nvPr>
            <p:extLst>
              <p:ext uri="{D42A27DB-BD31-4B8C-83A1-F6EECF244321}">
                <p14:modId xmlns:p14="http://schemas.microsoft.com/office/powerpoint/2010/main" val="3969681833"/>
              </p:ext>
            </p:extLst>
          </p:nvPr>
        </p:nvGraphicFramePr>
        <p:xfrm>
          <a:off x="1401763" y="1016000"/>
          <a:ext cx="1600200" cy="963613"/>
        </p:xfrm>
        <a:graphic>
          <a:graphicData uri="http://schemas.openxmlformats.org/presentationml/2006/ole">
            <mc:AlternateContent xmlns:mc="http://schemas.openxmlformats.org/markup-compatibility/2006">
              <mc:Choice xmlns:v="urn:schemas-microsoft-com:vml" Requires="v">
                <p:oleObj r:id="rId2" imgW="647419" imgH="393529" progId="Equation.3">
                  <p:embed/>
                </p:oleObj>
              </mc:Choice>
              <mc:Fallback>
                <p:oleObj r:id="rId2" imgW="647419" imgH="393529" progId="Equation.3">
                  <p:embed/>
                  <p:pic>
                    <p:nvPicPr>
                      <p:cNvPr id="6151" name="Object 8">
                        <a:extLst>
                          <a:ext uri="{FF2B5EF4-FFF2-40B4-BE49-F238E27FC236}">
                            <a16:creationId xmlns:a16="http://schemas.microsoft.com/office/drawing/2014/main" id="{44AF5FE1-4F9C-58CA-B2CF-5CA0AB6FD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1016000"/>
                        <a:ext cx="1600200" cy="963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8" name="Object 9">
                <a:extLst>
                  <a:ext uri="{FF2B5EF4-FFF2-40B4-BE49-F238E27FC236}">
                    <a16:creationId xmlns:a16="http://schemas.microsoft.com/office/drawing/2014/main" id="{8D4258B1-0016-A5DC-8391-61D2CF04A828}"/>
                  </a:ext>
                </a:extLst>
              </p:cNvPr>
              <p:cNvSpPr txBox="1"/>
              <p:nvPr/>
            </p:nvSpPr>
            <p:spPr bwMode="auto">
              <a:xfrm>
                <a:off x="4068763" y="1069975"/>
                <a:ext cx="3429000" cy="936625"/>
              </a:xfrm>
              <a:prstGeom prst="rect">
                <a:avLst/>
              </a:prstGeom>
              <a:solidFill>
                <a:schemeClr val="accent1"/>
              </a:solidFill>
              <a:ln>
                <a:noFill/>
              </a:ln>
            </p:spPr>
            <p:txBody>
              <a:bodyPr>
                <a:normAutofit/>
              </a:bodyPr>
              <a:lstStyle/>
              <a:p>
                <a:pPr/>
                <a14:m>
                  <m:oMathPara xmlns:m="http://schemas.openxmlformats.org/officeDocument/2006/math">
                    <m:oMathParaPr>
                      <m:jc m:val="left"/>
                    </m:oMathParaPr>
                    <m:oMath>
                      <m:r>
                        <a:rPr lang="en-HK" sz="2400" i="1" smtClean="0">
                          <a:solidFill>
                            <a:srgbClr val="000000"/>
                          </a:solidFill>
                          <a:latin typeface="Cambria Math" panose="02040503050406030204" pitchFamily="18" charset="0"/>
                        </a:rPr>
                        <m:t>𝜑</m:t>
                      </m:r>
                      <m:r>
                        <a:rPr lang="en-HK" sz="2400" i="1" smtClean="0">
                          <a:solidFill>
                            <a:srgbClr val="000000"/>
                          </a:solidFill>
                          <a:latin typeface="Cambria Math" panose="02040503050406030204" pitchFamily="18" charset="0"/>
                        </a:rPr>
                        <m:t>=8.3</m:t>
                      </m:r>
                      <m:r>
                        <a:rPr lang="en-HK" sz="2400" i="1">
                          <a:solidFill>
                            <a:srgbClr val="000000"/>
                          </a:solidFill>
                          <a:latin typeface="Cambria Math" panose="02040503050406030204" pitchFamily="18" charset="0"/>
                        </a:rPr>
                        <m:t>𝑥</m:t>
                      </m:r>
                      <m:r>
                        <a:rPr lang="en-HK" sz="2400" i="1">
                          <a:solidFill>
                            <a:srgbClr val="000000"/>
                          </a:solidFill>
                          <a:latin typeface="Cambria Math" panose="02040503050406030204" pitchFamily="18" charset="0"/>
                        </a:rPr>
                        <m:t>1</m:t>
                      </m:r>
                      <m:sSup>
                        <m:sSupPr>
                          <m:ctrlPr>
                            <a:rPr lang="en-HK" sz="2400" i="1">
                              <a:solidFill>
                                <a:srgbClr val="000000"/>
                              </a:solidFill>
                              <a:latin typeface="Cambria Math" panose="02040503050406030204" pitchFamily="18" charset="0"/>
                            </a:rPr>
                          </m:ctrlPr>
                        </m:sSupPr>
                        <m:e>
                          <m:r>
                            <a:rPr lang="en-HK" sz="2400" i="1">
                              <a:solidFill>
                                <a:srgbClr val="000000"/>
                              </a:solidFill>
                              <a:latin typeface="Cambria Math" panose="02040503050406030204" pitchFamily="18" charset="0"/>
                            </a:rPr>
                            <m:t>0</m:t>
                          </m:r>
                        </m:e>
                        <m:sup>
                          <m:r>
                            <a:rPr lang="en-HK" sz="2400" i="1">
                              <a:solidFill>
                                <a:srgbClr val="000000"/>
                              </a:solidFill>
                              <a:latin typeface="Cambria Math" panose="02040503050406030204" pitchFamily="18" charset="0"/>
                            </a:rPr>
                            <m:t>22</m:t>
                          </m:r>
                        </m:sup>
                      </m:sSup>
                      <m:r>
                        <a:rPr lang="en-HK" sz="2400" i="1">
                          <a:solidFill>
                            <a:srgbClr val="000000"/>
                          </a:solidFill>
                          <a:latin typeface="Cambria Math" panose="02040503050406030204" pitchFamily="18" charset="0"/>
                        </a:rPr>
                        <m:t>[</m:t>
                      </m:r>
                      <m:f>
                        <m:fPr>
                          <m:ctrlPr>
                            <a:rPr lang="en-HK" sz="2400" i="1">
                              <a:solidFill>
                                <a:srgbClr val="000000"/>
                              </a:solidFill>
                              <a:latin typeface="Cambria Math" panose="02040503050406030204" pitchFamily="18" charset="0"/>
                            </a:rPr>
                          </m:ctrlPr>
                        </m:fPr>
                        <m:num>
                          <m:r>
                            <a:rPr lang="en-HK" sz="2400" i="1">
                              <a:solidFill>
                                <a:srgbClr val="000000"/>
                              </a:solidFill>
                              <a:latin typeface="Cambria Math" panose="02040503050406030204" pitchFamily="18" charset="0"/>
                            </a:rPr>
                            <m:t>𝑃</m:t>
                          </m:r>
                        </m:num>
                        <m:den>
                          <m:r>
                            <a:rPr lang="en-HK" sz="2400" i="1">
                              <a:solidFill>
                                <a:srgbClr val="000000"/>
                              </a:solidFill>
                              <a:latin typeface="Cambria Math" panose="02040503050406030204" pitchFamily="18" charset="0"/>
                            </a:rPr>
                            <m:t>(</m:t>
                          </m:r>
                          <m:r>
                            <a:rPr lang="en-HK" sz="2400" i="1">
                              <a:solidFill>
                                <a:srgbClr val="000000"/>
                              </a:solidFill>
                              <a:latin typeface="Cambria Math" panose="02040503050406030204" pitchFamily="18" charset="0"/>
                            </a:rPr>
                            <m:t>𝑀𝑇</m:t>
                          </m:r>
                          <m:sSup>
                            <m:sSupPr>
                              <m:ctrlPr>
                                <a:rPr lang="en-HK" sz="2400" i="1">
                                  <a:solidFill>
                                    <a:srgbClr val="000000"/>
                                  </a:solidFill>
                                  <a:latin typeface="Cambria Math" panose="02040503050406030204" pitchFamily="18" charset="0"/>
                                </a:rPr>
                              </m:ctrlPr>
                            </m:sSupPr>
                            <m:e>
                              <m:r>
                                <a:rPr lang="en-HK" sz="2400" i="1">
                                  <a:solidFill>
                                    <a:srgbClr val="000000"/>
                                  </a:solidFill>
                                  <a:latin typeface="Cambria Math" panose="02040503050406030204" pitchFamily="18" charset="0"/>
                                </a:rPr>
                                <m:t>)</m:t>
                              </m:r>
                            </m:e>
                            <m:sup>
                              <m:r>
                                <a:rPr lang="en-HK" sz="2400" i="1">
                                  <a:solidFill>
                                    <a:srgbClr val="000000"/>
                                  </a:solidFill>
                                  <a:latin typeface="Cambria Math" panose="02040503050406030204" pitchFamily="18" charset="0"/>
                                </a:rPr>
                                <m:t>1/2</m:t>
                              </m:r>
                            </m:sup>
                          </m:sSup>
                        </m:den>
                      </m:f>
                      <m:r>
                        <a:rPr lang="en-HK" sz="2400" i="1">
                          <a:solidFill>
                            <a:srgbClr val="000000"/>
                          </a:solidFill>
                          <a:latin typeface="Cambria Math" panose="02040503050406030204" pitchFamily="18" charset="0"/>
                        </a:rPr>
                        <m:t>]</m:t>
                      </m:r>
                    </m:oMath>
                  </m:oMathPara>
                </a14:m>
                <a:endParaRPr lang="en-HK" sz="2400" dirty="0"/>
              </a:p>
            </p:txBody>
          </p:sp>
        </mc:Choice>
        <mc:Fallback xmlns="">
          <p:sp>
            <p:nvSpPr>
              <p:cNvPr id="8" name="Object 9">
                <a:extLst>
                  <a:ext uri="{FF2B5EF4-FFF2-40B4-BE49-F238E27FC236}">
                    <a16:creationId xmlns:a16="http://schemas.microsoft.com/office/drawing/2014/main" id="{8D4258B1-0016-A5DC-8391-61D2CF04A828}"/>
                  </a:ext>
                </a:extLst>
              </p:cNvPr>
              <p:cNvSpPr txBox="1">
                <a:spLocks noRot="1" noChangeAspect="1" noMove="1" noResize="1" noEditPoints="1" noAdjustHandles="1" noChangeArrowheads="1" noChangeShapeType="1" noTextEdit="1"/>
              </p:cNvSpPr>
              <p:nvPr/>
            </p:nvSpPr>
            <p:spPr bwMode="auto">
              <a:xfrm>
                <a:off x="4068763" y="1069975"/>
                <a:ext cx="3429000" cy="936625"/>
              </a:xfrm>
              <a:prstGeom prst="rect">
                <a:avLst/>
              </a:prstGeom>
              <a:blipFill>
                <a:blip r:embed="rId4"/>
                <a:stretch>
                  <a:fillRect/>
                </a:stretch>
              </a:blipFill>
              <a:ln>
                <a:noFill/>
              </a:ln>
            </p:spPr>
            <p:txBody>
              <a:bodyPr/>
              <a:lstStyle/>
              <a:p>
                <a:r>
                  <a:rPr lang="en-HK">
                    <a:noFill/>
                  </a:rPr>
                  <a:t> </a:t>
                </a:r>
              </a:p>
            </p:txBody>
          </p:sp>
        </mc:Fallback>
      </mc:AlternateContent>
      <p:sp>
        <p:nvSpPr>
          <p:cNvPr id="9" name="Text Box 10">
            <a:extLst>
              <a:ext uri="{FF2B5EF4-FFF2-40B4-BE49-F238E27FC236}">
                <a16:creationId xmlns:a16="http://schemas.microsoft.com/office/drawing/2014/main" id="{5AD3E262-F83D-EED3-7B65-038194996ED7}"/>
              </a:ext>
            </a:extLst>
          </p:cNvPr>
          <p:cNvSpPr txBox="1">
            <a:spLocks noChangeArrowheads="1"/>
          </p:cNvSpPr>
          <p:nvPr/>
        </p:nvSpPr>
        <p:spPr bwMode="auto">
          <a:xfrm>
            <a:off x="3307360" y="1320917"/>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i="1">
                <a:latin typeface="Times New Roman" panose="02020603050405020304" pitchFamily="18" charset="0"/>
                <a:ea typeface="新細明體" panose="02020500000000000000" pitchFamily="18" charset="-120"/>
                <a:cs typeface="Arial" panose="020B0604020202020204" pitchFamily="34" charset="0"/>
              </a:rPr>
              <a:t>or</a:t>
            </a:r>
          </a:p>
        </p:txBody>
      </p:sp>
      <p:sp>
        <p:nvSpPr>
          <p:cNvPr id="11" name="TextBox 10">
            <a:extLst>
              <a:ext uri="{FF2B5EF4-FFF2-40B4-BE49-F238E27FC236}">
                <a16:creationId xmlns:a16="http://schemas.microsoft.com/office/drawing/2014/main" id="{4F83ADBF-9927-F67A-3D16-CCA243E81AB7}"/>
              </a:ext>
            </a:extLst>
          </p:cNvPr>
          <p:cNvSpPr txBox="1"/>
          <p:nvPr/>
        </p:nvSpPr>
        <p:spPr>
          <a:xfrm>
            <a:off x="1524000" y="3203225"/>
            <a:ext cx="4572000" cy="369332"/>
          </a:xfrm>
          <a:prstGeom prst="rect">
            <a:avLst/>
          </a:prstGeom>
          <a:noFill/>
        </p:spPr>
        <p:txBody>
          <a:bodyPr wrap="square">
            <a:spAutoFit/>
          </a:bodyPr>
          <a:lstStyle/>
          <a:p>
            <a:r>
              <a:rPr lang="en-HK" i="1" dirty="0">
                <a:effectLst/>
                <a:latin typeface="KaTeX_Math"/>
              </a:rPr>
              <a:t>n</a:t>
            </a:r>
            <a:r>
              <a:rPr lang="en-HK" dirty="0">
                <a:effectLst/>
              </a:rPr>
              <a:t>=</a:t>
            </a:r>
            <a:r>
              <a:rPr lang="en-HK" i="1" dirty="0">
                <a:latin typeface="KaTeX_Math"/>
              </a:rPr>
              <a:t>P/ </a:t>
            </a:r>
            <a:r>
              <a:rPr lang="en-HK" b="0" i="1" dirty="0">
                <a:effectLst/>
                <a:latin typeface="KaTeX_Math"/>
              </a:rPr>
              <a:t>k</a:t>
            </a:r>
            <a:r>
              <a:rPr lang="en-HK" b="0" i="0" dirty="0">
                <a:effectLst/>
                <a:latin typeface="KaTeX_Main"/>
              </a:rPr>
              <a:t>​</a:t>
            </a:r>
            <a:r>
              <a:rPr lang="en-HK" i="1" baseline="-25000" dirty="0">
                <a:latin typeface="KaTeX_Math"/>
              </a:rPr>
              <a:t>B</a:t>
            </a:r>
            <a:r>
              <a:rPr lang="en-HK" b="0" i="1" dirty="0">
                <a:effectLst/>
                <a:latin typeface="KaTeX_Math"/>
              </a:rPr>
              <a:t>T</a:t>
            </a:r>
            <a:endParaRPr lang="en-HK" dirty="0"/>
          </a:p>
        </p:txBody>
      </p:sp>
      <mc:AlternateContent xmlns:mc="http://schemas.openxmlformats.org/markup-compatibility/2006" xmlns:a14="http://schemas.microsoft.com/office/drawing/2010/main">
        <mc:Choice Requires="a14">
          <p:sp>
            <p:nvSpPr>
              <p:cNvPr id="12" name="Object 6">
                <a:extLst>
                  <a:ext uri="{FF2B5EF4-FFF2-40B4-BE49-F238E27FC236}">
                    <a16:creationId xmlns:a16="http://schemas.microsoft.com/office/drawing/2014/main" id="{EDFC5B04-8401-D2DE-A2E3-0BED6DD6C00F}"/>
                  </a:ext>
                </a:extLst>
              </p:cNvPr>
              <p:cNvSpPr txBox="1"/>
              <p:nvPr/>
            </p:nvSpPr>
            <p:spPr bwMode="auto">
              <a:xfrm>
                <a:off x="1442207" y="3525153"/>
                <a:ext cx="2676525" cy="83661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m:d>
                        <m:dPr>
                          <m:begChr m:val="⟨"/>
                          <m:endChr m:val="⟩"/>
                          <m:ctrlPr>
                            <a:rPr lang="en-HK" i="1">
                              <a:solidFill>
                                <a:srgbClr val="000000"/>
                              </a:solidFill>
                              <a:latin typeface="Cambria Math" panose="02040503050406030204" pitchFamily="18" charset="0"/>
                            </a:rPr>
                          </m:ctrlPr>
                        </m:dPr>
                        <m:e>
                          <m:r>
                            <a:rPr lang="en-HK" i="1">
                              <a:solidFill>
                                <a:srgbClr val="000000"/>
                              </a:solidFill>
                              <a:latin typeface="Cambria Math" panose="02040503050406030204" pitchFamily="18" charset="0"/>
                            </a:rPr>
                            <m:t>𝑣</m:t>
                          </m:r>
                        </m:e>
                      </m:d>
                      <m:r>
                        <a:rPr lang="en-HK" i="1">
                          <a:solidFill>
                            <a:srgbClr val="000000"/>
                          </a:solidFill>
                          <a:latin typeface="Cambria Math" panose="02040503050406030204" pitchFamily="18" charset="0"/>
                        </a:rPr>
                        <m:t>=</m:t>
                      </m:r>
                      <m:rad>
                        <m:radPr>
                          <m:degHide m:val="on"/>
                          <m:ctrlPr>
                            <a:rPr lang="en-HK" i="1">
                              <a:solidFill>
                                <a:srgbClr val="000000"/>
                              </a:solidFill>
                              <a:latin typeface="Cambria Math" panose="02040503050406030204" pitchFamily="18" charset="0"/>
                            </a:rPr>
                          </m:ctrlPr>
                        </m:radPr>
                        <m:deg/>
                        <m:e>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8</m:t>
                              </m:r>
                              <m:r>
                                <a:rPr lang="en-HK" i="1">
                                  <a:solidFill>
                                    <a:srgbClr val="000000"/>
                                  </a:solidFill>
                                  <a:latin typeface="Cambria Math" panose="02040503050406030204" pitchFamily="18" charset="0"/>
                                </a:rPr>
                                <m:t>𝑅𝑇</m:t>
                              </m:r>
                            </m:num>
                            <m:den>
                              <m:r>
                                <a:rPr lang="en-HK" i="1">
                                  <a:solidFill>
                                    <a:srgbClr val="000000"/>
                                  </a:solidFill>
                                  <a:latin typeface="Cambria Math" panose="02040503050406030204" pitchFamily="18" charset="0"/>
                                </a:rPr>
                                <m:t>𝜋</m:t>
                              </m:r>
                              <m:r>
                                <a:rPr lang="en-HK" i="1">
                                  <a:solidFill>
                                    <a:srgbClr val="000000"/>
                                  </a:solidFill>
                                  <a:latin typeface="Cambria Math" panose="02040503050406030204" pitchFamily="18" charset="0"/>
                                </a:rPr>
                                <m:t>𝑀</m:t>
                              </m:r>
                            </m:den>
                          </m:f>
                        </m:e>
                      </m:rad>
                    </m:oMath>
                  </m:oMathPara>
                </a14:m>
                <a:endParaRPr lang="en-HK" dirty="0"/>
              </a:p>
            </p:txBody>
          </p:sp>
        </mc:Choice>
        <mc:Fallback xmlns="">
          <p:sp>
            <p:nvSpPr>
              <p:cNvPr id="12" name="Object 6">
                <a:extLst>
                  <a:ext uri="{FF2B5EF4-FFF2-40B4-BE49-F238E27FC236}">
                    <a16:creationId xmlns:a16="http://schemas.microsoft.com/office/drawing/2014/main" id="{EDFC5B04-8401-D2DE-A2E3-0BED6DD6C00F}"/>
                  </a:ext>
                </a:extLst>
              </p:cNvPr>
              <p:cNvSpPr txBox="1">
                <a:spLocks noRot="1" noChangeAspect="1" noMove="1" noResize="1" noEditPoints="1" noAdjustHandles="1" noChangeArrowheads="1" noChangeShapeType="1" noTextEdit="1"/>
              </p:cNvSpPr>
              <p:nvPr/>
            </p:nvSpPr>
            <p:spPr bwMode="auto">
              <a:xfrm>
                <a:off x="1442207" y="3525153"/>
                <a:ext cx="2676525" cy="836612"/>
              </a:xfrm>
              <a:prstGeom prst="rect">
                <a:avLst/>
              </a:prstGeom>
              <a:blipFill>
                <a:blip r:embed="rId6"/>
                <a:stretch>
                  <a:fillRect/>
                </a:stretch>
              </a:blipFill>
              <a:ln>
                <a:noFill/>
              </a:ln>
              <a:effectLst/>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6" name="Object 8">
                <a:extLst>
                  <a:ext uri="{FF2B5EF4-FFF2-40B4-BE49-F238E27FC236}">
                    <a16:creationId xmlns:a16="http://schemas.microsoft.com/office/drawing/2014/main" id="{8E832DAB-A493-0FFF-0D7A-37F3FC225D9D}"/>
                  </a:ext>
                </a:extLst>
              </p:cNvPr>
              <p:cNvSpPr txBox="1"/>
              <p:nvPr/>
            </p:nvSpPr>
            <p:spPr bwMode="auto">
              <a:xfrm>
                <a:off x="381000" y="4502642"/>
                <a:ext cx="8534400" cy="1285383"/>
              </a:xfrm>
              <a:prstGeom prst="rect">
                <a:avLst/>
              </a:prstGeom>
              <a:solidFill>
                <a:schemeClr val="accent1"/>
              </a:solidFill>
              <a:ln>
                <a:noFill/>
              </a:ln>
            </p:spPr>
            <p:txBody>
              <a:bodyPr>
                <a:normAutofit/>
              </a:bodyPr>
              <a:lstStyle/>
              <a:p>
                <a14:m>
                  <m:oMath xmlns:m="http://schemas.openxmlformats.org/officeDocument/2006/math">
                    <m:r>
                      <a:rPr lang="en-HK" sz="3200" i="1" smtClean="0">
                        <a:solidFill>
                          <a:srgbClr val="000000"/>
                        </a:solidFill>
                        <a:latin typeface="Cambria Math" panose="02040503050406030204" pitchFamily="18" charset="0"/>
                      </a:rPr>
                      <m:t>𝜑</m:t>
                    </m:r>
                    <m:r>
                      <a:rPr lang="en-HK" sz="3200" i="1" smtClean="0">
                        <a:solidFill>
                          <a:srgbClr val="000000"/>
                        </a:solidFill>
                        <a:latin typeface="Cambria Math" panose="02040503050406030204" pitchFamily="18" charset="0"/>
                      </a:rPr>
                      <m:t>=</m:t>
                    </m:r>
                    <m:f>
                      <m:fPr>
                        <m:ctrlPr>
                          <a:rPr lang="en-HK" sz="3200" i="1">
                            <a:solidFill>
                              <a:srgbClr val="000000"/>
                            </a:solidFill>
                            <a:latin typeface="Cambria Math" panose="02040503050406030204" pitchFamily="18" charset="0"/>
                          </a:rPr>
                        </m:ctrlPr>
                      </m:fPr>
                      <m:num>
                        <m:r>
                          <a:rPr lang="en-HK" sz="3200" i="1">
                            <a:solidFill>
                              <a:srgbClr val="000000"/>
                            </a:solidFill>
                            <a:latin typeface="Cambria Math" panose="02040503050406030204" pitchFamily="18" charset="0"/>
                          </a:rPr>
                          <m:t>1</m:t>
                        </m:r>
                      </m:num>
                      <m:den>
                        <m:r>
                          <a:rPr lang="en-HK" sz="3200" i="1">
                            <a:solidFill>
                              <a:srgbClr val="000000"/>
                            </a:solidFill>
                            <a:latin typeface="Cambria Math" panose="02040503050406030204" pitchFamily="18" charset="0"/>
                          </a:rPr>
                          <m:t>4</m:t>
                        </m:r>
                      </m:den>
                    </m:f>
                    <m:r>
                      <a:rPr lang="en-HK" sz="3200" i="1">
                        <a:solidFill>
                          <a:srgbClr val="000000"/>
                        </a:solidFill>
                        <a:latin typeface="Cambria Math" panose="02040503050406030204" pitchFamily="18" charset="0"/>
                      </a:rPr>
                      <m:t>𝑛</m:t>
                    </m:r>
                    <m:sSub>
                      <m:sSubPr>
                        <m:ctrlPr>
                          <a:rPr lang="en-HK" sz="3200" i="1">
                            <a:solidFill>
                              <a:srgbClr val="000000"/>
                            </a:solidFill>
                            <a:latin typeface="Cambria Math" panose="02040503050406030204" pitchFamily="18" charset="0"/>
                          </a:rPr>
                        </m:ctrlPr>
                      </m:sSubPr>
                      <m:e>
                        <m:r>
                          <a:rPr lang="en-HK" sz="3200" i="1">
                            <a:solidFill>
                              <a:srgbClr val="000000"/>
                            </a:solidFill>
                            <a:latin typeface="Cambria Math" panose="02040503050406030204" pitchFamily="18" charset="0"/>
                          </a:rPr>
                          <m:t>𝑣</m:t>
                        </m:r>
                      </m:e>
                      <m:sub>
                        <m:r>
                          <a:rPr lang="en-HK" sz="3200" i="1">
                            <a:solidFill>
                              <a:srgbClr val="000000"/>
                            </a:solidFill>
                            <a:latin typeface="Cambria Math" panose="02040503050406030204" pitchFamily="18" charset="0"/>
                          </a:rPr>
                          <m:t>𝑎𝑣</m:t>
                        </m:r>
                      </m:sub>
                    </m:sSub>
                    <m:r>
                      <a:rPr lang="en-HK" sz="3200" b="0" i="0" smtClean="0">
                        <a:solidFill>
                          <a:srgbClr val="000000"/>
                        </a:solidFill>
                        <a:latin typeface="Cambria Math" panose="02040503050406030204" pitchFamily="18" charset="0"/>
                      </a:rPr>
                      <m:t>=</m:t>
                    </m:r>
                    <m:f>
                      <m:fPr>
                        <m:ctrlPr>
                          <a:rPr lang="en-HK" sz="3200" b="0" i="1" smtClean="0">
                            <a:solidFill>
                              <a:srgbClr val="000000"/>
                            </a:solidFill>
                            <a:latin typeface="Cambria Math" panose="02040503050406030204" pitchFamily="18" charset="0"/>
                          </a:rPr>
                        </m:ctrlPr>
                      </m:fPr>
                      <m:num>
                        <m:r>
                          <a:rPr lang="en-HK" sz="3200" b="0" i="1" smtClean="0">
                            <a:solidFill>
                              <a:srgbClr val="000000"/>
                            </a:solidFill>
                            <a:latin typeface="Cambria Math" panose="02040503050406030204" pitchFamily="18" charset="0"/>
                          </a:rPr>
                          <m:t>𝑃</m:t>
                        </m:r>
                      </m:num>
                      <m:den>
                        <m:r>
                          <a:rPr lang="en-HK" sz="3200" i="1">
                            <a:solidFill>
                              <a:srgbClr val="000000"/>
                            </a:solidFill>
                            <a:latin typeface="Cambria Math" panose="02040503050406030204" pitchFamily="18" charset="0"/>
                          </a:rPr>
                          <m:t>4</m:t>
                        </m:r>
                        <m:sSub>
                          <m:sSubPr>
                            <m:ctrlPr>
                              <a:rPr lang="en-HK" sz="3200" b="0" i="1" smtClean="0">
                                <a:solidFill>
                                  <a:srgbClr val="000000"/>
                                </a:solidFill>
                                <a:latin typeface="Cambria Math" panose="02040503050406030204" pitchFamily="18" charset="0"/>
                              </a:rPr>
                            </m:ctrlPr>
                          </m:sSubPr>
                          <m:e>
                            <m:r>
                              <a:rPr lang="en-HK" sz="3200" b="0" i="1" smtClean="0">
                                <a:solidFill>
                                  <a:srgbClr val="000000"/>
                                </a:solidFill>
                                <a:latin typeface="Cambria Math" panose="02040503050406030204" pitchFamily="18" charset="0"/>
                              </a:rPr>
                              <m:t>𝐾</m:t>
                            </m:r>
                          </m:e>
                          <m:sub>
                            <m:r>
                              <a:rPr lang="en-HK" sz="3200" b="0" i="1" smtClean="0">
                                <a:solidFill>
                                  <a:srgbClr val="000000"/>
                                </a:solidFill>
                                <a:latin typeface="Cambria Math" panose="02040503050406030204" pitchFamily="18" charset="0"/>
                              </a:rPr>
                              <m:t>𝐵</m:t>
                            </m:r>
                          </m:sub>
                        </m:sSub>
                        <m:r>
                          <a:rPr lang="en-HK" sz="3200" b="0" i="1" smtClean="0">
                            <a:solidFill>
                              <a:srgbClr val="000000"/>
                            </a:solidFill>
                            <a:latin typeface="Cambria Math" panose="02040503050406030204" pitchFamily="18" charset="0"/>
                          </a:rPr>
                          <m:t>𝑇</m:t>
                        </m:r>
                      </m:den>
                    </m:f>
                    <m:rad>
                      <m:radPr>
                        <m:degHide m:val="on"/>
                        <m:ctrlPr>
                          <a:rPr lang="en-HK" sz="3200" i="1">
                            <a:solidFill>
                              <a:srgbClr val="000000"/>
                            </a:solidFill>
                            <a:latin typeface="Cambria Math" panose="02040503050406030204" pitchFamily="18" charset="0"/>
                          </a:rPr>
                        </m:ctrlPr>
                      </m:radPr>
                      <m:deg/>
                      <m:e>
                        <m:f>
                          <m:fPr>
                            <m:ctrlPr>
                              <a:rPr lang="en-HK" sz="3200" i="1">
                                <a:solidFill>
                                  <a:srgbClr val="000000"/>
                                </a:solidFill>
                                <a:latin typeface="Cambria Math" panose="02040503050406030204" pitchFamily="18" charset="0"/>
                              </a:rPr>
                            </m:ctrlPr>
                          </m:fPr>
                          <m:num>
                            <m:r>
                              <a:rPr lang="en-HK" sz="3200" i="1">
                                <a:solidFill>
                                  <a:srgbClr val="000000"/>
                                </a:solidFill>
                                <a:latin typeface="Cambria Math" panose="02040503050406030204" pitchFamily="18" charset="0"/>
                              </a:rPr>
                              <m:t>8</m:t>
                            </m:r>
                            <m:r>
                              <a:rPr lang="en-HK" sz="3200" i="1">
                                <a:solidFill>
                                  <a:srgbClr val="000000"/>
                                </a:solidFill>
                                <a:latin typeface="Cambria Math" panose="02040503050406030204" pitchFamily="18" charset="0"/>
                              </a:rPr>
                              <m:t>𝑅𝑇</m:t>
                            </m:r>
                          </m:num>
                          <m:den>
                            <m:r>
                              <a:rPr lang="en-HK" sz="3200" i="1">
                                <a:solidFill>
                                  <a:srgbClr val="000000"/>
                                </a:solidFill>
                                <a:latin typeface="Cambria Math" panose="02040503050406030204" pitchFamily="18" charset="0"/>
                              </a:rPr>
                              <m:t>𝜋</m:t>
                            </m:r>
                            <m:r>
                              <a:rPr lang="en-HK" sz="3200" i="1">
                                <a:solidFill>
                                  <a:srgbClr val="000000"/>
                                </a:solidFill>
                                <a:latin typeface="Cambria Math" panose="02040503050406030204" pitchFamily="18" charset="0"/>
                              </a:rPr>
                              <m:t>𝑀</m:t>
                            </m:r>
                          </m:den>
                        </m:f>
                      </m:e>
                    </m:rad>
                  </m:oMath>
                </a14:m>
                <a:r>
                  <a:rPr lang="en-HK" sz="3200" dirty="0"/>
                  <a:t> = </a:t>
                </a:r>
                <a14:m>
                  <m:oMath xmlns:m="http://schemas.openxmlformats.org/officeDocument/2006/math">
                    <m:f>
                      <m:fPr>
                        <m:ctrlPr>
                          <a:rPr lang="en-HK" sz="3200" i="1">
                            <a:solidFill>
                              <a:srgbClr val="000000"/>
                            </a:solidFill>
                            <a:latin typeface="Cambria Math" panose="02040503050406030204" pitchFamily="18" charset="0"/>
                          </a:rPr>
                        </m:ctrlPr>
                      </m:fPr>
                      <m:num>
                        <m:r>
                          <a:rPr lang="en-HK" sz="3200" i="1">
                            <a:solidFill>
                              <a:srgbClr val="000000"/>
                            </a:solidFill>
                            <a:latin typeface="Cambria Math" panose="02040503050406030204" pitchFamily="18" charset="0"/>
                          </a:rPr>
                          <m:t>𝑃</m:t>
                        </m:r>
                      </m:num>
                      <m:den>
                        <m:rad>
                          <m:radPr>
                            <m:degHide m:val="on"/>
                            <m:ctrlPr>
                              <a:rPr lang="en-HK" sz="3200" i="1" smtClean="0">
                                <a:solidFill>
                                  <a:srgbClr val="000000"/>
                                </a:solidFill>
                                <a:latin typeface="Cambria Math" panose="02040503050406030204" pitchFamily="18" charset="0"/>
                              </a:rPr>
                            </m:ctrlPr>
                          </m:radPr>
                          <m:deg/>
                          <m:e>
                            <m:r>
                              <a:rPr lang="en-HK" sz="3200" b="0" i="1" smtClean="0">
                                <a:solidFill>
                                  <a:srgbClr val="000000"/>
                                </a:solidFill>
                                <a:latin typeface="Cambria Math" panose="02040503050406030204" pitchFamily="18" charset="0"/>
                              </a:rPr>
                              <m:t>2</m:t>
                            </m:r>
                            <m:r>
                              <a:rPr lang="en-HK" sz="3200" b="0" i="1" smtClean="0">
                                <a:solidFill>
                                  <a:srgbClr val="000000"/>
                                </a:solidFill>
                                <a:latin typeface="Cambria Math" panose="02040503050406030204" pitchFamily="18" charset="0"/>
                                <a:ea typeface="Cambria Math" panose="02040503050406030204" pitchFamily="18" charset="0"/>
                              </a:rPr>
                              <m:t>𝜋</m:t>
                            </m:r>
                            <m:r>
                              <a:rPr lang="en-HK" sz="3200" b="0" i="1" smtClean="0">
                                <a:solidFill>
                                  <a:srgbClr val="000000"/>
                                </a:solidFill>
                                <a:latin typeface="Cambria Math" panose="02040503050406030204" pitchFamily="18" charset="0"/>
                                <a:ea typeface="Cambria Math" panose="02040503050406030204" pitchFamily="18" charset="0"/>
                              </a:rPr>
                              <m:t>𝑚</m:t>
                            </m:r>
                            <m:sSub>
                              <m:sSubPr>
                                <m:ctrlPr>
                                  <a:rPr lang="en-HK" sz="3200" i="1">
                                    <a:solidFill>
                                      <a:srgbClr val="000000"/>
                                    </a:solidFill>
                                    <a:latin typeface="Cambria Math" panose="02040503050406030204" pitchFamily="18" charset="0"/>
                                  </a:rPr>
                                </m:ctrlPr>
                              </m:sSubPr>
                              <m:e>
                                <m:r>
                                  <a:rPr lang="en-HK" sz="3200" i="1">
                                    <a:solidFill>
                                      <a:srgbClr val="000000"/>
                                    </a:solidFill>
                                    <a:latin typeface="Cambria Math" panose="02040503050406030204" pitchFamily="18" charset="0"/>
                                  </a:rPr>
                                  <m:t>𝐾</m:t>
                                </m:r>
                              </m:e>
                              <m:sub>
                                <m:r>
                                  <a:rPr lang="en-HK" sz="3200" i="1">
                                    <a:solidFill>
                                      <a:srgbClr val="000000"/>
                                    </a:solidFill>
                                    <a:latin typeface="Cambria Math" panose="02040503050406030204" pitchFamily="18" charset="0"/>
                                  </a:rPr>
                                  <m:t>𝐵</m:t>
                                </m:r>
                              </m:sub>
                            </m:sSub>
                            <m:r>
                              <a:rPr lang="en-HK" sz="3200" b="0" i="1" smtClean="0">
                                <a:solidFill>
                                  <a:srgbClr val="000000"/>
                                </a:solidFill>
                                <a:latin typeface="Cambria Math" panose="02040503050406030204" pitchFamily="18" charset="0"/>
                              </a:rPr>
                              <m:t>𝑇</m:t>
                            </m:r>
                          </m:e>
                        </m:rad>
                      </m:den>
                    </m:f>
                    <m:r>
                      <a:rPr lang="en-HK" sz="3200" b="0" i="1" smtClean="0">
                        <a:solidFill>
                          <a:srgbClr val="000000"/>
                        </a:solidFill>
                        <a:latin typeface="Cambria Math" panose="02040503050406030204" pitchFamily="18" charset="0"/>
                      </a:rPr>
                      <m:t>=</m:t>
                    </m:r>
                    <m:f>
                      <m:fPr>
                        <m:ctrlPr>
                          <a:rPr lang="en-HK" sz="3200" b="0" i="1" smtClean="0">
                            <a:solidFill>
                              <a:srgbClr val="000000"/>
                            </a:solidFill>
                            <a:latin typeface="Cambria Math" panose="02040503050406030204" pitchFamily="18" charset="0"/>
                          </a:rPr>
                        </m:ctrlPr>
                      </m:fPr>
                      <m:num>
                        <m:sSub>
                          <m:sSubPr>
                            <m:ctrlPr>
                              <a:rPr lang="en-HK" sz="3200" b="0" i="1" smtClean="0">
                                <a:solidFill>
                                  <a:srgbClr val="000000"/>
                                </a:solidFill>
                                <a:latin typeface="Cambria Math" panose="02040503050406030204" pitchFamily="18" charset="0"/>
                              </a:rPr>
                            </m:ctrlPr>
                          </m:sSubPr>
                          <m:e>
                            <m:r>
                              <a:rPr lang="en-HK" sz="3200" b="0" i="1" smtClean="0">
                                <a:solidFill>
                                  <a:srgbClr val="000000"/>
                                </a:solidFill>
                                <a:latin typeface="Cambria Math" panose="02040503050406030204" pitchFamily="18" charset="0"/>
                              </a:rPr>
                              <m:t>𝑁</m:t>
                            </m:r>
                          </m:e>
                          <m:sub>
                            <m:r>
                              <a:rPr lang="en-HK" sz="3200" b="0" i="1" smtClean="0">
                                <a:solidFill>
                                  <a:srgbClr val="000000"/>
                                </a:solidFill>
                                <a:latin typeface="Cambria Math" panose="02040503050406030204" pitchFamily="18" charset="0"/>
                              </a:rPr>
                              <m:t>𝐴</m:t>
                            </m:r>
                          </m:sub>
                        </m:sSub>
                        <m:r>
                          <a:rPr lang="en-HK" sz="3200" b="0" i="1" smtClean="0">
                            <a:solidFill>
                              <a:srgbClr val="000000"/>
                            </a:solidFill>
                            <a:latin typeface="Cambria Math" panose="02040503050406030204" pitchFamily="18" charset="0"/>
                          </a:rPr>
                          <m:t>𝑃</m:t>
                        </m:r>
                      </m:num>
                      <m:den>
                        <m:rad>
                          <m:radPr>
                            <m:degHide m:val="on"/>
                            <m:ctrlPr>
                              <a:rPr lang="en-HK" sz="3200" b="0" i="1" smtClean="0">
                                <a:solidFill>
                                  <a:srgbClr val="000000"/>
                                </a:solidFill>
                                <a:latin typeface="Cambria Math" panose="02040503050406030204" pitchFamily="18" charset="0"/>
                              </a:rPr>
                            </m:ctrlPr>
                          </m:radPr>
                          <m:deg/>
                          <m:e>
                            <m:r>
                              <a:rPr lang="en-HK" sz="3200" b="0" i="1" smtClean="0">
                                <a:solidFill>
                                  <a:srgbClr val="000000"/>
                                </a:solidFill>
                                <a:latin typeface="Cambria Math" panose="02040503050406030204" pitchFamily="18" charset="0"/>
                              </a:rPr>
                              <m:t>2</m:t>
                            </m:r>
                            <m:r>
                              <a:rPr lang="en-HK" sz="3200" b="0" i="1" smtClean="0">
                                <a:solidFill>
                                  <a:srgbClr val="000000"/>
                                </a:solidFill>
                                <a:latin typeface="Cambria Math" panose="02040503050406030204" pitchFamily="18" charset="0"/>
                                <a:ea typeface="Cambria Math" panose="02040503050406030204" pitchFamily="18" charset="0"/>
                              </a:rPr>
                              <m:t>𝜋</m:t>
                            </m:r>
                            <m:r>
                              <a:rPr lang="en-HK" sz="3200" b="0" i="1" smtClean="0">
                                <a:solidFill>
                                  <a:srgbClr val="000000"/>
                                </a:solidFill>
                                <a:latin typeface="Cambria Math" panose="02040503050406030204" pitchFamily="18" charset="0"/>
                                <a:ea typeface="Cambria Math" panose="02040503050406030204" pitchFamily="18" charset="0"/>
                              </a:rPr>
                              <m:t>𝑀𝑅𝑇</m:t>
                            </m:r>
                          </m:e>
                        </m:rad>
                      </m:den>
                    </m:f>
                  </m:oMath>
                </a14:m>
                <a:endParaRPr lang="en-HK" sz="3200" dirty="0"/>
              </a:p>
            </p:txBody>
          </p:sp>
        </mc:Choice>
        <mc:Fallback xmlns="">
          <p:sp>
            <p:nvSpPr>
              <p:cNvPr id="16" name="Object 8">
                <a:extLst>
                  <a:ext uri="{FF2B5EF4-FFF2-40B4-BE49-F238E27FC236}">
                    <a16:creationId xmlns:a16="http://schemas.microsoft.com/office/drawing/2014/main" id="{8E832DAB-A493-0FFF-0D7A-37F3FC225D9D}"/>
                  </a:ext>
                </a:extLst>
              </p:cNvPr>
              <p:cNvSpPr txBox="1">
                <a:spLocks noRot="1" noChangeAspect="1" noMove="1" noResize="1" noEditPoints="1" noAdjustHandles="1" noChangeArrowheads="1" noChangeShapeType="1" noTextEdit="1"/>
              </p:cNvSpPr>
              <p:nvPr/>
            </p:nvSpPr>
            <p:spPr bwMode="auto">
              <a:xfrm>
                <a:off x="381000" y="4502642"/>
                <a:ext cx="8534400" cy="1285383"/>
              </a:xfrm>
              <a:prstGeom prst="rect">
                <a:avLst/>
              </a:prstGeom>
              <a:blipFill>
                <a:blip r:embed="rId7"/>
                <a:stretch>
                  <a:fillRect/>
                </a:stretch>
              </a:blipFill>
              <a:ln>
                <a:noFill/>
              </a:ln>
            </p:spPr>
            <p:txBody>
              <a:bodyPr/>
              <a:lstStyle/>
              <a:p>
                <a:r>
                  <a:rPr lang="en-HK">
                    <a:noFill/>
                  </a:rPr>
                  <a:t> </a:t>
                </a:r>
              </a:p>
            </p:txBody>
          </p:sp>
        </mc:Fallback>
      </mc:AlternateContent>
    </p:spTree>
    <p:extLst>
      <p:ext uri="{BB962C8B-B14F-4D97-AF65-F5344CB8AC3E}">
        <p14:creationId xmlns:p14="http://schemas.microsoft.com/office/powerpoint/2010/main" val="894518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83066CF9-688C-8457-4246-DCBDC3862933}"/>
              </a:ext>
            </a:extLst>
          </p:cNvPr>
          <p:cNvSpPr>
            <a:spLocks noChangeArrowheads="1"/>
          </p:cNvSpPr>
          <p:nvPr/>
        </p:nvSpPr>
        <p:spPr bwMode="auto">
          <a:xfrm>
            <a:off x="7620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Monolayer formation time </a:t>
            </a:r>
            <a:r>
              <a:rPr lang="en-US" altLang="zh-TW" sz="3600">
                <a:latin typeface="Symbol" panose="05050102010706020507" pitchFamily="18" charset="2"/>
                <a:ea typeface="新細明體" panose="02020500000000000000" pitchFamily="18" charset="-120"/>
              </a:rPr>
              <a:t>t</a:t>
            </a:r>
          </a:p>
        </p:txBody>
      </p:sp>
      <p:sp>
        <p:nvSpPr>
          <p:cNvPr id="7173" name="Rectangle 3">
            <a:extLst>
              <a:ext uri="{FF2B5EF4-FFF2-40B4-BE49-F238E27FC236}">
                <a16:creationId xmlns:a16="http://schemas.microsoft.com/office/drawing/2014/main" id="{D0ADD5B0-900E-F369-DE1F-20E8EDFB15F5}"/>
              </a:ext>
            </a:extLst>
          </p:cNvPr>
          <p:cNvSpPr>
            <a:spLocks noChangeArrowheads="1"/>
          </p:cNvSpPr>
          <p:nvPr/>
        </p:nvSpPr>
        <p:spPr bwMode="auto">
          <a:xfrm>
            <a:off x="1066800" y="3352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TW" altLang="en-US" sz="4400">
              <a:latin typeface="Times New Roman" panose="02020603050405020304" pitchFamily="18" charset="0"/>
              <a:ea typeface="新細明體" panose="02020500000000000000" pitchFamily="18" charset="-120"/>
              <a:cs typeface="Arial" panose="020B0604020202020204" pitchFamily="34" charset="0"/>
            </a:endParaRPr>
          </a:p>
        </p:txBody>
      </p:sp>
      <p:sp>
        <p:nvSpPr>
          <p:cNvPr id="7174" name="Rectangle 4">
            <a:extLst>
              <a:ext uri="{FF2B5EF4-FFF2-40B4-BE49-F238E27FC236}">
                <a16:creationId xmlns:a16="http://schemas.microsoft.com/office/drawing/2014/main" id="{3CE532C9-4ACB-2D90-E202-6693FD3FCC7B}"/>
              </a:ext>
            </a:extLst>
          </p:cNvPr>
          <p:cNvSpPr>
            <a:spLocks noChangeArrowheads="1"/>
          </p:cNvSpPr>
          <p:nvPr/>
        </p:nvSpPr>
        <p:spPr bwMode="auto">
          <a:xfrm>
            <a:off x="1143000" y="1676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mc:AlternateContent xmlns:mc="http://schemas.openxmlformats.org/markup-compatibility/2006" xmlns:a14="http://schemas.microsoft.com/office/drawing/2010/main">
        <mc:Choice Requires="a14">
          <p:sp>
            <p:nvSpPr>
              <p:cNvPr id="7170" name="Object 5">
                <a:extLst>
                  <a:ext uri="{FF2B5EF4-FFF2-40B4-BE49-F238E27FC236}">
                    <a16:creationId xmlns:a16="http://schemas.microsoft.com/office/drawing/2014/main" id="{8B24EB2A-5946-8BF3-4D83-1033BD3527C2}"/>
                  </a:ext>
                </a:extLst>
              </p:cNvPr>
              <p:cNvSpPr txBox="1"/>
              <p:nvPr/>
            </p:nvSpPr>
            <p:spPr bwMode="auto">
              <a:xfrm>
                <a:off x="2095500" y="1508125"/>
                <a:ext cx="5105400" cy="995923"/>
              </a:xfrm>
              <a:prstGeom prst="rect">
                <a:avLst/>
              </a:prstGeom>
              <a:solidFill>
                <a:schemeClr val="accent1"/>
              </a:solidFill>
              <a:ln>
                <a:noFill/>
              </a:ln>
            </p:spPr>
            <p:txBody>
              <a:bodyPr>
                <a:normAutofit/>
              </a:bodyPr>
              <a:lstStyle/>
              <a:p>
                <a:pPr/>
                <a14:m>
                  <m:oMathPara xmlns:m="http://schemas.openxmlformats.org/officeDocument/2006/math">
                    <m:oMathParaPr>
                      <m:jc m:val="left"/>
                    </m:oMathParaPr>
                    <m:oMath>
                      <m:r>
                        <a:rPr lang="en-HK" sz="2400" i="1" smtClean="0">
                          <a:solidFill>
                            <a:srgbClr val="000000"/>
                          </a:solidFill>
                          <a:latin typeface="Cambria Math" panose="02040503050406030204" pitchFamily="18" charset="0"/>
                        </a:rPr>
                        <m:t>𝜑</m:t>
                      </m:r>
                      <m:r>
                        <a:rPr lang="en-HK" sz="2400" i="1" smtClean="0">
                          <a:solidFill>
                            <a:srgbClr val="000000"/>
                          </a:solidFill>
                          <a:latin typeface="Cambria Math" panose="02040503050406030204" pitchFamily="18" charset="0"/>
                        </a:rPr>
                        <m:t>=</m:t>
                      </m:r>
                      <m:f>
                        <m:fPr>
                          <m:ctrlPr>
                            <a:rPr lang="en-HK" sz="2400" i="1">
                              <a:solidFill>
                                <a:srgbClr val="000000"/>
                              </a:solidFill>
                              <a:latin typeface="Cambria Math" panose="02040503050406030204" pitchFamily="18" charset="0"/>
                            </a:rPr>
                          </m:ctrlPr>
                        </m:fPr>
                        <m:num>
                          <m:r>
                            <a:rPr lang="en-HK" sz="2400" i="1">
                              <a:solidFill>
                                <a:srgbClr val="000000"/>
                              </a:solidFill>
                              <a:latin typeface="Cambria Math" panose="02040503050406030204" pitchFamily="18" charset="0"/>
                            </a:rPr>
                            <m:t>1</m:t>
                          </m:r>
                        </m:num>
                        <m:den>
                          <m:r>
                            <a:rPr lang="en-HK" sz="2400" i="1">
                              <a:solidFill>
                                <a:srgbClr val="000000"/>
                              </a:solidFill>
                              <a:latin typeface="Cambria Math" panose="02040503050406030204" pitchFamily="18" charset="0"/>
                            </a:rPr>
                            <m:t>4</m:t>
                          </m:r>
                        </m:den>
                      </m:f>
                      <m:r>
                        <a:rPr lang="en-HK" sz="2400" i="1">
                          <a:solidFill>
                            <a:srgbClr val="000000"/>
                          </a:solidFill>
                          <a:latin typeface="Cambria Math" panose="02040503050406030204" pitchFamily="18" charset="0"/>
                        </a:rPr>
                        <m:t>𝑛</m:t>
                      </m:r>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𝑣</m:t>
                          </m:r>
                        </m:e>
                        <m:sub>
                          <m:r>
                            <a:rPr lang="en-HK" sz="2400" i="1">
                              <a:solidFill>
                                <a:srgbClr val="000000"/>
                              </a:solidFill>
                              <a:latin typeface="Cambria Math" panose="02040503050406030204" pitchFamily="18" charset="0"/>
                            </a:rPr>
                            <m:t>𝑎𝑣</m:t>
                          </m:r>
                        </m:sub>
                      </m:sSub>
                      <m:r>
                        <a:rPr lang="en-HK" sz="2400" i="1">
                          <a:solidFill>
                            <a:srgbClr val="000000"/>
                          </a:solidFill>
                          <a:latin typeface="Cambria Math" panose="02040503050406030204" pitchFamily="18" charset="0"/>
                        </a:rPr>
                        <m:t>=</m:t>
                      </m:r>
                      <m:r>
                        <a:rPr lang="en-HK" sz="2400" b="0" i="1" smtClean="0">
                          <a:solidFill>
                            <a:srgbClr val="000000"/>
                          </a:solidFill>
                          <a:latin typeface="Cambria Math" panose="02040503050406030204" pitchFamily="18" charset="0"/>
                        </a:rPr>
                        <m:t>8.3</m:t>
                      </m:r>
                      <m:r>
                        <a:rPr lang="en-HK" sz="2400" i="1">
                          <a:solidFill>
                            <a:srgbClr val="000000"/>
                          </a:solidFill>
                          <a:latin typeface="Cambria Math" panose="02040503050406030204" pitchFamily="18" charset="0"/>
                        </a:rPr>
                        <m:t>×1</m:t>
                      </m:r>
                      <m:sSup>
                        <m:sSupPr>
                          <m:ctrlPr>
                            <a:rPr lang="en-HK" sz="2400" i="1">
                              <a:solidFill>
                                <a:srgbClr val="000000"/>
                              </a:solidFill>
                              <a:latin typeface="Cambria Math" panose="02040503050406030204" pitchFamily="18" charset="0"/>
                            </a:rPr>
                          </m:ctrlPr>
                        </m:sSupPr>
                        <m:e>
                          <m:r>
                            <a:rPr lang="en-HK" sz="2400" i="1">
                              <a:solidFill>
                                <a:srgbClr val="000000"/>
                              </a:solidFill>
                              <a:latin typeface="Cambria Math" panose="02040503050406030204" pitchFamily="18" charset="0"/>
                            </a:rPr>
                            <m:t>0</m:t>
                          </m:r>
                        </m:e>
                        <m:sup>
                          <m:r>
                            <a:rPr lang="en-HK" sz="2400" i="1">
                              <a:solidFill>
                                <a:srgbClr val="000000"/>
                              </a:solidFill>
                              <a:latin typeface="Cambria Math" panose="02040503050406030204" pitchFamily="18" charset="0"/>
                            </a:rPr>
                            <m:t>22</m:t>
                          </m:r>
                        </m:sup>
                      </m:sSup>
                      <m:f>
                        <m:fPr>
                          <m:ctrlPr>
                            <a:rPr lang="en-HK" sz="2400" b="0" i="1" smtClean="0">
                              <a:solidFill>
                                <a:srgbClr val="000000"/>
                              </a:solidFill>
                              <a:latin typeface="Cambria Math" panose="02040503050406030204" pitchFamily="18" charset="0"/>
                            </a:rPr>
                          </m:ctrlPr>
                        </m:fPr>
                        <m:num>
                          <m:r>
                            <a:rPr lang="en-HK" sz="2400" b="0" i="1" smtClean="0">
                              <a:solidFill>
                                <a:srgbClr val="000000"/>
                              </a:solidFill>
                              <a:latin typeface="Cambria Math" panose="02040503050406030204" pitchFamily="18" charset="0"/>
                            </a:rPr>
                            <m:t>𝑃</m:t>
                          </m:r>
                        </m:num>
                        <m:den>
                          <m:rad>
                            <m:radPr>
                              <m:degHide m:val="on"/>
                              <m:ctrlPr>
                                <a:rPr lang="en-HK" sz="2400" i="1">
                                  <a:solidFill>
                                    <a:srgbClr val="000000"/>
                                  </a:solidFill>
                                  <a:latin typeface="Cambria Math" panose="02040503050406030204" pitchFamily="18" charset="0"/>
                                </a:rPr>
                              </m:ctrlPr>
                            </m:radPr>
                            <m:deg/>
                            <m:e>
                              <m:r>
                                <a:rPr lang="en-HK" sz="2400" i="1">
                                  <a:solidFill>
                                    <a:srgbClr val="000000"/>
                                  </a:solidFill>
                                  <a:latin typeface="Cambria Math" panose="02040503050406030204" pitchFamily="18" charset="0"/>
                                </a:rPr>
                                <m:t>𝑀𝑇</m:t>
                              </m:r>
                            </m:e>
                          </m:rad>
                        </m:den>
                      </m:f>
                    </m:oMath>
                  </m:oMathPara>
                </a14:m>
                <a:endParaRPr lang="en-HK" sz="2400" dirty="0"/>
              </a:p>
            </p:txBody>
          </p:sp>
        </mc:Choice>
        <mc:Fallback xmlns="">
          <p:sp>
            <p:nvSpPr>
              <p:cNvPr id="7170" name="Object 5">
                <a:extLst>
                  <a:ext uri="{FF2B5EF4-FFF2-40B4-BE49-F238E27FC236}">
                    <a16:creationId xmlns:a16="http://schemas.microsoft.com/office/drawing/2014/main" id="{8B24EB2A-5946-8BF3-4D83-1033BD3527C2}"/>
                  </a:ext>
                </a:extLst>
              </p:cNvPr>
              <p:cNvSpPr txBox="1">
                <a:spLocks noRot="1" noChangeAspect="1" noMove="1" noResize="1" noEditPoints="1" noAdjustHandles="1" noChangeArrowheads="1" noChangeShapeType="1" noTextEdit="1"/>
              </p:cNvSpPr>
              <p:nvPr/>
            </p:nvSpPr>
            <p:spPr bwMode="auto">
              <a:xfrm>
                <a:off x="2095500" y="1508125"/>
                <a:ext cx="5105400" cy="995923"/>
              </a:xfrm>
              <a:prstGeom prst="rect">
                <a:avLst/>
              </a:prstGeom>
              <a:blipFill>
                <a:blip r:embed="rId2"/>
                <a:stretch>
                  <a:fillRect/>
                </a:stretch>
              </a:blipFill>
              <a:ln>
                <a:noFill/>
              </a:ln>
            </p:spPr>
            <p:txBody>
              <a:bodyPr/>
              <a:lstStyle/>
              <a:p>
                <a:r>
                  <a:rPr lang="en-HK">
                    <a:noFill/>
                  </a:rPr>
                  <a:t> </a:t>
                </a:r>
              </a:p>
            </p:txBody>
          </p:sp>
        </mc:Fallback>
      </mc:AlternateContent>
      <p:sp>
        <p:nvSpPr>
          <p:cNvPr id="7175" name="Text Box 6">
            <a:extLst>
              <a:ext uri="{FF2B5EF4-FFF2-40B4-BE49-F238E27FC236}">
                <a16:creationId xmlns:a16="http://schemas.microsoft.com/office/drawing/2014/main" id="{9AA7C039-FC69-E32F-9347-E2117EE698F6}"/>
              </a:ext>
            </a:extLst>
          </p:cNvPr>
          <p:cNvSpPr txBox="1">
            <a:spLocks noChangeArrowheads="1"/>
          </p:cNvSpPr>
          <p:nvPr/>
        </p:nvSpPr>
        <p:spPr bwMode="auto">
          <a:xfrm>
            <a:off x="2667000" y="2743200"/>
            <a:ext cx="4267200" cy="496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400" i="1" dirty="0">
                <a:latin typeface="Times New Roman" panose="02020603050405020304" pitchFamily="18" charset="0"/>
                <a:ea typeface="新細明體" panose="02020500000000000000" pitchFamily="18" charset="-120"/>
                <a:cs typeface="Arial" panose="020B0604020202020204" pitchFamily="34" charset="0"/>
              </a:rPr>
              <a:t>where P in Pa and M in kg.</a:t>
            </a:r>
          </a:p>
        </p:txBody>
      </p:sp>
      <p:sp>
        <p:nvSpPr>
          <p:cNvPr id="7176" name="Rectangle 7">
            <a:extLst>
              <a:ext uri="{FF2B5EF4-FFF2-40B4-BE49-F238E27FC236}">
                <a16:creationId xmlns:a16="http://schemas.microsoft.com/office/drawing/2014/main" id="{AE0024C5-5222-98D0-1F0E-87CC66A8081D}"/>
              </a:ext>
            </a:extLst>
          </p:cNvPr>
          <p:cNvSpPr>
            <a:spLocks noChangeArrowheads="1"/>
          </p:cNvSpPr>
          <p:nvPr/>
        </p:nvSpPr>
        <p:spPr bwMode="auto">
          <a:xfrm>
            <a:off x="990600" y="3442260"/>
            <a:ext cx="693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TW" sz="2400" i="1" dirty="0">
                <a:latin typeface="Times New Roman" panose="02020603050405020304" pitchFamily="18" charset="0"/>
                <a:ea typeface="新細明體" panose="02020500000000000000" pitchFamily="18" charset="-120"/>
                <a:cs typeface="Arial" panose="020B0604020202020204" pitchFamily="34" charset="0"/>
              </a:rPr>
              <a:t>Assuming that the sticking coefficient is 1 and one monolayer contains 10</a:t>
            </a:r>
            <a:r>
              <a:rPr lang="en-US" altLang="zh-TW" sz="2400" i="1" baseline="30000" dirty="0">
                <a:latin typeface="Times New Roman" panose="02020603050405020304" pitchFamily="18" charset="0"/>
                <a:ea typeface="新細明體" panose="02020500000000000000" pitchFamily="18" charset="-120"/>
                <a:cs typeface="Arial" panose="020B0604020202020204" pitchFamily="34" charset="0"/>
              </a:rPr>
              <a:t>19</a:t>
            </a:r>
            <a:r>
              <a:rPr lang="en-US" altLang="zh-TW" sz="2400" i="1" dirty="0">
                <a:latin typeface="Times New Roman" panose="02020603050405020304" pitchFamily="18" charset="0"/>
                <a:ea typeface="新細明體" panose="02020500000000000000" pitchFamily="18" charset="-120"/>
                <a:cs typeface="Arial" panose="020B0604020202020204" pitchFamily="34" charset="0"/>
              </a:rPr>
              <a:t> particles/m</a:t>
            </a:r>
            <a:r>
              <a:rPr lang="en-US" altLang="zh-TW" sz="2400" i="1" baseline="30000" dirty="0">
                <a:latin typeface="Times New Roman" panose="02020603050405020304" pitchFamily="18" charset="0"/>
                <a:ea typeface="新細明體" panose="02020500000000000000" pitchFamily="18" charset="-120"/>
                <a:cs typeface="Arial" panose="020B0604020202020204" pitchFamily="34" charset="0"/>
              </a:rPr>
              <a:t>2</a:t>
            </a:r>
            <a:r>
              <a:rPr lang="en-US" altLang="zh-TW" sz="2400" i="1" dirty="0">
                <a:latin typeface="Times New Roman" panose="02020603050405020304" pitchFamily="18" charset="0"/>
                <a:ea typeface="新細明體" panose="02020500000000000000" pitchFamily="18" charset="-120"/>
                <a:cs typeface="Arial" panose="020B0604020202020204" pitchFamily="34" charset="0"/>
              </a:rPr>
              <a:t>, we get</a:t>
            </a:r>
          </a:p>
        </p:txBody>
      </p:sp>
      <mc:AlternateContent xmlns:mc="http://schemas.openxmlformats.org/markup-compatibility/2006" xmlns:a14="http://schemas.microsoft.com/office/drawing/2010/main">
        <mc:Choice Requires="a14">
          <p:sp>
            <p:nvSpPr>
              <p:cNvPr id="7171" name="Object 8">
                <a:extLst>
                  <a:ext uri="{FF2B5EF4-FFF2-40B4-BE49-F238E27FC236}">
                    <a16:creationId xmlns:a16="http://schemas.microsoft.com/office/drawing/2014/main" id="{8D87BA13-8069-867A-17DB-98F3C21C7D6C}"/>
                  </a:ext>
                </a:extLst>
              </p:cNvPr>
              <p:cNvSpPr txBox="1"/>
              <p:nvPr/>
            </p:nvSpPr>
            <p:spPr bwMode="auto">
              <a:xfrm>
                <a:off x="2743200" y="4575175"/>
                <a:ext cx="3429000" cy="1371600"/>
              </a:xfrm>
              <a:prstGeom prst="rect">
                <a:avLst/>
              </a:prstGeom>
              <a:noFill/>
              <a:ln>
                <a:noFill/>
              </a:ln>
            </p:spPr>
            <p:txBody>
              <a:bodyPr>
                <a:normAutofit/>
              </a:bodyPr>
              <a:lstStyle/>
              <a:p>
                <a:pPr/>
                <a14:m>
                  <m:oMathPara xmlns:m="http://schemas.openxmlformats.org/officeDocument/2006/math">
                    <m:oMathParaPr>
                      <m:jc m:val="left"/>
                    </m:oMathParaPr>
                    <m:oMath>
                      <m:r>
                        <a:rPr lang="en-HK" sz="2400" i="1" smtClean="0">
                          <a:solidFill>
                            <a:srgbClr val="000000"/>
                          </a:solidFill>
                          <a:latin typeface="Cambria Math" panose="02040503050406030204" pitchFamily="18" charset="0"/>
                        </a:rPr>
                        <m:t>𝜏</m:t>
                      </m:r>
                      <m:r>
                        <a:rPr lang="en-HK" sz="2400" i="1" smtClean="0">
                          <a:solidFill>
                            <a:srgbClr val="000000"/>
                          </a:solidFill>
                          <a:latin typeface="Cambria Math" panose="02040503050406030204" pitchFamily="18" charset="0"/>
                        </a:rPr>
                        <m:t>=1.2×1</m:t>
                      </m:r>
                      <m:sSup>
                        <m:sSupPr>
                          <m:ctrlPr>
                            <a:rPr lang="en-HK" sz="2400" i="1">
                              <a:solidFill>
                                <a:srgbClr val="000000"/>
                              </a:solidFill>
                              <a:latin typeface="Cambria Math" panose="02040503050406030204" pitchFamily="18" charset="0"/>
                            </a:rPr>
                          </m:ctrlPr>
                        </m:sSupPr>
                        <m:e>
                          <m:r>
                            <a:rPr lang="en-HK" sz="2400" i="1">
                              <a:solidFill>
                                <a:srgbClr val="000000"/>
                              </a:solidFill>
                              <a:latin typeface="Cambria Math" panose="02040503050406030204" pitchFamily="18" charset="0"/>
                            </a:rPr>
                            <m:t>0</m:t>
                          </m:r>
                        </m:e>
                        <m:sup>
                          <m:r>
                            <a:rPr lang="en-HK" sz="2400" i="1">
                              <a:solidFill>
                                <a:srgbClr val="000000"/>
                              </a:solidFill>
                              <a:latin typeface="Cambria Math" panose="02040503050406030204" pitchFamily="18" charset="0"/>
                            </a:rPr>
                            <m:t>−</m:t>
                          </m:r>
                          <m:r>
                            <a:rPr lang="en-HK" sz="2400" b="0" i="1" smtClean="0">
                              <a:solidFill>
                                <a:srgbClr val="000000"/>
                              </a:solidFill>
                              <a:latin typeface="Cambria Math" panose="02040503050406030204" pitchFamily="18" charset="0"/>
                            </a:rPr>
                            <m:t>4</m:t>
                          </m:r>
                        </m:sup>
                      </m:sSup>
                      <m:f>
                        <m:fPr>
                          <m:ctrlPr>
                            <a:rPr lang="en-HK" sz="2400" i="1">
                              <a:solidFill>
                                <a:srgbClr val="000000"/>
                              </a:solidFill>
                              <a:latin typeface="Cambria Math" panose="02040503050406030204" pitchFamily="18" charset="0"/>
                            </a:rPr>
                          </m:ctrlPr>
                        </m:fPr>
                        <m:num>
                          <m:rad>
                            <m:radPr>
                              <m:degHide m:val="on"/>
                              <m:ctrlPr>
                                <a:rPr lang="en-HK" sz="2400" i="1">
                                  <a:solidFill>
                                    <a:srgbClr val="000000"/>
                                  </a:solidFill>
                                  <a:latin typeface="Cambria Math" panose="02040503050406030204" pitchFamily="18" charset="0"/>
                                </a:rPr>
                              </m:ctrlPr>
                            </m:radPr>
                            <m:deg/>
                            <m:e>
                              <m:r>
                                <a:rPr lang="en-HK" sz="2400" i="1">
                                  <a:solidFill>
                                    <a:srgbClr val="000000"/>
                                  </a:solidFill>
                                  <a:latin typeface="Cambria Math" panose="02040503050406030204" pitchFamily="18" charset="0"/>
                                </a:rPr>
                                <m:t>𝑀𝑇</m:t>
                              </m:r>
                            </m:e>
                          </m:rad>
                        </m:num>
                        <m:den>
                          <m:r>
                            <a:rPr lang="en-HK" sz="2400" i="1">
                              <a:solidFill>
                                <a:srgbClr val="000000"/>
                              </a:solidFill>
                              <a:latin typeface="Cambria Math" panose="02040503050406030204" pitchFamily="18" charset="0"/>
                            </a:rPr>
                            <m:t>𝑃</m:t>
                          </m:r>
                        </m:den>
                      </m:f>
                    </m:oMath>
                  </m:oMathPara>
                </a14:m>
                <a:endParaRPr lang="en-HK" sz="2400" dirty="0"/>
              </a:p>
            </p:txBody>
          </p:sp>
        </mc:Choice>
        <mc:Fallback xmlns="">
          <p:sp>
            <p:nvSpPr>
              <p:cNvPr id="7171" name="Object 8">
                <a:extLst>
                  <a:ext uri="{FF2B5EF4-FFF2-40B4-BE49-F238E27FC236}">
                    <a16:creationId xmlns:a16="http://schemas.microsoft.com/office/drawing/2014/main" id="{8D87BA13-8069-867A-17DB-98F3C21C7D6C}"/>
                  </a:ext>
                </a:extLst>
              </p:cNvPr>
              <p:cNvSpPr txBox="1">
                <a:spLocks noRot="1" noChangeAspect="1" noMove="1" noResize="1" noEditPoints="1" noAdjustHandles="1" noChangeArrowheads="1" noChangeShapeType="1" noTextEdit="1"/>
              </p:cNvSpPr>
              <p:nvPr/>
            </p:nvSpPr>
            <p:spPr bwMode="auto">
              <a:xfrm>
                <a:off x="2743200" y="4575175"/>
                <a:ext cx="3429000" cy="1371600"/>
              </a:xfrm>
              <a:prstGeom prst="rect">
                <a:avLst/>
              </a:prstGeom>
              <a:blipFill>
                <a:blip r:embed="rId3"/>
                <a:stretch>
                  <a:fillRect/>
                </a:stretch>
              </a:blipFill>
              <a:ln>
                <a:noFill/>
              </a:ln>
            </p:spPr>
            <p:txBody>
              <a:bodyPr/>
              <a:lstStyle/>
              <a:p>
                <a:r>
                  <a:rPr lang="en-HK">
                    <a:noFill/>
                  </a:rPr>
                  <a:t> </a:t>
                </a:r>
              </a:p>
            </p:txBody>
          </p:sp>
        </mc:Fallback>
      </mc:AlternateContent>
      <p:sp>
        <p:nvSpPr>
          <p:cNvPr id="7177" name="Text Box 9">
            <a:extLst>
              <a:ext uri="{FF2B5EF4-FFF2-40B4-BE49-F238E27FC236}">
                <a16:creationId xmlns:a16="http://schemas.microsoft.com/office/drawing/2014/main" id="{5D201A8D-C2E7-9012-8FAC-F2515EC5D88F}"/>
              </a:ext>
            </a:extLst>
          </p:cNvPr>
          <p:cNvSpPr txBox="1">
            <a:spLocks noChangeArrowheads="1"/>
          </p:cNvSpPr>
          <p:nvPr/>
        </p:nvSpPr>
        <p:spPr bwMode="auto">
          <a:xfrm>
            <a:off x="5943600" y="4800600"/>
            <a:ext cx="2209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9250" indent="-293688"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zh-TW" altLang="en-US" sz="2500">
                <a:latin typeface="Times New Roman" panose="02020603050405020304" pitchFamily="18" charset="0"/>
                <a:ea typeface="新細明體" panose="02020500000000000000" pitchFamily="18" charset="-120"/>
                <a:cs typeface="Arial" panose="020B0604020202020204" pitchFamily="34" charset="0"/>
              </a:rPr>
              <a:t>[</a:t>
            </a:r>
            <a:r>
              <a:rPr lang="en-US" altLang="zh-TW" sz="2500">
                <a:latin typeface="Times New Roman" panose="02020603050405020304" pitchFamily="18" charset="0"/>
                <a:ea typeface="新細明體" panose="02020500000000000000" pitchFamily="18" charset="-120"/>
                <a:cs typeface="Arial" panose="020B0604020202020204" pitchFamily="34" charset="0"/>
              </a:rPr>
              <a:t>unit: second]</a:t>
            </a:r>
            <a:endParaRPr lang="en-US" altLang="zh-TW" sz="2000" b="1" i="1">
              <a:latin typeface="Times New Roman" panose="02020603050405020304" pitchFamily="18" charset="0"/>
              <a:ea typeface="新細明體" panose="02020500000000000000" pitchFamily="18" charset="-120"/>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6324E3A9-8B6D-E9AF-B098-BA29B0950DDB}"/>
              </a:ext>
            </a:extLst>
          </p:cNvPr>
          <p:cNvSpPr txBox="1">
            <a:spLocks noChangeArrowheads="1"/>
          </p:cNvSpPr>
          <p:nvPr/>
        </p:nvSpPr>
        <p:spPr bwMode="auto">
          <a:xfrm>
            <a:off x="228600" y="1371600"/>
            <a:ext cx="8458200" cy="320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30238" indent="-630238" eaLnBrk="0" hangingPunct="0">
              <a:defRPr>
                <a:solidFill>
                  <a:schemeClr val="tx1"/>
                </a:solidFill>
                <a:latin typeface="Arial" panose="020B0604020202020204" pitchFamily="34" charset="0"/>
                <a:ea typeface="宋体" panose="02010600030101010101" pitchFamily="2" charset="-122"/>
              </a:defRPr>
            </a:lvl1pPr>
            <a:lvl2pPr marL="1033463" indent="-288925"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endParaRPr lang="en-US" altLang="zh-TW" sz="1200">
              <a:latin typeface="Times New Roman" panose="02020603050405020304" pitchFamily="18" charset="0"/>
              <a:ea typeface="新細明體" panose="02020500000000000000" pitchFamily="18" charset="-120"/>
              <a:cs typeface="Arial" panose="020B0604020202020204" pitchFamily="34" charset="0"/>
            </a:endParaRPr>
          </a:p>
          <a:p>
            <a:pPr lvl="1" eaLnBrk="1" hangingPunct="1">
              <a:buFontTx/>
              <a:buChar char="•"/>
            </a:pPr>
            <a:r>
              <a:rPr lang="en-US" altLang="zh-TW" sz="2800">
                <a:latin typeface="Times New Roman" panose="02020603050405020304" pitchFamily="18" charset="0"/>
                <a:ea typeface="新細明體" panose="02020500000000000000" pitchFamily="18" charset="-120"/>
                <a:cs typeface="Arial" panose="020B0604020202020204" pitchFamily="34" charset="0"/>
              </a:rPr>
              <a:t>Latin word, means “empty”</a:t>
            </a:r>
          </a:p>
          <a:p>
            <a:pPr lvl="1" eaLnBrk="1" hangingPunct="1">
              <a:buFontTx/>
              <a:buChar char="•"/>
            </a:pPr>
            <a:endParaRPr lang="en-US" altLang="zh-TW" sz="1200">
              <a:latin typeface="Times New Roman" panose="02020603050405020304" pitchFamily="18" charset="0"/>
              <a:ea typeface="新細明體" panose="02020500000000000000" pitchFamily="18" charset="-120"/>
              <a:cs typeface="Arial" panose="020B0604020202020204" pitchFamily="34" charset="0"/>
            </a:endParaRPr>
          </a:p>
          <a:p>
            <a:pPr lvl="1" eaLnBrk="1" hangingPunct="1">
              <a:buFontTx/>
              <a:buChar char="•"/>
            </a:pPr>
            <a:r>
              <a:rPr lang="en-US" altLang="zh-TW" sz="2800">
                <a:latin typeface="Times New Roman" panose="02020603050405020304" pitchFamily="18" charset="0"/>
                <a:ea typeface="新細明體" panose="02020500000000000000" pitchFamily="18" charset="-120"/>
                <a:cs typeface="Arial" panose="020B0604020202020204" pitchFamily="34" charset="0"/>
              </a:rPr>
              <a:t>In general term, “vacuum” means P &lt; 1 atmospheric pressure.</a:t>
            </a:r>
          </a:p>
          <a:p>
            <a:pPr lvl="1" eaLnBrk="1" hangingPunct="1">
              <a:buFontTx/>
              <a:buChar char="•"/>
            </a:pPr>
            <a:endParaRPr lang="en-US" altLang="zh-TW" sz="1200">
              <a:latin typeface="Times New Roman" panose="02020603050405020304" pitchFamily="18" charset="0"/>
              <a:ea typeface="新細明體" panose="02020500000000000000" pitchFamily="18" charset="-120"/>
              <a:cs typeface="Arial" panose="020B0604020202020204" pitchFamily="34" charset="0"/>
            </a:endParaRPr>
          </a:p>
          <a:p>
            <a:pPr lvl="1" eaLnBrk="1" hangingPunct="1">
              <a:buFontTx/>
              <a:buChar char="•"/>
            </a:pPr>
            <a:r>
              <a:rPr lang="en-US" altLang="zh-TW" sz="2800">
                <a:latin typeface="Times New Roman" panose="02020603050405020304" pitchFamily="18" charset="0"/>
                <a:ea typeface="新細明體" panose="02020500000000000000" pitchFamily="18" charset="-120"/>
                <a:cs typeface="Arial" panose="020B0604020202020204" pitchFamily="34" charset="0"/>
              </a:rPr>
              <a:t>In 1958, “vacuum” was defined by the American Vacuum Society (AVS) as follow:</a:t>
            </a:r>
          </a:p>
          <a:p>
            <a:pPr lvl="1" eaLnBrk="1" hangingPunct="1">
              <a:buFont typeface="Wingdings" panose="05000000000000000000" pitchFamily="2" charset="2"/>
              <a:buChar char="§"/>
            </a:pPr>
            <a:endParaRPr lang="zh-TW" altLang="en-US" sz="2800" b="1">
              <a:latin typeface="Times New Roman" panose="02020603050405020304" pitchFamily="18" charset="0"/>
              <a:ea typeface="新細明體" panose="02020500000000000000" pitchFamily="18" charset="-120"/>
              <a:cs typeface="Arial" panose="020B0604020202020204" pitchFamily="34" charset="0"/>
            </a:endParaRPr>
          </a:p>
        </p:txBody>
      </p:sp>
      <p:sp>
        <p:nvSpPr>
          <p:cNvPr id="27651" name="Text Box 3">
            <a:extLst>
              <a:ext uri="{FF2B5EF4-FFF2-40B4-BE49-F238E27FC236}">
                <a16:creationId xmlns:a16="http://schemas.microsoft.com/office/drawing/2014/main" id="{91BFDFD4-FDA7-9513-CDFA-D85265D4CA11}"/>
              </a:ext>
            </a:extLst>
          </p:cNvPr>
          <p:cNvSpPr txBox="1">
            <a:spLocks noChangeArrowheads="1"/>
          </p:cNvSpPr>
          <p:nvPr/>
        </p:nvSpPr>
        <p:spPr bwMode="auto">
          <a:xfrm>
            <a:off x="2667000" y="609600"/>
            <a:ext cx="4121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a:latin typeface="Times New Roman" panose="02020603050405020304" pitchFamily="18" charset="0"/>
                <a:cs typeface="Arial" panose="020B0604020202020204" pitchFamily="34" charset="0"/>
              </a:rPr>
              <a:t>Definition of vacuum</a:t>
            </a:r>
          </a:p>
        </p:txBody>
      </p:sp>
      <p:sp>
        <p:nvSpPr>
          <p:cNvPr id="27652" name="Text Box 4">
            <a:extLst>
              <a:ext uri="{FF2B5EF4-FFF2-40B4-BE49-F238E27FC236}">
                <a16:creationId xmlns:a16="http://schemas.microsoft.com/office/drawing/2014/main" id="{8DF722E1-409A-106F-CCE6-12084B870AC5}"/>
              </a:ext>
            </a:extLst>
          </p:cNvPr>
          <p:cNvSpPr txBox="1">
            <a:spLocks noChangeArrowheads="1"/>
          </p:cNvSpPr>
          <p:nvPr/>
        </p:nvSpPr>
        <p:spPr bwMode="auto">
          <a:xfrm>
            <a:off x="609600" y="4572000"/>
            <a:ext cx="8077200" cy="15525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buFont typeface="Wingdings" panose="05000000000000000000" pitchFamily="2" charset="2"/>
              <a:buNone/>
            </a:pPr>
            <a:r>
              <a:rPr lang="en-US" altLang="zh-TW" sz="2400" b="1" i="1">
                <a:latin typeface="Times New Roman" panose="02020603050405020304" pitchFamily="18" charset="0"/>
                <a:ea typeface="新細明體" panose="02020500000000000000" pitchFamily="18" charset="-120"/>
                <a:cs typeface="Arial" panose="020B0604020202020204" pitchFamily="34" charset="0"/>
              </a:rPr>
              <a:t>Vacuum</a:t>
            </a:r>
            <a:r>
              <a:rPr lang="en-US" altLang="zh-TW" sz="2400" i="1">
                <a:latin typeface="Times New Roman" panose="02020603050405020304" pitchFamily="18" charset="0"/>
                <a:ea typeface="新細明體" panose="02020500000000000000" pitchFamily="18" charset="-120"/>
                <a:cs typeface="Arial" panose="020B0604020202020204" pitchFamily="34" charset="0"/>
              </a:rPr>
              <a:t> 	refers to a given space filled with gas at pressure </a:t>
            </a:r>
          </a:p>
          <a:p>
            <a:pPr lvl="1" eaLnBrk="1" hangingPunct="1">
              <a:buFont typeface="Wingdings" panose="05000000000000000000" pitchFamily="2" charset="2"/>
              <a:buNone/>
            </a:pPr>
            <a:r>
              <a:rPr lang="en-US" altLang="zh-TW" sz="2400" i="1">
                <a:latin typeface="Times New Roman" panose="02020603050405020304" pitchFamily="18" charset="0"/>
                <a:ea typeface="新細明體" panose="02020500000000000000" pitchFamily="18" charset="-120"/>
                <a:cs typeface="Arial" panose="020B0604020202020204" pitchFamily="34" charset="0"/>
              </a:rPr>
              <a:t>		below the atmospheric, i.e. having a density of 		molecules less than about 2.5 x 10</a:t>
            </a:r>
            <a:r>
              <a:rPr lang="en-US" altLang="zh-TW" sz="2400" i="1" baseline="30000">
                <a:latin typeface="Times New Roman" panose="02020603050405020304" pitchFamily="18" charset="0"/>
                <a:ea typeface="新細明體" panose="02020500000000000000" pitchFamily="18" charset="-120"/>
                <a:cs typeface="Arial" panose="020B0604020202020204" pitchFamily="34" charset="0"/>
              </a:rPr>
              <a:t>19</a:t>
            </a:r>
            <a:r>
              <a:rPr lang="en-US" altLang="zh-TW" sz="2400" i="1">
                <a:latin typeface="Times New Roman" panose="02020603050405020304" pitchFamily="18" charset="0"/>
                <a:ea typeface="新細明體" panose="02020500000000000000" pitchFamily="18" charset="-120"/>
                <a:cs typeface="Arial" panose="020B0604020202020204" pitchFamily="34" charset="0"/>
              </a:rPr>
              <a:t> molecules 		per cm</a:t>
            </a:r>
            <a:r>
              <a:rPr lang="en-US" altLang="zh-TW" sz="2400" i="1" baseline="30000">
                <a:latin typeface="Times New Roman" panose="02020603050405020304" pitchFamily="18" charset="0"/>
                <a:ea typeface="新細明體" panose="02020500000000000000" pitchFamily="18" charset="-120"/>
                <a:cs typeface="Arial" panose="020B0604020202020204" pitchFamily="34" charset="0"/>
              </a:rPr>
              <a:t>3</a:t>
            </a:r>
            <a:r>
              <a:rPr lang="en-US" altLang="zh-TW" sz="2400" i="1">
                <a:latin typeface="Times New Roman" panose="02020603050405020304" pitchFamily="18" charset="0"/>
                <a:ea typeface="新細明體" panose="02020500000000000000" pitchFamily="18" charset="-120"/>
                <a:cs typeface="Arial" panose="020B0604020202020204" pitchFamily="34" charset="0"/>
              </a:rPr>
              <a:t>.</a:t>
            </a:r>
            <a:endParaRPr lang="en-US" altLang="zh-CN" sz="2400">
              <a:latin typeface="Times New Roman" panose="02020603050405020304" pitchFamily="18" charset="0"/>
              <a:ea typeface="新細明體" panose="02020500000000000000" pitchFamily="18" charset="-12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25244CC4-9831-6010-5EF7-FC342D958B3C}"/>
              </a:ext>
            </a:extLst>
          </p:cNvPr>
          <p:cNvSpPr txBox="1">
            <a:spLocks noChangeArrowheads="1"/>
          </p:cNvSpPr>
          <p:nvPr/>
        </p:nvSpPr>
        <p:spPr bwMode="auto">
          <a:xfrm>
            <a:off x="381000" y="612775"/>
            <a:ext cx="6492875" cy="30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30188" eaLnBrk="0" hangingPunct="0">
              <a:defRPr>
                <a:solidFill>
                  <a:schemeClr val="tx1"/>
                </a:solidFill>
                <a:latin typeface="Arial" panose="020B0604020202020204" pitchFamily="34" charset="0"/>
                <a:ea typeface="宋体" panose="02010600030101010101" pitchFamily="2" charset="-122"/>
              </a:defRPr>
            </a:lvl1pPr>
            <a:lvl2pPr marL="1408113" indent="-60960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800">
                <a:latin typeface="Times New Roman" panose="02020603050405020304" pitchFamily="18" charset="0"/>
                <a:ea typeface="新細明體" panose="02020500000000000000" pitchFamily="18" charset="-120"/>
                <a:cs typeface="Arial" panose="020B0604020202020204" pitchFamily="34" charset="0"/>
              </a:rPr>
              <a:t>Characteristics of “vacuum”</a:t>
            </a:r>
          </a:p>
          <a:p>
            <a:pPr eaLnBrk="1" hangingPunct="1">
              <a:lnSpc>
                <a:spcPct val="120000"/>
              </a:lnSpc>
              <a:buClr>
                <a:schemeClr val="bg2"/>
              </a:buClr>
              <a:buFontTx/>
              <a:buChar char="•"/>
            </a:pPr>
            <a:endParaRPr lang="en-US" altLang="zh-TW" sz="1200">
              <a:latin typeface="Times New Roman" panose="02020603050405020304" pitchFamily="18" charset="0"/>
              <a:ea typeface="新細明體" panose="02020500000000000000" pitchFamily="18" charset="-120"/>
              <a:cs typeface="Arial" panose="020B0604020202020204" pitchFamily="34" charset="0"/>
            </a:endParaRPr>
          </a:p>
          <a:p>
            <a:pPr lvl="1" eaLnBrk="1" hangingPunct="1">
              <a:lnSpc>
                <a:spcPct val="120000"/>
              </a:lnSpc>
              <a:buClr>
                <a:schemeClr val="tx1"/>
              </a:buClr>
              <a:buFontTx/>
              <a:buChar char="•"/>
            </a:pPr>
            <a:r>
              <a:rPr lang="en-US" altLang="zh-TW" sz="2400">
                <a:latin typeface="Times New Roman" panose="02020603050405020304" pitchFamily="18" charset="0"/>
                <a:ea typeface="新細明體" panose="02020500000000000000" pitchFamily="18" charset="-120"/>
                <a:cs typeface="Arial" panose="020B0604020202020204" pitchFamily="34" charset="0"/>
              </a:rPr>
              <a:t>Low density of gas molecules</a:t>
            </a:r>
          </a:p>
          <a:p>
            <a:pPr lvl="1" eaLnBrk="1" hangingPunct="1">
              <a:lnSpc>
                <a:spcPct val="120000"/>
              </a:lnSpc>
              <a:buClr>
                <a:schemeClr val="tx1"/>
              </a:buClr>
              <a:buFontTx/>
              <a:buChar char="•"/>
            </a:pPr>
            <a:r>
              <a:rPr lang="en-US" altLang="zh-TW" sz="2400">
                <a:latin typeface="Times New Roman" panose="02020603050405020304" pitchFamily="18" charset="0"/>
                <a:ea typeface="新細明體" panose="02020500000000000000" pitchFamily="18" charset="-120"/>
                <a:cs typeface="Arial" panose="020B0604020202020204" pitchFamily="34" charset="0"/>
              </a:rPr>
              <a:t>Long mean free path of gas molecules</a:t>
            </a:r>
          </a:p>
          <a:p>
            <a:pPr lvl="1" eaLnBrk="1" hangingPunct="1">
              <a:lnSpc>
                <a:spcPct val="120000"/>
              </a:lnSpc>
              <a:buClr>
                <a:schemeClr val="tx1"/>
              </a:buClr>
              <a:buFontTx/>
              <a:buChar char="•"/>
            </a:pPr>
            <a:r>
              <a:rPr lang="en-US" altLang="zh-TW" sz="2400">
                <a:latin typeface="Times New Roman" panose="02020603050405020304" pitchFamily="18" charset="0"/>
                <a:ea typeface="新細明體" panose="02020500000000000000" pitchFamily="18" charset="-120"/>
                <a:cs typeface="Arial" panose="020B0604020202020204" pitchFamily="34" charset="0"/>
              </a:rPr>
              <a:t>High bombarding rate on all surfaces</a:t>
            </a:r>
          </a:p>
          <a:p>
            <a:pPr lvl="1" eaLnBrk="1" hangingPunct="1">
              <a:lnSpc>
                <a:spcPct val="120000"/>
              </a:lnSpc>
              <a:buClr>
                <a:schemeClr val="tx1"/>
              </a:buClr>
              <a:buFontTx/>
              <a:buChar char="•"/>
            </a:pPr>
            <a:r>
              <a:rPr lang="en-US" altLang="zh-TW" sz="2400">
                <a:latin typeface="Times New Roman" panose="02020603050405020304" pitchFamily="18" charset="0"/>
                <a:ea typeface="新細明體" panose="02020500000000000000" pitchFamily="18" charset="-120"/>
                <a:cs typeface="Arial" panose="020B0604020202020204" pitchFamily="34" charset="0"/>
              </a:rPr>
              <a:t>Weak interaction between molecules</a:t>
            </a:r>
          </a:p>
          <a:p>
            <a:pPr lvl="1" eaLnBrk="1" hangingPunct="1">
              <a:lnSpc>
                <a:spcPct val="120000"/>
              </a:lnSpc>
              <a:buClr>
                <a:schemeClr val="bg2"/>
              </a:buClr>
              <a:buFont typeface="Wingdings" panose="05000000000000000000" pitchFamily="2" charset="2"/>
              <a:buChar char="§"/>
            </a:pPr>
            <a:endParaRPr lang="zh-TW" altLang="en-US" sz="2400">
              <a:latin typeface="Times New Roman" panose="02020603050405020304" pitchFamily="18" charset="0"/>
              <a:ea typeface="新細明體" panose="02020500000000000000" pitchFamily="18" charset="-120"/>
              <a:cs typeface="Arial" panose="020B0604020202020204" pitchFamily="34" charset="0"/>
            </a:endParaRPr>
          </a:p>
        </p:txBody>
      </p:sp>
      <p:sp>
        <p:nvSpPr>
          <p:cNvPr id="28675" name="Rectangle 3">
            <a:extLst>
              <a:ext uri="{FF2B5EF4-FFF2-40B4-BE49-F238E27FC236}">
                <a16:creationId xmlns:a16="http://schemas.microsoft.com/office/drawing/2014/main" id="{229DFA6B-C6DA-AD66-37D8-9B24D3AC0660}"/>
              </a:ext>
            </a:extLst>
          </p:cNvPr>
          <p:cNvSpPr>
            <a:spLocks noChangeArrowheads="1"/>
          </p:cNvSpPr>
          <p:nvPr/>
        </p:nvSpPr>
        <p:spPr bwMode="auto">
          <a:xfrm>
            <a:off x="533400" y="3279775"/>
            <a:ext cx="7848600" cy="252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571500" indent="-45720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
                <a:schemeClr val="bg2"/>
              </a:buClr>
              <a:buFont typeface="Wingdings" panose="05000000000000000000" pitchFamily="2" charset="2"/>
              <a:buNone/>
            </a:pPr>
            <a:r>
              <a:rPr lang="en-US" altLang="zh-TW" sz="2800">
                <a:latin typeface="Times New Roman" panose="02020603050405020304" pitchFamily="18" charset="0"/>
                <a:ea typeface="新細明體" panose="02020500000000000000" pitchFamily="18" charset="-120"/>
                <a:cs typeface="Arial" panose="020B0604020202020204" pitchFamily="34" charset="0"/>
              </a:rPr>
              <a:t>Pressure units</a:t>
            </a:r>
          </a:p>
          <a:p>
            <a:pPr eaLnBrk="1" hangingPunct="1">
              <a:lnSpc>
                <a:spcPct val="120000"/>
              </a:lnSpc>
              <a:spcBef>
                <a:spcPct val="50000"/>
              </a:spcBef>
              <a:buClr>
                <a:schemeClr val="bg2"/>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	1.  Pascal (Pa):			N/m</a:t>
            </a:r>
            <a:r>
              <a:rPr lang="en-US" altLang="zh-TW" sz="2000" baseline="30000">
                <a:latin typeface="Times New Roman" panose="02020603050405020304" pitchFamily="18" charset="0"/>
                <a:ea typeface="新細明體" panose="02020500000000000000" pitchFamily="18" charset="-120"/>
                <a:cs typeface="Arial" panose="020B0604020202020204" pitchFamily="34" charset="0"/>
              </a:rPr>
              <a:t>2</a:t>
            </a:r>
            <a:r>
              <a:rPr lang="en-US" altLang="zh-TW" sz="2000">
                <a:latin typeface="Times New Roman" panose="02020603050405020304" pitchFamily="18" charset="0"/>
                <a:ea typeface="新細明體" panose="02020500000000000000" pitchFamily="18" charset="-120"/>
                <a:cs typeface="Arial" panose="020B0604020202020204" pitchFamily="34" charset="0"/>
              </a:rPr>
              <a:t>, SI unit.</a:t>
            </a:r>
          </a:p>
          <a:p>
            <a:pPr eaLnBrk="1" hangingPunct="1">
              <a:lnSpc>
                <a:spcPct val="120000"/>
              </a:lnSpc>
              <a:spcBef>
                <a:spcPct val="50000"/>
              </a:spcBef>
              <a:buClr>
                <a:schemeClr val="bg2"/>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	2.  Torricelli (Torr):			The pressure exerted by a 						column of Hg 1 mm high.</a:t>
            </a:r>
          </a:p>
          <a:p>
            <a:pPr lvl="1" eaLnBrk="1" hangingPunct="1">
              <a:lnSpc>
                <a:spcPct val="120000"/>
              </a:lnSpc>
              <a:spcBef>
                <a:spcPct val="50000"/>
              </a:spcBef>
              <a:buClr>
                <a:schemeClr val="tx1"/>
              </a:buClr>
              <a:buFont typeface="Wingdings" panose="05000000000000000000" pitchFamily="2" charset="2"/>
              <a:buNone/>
            </a:pPr>
            <a:r>
              <a:rPr lang="en-US" altLang="zh-TW" sz="2000">
                <a:latin typeface="Times New Roman" panose="02020603050405020304" pitchFamily="18" charset="0"/>
                <a:ea typeface="新細明體" panose="02020500000000000000" pitchFamily="18" charset="-120"/>
                <a:cs typeface="Arial" panose="020B0604020202020204" pitchFamily="34" charset="0"/>
              </a:rPr>
              <a:t>      3. Bar (bar):				Std. Atmospheric pressure	</a:t>
            </a:r>
          </a:p>
        </p:txBody>
      </p:sp>
      <p:sp>
        <p:nvSpPr>
          <p:cNvPr id="28676" name="Text Box 4">
            <a:extLst>
              <a:ext uri="{FF2B5EF4-FFF2-40B4-BE49-F238E27FC236}">
                <a16:creationId xmlns:a16="http://schemas.microsoft.com/office/drawing/2014/main" id="{4715AE2F-2626-8B65-111B-292A94BB8ACC}"/>
              </a:ext>
            </a:extLst>
          </p:cNvPr>
          <p:cNvSpPr txBox="1">
            <a:spLocks noChangeArrowheads="1"/>
          </p:cNvSpPr>
          <p:nvPr/>
        </p:nvSpPr>
        <p:spPr bwMode="auto">
          <a:xfrm>
            <a:off x="1828800" y="6022975"/>
            <a:ext cx="5562600" cy="49475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
                <a:schemeClr val="bg2"/>
              </a:buClr>
              <a:buFont typeface="Wingdings" panose="05000000000000000000" pitchFamily="2" charset="2"/>
              <a:buNone/>
            </a:pPr>
            <a:r>
              <a:rPr lang="en-US" altLang="zh-TW" sz="2400" dirty="0">
                <a:ea typeface="新細明體" panose="02020500000000000000" pitchFamily="18" charset="-120"/>
                <a:cs typeface="Arial" panose="020B0604020202020204" pitchFamily="34" charset="0"/>
              </a:rPr>
              <a:t> </a:t>
            </a:r>
            <a:r>
              <a:rPr lang="en-US" altLang="zh-TW" sz="2400" i="1" dirty="0">
                <a:ea typeface="新細明體" panose="02020500000000000000" pitchFamily="18" charset="-120"/>
                <a:cs typeface="Arial" panose="020B0604020202020204" pitchFamily="34" charset="0"/>
              </a:rPr>
              <a:t>1</a:t>
            </a:r>
            <a:r>
              <a:rPr lang="en-US" altLang="zh-TW" i="1" dirty="0">
                <a:ea typeface="新細明體" panose="02020500000000000000" pitchFamily="18" charset="-120"/>
                <a:cs typeface="Arial" panose="020B0604020202020204" pitchFamily="34" charset="0"/>
              </a:rPr>
              <a:t> </a:t>
            </a:r>
            <a:r>
              <a:rPr lang="en-US" altLang="zh-TW" sz="2400" i="1" dirty="0">
                <a:ea typeface="新細明體" panose="02020500000000000000" pitchFamily="18" charset="-120"/>
                <a:cs typeface="Arial" panose="020B0604020202020204" pitchFamily="34" charset="0"/>
              </a:rPr>
              <a:t>bar ~ 1 atm ~ 101325 Pa ~ 760 Torr</a:t>
            </a:r>
            <a:endParaRPr lang="en-US" altLang="zh-CN" sz="2400" dirty="0">
              <a:ea typeface="新細明體" panose="02020500000000000000" pitchFamily="18" charset="-12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0536B0D4-8F40-319F-4DDC-56A03680798A}"/>
              </a:ext>
            </a:extLst>
          </p:cNvPr>
          <p:cNvSpPr txBox="1">
            <a:spLocks noChangeArrowheads="1"/>
          </p:cNvSpPr>
          <p:nvPr/>
        </p:nvSpPr>
        <p:spPr bwMode="auto">
          <a:xfrm>
            <a:off x="-17929" y="609600"/>
            <a:ext cx="8534400" cy="645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30188" eaLnBrk="0" hangingPunct="0">
              <a:defRPr>
                <a:solidFill>
                  <a:schemeClr val="tx1"/>
                </a:solidFill>
                <a:latin typeface="Arial" panose="020B0604020202020204" pitchFamily="34" charset="0"/>
                <a:ea typeface="宋体" panose="02010600030101010101" pitchFamily="2" charset="-122"/>
              </a:defRPr>
            </a:lvl1pPr>
            <a:lvl2pPr marL="1408113" indent="-60960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bg2"/>
              </a:buClr>
              <a:buFont typeface="Wingdings" panose="05000000000000000000" pitchFamily="2" charset="2"/>
              <a:buNone/>
            </a:pPr>
            <a:r>
              <a:rPr lang="en-US" altLang="zh-TW" sz="2800" dirty="0">
                <a:latin typeface="Times New Roman" panose="02020603050405020304" pitchFamily="18" charset="0"/>
                <a:ea typeface="新細明體" panose="02020500000000000000" pitchFamily="18" charset="-120"/>
                <a:cs typeface="Arial" panose="020B0604020202020204" pitchFamily="34" charset="0"/>
              </a:rPr>
              <a:t>Classification of vacuum</a:t>
            </a:r>
          </a:p>
          <a:p>
            <a:pPr eaLnBrk="1" hangingPunct="1">
              <a:lnSpc>
                <a:spcPct val="120000"/>
              </a:lnSpc>
              <a:buClr>
                <a:schemeClr val="bg2"/>
              </a:buClr>
              <a:buFont typeface="Wingdings" panose="05000000000000000000" pitchFamily="2" charset="2"/>
              <a:buNone/>
            </a:pPr>
            <a:endParaRPr lang="en-US" altLang="zh-TW" sz="900" dirty="0">
              <a:latin typeface="Times New Roman" panose="02020603050405020304" pitchFamily="18" charset="0"/>
              <a:ea typeface="新細明體" panose="02020500000000000000" pitchFamily="18" charset="-120"/>
              <a:cs typeface="Arial" panose="020B0604020202020204" pitchFamily="34" charset="0"/>
            </a:endParaRPr>
          </a:p>
          <a:p>
            <a:pPr eaLnBrk="1" hangingPunct="1">
              <a:lnSpc>
                <a:spcPct val="120000"/>
              </a:lnSpc>
              <a:buClr>
                <a:schemeClr val="bg2"/>
              </a:buClr>
              <a:buFont typeface="Wingdings" panose="05000000000000000000" pitchFamily="2" charset="2"/>
              <a:buNone/>
            </a:pPr>
            <a:r>
              <a:rPr lang="en-US" altLang="zh-TW" sz="2000" dirty="0">
                <a:latin typeface="Times New Roman" panose="02020603050405020304" pitchFamily="18" charset="0"/>
                <a:ea typeface="新細明體" panose="02020500000000000000" pitchFamily="18" charset="-120"/>
                <a:cs typeface="Arial" panose="020B0604020202020204" pitchFamily="34" charset="0"/>
              </a:rPr>
              <a:t>     I.	 </a:t>
            </a:r>
            <a:r>
              <a:rPr lang="en-US" altLang="zh-TW" sz="2000" u="sng" dirty="0">
                <a:latin typeface="Times New Roman" panose="02020603050405020304" pitchFamily="18" charset="0"/>
                <a:ea typeface="新細明體" panose="02020500000000000000" pitchFamily="18" charset="-120"/>
                <a:cs typeface="Arial" panose="020B0604020202020204" pitchFamily="34" charset="0"/>
              </a:rPr>
              <a:t>Low (&amp; medium) vacuum</a:t>
            </a:r>
          </a:p>
          <a:p>
            <a:pPr lvl="1" eaLnBrk="1" hangingPunct="1">
              <a:lnSpc>
                <a:spcPct val="120000"/>
              </a:lnSpc>
              <a:buClr>
                <a:schemeClr val="bg2"/>
              </a:buClr>
              <a:buFont typeface="Wingdings" panose="05000000000000000000" pitchFamily="2" charset="2"/>
              <a:buNone/>
            </a:pPr>
            <a:r>
              <a:rPr lang="en-US" altLang="zh-TW" sz="2000" dirty="0">
                <a:latin typeface="Times New Roman" panose="02020603050405020304" pitchFamily="18" charset="0"/>
                <a:ea typeface="新細明體" panose="02020500000000000000" pitchFamily="18" charset="-120"/>
                <a:cs typeface="Arial" panose="020B0604020202020204" pitchFamily="34" charset="0"/>
              </a:rPr>
              <a:t>   	The number of molecules in gaseous phase is large compared with that of covering the surfaces, thus in this range the pumping is directed towards rarefying the existing phase.</a:t>
            </a:r>
          </a:p>
          <a:p>
            <a:pPr lvl="1" eaLnBrk="1" hangingPunct="1">
              <a:lnSpc>
                <a:spcPct val="120000"/>
              </a:lnSpc>
              <a:buClr>
                <a:schemeClr val="bg2"/>
              </a:buClr>
              <a:buFont typeface="Wingdings" panose="05000000000000000000" pitchFamily="2" charset="2"/>
              <a:buNone/>
            </a:pPr>
            <a:endParaRPr lang="en-US" altLang="zh-TW" sz="800" dirty="0">
              <a:latin typeface="Times New Roman" panose="02020603050405020304" pitchFamily="18" charset="0"/>
              <a:ea typeface="新細明體" panose="02020500000000000000" pitchFamily="18" charset="-120"/>
              <a:cs typeface="Arial" panose="020B0604020202020204" pitchFamily="34" charset="0"/>
            </a:endParaRPr>
          </a:p>
          <a:p>
            <a:pPr eaLnBrk="1" hangingPunct="1"/>
            <a:r>
              <a:rPr lang="en-US" altLang="zh-TW" sz="2000" dirty="0">
                <a:latin typeface="Times New Roman" panose="02020603050405020304" pitchFamily="18" charset="0"/>
                <a:ea typeface="新細明體" panose="02020500000000000000" pitchFamily="18" charset="-120"/>
                <a:cs typeface="Arial" panose="020B0604020202020204" pitchFamily="34" charset="0"/>
              </a:rPr>
              <a:t>      II.	 </a:t>
            </a:r>
            <a:r>
              <a:rPr lang="en-US" altLang="zh-TW" sz="2000" u="sng" dirty="0">
                <a:latin typeface="Times New Roman" panose="02020603050405020304" pitchFamily="18" charset="0"/>
                <a:ea typeface="新細明體" panose="02020500000000000000" pitchFamily="18" charset="-120"/>
                <a:cs typeface="Arial" panose="020B0604020202020204" pitchFamily="34" charset="0"/>
              </a:rPr>
              <a:t>High vacuum</a:t>
            </a:r>
          </a:p>
          <a:p>
            <a:pPr lvl="1" eaLnBrk="1" hangingPunct="1"/>
            <a:r>
              <a:rPr lang="en-US" altLang="zh-TW" sz="2000" dirty="0">
                <a:latin typeface="Times New Roman" panose="02020603050405020304" pitchFamily="18" charset="0"/>
                <a:ea typeface="新細明體" panose="02020500000000000000" pitchFamily="18" charset="-120"/>
                <a:cs typeface="Arial" panose="020B0604020202020204" pitchFamily="34" charset="0"/>
              </a:rPr>
              <a:t>   	The gas molecules are located principally on surfaces, and the mean free path equals or is greater than the pertinent dimensions of the enclosure.  Therefore the pumping consists in evacuating or capturing the molecules leaving the surface and individually reaching pump.  This 	is the range where particles can travel in vacuum enclosure without colliding with other particles.</a:t>
            </a:r>
          </a:p>
          <a:p>
            <a:pPr lvl="1" eaLnBrk="1" hangingPunct="1"/>
            <a:endParaRPr lang="en-US" altLang="zh-TW" sz="800" dirty="0">
              <a:latin typeface="Times New Roman" panose="02020603050405020304" pitchFamily="18" charset="0"/>
              <a:ea typeface="新細明體" panose="02020500000000000000" pitchFamily="18" charset="-120"/>
              <a:cs typeface="Arial" panose="020B0604020202020204" pitchFamily="34" charset="0"/>
            </a:endParaRPr>
          </a:p>
          <a:p>
            <a:pPr eaLnBrk="1" hangingPunct="1"/>
            <a:r>
              <a:rPr lang="en-US" altLang="zh-TW" sz="2000" dirty="0">
                <a:latin typeface="Times New Roman" panose="02020603050405020304" pitchFamily="18" charset="0"/>
                <a:ea typeface="新細明體" panose="02020500000000000000" pitchFamily="18" charset="-120"/>
                <a:cs typeface="Arial" panose="020B0604020202020204" pitchFamily="34" charset="0"/>
              </a:rPr>
              <a:t>     III.	 </a:t>
            </a:r>
            <a:r>
              <a:rPr lang="en-US" altLang="zh-TW" sz="2000" u="sng" dirty="0">
                <a:latin typeface="Times New Roman" panose="02020603050405020304" pitchFamily="18" charset="0"/>
                <a:ea typeface="新細明體" panose="02020500000000000000" pitchFamily="18" charset="-120"/>
                <a:cs typeface="Arial" panose="020B0604020202020204" pitchFamily="34" charset="0"/>
              </a:rPr>
              <a:t>Ultra-high vacuum</a:t>
            </a:r>
          </a:p>
          <a:p>
            <a:pPr lvl="1" eaLnBrk="1" hangingPunct="1"/>
            <a:r>
              <a:rPr lang="en-US" altLang="zh-TW" sz="2000" dirty="0">
                <a:latin typeface="Times New Roman" panose="02020603050405020304" pitchFamily="18" charset="0"/>
                <a:ea typeface="新細明體" panose="02020500000000000000" pitchFamily="18" charset="-120"/>
                <a:cs typeface="Arial" panose="020B0604020202020204" pitchFamily="34" charset="0"/>
              </a:rPr>
              <a:t>  	 In this regime, the time to form a monolayer on a clean surface is equal or larger than the usual time for laboratory measurement, thus “clean” surface can be prepared and their properties can be determined before the adsorbed gas layer is form.</a:t>
            </a:r>
          </a:p>
          <a:p>
            <a:pPr lvl="1" eaLnBrk="1" hangingPunct="1"/>
            <a:endParaRPr lang="zh-TW" altLang="en-US" sz="2000" dirty="0">
              <a:latin typeface="Times New Roman" panose="02020603050405020304" pitchFamily="18" charset="0"/>
              <a:ea typeface="新細明體" panose="02020500000000000000" pitchFamily="18" charset="-120"/>
              <a:cs typeface="Arial" panose="020B0604020202020204" pitchFamily="34" charset="0"/>
            </a:endParaRPr>
          </a:p>
        </p:txBody>
      </p:sp>
      <p:sp>
        <p:nvSpPr>
          <p:cNvPr id="29699" name="Text Box 3">
            <a:extLst>
              <a:ext uri="{FF2B5EF4-FFF2-40B4-BE49-F238E27FC236}">
                <a16:creationId xmlns:a16="http://schemas.microsoft.com/office/drawing/2014/main" id="{1C8E6560-F2DA-CB96-C2CB-F13ED999AC46}"/>
              </a:ext>
            </a:extLst>
          </p:cNvPr>
          <p:cNvSpPr txBox="1">
            <a:spLocks noChangeArrowheads="1"/>
          </p:cNvSpPr>
          <p:nvPr/>
        </p:nvSpPr>
        <p:spPr bwMode="auto">
          <a:xfrm>
            <a:off x="4038600" y="1389062"/>
            <a:ext cx="4337050" cy="33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Pressure range: Atmospheric pressure to 10</a:t>
            </a:r>
            <a:r>
              <a:rPr lang="en-US" altLang="zh-TW" sz="1600" i="1" baseline="30000">
                <a:latin typeface="Times New Roman" panose="02020603050405020304" pitchFamily="18" charset="0"/>
                <a:ea typeface="新細明體" panose="02020500000000000000" pitchFamily="18" charset="-120"/>
                <a:cs typeface="Arial" panose="020B0604020202020204" pitchFamily="34" charset="0"/>
              </a:rPr>
              <a:t>-3</a:t>
            </a:r>
            <a:r>
              <a:rPr lang="en-US" altLang="zh-TW" sz="1600" i="1">
                <a:latin typeface="Times New Roman" panose="02020603050405020304" pitchFamily="18" charset="0"/>
                <a:ea typeface="新細明體" panose="02020500000000000000" pitchFamily="18" charset="-120"/>
                <a:cs typeface="Arial" panose="020B0604020202020204" pitchFamily="34" charset="0"/>
              </a:rPr>
              <a:t> Torr</a:t>
            </a:r>
          </a:p>
        </p:txBody>
      </p:sp>
      <p:sp>
        <p:nvSpPr>
          <p:cNvPr id="29700" name="Text Box 4">
            <a:extLst>
              <a:ext uri="{FF2B5EF4-FFF2-40B4-BE49-F238E27FC236}">
                <a16:creationId xmlns:a16="http://schemas.microsoft.com/office/drawing/2014/main" id="{59690273-14CF-4A7E-70A8-452EEE1286C7}"/>
              </a:ext>
            </a:extLst>
          </p:cNvPr>
          <p:cNvSpPr txBox="1">
            <a:spLocks noChangeArrowheads="1"/>
          </p:cNvSpPr>
          <p:nvPr/>
        </p:nvSpPr>
        <p:spPr bwMode="auto">
          <a:xfrm>
            <a:off x="5486400" y="2913062"/>
            <a:ext cx="2874963" cy="33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Pressure range: 10</a:t>
            </a:r>
            <a:r>
              <a:rPr lang="en-US" altLang="zh-TW" sz="1600" i="1" baseline="30000">
                <a:latin typeface="Times New Roman" panose="02020603050405020304" pitchFamily="18" charset="0"/>
                <a:ea typeface="新細明體" panose="02020500000000000000" pitchFamily="18" charset="-120"/>
                <a:cs typeface="Arial" panose="020B0604020202020204" pitchFamily="34" charset="0"/>
              </a:rPr>
              <a:t>-3</a:t>
            </a:r>
            <a:r>
              <a:rPr lang="en-US" altLang="zh-TW" sz="1600" i="1">
                <a:latin typeface="Times New Roman" panose="02020603050405020304" pitchFamily="18" charset="0"/>
                <a:ea typeface="新細明體" panose="02020500000000000000" pitchFamily="18" charset="-120"/>
                <a:cs typeface="Arial" panose="020B0604020202020204" pitchFamily="34" charset="0"/>
              </a:rPr>
              <a:t> to 10</a:t>
            </a:r>
            <a:r>
              <a:rPr lang="en-US" altLang="zh-TW" sz="1600" i="1" baseline="30000">
                <a:latin typeface="Times New Roman" panose="02020603050405020304" pitchFamily="18" charset="0"/>
                <a:ea typeface="新細明體" panose="02020500000000000000" pitchFamily="18" charset="-120"/>
                <a:cs typeface="Arial" panose="020B0604020202020204" pitchFamily="34" charset="0"/>
              </a:rPr>
              <a:t>-7</a:t>
            </a:r>
            <a:r>
              <a:rPr lang="en-US" altLang="zh-TW" sz="1600" i="1">
                <a:latin typeface="Times New Roman" panose="02020603050405020304" pitchFamily="18" charset="0"/>
                <a:ea typeface="新細明體" panose="02020500000000000000" pitchFamily="18" charset="-120"/>
                <a:cs typeface="Arial" panose="020B0604020202020204" pitchFamily="34" charset="0"/>
              </a:rPr>
              <a:t> Torr</a:t>
            </a:r>
          </a:p>
        </p:txBody>
      </p:sp>
      <p:sp>
        <p:nvSpPr>
          <p:cNvPr id="29701" name="Text Box 5">
            <a:extLst>
              <a:ext uri="{FF2B5EF4-FFF2-40B4-BE49-F238E27FC236}">
                <a16:creationId xmlns:a16="http://schemas.microsoft.com/office/drawing/2014/main" id="{3D2F4846-B9A9-B978-104A-9D91D973176E}"/>
              </a:ext>
            </a:extLst>
          </p:cNvPr>
          <p:cNvSpPr txBox="1">
            <a:spLocks noChangeArrowheads="1"/>
          </p:cNvSpPr>
          <p:nvPr/>
        </p:nvSpPr>
        <p:spPr bwMode="auto">
          <a:xfrm>
            <a:off x="5334000" y="5199062"/>
            <a:ext cx="3041650" cy="33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Pressure range: 10</a:t>
            </a:r>
            <a:r>
              <a:rPr lang="en-US" altLang="zh-TW" sz="1600" i="1" baseline="30000">
                <a:latin typeface="Times New Roman" panose="02020603050405020304" pitchFamily="18" charset="0"/>
                <a:ea typeface="新細明體" panose="02020500000000000000" pitchFamily="18" charset="-120"/>
                <a:cs typeface="Arial" panose="020B0604020202020204" pitchFamily="34" charset="0"/>
              </a:rPr>
              <a:t>-7</a:t>
            </a:r>
            <a:r>
              <a:rPr lang="en-US" altLang="zh-TW" sz="1600" i="1">
                <a:latin typeface="Times New Roman" panose="02020603050405020304" pitchFamily="18" charset="0"/>
                <a:ea typeface="新細明體" panose="02020500000000000000" pitchFamily="18" charset="-120"/>
                <a:cs typeface="Arial" panose="020B0604020202020204" pitchFamily="34" charset="0"/>
              </a:rPr>
              <a:t> Torr or lower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13">
            <a:extLst>
              <a:ext uri="{FF2B5EF4-FFF2-40B4-BE49-F238E27FC236}">
                <a16:creationId xmlns:a16="http://schemas.microsoft.com/office/drawing/2014/main" id="{97DD04A2-958A-12C6-C9F8-94BA730D9535}"/>
              </a:ext>
            </a:extLst>
          </p:cNvPr>
          <p:cNvGrpSpPr>
            <a:grpSpLocks/>
          </p:cNvGrpSpPr>
          <p:nvPr/>
        </p:nvGrpSpPr>
        <p:grpSpPr bwMode="auto">
          <a:xfrm>
            <a:off x="457200" y="762000"/>
            <a:ext cx="8305800" cy="5562600"/>
            <a:chOff x="288" y="480"/>
            <a:chExt cx="5232" cy="3504"/>
          </a:xfrm>
        </p:grpSpPr>
        <p:sp>
          <p:nvSpPr>
            <p:cNvPr id="30723" name="Rectangle 2">
              <a:extLst>
                <a:ext uri="{FF2B5EF4-FFF2-40B4-BE49-F238E27FC236}">
                  <a16:creationId xmlns:a16="http://schemas.microsoft.com/office/drawing/2014/main" id="{6CF86B46-D05F-9C77-5F2A-B18738092BFE}"/>
                </a:ext>
              </a:extLst>
            </p:cNvPr>
            <p:cNvSpPr>
              <a:spLocks noChangeArrowheads="1"/>
            </p:cNvSpPr>
            <p:nvPr/>
          </p:nvSpPr>
          <p:spPr bwMode="auto">
            <a:xfrm>
              <a:off x="288" y="480"/>
              <a:ext cx="5232" cy="35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24" name="AutoShape 3">
              <a:extLst>
                <a:ext uri="{FF2B5EF4-FFF2-40B4-BE49-F238E27FC236}">
                  <a16:creationId xmlns:a16="http://schemas.microsoft.com/office/drawing/2014/main" id="{212B3881-5380-0816-8E04-1727F9D5C642}"/>
                </a:ext>
              </a:extLst>
            </p:cNvPr>
            <p:cNvSpPr>
              <a:spLocks noChangeAspect="1" noChangeArrowheads="1" noTextEdit="1"/>
            </p:cNvSpPr>
            <p:nvPr/>
          </p:nvSpPr>
          <p:spPr bwMode="auto">
            <a:xfrm>
              <a:off x="432" y="672"/>
              <a:ext cx="4957" cy="317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HK"/>
            </a:p>
          </p:txBody>
        </p:sp>
        <p:sp>
          <p:nvSpPr>
            <p:cNvPr id="30725" name="Rectangle 4">
              <a:extLst>
                <a:ext uri="{FF2B5EF4-FFF2-40B4-BE49-F238E27FC236}">
                  <a16:creationId xmlns:a16="http://schemas.microsoft.com/office/drawing/2014/main" id="{F0403B9D-7CA4-2E8D-E6F3-C9AD84ABA50E}"/>
                </a:ext>
              </a:extLst>
            </p:cNvPr>
            <p:cNvSpPr>
              <a:spLocks noChangeArrowheads="1"/>
            </p:cNvSpPr>
            <p:nvPr/>
          </p:nvSpPr>
          <p:spPr bwMode="auto">
            <a:xfrm>
              <a:off x="2769" y="2835"/>
              <a:ext cx="2618"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26" name="Rectangle 5">
              <a:extLst>
                <a:ext uri="{FF2B5EF4-FFF2-40B4-BE49-F238E27FC236}">
                  <a16:creationId xmlns:a16="http://schemas.microsoft.com/office/drawing/2014/main" id="{A6E6BB65-45D3-1FB2-7B0E-745988954AA5}"/>
                </a:ext>
              </a:extLst>
            </p:cNvPr>
            <p:cNvSpPr>
              <a:spLocks noChangeArrowheads="1"/>
            </p:cNvSpPr>
            <p:nvPr/>
          </p:nvSpPr>
          <p:spPr bwMode="auto">
            <a:xfrm>
              <a:off x="3031" y="2878"/>
              <a:ext cx="243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Intermediate and Surface Processes </a:t>
              </a:r>
              <a:endParaRPr lang="en-US" altLang="zh-CN">
                <a:cs typeface="Arial" panose="020B0604020202020204" pitchFamily="34" charset="0"/>
              </a:endParaRPr>
            </a:p>
          </p:txBody>
        </p:sp>
        <p:sp>
          <p:nvSpPr>
            <p:cNvPr id="30727" name="Rectangle 6">
              <a:extLst>
                <a:ext uri="{FF2B5EF4-FFF2-40B4-BE49-F238E27FC236}">
                  <a16:creationId xmlns:a16="http://schemas.microsoft.com/office/drawing/2014/main" id="{6682A702-061D-1CF2-BE2F-B81E19A4F2A8}"/>
                </a:ext>
              </a:extLst>
            </p:cNvPr>
            <p:cNvSpPr>
              <a:spLocks noChangeArrowheads="1"/>
            </p:cNvSpPr>
            <p:nvPr/>
          </p:nvSpPr>
          <p:spPr bwMode="auto">
            <a:xfrm>
              <a:off x="463" y="2835"/>
              <a:ext cx="2307"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28" name="Rectangle 7">
              <a:extLst>
                <a:ext uri="{FF2B5EF4-FFF2-40B4-BE49-F238E27FC236}">
                  <a16:creationId xmlns:a16="http://schemas.microsoft.com/office/drawing/2014/main" id="{AEA6A4F3-BA3A-7686-2C1C-3D38FB327721}"/>
                </a:ext>
              </a:extLst>
            </p:cNvPr>
            <p:cNvSpPr>
              <a:spLocks noChangeArrowheads="1"/>
            </p:cNvSpPr>
            <p:nvPr/>
          </p:nvSpPr>
          <p:spPr bwMode="auto">
            <a:xfrm>
              <a:off x="1073" y="2878"/>
              <a:ext cx="123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Volume Processes</a:t>
              </a:r>
              <a:endParaRPr lang="en-US" altLang="zh-CN">
                <a:cs typeface="Arial" panose="020B0604020202020204" pitchFamily="34" charset="0"/>
              </a:endParaRPr>
            </a:p>
          </p:txBody>
        </p:sp>
        <p:sp>
          <p:nvSpPr>
            <p:cNvPr id="30729" name="Rectangle 8">
              <a:extLst>
                <a:ext uri="{FF2B5EF4-FFF2-40B4-BE49-F238E27FC236}">
                  <a16:creationId xmlns:a16="http://schemas.microsoft.com/office/drawing/2014/main" id="{14A3CDF5-D742-1FBA-49BA-FECC8A69CEBC}"/>
                </a:ext>
              </a:extLst>
            </p:cNvPr>
            <p:cNvSpPr>
              <a:spLocks noChangeArrowheads="1"/>
            </p:cNvSpPr>
            <p:nvPr/>
          </p:nvSpPr>
          <p:spPr bwMode="auto">
            <a:xfrm>
              <a:off x="4055" y="2229"/>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30" name="Rectangle 9">
              <a:extLst>
                <a:ext uri="{FF2B5EF4-FFF2-40B4-BE49-F238E27FC236}">
                  <a16:creationId xmlns:a16="http://schemas.microsoft.com/office/drawing/2014/main" id="{572C6046-3D26-709C-03F8-7F476D44D586}"/>
                </a:ext>
              </a:extLst>
            </p:cNvPr>
            <p:cNvSpPr>
              <a:spLocks noChangeArrowheads="1"/>
            </p:cNvSpPr>
            <p:nvPr/>
          </p:nvSpPr>
          <p:spPr bwMode="auto">
            <a:xfrm>
              <a:off x="4543"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731" name="Rectangle 10">
              <a:extLst>
                <a:ext uri="{FF2B5EF4-FFF2-40B4-BE49-F238E27FC236}">
                  <a16:creationId xmlns:a16="http://schemas.microsoft.com/office/drawing/2014/main" id="{D6E7BB7F-2068-8997-5AFA-F4E4A544F630}"/>
                </a:ext>
              </a:extLst>
            </p:cNvPr>
            <p:cNvSpPr>
              <a:spLocks noChangeArrowheads="1"/>
            </p:cNvSpPr>
            <p:nvPr/>
          </p:nvSpPr>
          <p:spPr bwMode="auto">
            <a:xfrm>
              <a:off x="4646" y="2276"/>
              <a:ext cx="28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&gt; 1s</a:t>
              </a:r>
              <a:endParaRPr lang="en-US" altLang="zh-CN">
                <a:cs typeface="Arial" panose="020B0604020202020204" pitchFamily="34" charset="0"/>
              </a:endParaRPr>
            </a:p>
          </p:txBody>
        </p:sp>
        <p:sp>
          <p:nvSpPr>
            <p:cNvPr id="30732" name="Rectangle 11">
              <a:extLst>
                <a:ext uri="{FF2B5EF4-FFF2-40B4-BE49-F238E27FC236}">
                  <a16:creationId xmlns:a16="http://schemas.microsoft.com/office/drawing/2014/main" id="{EA58EF55-A5BA-11CD-6E42-C98DBF4EB369}"/>
                </a:ext>
              </a:extLst>
            </p:cNvPr>
            <p:cNvSpPr>
              <a:spLocks noChangeArrowheads="1"/>
            </p:cNvSpPr>
            <p:nvPr/>
          </p:nvSpPr>
          <p:spPr bwMode="auto">
            <a:xfrm>
              <a:off x="2769" y="2229"/>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33" name="Rectangle 12">
              <a:extLst>
                <a:ext uri="{FF2B5EF4-FFF2-40B4-BE49-F238E27FC236}">
                  <a16:creationId xmlns:a16="http://schemas.microsoft.com/office/drawing/2014/main" id="{62B085C5-FAB6-187B-5903-2F52AA1B8B17}"/>
                </a:ext>
              </a:extLst>
            </p:cNvPr>
            <p:cNvSpPr>
              <a:spLocks noChangeArrowheads="1"/>
            </p:cNvSpPr>
            <p:nvPr/>
          </p:nvSpPr>
          <p:spPr bwMode="auto">
            <a:xfrm>
              <a:off x="3237"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734" name="Rectangle 13">
              <a:extLst>
                <a:ext uri="{FF2B5EF4-FFF2-40B4-BE49-F238E27FC236}">
                  <a16:creationId xmlns:a16="http://schemas.microsoft.com/office/drawing/2014/main" id="{FC16AD35-0E12-B82E-B088-F043BA2DDF23}"/>
                </a:ext>
              </a:extLst>
            </p:cNvPr>
            <p:cNvSpPr>
              <a:spLocks noChangeArrowheads="1"/>
            </p:cNvSpPr>
            <p:nvPr/>
          </p:nvSpPr>
          <p:spPr bwMode="auto">
            <a:xfrm>
              <a:off x="3339" y="2276"/>
              <a:ext cx="28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 1s</a:t>
              </a:r>
              <a:endParaRPr lang="en-US" altLang="zh-CN">
                <a:cs typeface="Arial" panose="020B0604020202020204" pitchFamily="34" charset="0"/>
              </a:endParaRPr>
            </a:p>
          </p:txBody>
        </p:sp>
        <p:sp>
          <p:nvSpPr>
            <p:cNvPr id="30735" name="Rectangle 14">
              <a:extLst>
                <a:ext uri="{FF2B5EF4-FFF2-40B4-BE49-F238E27FC236}">
                  <a16:creationId xmlns:a16="http://schemas.microsoft.com/office/drawing/2014/main" id="{6CBF6DBE-50A6-F136-34FD-E14C595ADE77}"/>
                </a:ext>
              </a:extLst>
            </p:cNvPr>
            <p:cNvSpPr>
              <a:spLocks noChangeArrowheads="1"/>
            </p:cNvSpPr>
            <p:nvPr/>
          </p:nvSpPr>
          <p:spPr bwMode="auto">
            <a:xfrm>
              <a:off x="1660" y="2229"/>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36" name="Rectangle 15">
              <a:extLst>
                <a:ext uri="{FF2B5EF4-FFF2-40B4-BE49-F238E27FC236}">
                  <a16:creationId xmlns:a16="http://schemas.microsoft.com/office/drawing/2014/main" id="{FEE4DDD3-B2E8-866E-9138-C59D2418C7DA}"/>
                </a:ext>
              </a:extLst>
            </p:cNvPr>
            <p:cNvSpPr>
              <a:spLocks noChangeArrowheads="1"/>
            </p:cNvSpPr>
            <p:nvPr/>
          </p:nvSpPr>
          <p:spPr bwMode="auto">
            <a:xfrm>
              <a:off x="2037"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737" name="Rectangle 16">
              <a:extLst>
                <a:ext uri="{FF2B5EF4-FFF2-40B4-BE49-F238E27FC236}">
                  <a16:creationId xmlns:a16="http://schemas.microsoft.com/office/drawing/2014/main" id="{A299C05A-41B4-2BD7-935B-98CAB2E89D2E}"/>
                </a:ext>
              </a:extLst>
            </p:cNvPr>
            <p:cNvSpPr>
              <a:spLocks noChangeArrowheads="1"/>
            </p:cNvSpPr>
            <p:nvPr/>
          </p:nvSpPr>
          <p:spPr bwMode="auto">
            <a:xfrm>
              <a:off x="2140" y="2276"/>
              <a:ext cx="28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&lt; 1s</a:t>
              </a:r>
              <a:endParaRPr lang="en-US" altLang="zh-CN">
                <a:cs typeface="Arial" panose="020B0604020202020204" pitchFamily="34" charset="0"/>
              </a:endParaRPr>
            </a:p>
          </p:txBody>
        </p:sp>
        <p:sp>
          <p:nvSpPr>
            <p:cNvPr id="30738" name="Rectangle 17">
              <a:extLst>
                <a:ext uri="{FF2B5EF4-FFF2-40B4-BE49-F238E27FC236}">
                  <a16:creationId xmlns:a16="http://schemas.microsoft.com/office/drawing/2014/main" id="{A5D8F19C-D3E5-0320-D3EA-AE693BDEE773}"/>
                </a:ext>
              </a:extLst>
            </p:cNvPr>
            <p:cNvSpPr>
              <a:spLocks noChangeArrowheads="1"/>
            </p:cNvSpPr>
            <p:nvPr/>
          </p:nvSpPr>
          <p:spPr bwMode="auto">
            <a:xfrm>
              <a:off x="463" y="2229"/>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39" name="Rectangle 18">
              <a:extLst>
                <a:ext uri="{FF2B5EF4-FFF2-40B4-BE49-F238E27FC236}">
                  <a16:creationId xmlns:a16="http://schemas.microsoft.com/office/drawing/2014/main" id="{0B521465-279A-26A9-7B83-4A630493D346}"/>
                </a:ext>
              </a:extLst>
            </p:cNvPr>
            <p:cNvSpPr>
              <a:spLocks noChangeArrowheads="1"/>
            </p:cNvSpPr>
            <p:nvPr/>
          </p:nvSpPr>
          <p:spPr bwMode="auto">
            <a:xfrm>
              <a:off x="824" y="2256"/>
              <a:ext cx="11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 t</a:t>
              </a:r>
              <a:endParaRPr lang="en-US" altLang="zh-CN">
                <a:cs typeface="Arial" panose="020B0604020202020204" pitchFamily="34" charset="0"/>
              </a:endParaRPr>
            </a:p>
          </p:txBody>
        </p:sp>
        <p:sp>
          <p:nvSpPr>
            <p:cNvPr id="30740" name="Rectangle 19">
              <a:extLst>
                <a:ext uri="{FF2B5EF4-FFF2-40B4-BE49-F238E27FC236}">
                  <a16:creationId xmlns:a16="http://schemas.microsoft.com/office/drawing/2014/main" id="{F9BC83C8-8C85-8285-4A8D-647A4FB4CA65}"/>
                </a:ext>
              </a:extLst>
            </p:cNvPr>
            <p:cNvSpPr>
              <a:spLocks noChangeArrowheads="1"/>
            </p:cNvSpPr>
            <p:nvPr/>
          </p:nvSpPr>
          <p:spPr bwMode="auto">
            <a:xfrm>
              <a:off x="964" y="2276"/>
              <a:ext cx="38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&lt;&lt; 1s</a:t>
              </a:r>
              <a:endParaRPr lang="en-US" altLang="zh-CN">
                <a:cs typeface="Arial" panose="020B0604020202020204" pitchFamily="34" charset="0"/>
              </a:endParaRPr>
            </a:p>
          </p:txBody>
        </p:sp>
        <p:sp>
          <p:nvSpPr>
            <p:cNvPr id="30741" name="Rectangle 20">
              <a:extLst>
                <a:ext uri="{FF2B5EF4-FFF2-40B4-BE49-F238E27FC236}">
                  <a16:creationId xmlns:a16="http://schemas.microsoft.com/office/drawing/2014/main" id="{DAE820CB-8D9F-8EDC-8D42-C9C78B2AEE15}"/>
                </a:ext>
              </a:extLst>
            </p:cNvPr>
            <p:cNvSpPr>
              <a:spLocks noChangeArrowheads="1"/>
            </p:cNvSpPr>
            <p:nvPr/>
          </p:nvSpPr>
          <p:spPr bwMode="auto">
            <a:xfrm>
              <a:off x="4055" y="1926"/>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42" name="Rectangle 21">
              <a:extLst>
                <a:ext uri="{FF2B5EF4-FFF2-40B4-BE49-F238E27FC236}">
                  <a16:creationId xmlns:a16="http://schemas.microsoft.com/office/drawing/2014/main" id="{DC35EF77-65AA-7BDD-03CB-F615FE684FC5}"/>
                </a:ext>
              </a:extLst>
            </p:cNvPr>
            <p:cNvSpPr>
              <a:spLocks noChangeArrowheads="1"/>
            </p:cNvSpPr>
            <p:nvPr/>
          </p:nvSpPr>
          <p:spPr bwMode="auto">
            <a:xfrm>
              <a:off x="4502" y="1968"/>
              <a:ext cx="49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 &gt;&gt; D</a:t>
              </a:r>
              <a:endParaRPr lang="en-US" altLang="zh-CN">
                <a:cs typeface="Arial" panose="020B0604020202020204" pitchFamily="34" charset="0"/>
              </a:endParaRPr>
            </a:p>
          </p:txBody>
        </p:sp>
        <p:sp>
          <p:nvSpPr>
            <p:cNvPr id="30743" name="Rectangle 22">
              <a:extLst>
                <a:ext uri="{FF2B5EF4-FFF2-40B4-BE49-F238E27FC236}">
                  <a16:creationId xmlns:a16="http://schemas.microsoft.com/office/drawing/2014/main" id="{0073923D-1EF0-EB58-2461-FAAE0A83DBF6}"/>
                </a:ext>
              </a:extLst>
            </p:cNvPr>
            <p:cNvSpPr>
              <a:spLocks noChangeArrowheads="1"/>
            </p:cNvSpPr>
            <p:nvPr/>
          </p:nvSpPr>
          <p:spPr bwMode="auto">
            <a:xfrm>
              <a:off x="2769" y="1926"/>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44" name="Rectangle 23">
              <a:extLst>
                <a:ext uri="{FF2B5EF4-FFF2-40B4-BE49-F238E27FC236}">
                  <a16:creationId xmlns:a16="http://schemas.microsoft.com/office/drawing/2014/main" id="{51322AB5-5277-3557-A642-ECFFEC8FFC7F}"/>
                </a:ext>
              </a:extLst>
            </p:cNvPr>
            <p:cNvSpPr>
              <a:spLocks noChangeArrowheads="1"/>
            </p:cNvSpPr>
            <p:nvPr/>
          </p:nvSpPr>
          <p:spPr bwMode="auto">
            <a:xfrm>
              <a:off x="3235" y="1968"/>
              <a:ext cx="40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 &gt; D</a:t>
              </a:r>
              <a:endParaRPr lang="en-US" altLang="zh-CN">
                <a:cs typeface="Arial" panose="020B0604020202020204" pitchFamily="34" charset="0"/>
              </a:endParaRPr>
            </a:p>
          </p:txBody>
        </p:sp>
        <p:sp>
          <p:nvSpPr>
            <p:cNvPr id="30745" name="Rectangle 24">
              <a:extLst>
                <a:ext uri="{FF2B5EF4-FFF2-40B4-BE49-F238E27FC236}">
                  <a16:creationId xmlns:a16="http://schemas.microsoft.com/office/drawing/2014/main" id="{C2A9806C-B918-9E60-E911-219837322CA4}"/>
                </a:ext>
              </a:extLst>
            </p:cNvPr>
            <p:cNvSpPr>
              <a:spLocks noChangeArrowheads="1"/>
            </p:cNvSpPr>
            <p:nvPr/>
          </p:nvSpPr>
          <p:spPr bwMode="auto">
            <a:xfrm>
              <a:off x="1660" y="1926"/>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46" name="Rectangle 25">
              <a:extLst>
                <a:ext uri="{FF2B5EF4-FFF2-40B4-BE49-F238E27FC236}">
                  <a16:creationId xmlns:a16="http://schemas.microsoft.com/office/drawing/2014/main" id="{617C4048-B354-0CD7-2EC7-BE298AA5F47A}"/>
                </a:ext>
              </a:extLst>
            </p:cNvPr>
            <p:cNvSpPr>
              <a:spLocks noChangeArrowheads="1"/>
            </p:cNvSpPr>
            <p:nvPr/>
          </p:nvSpPr>
          <p:spPr bwMode="auto">
            <a:xfrm>
              <a:off x="2038" y="1968"/>
              <a:ext cx="39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 ~ D</a:t>
              </a:r>
              <a:endParaRPr lang="en-US" altLang="zh-CN">
                <a:cs typeface="Arial" panose="020B0604020202020204" pitchFamily="34" charset="0"/>
              </a:endParaRPr>
            </a:p>
          </p:txBody>
        </p:sp>
        <p:sp>
          <p:nvSpPr>
            <p:cNvPr id="30747" name="Rectangle 26">
              <a:extLst>
                <a:ext uri="{FF2B5EF4-FFF2-40B4-BE49-F238E27FC236}">
                  <a16:creationId xmlns:a16="http://schemas.microsoft.com/office/drawing/2014/main" id="{1674687B-2B28-BAD1-3CBB-F0347B849539}"/>
                </a:ext>
              </a:extLst>
            </p:cNvPr>
            <p:cNvSpPr>
              <a:spLocks noChangeArrowheads="1"/>
            </p:cNvSpPr>
            <p:nvPr/>
          </p:nvSpPr>
          <p:spPr bwMode="auto">
            <a:xfrm>
              <a:off x="463" y="1926"/>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48" name="Rectangle 27">
              <a:extLst>
                <a:ext uri="{FF2B5EF4-FFF2-40B4-BE49-F238E27FC236}">
                  <a16:creationId xmlns:a16="http://schemas.microsoft.com/office/drawing/2014/main" id="{A4167195-DD2A-EE32-674E-41BF6330D67A}"/>
                </a:ext>
              </a:extLst>
            </p:cNvPr>
            <p:cNvSpPr>
              <a:spLocks noChangeArrowheads="1"/>
            </p:cNvSpPr>
            <p:nvPr/>
          </p:nvSpPr>
          <p:spPr bwMode="auto">
            <a:xfrm>
              <a:off x="884" y="1968"/>
              <a:ext cx="40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 &lt; D</a:t>
              </a:r>
              <a:endParaRPr lang="en-US" altLang="zh-CN">
                <a:cs typeface="Arial" panose="020B0604020202020204" pitchFamily="34" charset="0"/>
              </a:endParaRPr>
            </a:p>
          </p:txBody>
        </p:sp>
        <p:sp>
          <p:nvSpPr>
            <p:cNvPr id="30749" name="Rectangle 28">
              <a:extLst>
                <a:ext uri="{FF2B5EF4-FFF2-40B4-BE49-F238E27FC236}">
                  <a16:creationId xmlns:a16="http://schemas.microsoft.com/office/drawing/2014/main" id="{6F3A6E55-5EBF-AEF7-1890-C5B8E292D21E}"/>
                </a:ext>
              </a:extLst>
            </p:cNvPr>
            <p:cNvSpPr>
              <a:spLocks noChangeArrowheads="1"/>
            </p:cNvSpPr>
            <p:nvPr/>
          </p:nvSpPr>
          <p:spPr bwMode="auto">
            <a:xfrm>
              <a:off x="4055" y="1319"/>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50" name="Rectangle 29">
              <a:extLst>
                <a:ext uri="{FF2B5EF4-FFF2-40B4-BE49-F238E27FC236}">
                  <a16:creationId xmlns:a16="http://schemas.microsoft.com/office/drawing/2014/main" id="{E4541BA8-E497-5E73-1414-6D260963F1ED}"/>
                </a:ext>
              </a:extLst>
            </p:cNvPr>
            <p:cNvSpPr>
              <a:spLocks noChangeArrowheads="1"/>
            </p:cNvSpPr>
            <p:nvPr/>
          </p:nvSpPr>
          <p:spPr bwMode="auto">
            <a:xfrm>
              <a:off x="4328" y="1362"/>
              <a:ext cx="46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less 10</a:t>
              </a:r>
              <a:endParaRPr lang="en-US" altLang="zh-CN">
                <a:cs typeface="Arial" panose="020B0604020202020204" pitchFamily="34" charset="0"/>
              </a:endParaRPr>
            </a:p>
          </p:txBody>
        </p:sp>
        <p:sp>
          <p:nvSpPr>
            <p:cNvPr id="30751" name="Rectangle 30">
              <a:extLst>
                <a:ext uri="{FF2B5EF4-FFF2-40B4-BE49-F238E27FC236}">
                  <a16:creationId xmlns:a16="http://schemas.microsoft.com/office/drawing/2014/main" id="{F589D27C-8D97-AB99-5351-D427FAA5D425}"/>
                </a:ext>
              </a:extLst>
            </p:cNvPr>
            <p:cNvSpPr>
              <a:spLocks noChangeArrowheads="1"/>
            </p:cNvSpPr>
            <p:nvPr/>
          </p:nvSpPr>
          <p:spPr bwMode="auto">
            <a:xfrm>
              <a:off x="4733"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52" name="Rectangle 31">
              <a:extLst>
                <a:ext uri="{FF2B5EF4-FFF2-40B4-BE49-F238E27FC236}">
                  <a16:creationId xmlns:a16="http://schemas.microsoft.com/office/drawing/2014/main" id="{9F8D7034-DBD7-D764-A309-F200D8600849}"/>
                </a:ext>
              </a:extLst>
            </p:cNvPr>
            <p:cNvSpPr>
              <a:spLocks noChangeArrowheads="1"/>
            </p:cNvSpPr>
            <p:nvPr/>
          </p:nvSpPr>
          <p:spPr bwMode="auto">
            <a:xfrm>
              <a:off x="4766"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8</a:t>
              </a:r>
              <a:endParaRPr lang="en-US" altLang="zh-CN">
                <a:cs typeface="Arial" panose="020B0604020202020204" pitchFamily="34" charset="0"/>
              </a:endParaRPr>
            </a:p>
          </p:txBody>
        </p:sp>
        <p:sp>
          <p:nvSpPr>
            <p:cNvPr id="30753" name="Rectangle 32">
              <a:extLst>
                <a:ext uri="{FF2B5EF4-FFF2-40B4-BE49-F238E27FC236}">
                  <a16:creationId xmlns:a16="http://schemas.microsoft.com/office/drawing/2014/main" id="{A5875CCC-BC58-E8B1-8B9B-76B7189AD8EC}"/>
                </a:ext>
              </a:extLst>
            </p:cNvPr>
            <p:cNvSpPr>
              <a:spLocks noChangeArrowheads="1"/>
            </p:cNvSpPr>
            <p:nvPr/>
          </p:nvSpPr>
          <p:spPr bwMode="auto">
            <a:xfrm>
              <a:off x="4851" y="1362"/>
              <a:ext cx="34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 </a:t>
              </a:r>
              <a:endParaRPr lang="en-US" altLang="zh-CN">
                <a:cs typeface="Arial" panose="020B0604020202020204" pitchFamily="34" charset="0"/>
              </a:endParaRPr>
            </a:p>
          </p:txBody>
        </p:sp>
        <p:sp>
          <p:nvSpPr>
            <p:cNvPr id="30754" name="Rectangle 33">
              <a:extLst>
                <a:ext uri="{FF2B5EF4-FFF2-40B4-BE49-F238E27FC236}">
                  <a16:creationId xmlns:a16="http://schemas.microsoft.com/office/drawing/2014/main" id="{5C9F6DEE-BDDD-5E8C-BF65-4F5DE13B3691}"/>
                </a:ext>
              </a:extLst>
            </p:cNvPr>
            <p:cNvSpPr>
              <a:spLocks noChangeArrowheads="1"/>
            </p:cNvSpPr>
            <p:nvPr/>
          </p:nvSpPr>
          <p:spPr bwMode="auto">
            <a:xfrm>
              <a:off x="2769" y="1319"/>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55" name="Rectangle 34">
              <a:extLst>
                <a:ext uri="{FF2B5EF4-FFF2-40B4-BE49-F238E27FC236}">
                  <a16:creationId xmlns:a16="http://schemas.microsoft.com/office/drawing/2014/main" id="{5BFF6D25-E9A3-07D5-E426-4FDC4979A243}"/>
                </a:ext>
              </a:extLst>
            </p:cNvPr>
            <p:cNvSpPr>
              <a:spLocks noChangeArrowheads="1"/>
            </p:cNvSpPr>
            <p:nvPr/>
          </p:nvSpPr>
          <p:spPr bwMode="auto">
            <a:xfrm>
              <a:off x="2960"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756" name="Rectangle 35">
              <a:extLst>
                <a:ext uri="{FF2B5EF4-FFF2-40B4-BE49-F238E27FC236}">
                  <a16:creationId xmlns:a16="http://schemas.microsoft.com/office/drawing/2014/main" id="{4CCBEC0C-8F40-A5ED-BD24-24CCB7878200}"/>
                </a:ext>
              </a:extLst>
            </p:cNvPr>
            <p:cNvSpPr>
              <a:spLocks noChangeArrowheads="1"/>
            </p:cNvSpPr>
            <p:nvPr/>
          </p:nvSpPr>
          <p:spPr bwMode="auto">
            <a:xfrm>
              <a:off x="3108"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57" name="Rectangle 36">
              <a:extLst>
                <a:ext uri="{FF2B5EF4-FFF2-40B4-BE49-F238E27FC236}">
                  <a16:creationId xmlns:a16="http://schemas.microsoft.com/office/drawing/2014/main" id="{D78A8A0E-01D4-DDD4-087E-DD587DE30953}"/>
                </a:ext>
              </a:extLst>
            </p:cNvPr>
            <p:cNvSpPr>
              <a:spLocks noChangeArrowheads="1"/>
            </p:cNvSpPr>
            <p:nvPr/>
          </p:nvSpPr>
          <p:spPr bwMode="auto">
            <a:xfrm>
              <a:off x="3141"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3</a:t>
              </a:r>
              <a:endParaRPr lang="en-US" altLang="zh-CN">
                <a:cs typeface="Arial" panose="020B0604020202020204" pitchFamily="34" charset="0"/>
              </a:endParaRPr>
            </a:p>
          </p:txBody>
        </p:sp>
        <p:sp>
          <p:nvSpPr>
            <p:cNvPr id="30758" name="Rectangle 37">
              <a:extLst>
                <a:ext uri="{FF2B5EF4-FFF2-40B4-BE49-F238E27FC236}">
                  <a16:creationId xmlns:a16="http://schemas.microsoft.com/office/drawing/2014/main" id="{71FB5D6B-9498-EB39-3311-0BE22070AD84}"/>
                </a:ext>
              </a:extLst>
            </p:cNvPr>
            <p:cNvSpPr>
              <a:spLocks noChangeArrowheads="1"/>
            </p:cNvSpPr>
            <p:nvPr/>
          </p:nvSpPr>
          <p:spPr bwMode="auto">
            <a:xfrm>
              <a:off x="3226"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59" name="Rectangle 38">
              <a:extLst>
                <a:ext uri="{FF2B5EF4-FFF2-40B4-BE49-F238E27FC236}">
                  <a16:creationId xmlns:a16="http://schemas.microsoft.com/office/drawing/2014/main" id="{F13BEB70-74AA-AA09-A0E8-BB823F669CEB}"/>
                </a:ext>
              </a:extLst>
            </p:cNvPr>
            <p:cNvSpPr>
              <a:spLocks noChangeArrowheads="1"/>
            </p:cNvSpPr>
            <p:nvPr/>
          </p:nvSpPr>
          <p:spPr bwMode="auto">
            <a:xfrm>
              <a:off x="3336"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760" name="Rectangle 39">
              <a:extLst>
                <a:ext uri="{FF2B5EF4-FFF2-40B4-BE49-F238E27FC236}">
                  <a16:creationId xmlns:a16="http://schemas.microsoft.com/office/drawing/2014/main" id="{58AB10CE-EB47-E6C7-1E8F-2654AB65B838}"/>
                </a:ext>
              </a:extLst>
            </p:cNvPr>
            <p:cNvSpPr>
              <a:spLocks noChangeArrowheads="1"/>
            </p:cNvSpPr>
            <p:nvPr/>
          </p:nvSpPr>
          <p:spPr bwMode="auto">
            <a:xfrm>
              <a:off x="3484"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61" name="Rectangle 40">
              <a:extLst>
                <a:ext uri="{FF2B5EF4-FFF2-40B4-BE49-F238E27FC236}">
                  <a16:creationId xmlns:a16="http://schemas.microsoft.com/office/drawing/2014/main" id="{17B1E85C-0F9F-3FE9-ABDE-4EFD4745D24F}"/>
                </a:ext>
              </a:extLst>
            </p:cNvPr>
            <p:cNvSpPr>
              <a:spLocks noChangeArrowheads="1"/>
            </p:cNvSpPr>
            <p:nvPr/>
          </p:nvSpPr>
          <p:spPr bwMode="auto">
            <a:xfrm>
              <a:off x="3517"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8</a:t>
              </a:r>
              <a:endParaRPr lang="en-US" altLang="zh-CN">
                <a:cs typeface="Arial" panose="020B0604020202020204" pitchFamily="34" charset="0"/>
              </a:endParaRPr>
            </a:p>
          </p:txBody>
        </p:sp>
        <p:sp>
          <p:nvSpPr>
            <p:cNvPr id="30762" name="Rectangle 41">
              <a:extLst>
                <a:ext uri="{FF2B5EF4-FFF2-40B4-BE49-F238E27FC236}">
                  <a16:creationId xmlns:a16="http://schemas.microsoft.com/office/drawing/2014/main" id="{A4A89B24-941A-168A-281D-871E068F3E69}"/>
                </a:ext>
              </a:extLst>
            </p:cNvPr>
            <p:cNvSpPr>
              <a:spLocks noChangeArrowheads="1"/>
            </p:cNvSpPr>
            <p:nvPr/>
          </p:nvSpPr>
          <p:spPr bwMode="auto">
            <a:xfrm>
              <a:off x="3602" y="1362"/>
              <a:ext cx="29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a:t>
              </a:r>
              <a:endParaRPr lang="en-US" altLang="zh-CN">
                <a:cs typeface="Arial" panose="020B0604020202020204" pitchFamily="34" charset="0"/>
              </a:endParaRPr>
            </a:p>
          </p:txBody>
        </p:sp>
        <p:sp>
          <p:nvSpPr>
            <p:cNvPr id="30763" name="Rectangle 42">
              <a:extLst>
                <a:ext uri="{FF2B5EF4-FFF2-40B4-BE49-F238E27FC236}">
                  <a16:creationId xmlns:a16="http://schemas.microsoft.com/office/drawing/2014/main" id="{EC07EEED-CDE5-8583-0FF0-37C63DB9DAD3}"/>
                </a:ext>
              </a:extLst>
            </p:cNvPr>
            <p:cNvSpPr>
              <a:spLocks noChangeArrowheads="1"/>
            </p:cNvSpPr>
            <p:nvPr/>
          </p:nvSpPr>
          <p:spPr bwMode="auto">
            <a:xfrm>
              <a:off x="1660" y="1319"/>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64" name="Rectangle 43">
              <a:extLst>
                <a:ext uri="{FF2B5EF4-FFF2-40B4-BE49-F238E27FC236}">
                  <a16:creationId xmlns:a16="http://schemas.microsoft.com/office/drawing/2014/main" id="{8BEB2D2E-2EF4-2C0F-364F-B2CC510F3A06}"/>
                </a:ext>
              </a:extLst>
            </p:cNvPr>
            <p:cNvSpPr>
              <a:spLocks noChangeArrowheads="1"/>
            </p:cNvSpPr>
            <p:nvPr/>
          </p:nvSpPr>
          <p:spPr bwMode="auto">
            <a:xfrm>
              <a:off x="1840" y="1362"/>
              <a:ext cx="12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 </a:t>
              </a:r>
              <a:endParaRPr lang="en-US" altLang="zh-CN">
                <a:cs typeface="Arial" panose="020B0604020202020204" pitchFamily="34" charset="0"/>
              </a:endParaRPr>
            </a:p>
          </p:txBody>
        </p:sp>
        <p:sp>
          <p:nvSpPr>
            <p:cNvPr id="30765" name="Rectangle 44">
              <a:extLst>
                <a:ext uri="{FF2B5EF4-FFF2-40B4-BE49-F238E27FC236}">
                  <a16:creationId xmlns:a16="http://schemas.microsoft.com/office/drawing/2014/main" id="{154026A1-E08F-48CF-B60A-FBD8742BC1EB}"/>
                </a:ext>
              </a:extLst>
            </p:cNvPr>
            <p:cNvSpPr>
              <a:spLocks noChangeArrowheads="1"/>
            </p:cNvSpPr>
            <p:nvPr/>
          </p:nvSpPr>
          <p:spPr bwMode="auto">
            <a:xfrm>
              <a:off x="1950"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66" name="Rectangle 45">
              <a:extLst>
                <a:ext uri="{FF2B5EF4-FFF2-40B4-BE49-F238E27FC236}">
                  <a16:creationId xmlns:a16="http://schemas.microsoft.com/office/drawing/2014/main" id="{741167DB-9024-F607-CE2B-94A0B0B184A8}"/>
                </a:ext>
              </a:extLst>
            </p:cNvPr>
            <p:cNvSpPr>
              <a:spLocks noChangeArrowheads="1"/>
            </p:cNvSpPr>
            <p:nvPr/>
          </p:nvSpPr>
          <p:spPr bwMode="auto">
            <a:xfrm>
              <a:off x="2061"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767" name="Rectangle 46">
              <a:extLst>
                <a:ext uri="{FF2B5EF4-FFF2-40B4-BE49-F238E27FC236}">
                  <a16:creationId xmlns:a16="http://schemas.microsoft.com/office/drawing/2014/main" id="{407C9655-16D9-05D2-A2D8-5C754B06A8D7}"/>
                </a:ext>
              </a:extLst>
            </p:cNvPr>
            <p:cNvSpPr>
              <a:spLocks noChangeArrowheads="1"/>
            </p:cNvSpPr>
            <p:nvPr/>
          </p:nvSpPr>
          <p:spPr bwMode="auto">
            <a:xfrm>
              <a:off x="2209"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68" name="Rectangle 47">
              <a:extLst>
                <a:ext uri="{FF2B5EF4-FFF2-40B4-BE49-F238E27FC236}">
                  <a16:creationId xmlns:a16="http://schemas.microsoft.com/office/drawing/2014/main" id="{DCA1C84D-45D9-26D6-9B1C-E0AB2C0DC94A}"/>
                </a:ext>
              </a:extLst>
            </p:cNvPr>
            <p:cNvSpPr>
              <a:spLocks noChangeArrowheads="1"/>
            </p:cNvSpPr>
            <p:nvPr/>
          </p:nvSpPr>
          <p:spPr bwMode="auto">
            <a:xfrm>
              <a:off x="2242"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3</a:t>
              </a:r>
              <a:endParaRPr lang="en-US" altLang="zh-CN">
                <a:cs typeface="Arial" panose="020B0604020202020204" pitchFamily="34" charset="0"/>
              </a:endParaRPr>
            </a:p>
          </p:txBody>
        </p:sp>
        <p:sp>
          <p:nvSpPr>
            <p:cNvPr id="30769" name="Rectangle 48">
              <a:extLst>
                <a:ext uri="{FF2B5EF4-FFF2-40B4-BE49-F238E27FC236}">
                  <a16:creationId xmlns:a16="http://schemas.microsoft.com/office/drawing/2014/main" id="{2D38029D-F64F-DB63-2AF8-AF5C214CE35F}"/>
                </a:ext>
              </a:extLst>
            </p:cNvPr>
            <p:cNvSpPr>
              <a:spLocks noChangeArrowheads="1"/>
            </p:cNvSpPr>
            <p:nvPr/>
          </p:nvSpPr>
          <p:spPr bwMode="auto">
            <a:xfrm>
              <a:off x="2327" y="1362"/>
              <a:ext cx="29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a:t>
              </a:r>
              <a:endParaRPr lang="en-US" altLang="zh-CN">
                <a:cs typeface="Arial" panose="020B0604020202020204" pitchFamily="34" charset="0"/>
              </a:endParaRPr>
            </a:p>
          </p:txBody>
        </p:sp>
        <p:sp>
          <p:nvSpPr>
            <p:cNvPr id="30770" name="Rectangle 49">
              <a:extLst>
                <a:ext uri="{FF2B5EF4-FFF2-40B4-BE49-F238E27FC236}">
                  <a16:creationId xmlns:a16="http://schemas.microsoft.com/office/drawing/2014/main" id="{4D2CE7BD-D0DD-9F7B-4FCF-EB3E71DA2BF4}"/>
                </a:ext>
              </a:extLst>
            </p:cNvPr>
            <p:cNvSpPr>
              <a:spLocks noChangeArrowheads="1"/>
            </p:cNvSpPr>
            <p:nvPr/>
          </p:nvSpPr>
          <p:spPr bwMode="auto">
            <a:xfrm>
              <a:off x="463" y="1319"/>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71" name="Rectangle 50">
              <a:extLst>
                <a:ext uri="{FF2B5EF4-FFF2-40B4-BE49-F238E27FC236}">
                  <a16:creationId xmlns:a16="http://schemas.microsoft.com/office/drawing/2014/main" id="{DF0ECD4E-E526-1D45-CBC6-5BCE0F327960}"/>
                </a:ext>
              </a:extLst>
            </p:cNvPr>
            <p:cNvSpPr>
              <a:spLocks noChangeArrowheads="1"/>
            </p:cNvSpPr>
            <p:nvPr/>
          </p:nvSpPr>
          <p:spPr bwMode="auto">
            <a:xfrm>
              <a:off x="690" y="1362"/>
              <a:ext cx="29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760 </a:t>
              </a:r>
              <a:endParaRPr lang="en-US" altLang="zh-CN">
                <a:cs typeface="Arial" panose="020B0604020202020204" pitchFamily="34" charset="0"/>
              </a:endParaRPr>
            </a:p>
          </p:txBody>
        </p:sp>
        <p:sp>
          <p:nvSpPr>
            <p:cNvPr id="30772" name="Rectangle 51">
              <a:extLst>
                <a:ext uri="{FF2B5EF4-FFF2-40B4-BE49-F238E27FC236}">
                  <a16:creationId xmlns:a16="http://schemas.microsoft.com/office/drawing/2014/main" id="{2C5A3081-CD3A-19F0-C936-5F4321DBAC14}"/>
                </a:ext>
              </a:extLst>
            </p:cNvPr>
            <p:cNvSpPr>
              <a:spLocks noChangeArrowheads="1"/>
            </p:cNvSpPr>
            <p:nvPr/>
          </p:nvSpPr>
          <p:spPr bwMode="auto">
            <a:xfrm>
              <a:off x="949"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73" name="Rectangle 52">
              <a:extLst>
                <a:ext uri="{FF2B5EF4-FFF2-40B4-BE49-F238E27FC236}">
                  <a16:creationId xmlns:a16="http://schemas.microsoft.com/office/drawing/2014/main" id="{898A4EDD-2F3F-9F91-40E0-973FFAB1D42B}"/>
                </a:ext>
              </a:extLst>
            </p:cNvPr>
            <p:cNvSpPr>
              <a:spLocks noChangeArrowheads="1"/>
            </p:cNvSpPr>
            <p:nvPr/>
          </p:nvSpPr>
          <p:spPr bwMode="auto">
            <a:xfrm>
              <a:off x="1060" y="1362"/>
              <a:ext cx="4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 Torr</a:t>
              </a:r>
              <a:endParaRPr lang="en-US" altLang="zh-CN">
                <a:cs typeface="Arial" panose="020B0604020202020204" pitchFamily="34" charset="0"/>
              </a:endParaRPr>
            </a:p>
          </p:txBody>
        </p:sp>
        <p:sp>
          <p:nvSpPr>
            <p:cNvPr id="30774" name="Rectangle 53">
              <a:extLst>
                <a:ext uri="{FF2B5EF4-FFF2-40B4-BE49-F238E27FC236}">
                  <a16:creationId xmlns:a16="http://schemas.microsoft.com/office/drawing/2014/main" id="{6F336702-0148-6974-E198-6EC6FD96EE40}"/>
                </a:ext>
              </a:extLst>
            </p:cNvPr>
            <p:cNvSpPr>
              <a:spLocks noChangeArrowheads="1"/>
            </p:cNvSpPr>
            <p:nvPr/>
          </p:nvSpPr>
          <p:spPr bwMode="auto">
            <a:xfrm>
              <a:off x="4055" y="3139"/>
              <a:ext cx="1332"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75" name="Rectangle 54">
              <a:extLst>
                <a:ext uri="{FF2B5EF4-FFF2-40B4-BE49-F238E27FC236}">
                  <a16:creationId xmlns:a16="http://schemas.microsoft.com/office/drawing/2014/main" id="{164C654C-8218-13CE-9838-96AFDDA5A9B3}"/>
                </a:ext>
              </a:extLst>
            </p:cNvPr>
            <p:cNvSpPr>
              <a:spLocks noChangeArrowheads="1"/>
            </p:cNvSpPr>
            <p:nvPr/>
          </p:nvSpPr>
          <p:spPr bwMode="auto">
            <a:xfrm>
              <a:off x="2769" y="3139"/>
              <a:ext cx="1287"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76" name="Rectangle 55">
              <a:extLst>
                <a:ext uri="{FF2B5EF4-FFF2-40B4-BE49-F238E27FC236}">
                  <a16:creationId xmlns:a16="http://schemas.microsoft.com/office/drawing/2014/main" id="{9123E094-521E-A275-C051-EEA704727C4C}"/>
                </a:ext>
              </a:extLst>
            </p:cNvPr>
            <p:cNvSpPr>
              <a:spLocks noChangeArrowheads="1"/>
            </p:cNvSpPr>
            <p:nvPr/>
          </p:nvSpPr>
          <p:spPr bwMode="auto">
            <a:xfrm>
              <a:off x="463" y="3139"/>
              <a:ext cx="2307"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77" name="Rectangle 56">
              <a:extLst>
                <a:ext uri="{FF2B5EF4-FFF2-40B4-BE49-F238E27FC236}">
                  <a16:creationId xmlns:a16="http://schemas.microsoft.com/office/drawing/2014/main" id="{CCB2F841-6F7B-FFE0-09F6-BC9932708958}"/>
                </a:ext>
              </a:extLst>
            </p:cNvPr>
            <p:cNvSpPr>
              <a:spLocks noChangeArrowheads="1"/>
            </p:cNvSpPr>
            <p:nvPr/>
          </p:nvSpPr>
          <p:spPr bwMode="auto">
            <a:xfrm>
              <a:off x="4055" y="1622"/>
              <a:ext cx="1331" cy="304"/>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78" name="Rectangle 57">
              <a:extLst>
                <a:ext uri="{FF2B5EF4-FFF2-40B4-BE49-F238E27FC236}">
                  <a16:creationId xmlns:a16="http://schemas.microsoft.com/office/drawing/2014/main" id="{C9FCFC6D-A010-F9AB-7B8C-072BD5FF3656}"/>
                </a:ext>
              </a:extLst>
            </p:cNvPr>
            <p:cNvSpPr>
              <a:spLocks noChangeArrowheads="1"/>
            </p:cNvSpPr>
            <p:nvPr/>
          </p:nvSpPr>
          <p:spPr bwMode="auto">
            <a:xfrm>
              <a:off x="4395" y="1663"/>
              <a:ext cx="46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Less 10</a:t>
              </a:r>
              <a:endParaRPr lang="en-US" altLang="zh-CN">
                <a:cs typeface="Arial" panose="020B0604020202020204" pitchFamily="34" charset="0"/>
              </a:endParaRPr>
            </a:p>
          </p:txBody>
        </p:sp>
        <p:sp>
          <p:nvSpPr>
            <p:cNvPr id="30779" name="Rectangle 58">
              <a:extLst>
                <a:ext uri="{FF2B5EF4-FFF2-40B4-BE49-F238E27FC236}">
                  <a16:creationId xmlns:a16="http://schemas.microsoft.com/office/drawing/2014/main" id="{3C8421DF-D211-DDF4-7CF3-E3E4243F4283}"/>
                </a:ext>
              </a:extLst>
            </p:cNvPr>
            <p:cNvSpPr>
              <a:spLocks noChangeArrowheads="1"/>
            </p:cNvSpPr>
            <p:nvPr/>
          </p:nvSpPr>
          <p:spPr bwMode="auto">
            <a:xfrm>
              <a:off x="4806" y="166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80" name="Rectangle 59">
              <a:extLst>
                <a:ext uri="{FF2B5EF4-FFF2-40B4-BE49-F238E27FC236}">
                  <a16:creationId xmlns:a16="http://schemas.microsoft.com/office/drawing/2014/main" id="{FD9A093A-6D77-7404-3FFF-8F61E90B6EF5}"/>
                </a:ext>
              </a:extLst>
            </p:cNvPr>
            <p:cNvSpPr>
              <a:spLocks noChangeArrowheads="1"/>
            </p:cNvSpPr>
            <p:nvPr/>
          </p:nvSpPr>
          <p:spPr bwMode="auto">
            <a:xfrm>
              <a:off x="4835" y="166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6</a:t>
              </a:r>
              <a:endParaRPr lang="en-US" altLang="zh-CN">
                <a:cs typeface="Arial" panose="020B0604020202020204" pitchFamily="34" charset="0"/>
              </a:endParaRPr>
            </a:p>
          </p:txBody>
        </p:sp>
        <p:sp>
          <p:nvSpPr>
            <p:cNvPr id="30781" name="Rectangle 60">
              <a:extLst>
                <a:ext uri="{FF2B5EF4-FFF2-40B4-BE49-F238E27FC236}">
                  <a16:creationId xmlns:a16="http://schemas.microsoft.com/office/drawing/2014/main" id="{C86A2EC3-4581-3162-B2E3-A803049CD5B7}"/>
                </a:ext>
              </a:extLst>
            </p:cNvPr>
            <p:cNvSpPr>
              <a:spLocks noChangeArrowheads="1"/>
            </p:cNvSpPr>
            <p:nvPr/>
          </p:nvSpPr>
          <p:spPr bwMode="auto">
            <a:xfrm>
              <a:off x="4913" y="166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Pa</a:t>
              </a:r>
              <a:endParaRPr lang="en-US" altLang="zh-CN">
                <a:cs typeface="Arial" panose="020B0604020202020204" pitchFamily="34" charset="0"/>
              </a:endParaRPr>
            </a:p>
          </p:txBody>
        </p:sp>
        <p:sp>
          <p:nvSpPr>
            <p:cNvPr id="30782" name="Rectangle 61">
              <a:extLst>
                <a:ext uri="{FF2B5EF4-FFF2-40B4-BE49-F238E27FC236}">
                  <a16:creationId xmlns:a16="http://schemas.microsoft.com/office/drawing/2014/main" id="{AC33E4AF-D669-B7C9-BD1D-4330C3F6DC4D}"/>
                </a:ext>
              </a:extLst>
            </p:cNvPr>
            <p:cNvSpPr>
              <a:spLocks noChangeArrowheads="1"/>
            </p:cNvSpPr>
            <p:nvPr/>
          </p:nvSpPr>
          <p:spPr bwMode="auto">
            <a:xfrm>
              <a:off x="2769" y="1622"/>
              <a:ext cx="1286" cy="304"/>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83" name="Rectangle 62">
              <a:extLst>
                <a:ext uri="{FF2B5EF4-FFF2-40B4-BE49-F238E27FC236}">
                  <a16:creationId xmlns:a16="http://schemas.microsoft.com/office/drawing/2014/main" id="{14FB7988-2C3A-977D-DC36-FA38B81A6055}"/>
                </a:ext>
              </a:extLst>
            </p:cNvPr>
            <p:cNvSpPr>
              <a:spLocks noChangeArrowheads="1"/>
            </p:cNvSpPr>
            <p:nvPr/>
          </p:nvSpPr>
          <p:spPr bwMode="auto">
            <a:xfrm>
              <a:off x="2839" y="1666"/>
              <a:ext cx="38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0.133 </a:t>
              </a:r>
              <a:endParaRPr lang="en-US" altLang="zh-CN">
                <a:cs typeface="Arial" panose="020B0604020202020204" pitchFamily="34" charset="0"/>
              </a:endParaRPr>
            </a:p>
          </p:txBody>
        </p:sp>
        <p:sp>
          <p:nvSpPr>
            <p:cNvPr id="30784" name="Rectangle 63">
              <a:extLst>
                <a:ext uri="{FF2B5EF4-FFF2-40B4-BE49-F238E27FC236}">
                  <a16:creationId xmlns:a16="http://schemas.microsoft.com/office/drawing/2014/main" id="{D04A5D81-7B22-E637-FB41-160ACA91D2C6}"/>
                </a:ext>
              </a:extLst>
            </p:cNvPr>
            <p:cNvSpPr>
              <a:spLocks noChangeArrowheads="1"/>
            </p:cNvSpPr>
            <p:nvPr/>
          </p:nvSpPr>
          <p:spPr bwMode="auto">
            <a:xfrm>
              <a:off x="3172" y="166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85" name="Rectangle 64">
              <a:extLst>
                <a:ext uri="{FF2B5EF4-FFF2-40B4-BE49-F238E27FC236}">
                  <a16:creationId xmlns:a16="http://schemas.microsoft.com/office/drawing/2014/main" id="{07CC67D8-CA40-D608-C2C5-73B2E05F7C21}"/>
                </a:ext>
              </a:extLst>
            </p:cNvPr>
            <p:cNvSpPr>
              <a:spLocks noChangeArrowheads="1"/>
            </p:cNvSpPr>
            <p:nvPr/>
          </p:nvSpPr>
          <p:spPr bwMode="auto">
            <a:xfrm>
              <a:off x="3272" y="1666"/>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a:t>
              </a:r>
              <a:endParaRPr lang="en-US" altLang="zh-CN">
                <a:cs typeface="Arial" panose="020B0604020202020204" pitchFamily="34" charset="0"/>
              </a:endParaRPr>
            </a:p>
          </p:txBody>
        </p:sp>
        <p:sp>
          <p:nvSpPr>
            <p:cNvPr id="30786" name="Rectangle 65">
              <a:extLst>
                <a:ext uri="{FF2B5EF4-FFF2-40B4-BE49-F238E27FC236}">
                  <a16:creationId xmlns:a16="http://schemas.microsoft.com/office/drawing/2014/main" id="{9CC211C1-EB67-8248-BFB8-C65C61A130B3}"/>
                </a:ext>
              </a:extLst>
            </p:cNvPr>
            <p:cNvSpPr>
              <a:spLocks noChangeArrowheads="1"/>
            </p:cNvSpPr>
            <p:nvPr/>
          </p:nvSpPr>
          <p:spPr bwMode="auto">
            <a:xfrm>
              <a:off x="3538" y="164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Symbol" panose="05050102010706020507" pitchFamily="18" charset="2"/>
                  <a:cs typeface="Arial" panose="020B0604020202020204" pitchFamily="34" charset="0"/>
                </a:rPr>
                <a:t>´</a:t>
              </a:r>
              <a:endParaRPr lang="en-US" altLang="zh-CN">
                <a:cs typeface="Arial" panose="020B0604020202020204" pitchFamily="34" charset="0"/>
              </a:endParaRPr>
            </a:p>
          </p:txBody>
        </p:sp>
        <p:sp>
          <p:nvSpPr>
            <p:cNvPr id="30787" name="Rectangle 66">
              <a:extLst>
                <a:ext uri="{FF2B5EF4-FFF2-40B4-BE49-F238E27FC236}">
                  <a16:creationId xmlns:a16="http://schemas.microsoft.com/office/drawing/2014/main" id="{D6D99911-26DE-C272-E150-98213BC37782}"/>
                </a:ext>
              </a:extLst>
            </p:cNvPr>
            <p:cNvSpPr>
              <a:spLocks noChangeArrowheads="1"/>
            </p:cNvSpPr>
            <p:nvPr/>
          </p:nvSpPr>
          <p:spPr bwMode="auto">
            <a:xfrm>
              <a:off x="3611"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788" name="Rectangle 67">
              <a:extLst>
                <a:ext uri="{FF2B5EF4-FFF2-40B4-BE49-F238E27FC236}">
                  <a16:creationId xmlns:a16="http://schemas.microsoft.com/office/drawing/2014/main" id="{BC6F4A64-AEA7-4B0C-F859-23D5D9F2E443}"/>
                </a:ext>
              </a:extLst>
            </p:cNvPr>
            <p:cNvSpPr>
              <a:spLocks noChangeArrowheads="1"/>
            </p:cNvSpPr>
            <p:nvPr/>
          </p:nvSpPr>
          <p:spPr bwMode="auto">
            <a:xfrm>
              <a:off x="3744" y="1669"/>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89" name="Rectangle 68">
              <a:extLst>
                <a:ext uri="{FF2B5EF4-FFF2-40B4-BE49-F238E27FC236}">
                  <a16:creationId xmlns:a16="http://schemas.microsoft.com/office/drawing/2014/main" id="{CC1B5310-DF06-775B-C11A-9075E6FB1752}"/>
                </a:ext>
              </a:extLst>
            </p:cNvPr>
            <p:cNvSpPr>
              <a:spLocks noChangeArrowheads="1"/>
            </p:cNvSpPr>
            <p:nvPr/>
          </p:nvSpPr>
          <p:spPr bwMode="auto">
            <a:xfrm>
              <a:off x="3773" y="166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6</a:t>
              </a:r>
              <a:endParaRPr lang="en-US" altLang="zh-CN">
                <a:cs typeface="Arial" panose="020B0604020202020204" pitchFamily="34" charset="0"/>
              </a:endParaRPr>
            </a:p>
          </p:txBody>
        </p:sp>
        <p:sp>
          <p:nvSpPr>
            <p:cNvPr id="30790" name="Rectangle 69">
              <a:extLst>
                <a:ext uri="{FF2B5EF4-FFF2-40B4-BE49-F238E27FC236}">
                  <a16:creationId xmlns:a16="http://schemas.microsoft.com/office/drawing/2014/main" id="{12F9EDA1-7B23-221F-36F8-79A670980E57}"/>
                </a:ext>
              </a:extLst>
            </p:cNvPr>
            <p:cNvSpPr>
              <a:spLocks noChangeArrowheads="1"/>
            </p:cNvSpPr>
            <p:nvPr/>
          </p:nvSpPr>
          <p:spPr bwMode="auto">
            <a:xfrm>
              <a:off x="3851"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Pa</a:t>
              </a:r>
              <a:endParaRPr lang="en-US" altLang="zh-CN">
                <a:cs typeface="Arial" panose="020B0604020202020204" pitchFamily="34" charset="0"/>
              </a:endParaRPr>
            </a:p>
          </p:txBody>
        </p:sp>
        <p:sp>
          <p:nvSpPr>
            <p:cNvPr id="30791" name="Rectangle 70">
              <a:extLst>
                <a:ext uri="{FF2B5EF4-FFF2-40B4-BE49-F238E27FC236}">
                  <a16:creationId xmlns:a16="http://schemas.microsoft.com/office/drawing/2014/main" id="{DEDAA3B9-21D6-A6C3-B8DF-0412D07F18F6}"/>
                </a:ext>
              </a:extLst>
            </p:cNvPr>
            <p:cNvSpPr>
              <a:spLocks noChangeArrowheads="1"/>
            </p:cNvSpPr>
            <p:nvPr/>
          </p:nvSpPr>
          <p:spPr bwMode="auto">
            <a:xfrm>
              <a:off x="1660" y="1622"/>
              <a:ext cx="1109" cy="304"/>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92" name="Rectangle 71">
              <a:extLst>
                <a:ext uri="{FF2B5EF4-FFF2-40B4-BE49-F238E27FC236}">
                  <a16:creationId xmlns:a16="http://schemas.microsoft.com/office/drawing/2014/main" id="{5E433159-22C3-432F-6BD8-16BEF533DFBA}"/>
                </a:ext>
              </a:extLst>
            </p:cNvPr>
            <p:cNvSpPr>
              <a:spLocks noChangeArrowheads="1"/>
            </p:cNvSpPr>
            <p:nvPr/>
          </p:nvSpPr>
          <p:spPr bwMode="auto">
            <a:xfrm>
              <a:off x="1816" y="1663"/>
              <a:ext cx="26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a:t>
              </a:r>
              <a:endParaRPr lang="en-US" altLang="zh-CN">
                <a:cs typeface="Arial" panose="020B0604020202020204" pitchFamily="34" charset="0"/>
              </a:endParaRPr>
            </a:p>
          </p:txBody>
        </p:sp>
        <p:sp>
          <p:nvSpPr>
            <p:cNvPr id="30793" name="Rectangle 72">
              <a:extLst>
                <a:ext uri="{FF2B5EF4-FFF2-40B4-BE49-F238E27FC236}">
                  <a16:creationId xmlns:a16="http://schemas.microsoft.com/office/drawing/2014/main" id="{238A3C29-23B8-6499-F04E-9F37D9AB5BB1}"/>
                </a:ext>
              </a:extLst>
            </p:cNvPr>
            <p:cNvSpPr>
              <a:spLocks noChangeArrowheads="1"/>
            </p:cNvSpPr>
            <p:nvPr/>
          </p:nvSpPr>
          <p:spPr bwMode="auto">
            <a:xfrm>
              <a:off x="2048" y="166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794" name="Rectangle 73">
              <a:extLst>
                <a:ext uri="{FF2B5EF4-FFF2-40B4-BE49-F238E27FC236}">
                  <a16:creationId xmlns:a16="http://schemas.microsoft.com/office/drawing/2014/main" id="{A9A3A280-3716-1226-58C2-744473286BAA}"/>
                </a:ext>
              </a:extLst>
            </p:cNvPr>
            <p:cNvSpPr>
              <a:spLocks noChangeArrowheads="1"/>
            </p:cNvSpPr>
            <p:nvPr/>
          </p:nvSpPr>
          <p:spPr bwMode="auto">
            <a:xfrm>
              <a:off x="2148" y="1663"/>
              <a:ext cx="53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0.133 Pa</a:t>
              </a:r>
              <a:endParaRPr lang="en-US" altLang="zh-CN">
                <a:cs typeface="Arial" panose="020B0604020202020204" pitchFamily="34" charset="0"/>
              </a:endParaRPr>
            </a:p>
          </p:txBody>
        </p:sp>
        <p:sp>
          <p:nvSpPr>
            <p:cNvPr id="30795" name="Rectangle 74">
              <a:extLst>
                <a:ext uri="{FF2B5EF4-FFF2-40B4-BE49-F238E27FC236}">
                  <a16:creationId xmlns:a16="http://schemas.microsoft.com/office/drawing/2014/main" id="{4076D714-1860-87BD-8FB8-9991A1A04A93}"/>
                </a:ext>
              </a:extLst>
            </p:cNvPr>
            <p:cNvSpPr>
              <a:spLocks noChangeArrowheads="1"/>
            </p:cNvSpPr>
            <p:nvPr/>
          </p:nvSpPr>
          <p:spPr bwMode="auto">
            <a:xfrm>
              <a:off x="463" y="1622"/>
              <a:ext cx="1197" cy="30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796" name="Rectangle 75">
              <a:extLst>
                <a:ext uri="{FF2B5EF4-FFF2-40B4-BE49-F238E27FC236}">
                  <a16:creationId xmlns:a16="http://schemas.microsoft.com/office/drawing/2014/main" id="{F9B515A1-2503-70C0-AC74-2D1E6A4AD040}"/>
                </a:ext>
              </a:extLst>
            </p:cNvPr>
            <p:cNvSpPr>
              <a:spLocks noChangeArrowheads="1"/>
            </p:cNvSpPr>
            <p:nvPr/>
          </p:nvSpPr>
          <p:spPr bwMode="auto">
            <a:xfrm>
              <a:off x="570" y="1666"/>
              <a:ext cx="26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1.01</a:t>
              </a:r>
              <a:endParaRPr lang="en-US" altLang="zh-CN">
                <a:cs typeface="Arial" panose="020B0604020202020204" pitchFamily="34" charset="0"/>
              </a:endParaRPr>
            </a:p>
          </p:txBody>
        </p:sp>
        <p:sp>
          <p:nvSpPr>
            <p:cNvPr id="30797" name="Rectangle 76">
              <a:extLst>
                <a:ext uri="{FF2B5EF4-FFF2-40B4-BE49-F238E27FC236}">
                  <a16:creationId xmlns:a16="http://schemas.microsoft.com/office/drawing/2014/main" id="{072D1A39-991F-692B-D023-5C7F42D227FF}"/>
                </a:ext>
              </a:extLst>
            </p:cNvPr>
            <p:cNvSpPr>
              <a:spLocks noChangeArrowheads="1"/>
            </p:cNvSpPr>
            <p:nvPr/>
          </p:nvSpPr>
          <p:spPr bwMode="auto">
            <a:xfrm>
              <a:off x="803" y="164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Symbol" panose="05050102010706020507" pitchFamily="18" charset="2"/>
                  <a:cs typeface="Arial" panose="020B0604020202020204" pitchFamily="34" charset="0"/>
                </a:rPr>
                <a:t>´</a:t>
              </a:r>
              <a:endParaRPr lang="en-US" altLang="zh-CN">
                <a:cs typeface="Arial" panose="020B0604020202020204" pitchFamily="34" charset="0"/>
              </a:endParaRPr>
            </a:p>
          </p:txBody>
        </p:sp>
        <p:sp>
          <p:nvSpPr>
            <p:cNvPr id="30798" name="Rectangle 77">
              <a:extLst>
                <a:ext uri="{FF2B5EF4-FFF2-40B4-BE49-F238E27FC236}">
                  <a16:creationId xmlns:a16="http://schemas.microsoft.com/office/drawing/2014/main" id="{39A443B2-2503-C3C0-117D-3984ADF40770}"/>
                </a:ext>
              </a:extLst>
            </p:cNvPr>
            <p:cNvSpPr>
              <a:spLocks noChangeArrowheads="1"/>
            </p:cNvSpPr>
            <p:nvPr/>
          </p:nvSpPr>
          <p:spPr bwMode="auto">
            <a:xfrm>
              <a:off x="876"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799" name="Rectangle 78">
              <a:extLst>
                <a:ext uri="{FF2B5EF4-FFF2-40B4-BE49-F238E27FC236}">
                  <a16:creationId xmlns:a16="http://schemas.microsoft.com/office/drawing/2014/main" id="{45CD4399-6FA2-6386-2651-2811D0B94A95}"/>
                </a:ext>
              </a:extLst>
            </p:cNvPr>
            <p:cNvSpPr>
              <a:spLocks noChangeArrowheads="1"/>
            </p:cNvSpPr>
            <p:nvPr/>
          </p:nvSpPr>
          <p:spPr bwMode="auto">
            <a:xfrm>
              <a:off x="1009" y="166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5</a:t>
              </a:r>
              <a:endParaRPr lang="en-US" altLang="zh-CN">
                <a:cs typeface="Arial" panose="020B0604020202020204" pitchFamily="34" charset="0"/>
              </a:endParaRPr>
            </a:p>
          </p:txBody>
        </p:sp>
        <p:sp>
          <p:nvSpPr>
            <p:cNvPr id="30800" name="Rectangle 79">
              <a:extLst>
                <a:ext uri="{FF2B5EF4-FFF2-40B4-BE49-F238E27FC236}">
                  <a16:creationId xmlns:a16="http://schemas.microsoft.com/office/drawing/2014/main" id="{3EF77AEC-0BFA-8DB6-A779-3559DF41A04A}"/>
                </a:ext>
              </a:extLst>
            </p:cNvPr>
            <p:cNvSpPr>
              <a:spLocks noChangeArrowheads="1"/>
            </p:cNvSpPr>
            <p:nvPr/>
          </p:nvSpPr>
          <p:spPr bwMode="auto">
            <a:xfrm>
              <a:off x="1087" y="166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01" name="Rectangle 80">
              <a:extLst>
                <a:ext uri="{FF2B5EF4-FFF2-40B4-BE49-F238E27FC236}">
                  <a16:creationId xmlns:a16="http://schemas.microsoft.com/office/drawing/2014/main" id="{B7D545FF-ECBF-DE98-C2EA-003C529FA619}"/>
                </a:ext>
              </a:extLst>
            </p:cNvPr>
            <p:cNvSpPr>
              <a:spLocks noChangeArrowheads="1"/>
            </p:cNvSpPr>
            <p:nvPr/>
          </p:nvSpPr>
          <p:spPr bwMode="auto">
            <a:xfrm>
              <a:off x="1186" y="1666"/>
              <a:ext cx="41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Pa</a:t>
              </a:r>
              <a:endParaRPr lang="en-US" altLang="zh-CN">
                <a:cs typeface="Arial" panose="020B0604020202020204" pitchFamily="34" charset="0"/>
              </a:endParaRPr>
            </a:p>
          </p:txBody>
        </p:sp>
        <p:sp>
          <p:nvSpPr>
            <p:cNvPr id="30802" name="Rectangle 81">
              <a:extLst>
                <a:ext uri="{FF2B5EF4-FFF2-40B4-BE49-F238E27FC236}">
                  <a16:creationId xmlns:a16="http://schemas.microsoft.com/office/drawing/2014/main" id="{B47D0D15-AE81-BCA9-976F-83ACFC931A56}"/>
                </a:ext>
              </a:extLst>
            </p:cNvPr>
            <p:cNvSpPr>
              <a:spLocks noChangeArrowheads="1"/>
            </p:cNvSpPr>
            <p:nvPr/>
          </p:nvSpPr>
          <p:spPr bwMode="auto">
            <a:xfrm>
              <a:off x="1660" y="1016"/>
              <a:ext cx="1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03" name="Rectangle 82">
              <a:extLst>
                <a:ext uri="{FF2B5EF4-FFF2-40B4-BE49-F238E27FC236}">
                  <a16:creationId xmlns:a16="http://schemas.microsoft.com/office/drawing/2014/main" id="{9D234B01-8269-9643-C7FA-F098C141131C}"/>
                </a:ext>
              </a:extLst>
            </p:cNvPr>
            <p:cNvSpPr>
              <a:spLocks noChangeArrowheads="1"/>
            </p:cNvSpPr>
            <p:nvPr/>
          </p:nvSpPr>
          <p:spPr bwMode="auto">
            <a:xfrm>
              <a:off x="1815" y="1058"/>
              <a:ext cx="91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Fine Vacuum</a:t>
              </a:r>
              <a:endParaRPr lang="en-US" altLang="zh-CN">
                <a:cs typeface="Arial" panose="020B0604020202020204" pitchFamily="34" charset="0"/>
              </a:endParaRPr>
            </a:p>
          </p:txBody>
        </p:sp>
        <p:sp>
          <p:nvSpPr>
            <p:cNvPr id="30804" name="Rectangle 83">
              <a:extLst>
                <a:ext uri="{FF2B5EF4-FFF2-40B4-BE49-F238E27FC236}">
                  <a16:creationId xmlns:a16="http://schemas.microsoft.com/office/drawing/2014/main" id="{383E7C3A-F93B-5F79-9A9B-26753B75148A}"/>
                </a:ext>
              </a:extLst>
            </p:cNvPr>
            <p:cNvSpPr>
              <a:spLocks noChangeArrowheads="1"/>
            </p:cNvSpPr>
            <p:nvPr/>
          </p:nvSpPr>
          <p:spPr bwMode="auto">
            <a:xfrm>
              <a:off x="463" y="1016"/>
              <a:ext cx="119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05" name="Rectangle 84">
              <a:extLst>
                <a:ext uri="{FF2B5EF4-FFF2-40B4-BE49-F238E27FC236}">
                  <a16:creationId xmlns:a16="http://schemas.microsoft.com/office/drawing/2014/main" id="{082A429D-BCC3-4152-968D-D802236A916E}"/>
                </a:ext>
              </a:extLst>
            </p:cNvPr>
            <p:cNvSpPr>
              <a:spLocks noChangeArrowheads="1"/>
            </p:cNvSpPr>
            <p:nvPr/>
          </p:nvSpPr>
          <p:spPr bwMode="auto">
            <a:xfrm>
              <a:off x="595" y="1058"/>
              <a:ext cx="106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Rough Vacuum</a:t>
              </a:r>
              <a:endParaRPr lang="en-US" altLang="zh-CN">
                <a:cs typeface="Arial" panose="020B0604020202020204" pitchFamily="34" charset="0"/>
              </a:endParaRPr>
            </a:p>
          </p:txBody>
        </p:sp>
        <p:sp>
          <p:nvSpPr>
            <p:cNvPr id="30806" name="Rectangle 85">
              <a:extLst>
                <a:ext uri="{FF2B5EF4-FFF2-40B4-BE49-F238E27FC236}">
                  <a16:creationId xmlns:a16="http://schemas.microsoft.com/office/drawing/2014/main" id="{BC87B7B2-A5FB-0D40-416D-9BE41F6AB9D1}"/>
                </a:ext>
              </a:extLst>
            </p:cNvPr>
            <p:cNvSpPr>
              <a:spLocks noChangeArrowheads="1"/>
            </p:cNvSpPr>
            <p:nvPr/>
          </p:nvSpPr>
          <p:spPr bwMode="auto">
            <a:xfrm>
              <a:off x="4055" y="679"/>
              <a:ext cx="1332"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07" name="Rectangle 86">
              <a:extLst>
                <a:ext uri="{FF2B5EF4-FFF2-40B4-BE49-F238E27FC236}">
                  <a16:creationId xmlns:a16="http://schemas.microsoft.com/office/drawing/2014/main" id="{3C8356CC-5C66-6AED-A36B-E59B8A10E807}"/>
                </a:ext>
              </a:extLst>
            </p:cNvPr>
            <p:cNvSpPr>
              <a:spLocks noChangeArrowheads="1"/>
            </p:cNvSpPr>
            <p:nvPr/>
          </p:nvSpPr>
          <p:spPr bwMode="auto">
            <a:xfrm>
              <a:off x="4125" y="721"/>
              <a:ext cx="13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ULTRA VACUUM</a:t>
              </a:r>
              <a:endParaRPr lang="en-US" altLang="zh-CN">
                <a:cs typeface="Arial" panose="020B0604020202020204" pitchFamily="34" charset="0"/>
              </a:endParaRPr>
            </a:p>
          </p:txBody>
        </p:sp>
        <p:sp>
          <p:nvSpPr>
            <p:cNvPr id="30808" name="Rectangle 87">
              <a:extLst>
                <a:ext uri="{FF2B5EF4-FFF2-40B4-BE49-F238E27FC236}">
                  <a16:creationId xmlns:a16="http://schemas.microsoft.com/office/drawing/2014/main" id="{5F8D565D-58D7-C96D-AAA5-30DD4E99D49A}"/>
                </a:ext>
              </a:extLst>
            </p:cNvPr>
            <p:cNvSpPr>
              <a:spLocks noChangeArrowheads="1"/>
            </p:cNvSpPr>
            <p:nvPr/>
          </p:nvSpPr>
          <p:spPr bwMode="auto">
            <a:xfrm>
              <a:off x="2769" y="679"/>
              <a:ext cx="1287"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09" name="Rectangle 88">
              <a:extLst>
                <a:ext uri="{FF2B5EF4-FFF2-40B4-BE49-F238E27FC236}">
                  <a16:creationId xmlns:a16="http://schemas.microsoft.com/office/drawing/2014/main" id="{987B1DDE-81F1-A83A-B3AE-F0DBF86E960E}"/>
                </a:ext>
              </a:extLst>
            </p:cNvPr>
            <p:cNvSpPr>
              <a:spLocks noChangeArrowheads="1"/>
            </p:cNvSpPr>
            <p:nvPr/>
          </p:nvSpPr>
          <p:spPr bwMode="auto">
            <a:xfrm>
              <a:off x="2879" y="721"/>
              <a:ext cx="120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HIGH VACUUM</a:t>
              </a:r>
              <a:endParaRPr lang="en-US" altLang="zh-CN">
                <a:cs typeface="Arial" panose="020B0604020202020204" pitchFamily="34" charset="0"/>
              </a:endParaRPr>
            </a:p>
          </p:txBody>
        </p:sp>
        <p:sp>
          <p:nvSpPr>
            <p:cNvPr id="30810" name="Rectangle 89">
              <a:extLst>
                <a:ext uri="{FF2B5EF4-FFF2-40B4-BE49-F238E27FC236}">
                  <a16:creationId xmlns:a16="http://schemas.microsoft.com/office/drawing/2014/main" id="{74AE1B43-C877-99A3-703F-0F7A6C6D357C}"/>
                </a:ext>
              </a:extLst>
            </p:cNvPr>
            <p:cNvSpPr>
              <a:spLocks noChangeArrowheads="1"/>
            </p:cNvSpPr>
            <p:nvPr/>
          </p:nvSpPr>
          <p:spPr bwMode="auto">
            <a:xfrm>
              <a:off x="463" y="679"/>
              <a:ext cx="230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11" name="Rectangle 90">
              <a:extLst>
                <a:ext uri="{FF2B5EF4-FFF2-40B4-BE49-F238E27FC236}">
                  <a16:creationId xmlns:a16="http://schemas.microsoft.com/office/drawing/2014/main" id="{73CCE491-1B2D-3CC2-A01D-03BBDAEDD995}"/>
                </a:ext>
              </a:extLst>
            </p:cNvPr>
            <p:cNvSpPr>
              <a:spLocks noChangeArrowheads="1"/>
            </p:cNvSpPr>
            <p:nvPr/>
          </p:nvSpPr>
          <p:spPr bwMode="auto">
            <a:xfrm>
              <a:off x="1100" y="721"/>
              <a:ext cx="1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LOW VACUUM</a:t>
              </a:r>
              <a:endParaRPr lang="en-US" altLang="zh-CN">
                <a:cs typeface="Arial" panose="020B0604020202020204" pitchFamily="34" charset="0"/>
              </a:endParaRPr>
            </a:p>
          </p:txBody>
        </p:sp>
        <p:sp>
          <p:nvSpPr>
            <p:cNvPr id="30812" name="Rectangle 91">
              <a:extLst>
                <a:ext uri="{FF2B5EF4-FFF2-40B4-BE49-F238E27FC236}">
                  <a16:creationId xmlns:a16="http://schemas.microsoft.com/office/drawing/2014/main" id="{9D7B7E7B-466C-8445-B0F2-09D7F36CE0B2}"/>
                </a:ext>
              </a:extLst>
            </p:cNvPr>
            <p:cNvSpPr>
              <a:spLocks noChangeArrowheads="1"/>
            </p:cNvSpPr>
            <p:nvPr/>
          </p:nvSpPr>
          <p:spPr bwMode="auto">
            <a:xfrm>
              <a:off x="455" y="669"/>
              <a:ext cx="4939"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13" name="Line 92">
              <a:extLst>
                <a:ext uri="{FF2B5EF4-FFF2-40B4-BE49-F238E27FC236}">
                  <a16:creationId xmlns:a16="http://schemas.microsoft.com/office/drawing/2014/main" id="{99F1B805-62EC-FA46-225C-A5AEB69EE48D}"/>
                </a:ext>
              </a:extLst>
            </p:cNvPr>
            <p:cNvSpPr>
              <a:spLocks noChangeShapeType="1"/>
            </p:cNvSpPr>
            <p:nvPr/>
          </p:nvSpPr>
          <p:spPr bwMode="auto">
            <a:xfrm>
              <a:off x="463" y="1016"/>
              <a:ext cx="2306"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14" name="Line 93">
              <a:extLst>
                <a:ext uri="{FF2B5EF4-FFF2-40B4-BE49-F238E27FC236}">
                  <a16:creationId xmlns:a16="http://schemas.microsoft.com/office/drawing/2014/main" id="{CBC36D1B-4C89-4435-DCE6-19A2199F1508}"/>
                </a:ext>
              </a:extLst>
            </p:cNvPr>
            <p:cNvSpPr>
              <a:spLocks noChangeShapeType="1"/>
            </p:cNvSpPr>
            <p:nvPr/>
          </p:nvSpPr>
          <p:spPr bwMode="auto">
            <a:xfrm>
              <a:off x="463" y="131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15" name="Line 94">
              <a:extLst>
                <a:ext uri="{FF2B5EF4-FFF2-40B4-BE49-F238E27FC236}">
                  <a16:creationId xmlns:a16="http://schemas.microsoft.com/office/drawing/2014/main" id="{680255EE-086A-8087-7763-C4159315545C}"/>
                </a:ext>
              </a:extLst>
            </p:cNvPr>
            <p:cNvSpPr>
              <a:spLocks noChangeShapeType="1"/>
            </p:cNvSpPr>
            <p:nvPr/>
          </p:nvSpPr>
          <p:spPr bwMode="auto">
            <a:xfrm>
              <a:off x="463" y="1926"/>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16" name="Rectangle 95">
              <a:extLst>
                <a:ext uri="{FF2B5EF4-FFF2-40B4-BE49-F238E27FC236}">
                  <a16:creationId xmlns:a16="http://schemas.microsoft.com/office/drawing/2014/main" id="{AC4151CC-F6FB-0CF3-DC48-6A3267AE26A6}"/>
                </a:ext>
              </a:extLst>
            </p:cNvPr>
            <p:cNvSpPr>
              <a:spLocks noChangeArrowheads="1"/>
            </p:cNvSpPr>
            <p:nvPr/>
          </p:nvSpPr>
          <p:spPr bwMode="auto">
            <a:xfrm>
              <a:off x="455" y="3803"/>
              <a:ext cx="4939"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17" name="Rectangle 96">
              <a:extLst>
                <a:ext uri="{FF2B5EF4-FFF2-40B4-BE49-F238E27FC236}">
                  <a16:creationId xmlns:a16="http://schemas.microsoft.com/office/drawing/2014/main" id="{3DB11D09-7547-E73D-D595-71B09AED6CAD}"/>
                </a:ext>
              </a:extLst>
            </p:cNvPr>
            <p:cNvSpPr>
              <a:spLocks noChangeArrowheads="1"/>
            </p:cNvSpPr>
            <p:nvPr/>
          </p:nvSpPr>
          <p:spPr bwMode="auto">
            <a:xfrm>
              <a:off x="455" y="669"/>
              <a:ext cx="16" cy="3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18" name="Line 97">
              <a:extLst>
                <a:ext uri="{FF2B5EF4-FFF2-40B4-BE49-F238E27FC236}">
                  <a16:creationId xmlns:a16="http://schemas.microsoft.com/office/drawing/2014/main" id="{C9F61387-C2F9-539D-073F-2461D7AF2CD5}"/>
                </a:ext>
              </a:extLst>
            </p:cNvPr>
            <p:cNvSpPr>
              <a:spLocks noChangeShapeType="1"/>
            </p:cNvSpPr>
            <p:nvPr/>
          </p:nvSpPr>
          <p:spPr bwMode="auto">
            <a:xfrm>
              <a:off x="2769" y="679"/>
              <a:ext cx="1" cy="3134"/>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19" name="Line 98">
              <a:extLst>
                <a:ext uri="{FF2B5EF4-FFF2-40B4-BE49-F238E27FC236}">
                  <a16:creationId xmlns:a16="http://schemas.microsoft.com/office/drawing/2014/main" id="{ADA18DB3-3F24-8709-8C3E-A252DF670565}"/>
                </a:ext>
              </a:extLst>
            </p:cNvPr>
            <p:cNvSpPr>
              <a:spLocks noChangeShapeType="1"/>
            </p:cNvSpPr>
            <p:nvPr/>
          </p:nvSpPr>
          <p:spPr bwMode="auto">
            <a:xfrm>
              <a:off x="4055" y="679"/>
              <a:ext cx="1" cy="215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0" name="Rectangle 99">
              <a:extLst>
                <a:ext uri="{FF2B5EF4-FFF2-40B4-BE49-F238E27FC236}">
                  <a16:creationId xmlns:a16="http://schemas.microsoft.com/office/drawing/2014/main" id="{42D4DD75-C11A-FB91-9C93-EFED3BB2F6DA}"/>
                </a:ext>
              </a:extLst>
            </p:cNvPr>
            <p:cNvSpPr>
              <a:spLocks noChangeArrowheads="1"/>
            </p:cNvSpPr>
            <p:nvPr/>
          </p:nvSpPr>
          <p:spPr bwMode="auto">
            <a:xfrm>
              <a:off x="5377" y="669"/>
              <a:ext cx="17" cy="3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21" name="Line 100">
              <a:extLst>
                <a:ext uri="{FF2B5EF4-FFF2-40B4-BE49-F238E27FC236}">
                  <a16:creationId xmlns:a16="http://schemas.microsoft.com/office/drawing/2014/main" id="{0B602755-00C0-06B7-452F-88EFD9873B6D}"/>
                </a:ext>
              </a:extLst>
            </p:cNvPr>
            <p:cNvSpPr>
              <a:spLocks noChangeShapeType="1"/>
            </p:cNvSpPr>
            <p:nvPr/>
          </p:nvSpPr>
          <p:spPr bwMode="auto">
            <a:xfrm>
              <a:off x="463" y="1622"/>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2" name="Line 101">
              <a:extLst>
                <a:ext uri="{FF2B5EF4-FFF2-40B4-BE49-F238E27FC236}">
                  <a16:creationId xmlns:a16="http://schemas.microsoft.com/office/drawing/2014/main" id="{69719042-C1EE-FBEA-1F15-3A2C87889EC1}"/>
                </a:ext>
              </a:extLst>
            </p:cNvPr>
            <p:cNvSpPr>
              <a:spLocks noChangeShapeType="1"/>
            </p:cNvSpPr>
            <p:nvPr/>
          </p:nvSpPr>
          <p:spPr bwMode="auto">
            <a:xfrm>
              <a:off x="1660" y="1016"/>
              <a:ext cx="1" cy="1819"/>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3" name="Line 102">
              <a:extLst>
                <a:ext uri="{FF2B5EF4-FFF2-40B4-BE49-F238E27FC236}">
                  <a16:creationId xmlns:a16="http://schemas.microsoft.com/office/drawing/2014/main" id="{0C7C529C-7EC3-EC35-7983-65B40CEC6819}"/>
                </a:ext>
              </a:extLst>
            </p:cNvPr>
            <p:cNvSpPr>
              <a:spLocks noChangeShapeType="1"/>
            </p:cNvSpPr>
            <p:nvPr/>
          </p:nvSpPr>
          <p:spPr bwMode="auto">
            <a:xfrm>
              <a:off x="463" y="222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4" name="Line 103">
              <a:extLst>
                <a:ext uri="{FF2B5EF4-FFF2-40B4-BE49-F238E27FC236}">
                  <a16:creationId xmlns:a16="http://schemas.microsoft.com/office/drawing/2014/main" id="{39B42F37-E3F4-81FC-BB23-57BB31C42115}"/>
                </a:ext>
              </a:extLst>
            </p:cNvPr>
            <p:cNvSpPr>
              <a:spLocks noChangeShapeType="1"/>
            </p:cNvSpPr>
            <p:nvPr/>
          </p:nvSpPr>
          <p:spPr bwMode="auto">
            <a:xfrm>
              <a:off x="463" y="2532"/>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5" name="Line 104">
              <a:extLst>
                <a:ext uri="{FF2B5EF4-FFF2-40B4-BE49-F238E27FC236}">
                  <a16:creationId xmlns:a16="http://schemas.microsoft.com/office/drawing/2014/main" id="{A99D0BC1-8553-2184-81AB-EA22C6DB69B0}"/>
                </a:ext>
              </a:extLst>
            </p:cNvPr>
            <p:cNvSpPr>
              <a:spLocks noChangeShapeType="1"/>
            </p:cNvSpPr>
            <p:nvPr/>
          </p:nvSpPr>
          <p:spPr bwMode="auto">
            <a:xfrm>
              <a:off x="463" y="313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6" name="Line 105">
              <a:extLst>
                <a:ext uri="{FF2B5EF4-FFF2-40B4-BE49-F238E27FC236}">
                  <a16:creationId xmlns:a16="http://schemas.microsoft.com/office/drawing/2014/main" id="{3939E33D-C9D2-5321-781C-4CFAA4BB0EF2}"/>
                </a:ext>
              </a:extLst>
            </p:cNvPr>
            <p:cNvSpPr>
              <a:spLocks noChangeShapeType="1"/>
            </p:cNvSpPr>
            <p:nvPr/>
          </p:nvSpPr>
          <p:spPr bwMode="auto">
            <a:xfrm>
              <a:off x="463" y="2835"/>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7" name="Line 106">
              <a:extLst>
                <a:ext uri="{FF2B5EF4-FFF2-40B4-BE49-F238E27FC236}">
                  <a16:creationId xmlns:a16="http://schemas.microsoft.com/office/drawing/2014/main" id="{58255424-9524-3E17-8B7E-1B8229A6ED2D}"/>
                </a:ext>
              </a:extLst>
            </p:cNvPr>
            <p:cNvSpPr>
              <a:spLocks noChangeShapeType="1"/>
            </p:cNvSpPr>
            <p:nvPr/>
          </p:nvSpPr>
          <p:spPr bwMode="auto">
            <a:xfrm>
              <a:off x="4055" y="3139"/>
              <a:ext cx="1" cy="674"/>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828" name="Rectangle 107">
              <a:extLst>
                <a:ext uri="{FF2B5EF4-FFF2-40B4-BE49-F238E27FC236}">
                  <a16:creationId xmlns:a16="http://schemas.microsoft.com/office/drawing/2014/main" id="{73420B6D-4D0E-ABA9-5FF5-014D755F4039}"/>
                </a:ext>
              </a:extLst>
            </p:cNvPr>
            <p:cNvSpPr>
              <a:spLocks noChangeArrowheads="1"/>
            </p:cNvSpPr>
            <p:nvPr/>
          </p:nvSpPr>
          <p:spPr bwMode="auto">
            <a:xfrm>
              <a:off x="2769" y="2835"/>
              <a:ext cx="2618"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29" name="Rectangle 108">
              <a:extLst>
                <a:ext uri="{FF2B5EF4-FFF2-40B4-BE49-F238E27FC236}">
                  <a16:creationId xmlns:a16="http://schemas.microsoft.com/office/drawing/2014/main" id="{86D7E430-BD55-9FAA-AF52-DAC2F5C61AA7}"/>
                </a:ext>
              </a:extLst>
            </p:cNvPr>
            <p:cNvSpPr>
              <a:spLocks noChangeArrowheads="1"/>
            </p:cNvSpPr>
            <p:nvPr/>
          </p:nvSpPr>
          <p:spPr bwMode="auto">
            <a:xfrm>
              <a:off x="3031" y="2878"/>
              <a:ext cx="243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Intermediate and Surface Processes </a:t>
              </a:r>
              <a:endParaRPr lang="en-US" altLang="zh-CN">
                <a:cs typeface="Arial" panose="020B0604020202020204" pitchFamily="34" charset="0"/>
              </a:endParaRPr>
            </a:p>
          </p:txBody>
        </p:sp>
        <p:sp>
          <p:nvSpPr>
            <p:cNvPr id="30830" name="Rectangle 109">
              <a:extLst>
                <a:ext uri="{FF2B5EF4-FFF2-40B4-BE49-F238E27FC236}">
                  <a16:creationId xmlns:a16="http://schemas.microsoft.com/office/drawing/2014/main" id="{E563A2B1-132A-115B-75EB-8B001990F4E4}"/>
                </a:ext>
              </a:extLst>
            </p:cNvPr>
            <p:cNvSpPr>
              <a:spLocks noChangeArrowheads="1"/>
            </p:cNvSpPr>
            <p:nvPr/>
          </p:nvSpPr>
          <p:spPr bwMode="auto">
            <a:xfrm>
              <a:off x="463" y="2835"/>
              <a:ext cx="2307"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31" name="Rectangle 110">
              <a:extLst>
                <a:ext uri="{FF2B5EF4-FFF2-40B4-BE49-F238E27FC236}">
                  <a16:creationId xmlns:a16="http://schemas.microsoft.com/office/drawing/2014/main" id="{13EF181D-9E25-234E-6644-D9F3B603B5EB}"/>
                </a:ext>
              </a:extLst>
            </p:cNvPr>
            <p:cNvSpPr>
              <a:spLocks noChangeArrowheads="1"/>
            </p:cNvSpPr>
            <p:nvPr/>
          </p:nvSpPr>
          <p:spPr bwMode="auto">
            <a:xfrm>
              <a:off x="1073" y="2878"/>
              <a:ext cx="123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Volume Processes</a:t>
              </a:r>
              <a:endParaRPr lang="en-US" altLang="zh-CN">
                <a:cs typeface="Arial" panose="020B0604020202020204" pitchFamily="34" charset="0"/>
              </a:endParaRPr>
            </a:p>
          </p:txBody>
        </p:sp>
        <p:sp>
          <p:nvSpPr>
            <p:cNvPr id="30832" name="Rectangle 111">
              <a:extLst>
                <a:ext uri="{FF2B5EF4-FFF2-40B4-BE49-F238E27FC236}">
                  <a16:creationId xmlns:a16="http://schemas.microsoft.com/office/drawing/2014/main" id="{CBC0F449-40F2-D7F6-99AC-883FB139779E}"/>
                </a:ext>
              </a:extLst>
            </p:cNvPr>
            <p:cNvSpPr>
              <a:spLocks noChangeArrowheads="1"/>
            </p:cNvSpPr>
            <p:nvPr/>
          </p:nvSpPr>
          <p:spPr bwMode="auto">
            <a:xfrm>
              <a:off x="4055" y="2229"/>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33" name="Rectangle 112">
              <a:extLst>
                <a:ext uri="{FF2B5EF4-FFF2-40B4-BE49-F238E27FC236}">
                  <a16:creationId xmlns:a16="http://schemas.microsoft.com/office/drawing/2014/main" id="{8C75C148-DBBE-08EB-84AE-A936B8FBAD50}"/>
                </a:ext>
              </a:extLst>
            </p:cNvPr>
            <p:cNvSpPr>
              <a:spLocks noChangeArrowheads="1"/>
            </p:cNvSpPr>
            <p:nvPr/>
          </p:nvSpPr>
          <p:spPr bwMode="auto">
            <a:xfrm>
              <a:off x="4543"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834" name="Rectangle 113">
              <a:extLst>
                <a:ext uri="{FF2B5EF4-FFF2-40B4-BE49-F238E27FC236}">
                  <a16:creationId xmlns:a16="http://schemas.microsoft.com/office/drawing/2014/main" id="{BBD8161D-D3BF-03CC-EA26-3041C2FC5E70}"/>
                </a:ext>
              </a:extLst>
            </p:cNvPr>
            <p:cNvSpPr>
              <a:spLocks noChangeArrowheads="1"/>
            </p:cNvSpPr>
            <p:nvPr/>
          </p:nvSpPr>
          <p:spPr bwMode="auto">
            <a:xfrm>
              <a:off x="4646" y="2276"/>
              <a:ext cx="28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&gt; 1s</a:t>
              </a:r>
              <a:endParaRPr lang="en-US" altLang="zh-CN">
                <a:cs typeface="Arial" panose="020B0604020202020204" pitchFamily="34" charset="0"/>
              </a:endParaRPr>
            </a:p>
          </p:txBody>
        </p:sp>
        <p:sp>
          <p:nvSpPr>
            <p:cNvPr id="30835" name="Rectangle 114">
              <a:extLst>
                <a:ext uri="{FF2B5EF4-FFF2-40B4-BE49-F238E27FC236}">
                  <a16:creationId xmlns:a16="http://schemas.microsoft.com/office/drawing/2014/main" id="{F6EDBB38-9921-935A-0E65-C9E27454ECE1}"/>
                </a:ext>
              </a:extLst>
            </p:cNvPr>
            <p:cNvSpPr>
              <a:spLocks noChangeArrowheads="1"/>
            </p:cNvSpPr>
            <p:nvPr/>
          </p:nvSpPr>
          <p:spPr bwMode="auto">
            <a:xfrm>
              <a:off x="2769" y="2229"/>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36" name="Rectangle 115">
              <a:extLst>
                <a:ext uri="{FF2B5EF4-FFF2-40B4-BE49-F238E27FC236}">
                  <a16:creationId xmlns:a16="http://schemas.microsoft.com/office/drawing/2014/main" id="{AE9E3F05-EB46-885B-DCD5-AB7EF8F3FE0E}"/>
                </a:ext>
              </a:extLst>
            </p:cNvPr>
            <p:cNvSpPr>
              <a:spLocks noChangeArrowheads="1"/>
            </p:cNvSpPr>
            <p:nvPr/>
          </p:nvSpPr>
          <p:spPr bwMode="auto">
            <a:xfrm>
              <a:off x="3237"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837" name="Rectangle 116">
              <a:extLst>
                <a:ext uri="{FF2B5EF4-FFF2-40B4-BE49-F238E27FC236}">
                  <a16:creationId xmlns:a16="http://schemas.microsoft.com/office/drawing/2014/main" id="{AA4E6D7F-18B1-A6C3-9C04-50FEF29F9F50}"/>
                </a:ext>
              </a:extLst>
            </p:cNvPr>
            <p:cNvSpPr>
              <a:spLocks noChangeArrowheads="1"/>
            </p:cNvSpPr>
            <p:nvPr/>
          </p:nvSpPr>
          <p:spPr bwMode="auto">
            <a:xfrm>
              <a:off x="3339" y="2276"/>
              <a:ext cx="28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 1s</a:t>
              </a:r>
              <a:endParaRPr lang="en-US" altLang="zh-CN">
                <a:cs typeface="Arial" panose="020B0604020202020204" pitchFamily="34" charset="0"/>
              </a:endParaRPr>
            </a:p>
          </p:txBody>
        </p:sp>
        <p:sp>
          <p:nvSpPr>
            <p:cNvPr id="30838" name="Rectangle 117">
              <a:extLst>
                <a:ext uri="{FF2B5EF4-FFF2-40B4-BE49-F238E27FC236}">
                  <a16:creationId xmlns:a16="http://schemas.microsoft.com/office/drawing/2014/main" id="{B1A628FF-3672-456A-8737-7C5230702A49}"/>
                </a:ext>
              </a:extLst>
            </p:cNvPr>
            <p:cNvSpPr>
              <a:spLocks noChangeArrowheads="1"/>
            </p:cNvSpPr>
            <p:nvPr/>
          </p:nvSpPr>
          <p:spPr bwMode="auto">
            <a:xfrm>
              <a:off x="1660" y="2229"/>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39" name="Rectangle 118">
              <a:extLst>
                <a:ext uri="{FF2B5EF4-FFF2-40B4-BE49-F238E27FC236}">
                  <a16:creationId xmlns:a16="http://schemas.microsoft.com/office/drawing/2014/main" id="{04D02AC0-8791-0DD4-EE8B-C1EAD5B3937E}"/>
                </a:ext>
              </a:extLst>
            </p:cNvPr>
            <p:cNvSpPr>
              <a:spLocks noChangeArrowheads="1"/>
            </p:cNvSpPr>
            <p:nvPr/>
          </p:nvSpPr>
          <p:spPr bwMode="auto">
            <a:xfrm>
              <a:off x="2037" y="2256"/>
              <a:ext cx="7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t</a:t>
              </a:r>
              <a:endParaRPr lang="en-US" altLang="zh-CN">
                <a:cs typeface="Arial" panose="020B0604020202020204" pitchFamily="34" charset="0"/>
              </a:endParaRPr>
            </a:p>
          </p:txBody>
        </p:sp>
        <p:sp>
          <p:nvSpPr>
            <p:cNvPr id="30840" name="Rectangle 119">
              <a:extLst>
                <a:ext uri="{FF2B5EF4-FFF2-40B4-BE49-F238E27FC236}">
                  <a16:creationId xmlns:a16="http://schemas.microsoft.com/office/drawing/2014/main" id="{033008B7-BD60-6837-FB0C-6B8D3947279F}"/>
                </a:ext>
              </a:extLst>
            </p:cNvPr>
            <p:cNvSpPr>
              <a:spLocks noChangeArrowheads="1"/>
            </p:cNvSpPr>
            <p:nvPr/>
          </p:nvSpPr>
          <p:spPr bwMode="auto">
            <a:xfrm>
              <a:off x="2140" y="2276"/>
              <a:ext cx="28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&lt; 1s</a:t>
              </a:r>
              <a:endParaRPr lang="en-US" altLang="zh-CN">
                <a:cs typeface="Arial" panose="020B0604020202020204" pitchFamily="34" charset="0"/>
              </a:endParaRPr>
            </a:p>
          </p:txBody>
        </p:sp>
        <p:sp>
          <p:nvSpPr>
            <p:cNvPr id="30841" name="Rectangle 120">
              <a:extLst>
                <a:ext uri="{FF2B5EF4-FFF2-40B4-BE49-F238E27FC236}">
                  <a16:creationId xmlns:a16="http://schemas.microsoft.com/office/drawing/2014/main" id="{141E7461-A59C-0349-D9CC-E7B55A5790A2}"/>
                </a:ext>
              </a:extLst>
            </p:cNvPr>
            <p:cNvSpPr>
              <a:spLocks noChangeArrowheads="1"/>
            </p:cNvSpPr>
            <p:nvPr/>
          </p:nvSpPr>
          <p:spPr bwMode="auto">
            <a:xfrm>
              <a:off x="463" y="2229"/>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42" name="Rectangle 121">
              <a:extLst>
                <a:ext uri="{FF2B5EF4-FFF2-40B4-BE49-F238E27FC236}">
                  <a16:creationId xmlns:a16="http://schemas.microsoft.com/office/drawing/2014/main" id="{4128F8D0-56E4-7EF1-CA1A-EEDAB107196E}"/>
                </a:ext>
              </a:extLst>
            </p:cNvPr>
            <p:cNvSpPr>
              <a:spLocks noChangeArrowheads="1"/>
            </p:cNvSpPr>
            <p:nvPr/>
          </p:nvSpPr>
          <p:spPr bwMode="auto">
            <a:xfrm>
              <a:off x="824" y="2256"/>
              <a:ext cx="11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 t</a:t>
              </a:r>
              <a:endParaRPr lang="en-US" altLang="zh-CN">
                <a:cs typeface="Arial" panose="020B0604020202020204" pitchFamily="34" charset="0"/>
              </a:endParaRPr>
            </a:p>
          </p:txBody>
        </p:sp>
        <p:sp>
          <p:nvSpPr>
            <p:cNvPr id="30843" name="Rectangle 122">
              <a:extLst>
                <a:ext uri="{FF2B5EF4-FFF2-40B4-BE49-F238E27FC236}">
                  <a16:creationId xmlns:a16="http://schemas.microsoft.com/office/drawing/2014/main" id="{1F45194E-5799-EF6B-C8F8-5CEEBD6C4EEA}"/>
                </a:ext>
              </a:extLst>
            </p:cNvPr>
            <p:cNvSpPr>
              <a:spLocks noChangeArrowheads="1"/>
            </p:cNvSpPr>
            <p:nvPr/>
          </p:nvSpPr>
          <p:spPr bwMode="auto">
            <a:xfrm>
              <a:off x="964" y="2276"/>
              <a:ext cx="38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&lt;&lt; 1s</a:t>
              </a:r>
              <a:endParaRPr lang="en-US" altLang="zh-CN">
                <a:cs typeface="Arial" panose="020B0604020202020204" pitchFamily="34" charset="0"/>
              </a:endParaRPr>
            </a:p>
          </p:txBody>
        </p:sp>
        <p:sp>
          <p:nvSpPr>
            <p:cNvPr id="30844" name="Rectangle 123">
              <a:extLst>
                <a:ext uri="{FF2B5EF4-FFF2-40B4-BE49-F238E27FC236}">
                  <a16:creationId xmlns:a16="http://schemas.microsoft.com/office/drawing/2014/main" id="{E627749D-016C-CA5A-318A-AB393696A8C4}"/>
                </a:ext>
              </a:extLst>
            </p:cNvPr>
            <p:cNvSpPr>
              <a:spLocks noChangeArrowheads="1"/>
            </p:cNvSpPr>
            <p:nvPr/>
          </p:nvSpPr>
          <p:spPr bwMode="auto">
            <a:xfrm>
              <a:off x="4055" y="1926"/>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45" name="Rectangle 124">
              <a:extLst>
                <a:ext uri="{FF2B5EF4-FFF2-40B4-BE49-F238E27FC236}">
                  <a16:creationId xmlns:a16="http://schemas.microsoft.com/office/drawing/2014/main" id="{137D9945-B471-F78A-183B-D5EA075BB2A5}"/>
                </a:ext>
              </a:extLst>
            </p:cNvPr>
            <p:cNvSpPr>
              <a:spLocks noChangeArrowheads="1"/>
            </p:cNvSpPr>
            <p:nvPr/>
          </p:nvSpPr>
          <p:spPr bwMode="auto">
            <a:xfrm>
              <a:off x="4502" y="1968"/>
              <a:ext cx="51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L</a:t>
              </a:r>
              <a:r>
                <a:rPr lang="en-US" altLang="zh-CN" sz="2100">
                  <a:solidFill>
                    <a:srgbClr val="000000"/>
                  </a:solidFill>
                  <a:latin typeface="Times New Roman" panose="02020603050405020304" pitchFamily="18" charset="0"/>
                  <a:cs typeface="Arial" panose="020B0604020202020204" pitchFamily="34" charset="0"/>
                </a:rPr>
                <a:t> &gt;&gt; D</a:t>
              </a:r>
              <a:endParaRPr lang="en-US" altLang="zh-CN">
                <a:cs typeface="Arial" panose="020B0604020202020204" pitchFamily="34" charset="0"/>
              </a:endParaRPr>
            </a:p>
          </p:txBody>
        </p:sp>
        <p:sp>
          <p:nvSpPr>
            <p:cNvPr id="30846" name="Rectangle 125">
              <a:extLst>
                <a:ext uri="{FF2B5EF4-FFF2-40B4-BE49-F238E27FC236}">
                  <a16:creationId xmlns:a16="http://schemas.microsoft.com/office/drawing/2014/main" id="{ED37ED07-4EEE-C3EF-133A-11C0481D6E91}"/>
                </a:ext>
              </a:extLst>
            </p:cNvPr>
            <p:cNvSpPr>
              <a:spLocks noChangeArrowheads="1"/>
            </p:cNvSpPr>
            <p:nvPr/>
          </p:nvSpPr>
          <p:spPr bwMode="auto">
            <a:xfrm>
              <a:off x="2769" y="1926"/>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47" name="Rectangle 126">
              <a:extLst>
                <a:ext uri="{FF2B5EF4-FFF2-40B4-BE49-F238E27FC236}">
                  <a16:creationId xmlns:a16="http://schemas.microsoft.com/office/drawing/2014/main" id="{98262ADB-18FE-089F-B4A0-382D798B7B70}"/>
                </a:ext>
              </a:extLst>
            </p:cNvPr>
            <p:cNvSpPr>
              <a:spLocks noChangeArrowheads="1"/>
            </p:cNvSpPr>
            <p:nvPr/>
          </p:nvSpPr>
          <p:spPr bwMode="auto">
            <a:xfrm>
              <a:off x="3235" y="1968"/>
              <a:ext cx="41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L</a:t>
              </a:r>
              <a:r>
                <a:rPr lang="en-US" altLang="zh-CN" sz="2100">
                  <a:solidFill>
                    <a:srgbClr val="000000"/>
                  </a:solidFill>
                  <a:latin typeface="Times New Roman" panose="02020603050405020304" pitchFamily="18" charset="0"/>
                  <a:cs typeface="Arial" panose="020B0604020202020204" pitchFamily="34" charset="0"/>
                </a:rPr>
                <a:t> &gt; D</a:t>
              </a:r>
              <a:endParaRPr lang="en-US" altLang="zh-CN">
                <a:cs typeface="Arial" panose="020B0604020202020204" pitchFamily="34" charset="0"/>
              </a:endParaRPr>
            </a:p>
          </p:txBody>
        </p:sp>
        <p:sp>
          <p:nvSpPr>
            <p:cNvPr id="30848" name="Rectangle 127">
              <a:extLst>
                <a:ext uri="{FF2B5EF4-FFF2-40B4-BE49-F238E27FC236}">
                  <a16:creationId xmlns:a16="http://schemas.microsoft.com/office/drawing/2014/main" id="{866267E0-7EBF-1002-9FFD-A4A0437FD852}"/>
                </a:ext>
              </a:extLst>
            </p:cNvPr>
            <p:cNvSpPr>
              <a:spLocks noChangeArrowheads="1"/>
            </p:cNvSpPr>
            <p:nvPr/>
          </p:nvSpPr>
          <p:spPr bwMode="auto">
            <a:xfrm>
              <a:off x="1660" y="1926"/>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49" name="Rectangle 128">
              <a:extLst>
                <a:ext uri="{FF2B5EF4-FFF2-40B4-BE49-F238E27FC236}">
                  <a16:creationId xmlns:a16="http://schemas.microsoft.com/office/drawing/2014/main" id="{A3813A45-EE78-50E2-20BF-64B2EC637233}"/>
                </a:ext>
              </a:extLst>
            </p:cNvPr>
            <p:cNvSpPr>
              <a:spLocks noChangeArrowheads="1"/>
            </p:cNvSpPr>
            <p:nvPr/>
          </p:nvSpPr>
          <p:spPr bwMode="auto">
            <a:xfrm>
              <a:off x="2038" y="1968"/>
              <a:ext cx="41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L</a:t>
              </a:r>
              <a:r>
                <a:rPr lang="en-US" altLang="zh-CN" sz="2100">
                  <a:solidFill>
                    <a:srgbClr val="000000"/>
                  </a:solidFill>
                  <a:latin typeface="Times New Roman" panose="02020603050405020304" pitchFamily="18" charset="0"/>
                  <a:cs typeface="Arial" panose="020B0604020202020204" pitchFamily="34" charset="0"/>
                </a:rPr>
                <a:t> ~ D</a:t>
              </a:r>
              <a:endParaRPr lang="en-US" altLang="zh-CN">
                <a:cs typeface="Arial" panose="020B0604020202020204" pitchFamily="34" charset="0"/>
              </a:endParaRPr>
            </a:p>
          </p:txBody>
        </p:sp>
        <p:sp>
          <p:nvSpPr>
            <p:cNvPr id="30850" name="Rectangle 129">
              <a:extLst>
                <a:ext uri="{FF2B5EF4-FFF2-40B4-BE49-F238E27FC236}">
                  <a16:creationId xmlns:a16="http://schemas.microsoft.com/office/drawing/2014/main" id="{02047EB4-E680-8EA7-3CFD-D4666CBEC2D6}"/>
                </a:ext>
              </a:extLst>
            </p:cNvPr>
            <p:cNvSpPr>
              <a:spLocks noChangeArrowheads="1"/>
            </p:cNvSpPr>
            <p:nvPr/>
          </p:nvSpPr>
          <p:spPr bwMode="auto">
            <a:xfrm>
              <a:off x="463" y="1926"/>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51" name="Rectangle 130">
              <a:extLst>
                <a:ext uri="{FF2B5EF4-FFF2-40B4-BE49-F238E27FC236}">
                  <a16:creationId xmlns:a16="http://schemas.microsoft.com/office/drawing/2014/main" id="{2EF2E70B-8993-5538-CD1C-292D74B50EDD}"/>
                </a:ext>
              </a:extLst>
            </p:cNvPr>
            <p:cNvSpPr>
              <a:spLocks noChangeArrowheads="1"/>
            </p:cNvSpPr>
            <p:nvPr/>
          </p:nvSpPr>
          <p:spPr bwMode="auto">
            <a:xfrm>
              <a:off x="884" y="1968"/>
              <a:ext cx="41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Symbol" panose="05050102010706020507" pitchFamily="18" charset="2"/>
                  <a:cs typeface="Arial" panose="020B0604020202020204" pitchFamily="34" charset="0"/>
                </a:rPr>
                <a:t>L</a:t>
              </a:r>
              <a:r>
                <a:rPr lang="en-US" altLang="zh-CN" sz="2100">
                  <a:solidFill>
                    <a:srgbClr val="000000"/>
                  </a:solidFill>
                  <a:latin typeface="Times New Roman" panose="02020603050405020304" pitchFamily="18" charset="0"/>
                  <a:cs typeface="Arial" panose="020B0604020202020204" pitchFamily="34" charset="0"/>
                </a:rPr>
                <a:t> &lt; D</a:t>
              </a:r>
              <a:endParaRPr lang="en-US" altLang="zh-CN">
                <a:cs typeface="Arial" panose="020B0604020202020204" pitchFamily="34" charset="0"/>
              </a:endParaRPr>
            </a:p>
          </p:txBody>
        </p:sp>
        <p:sp>
          <p:nvSpPr>
            <p:cNvPr id="30852" name="Rectangle 131">
              <a:extLst>
                <a:ext uri="{FF2B5EF4-FFF2-40B4-BE49-F238E27FC236}">
                  <a16:creationId xmlns:a16="http://schemas.microsoft.com/office/drawing/2014/main" id="{7FC08AD6-88A9-F687-1C59-1896972FBA43}"/>
                </a:ext>
              </a:extLst>
            </p:cNvPr>
            <p:cNvSpPr>
              <a:spLocks noChangeArrowheads="1"/>
            </p:cNvSpPr>
            <p:nvPr/>
          </p:nvSpPr>
          <p:spPr bwMode="auto">
            <a:xfrm>
              <a:off x="4055" y="1319"/>
              <a:ext cx="1331" cy="30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53" name="Rectangle 132">
              <a:extLst>
                <a:ext uri="{FF2B5EF4-FFF2-40B4-BE49-F238E27FC236}">
                  <a16:creationId xmlns:a16="http://schemas.microsoft.com/office/drawing/2014/main" id="{7695BCC3-7A4B-8A70-49FF-EAE6B9A935BB}"/>
                </a:ext>
              </a:extLst>
            </p:cNvPr>
            <p:cNvSpPr>
              <a:spLocks noChangeArrowheads="1"/>
            </p:cNvSpPr>
            <p:nvPr/>
          </p:nvSpPr>
          <p:spPr bwMode="auto">
            <a:xfrm>
              <a:off x="4328" y="1362"/>
              <a:ext cx="46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less 10</a:t>
              </a:r>
              <a:endParaRPr lang="en-US" altLang="zh-CN">
                <a:cs typeface="Arial" panose="020B0604020202020204" pitchFamily="34" charset="0"/>
              </a:endParaRPr>
            </a:p>
          </p:txBody>
        </p:sp>
        <p:sp>
          <p:nvSpPr>
            <p:cNvPr id="30854" name="Rectangle 133">
              <a:extLst>
                <a:ext uri="{FF2B5EF4-FFF2-40B4-BE49-F238E27FC236}">
                  <a16:creationId xmlns:a16="http://schemas.microsoft.com/office/drawing/2014/main" id="{D5B216D5-E367-F62B-669D-3961EFCE63E4}"/>
                </a:ext>
              </a:extLst>
            </p:cNvPr>
            <p:cNvSpPr>
              <a:spLocks noChangeArrowheads="1"/>
            </p:cNvSpPr>
            <p:nvPr/>
          </p:nvSpPr>
          <p:spPr bwMode="auto">
            <a:xfrm>
              <a:off x="4793"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55" name="Rectangle 134">
              <a:extLst>
                <a:ext uri="{FF2B5EF4-FFF2-40B4-BE49-F238E27FC236}">
                  <a16:creationId xmlns:a16="http://schemas.microsoft.com/office/drawing/2014/main" id="{DF7B93FD-20D8-BEA3-1152-64B28E22F257}"/>
                </a:ext>
              </a:extLst>
            </p:cNvPr>
            <p:cNvSpPr>
              <a:spLocks noChangeArrowheads="1"/>
            </p:cNvSpPr>
            <p:nvPr/>
          </p:nvSpPr>
          <p:spPr bwMode="auto">
            <a:xfrm>
              <a:off x="4830"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8</a:t>
              </a:r>
              <a:endParaRPr lang="en-US" altLang="zh-CN">
                <a:cs typeface="Arial" panose="020B0604020202020204" pitchFamily="34" charset="0"/>
              </a:endParaRPr>
            </a:p>
          </p:txBody>
        </p:sp>
        <p:sp>
          <p:nvSpPr>
            <p:cNvPr id="30856" name="Rectangle 135">
              <a:extLst>
                <a:ext uri="{FF2B5EF4-FFF2-40B4-BE49-F238E27FC236}">
                  <a16:creationId xmlns:a16="http://schemas.microsoft.com/office/drawing/2014/main" id="{E6FE839C-48DA-1236-895C-27DDD494355A}"/>
                </a:ext>
              </a:extLst>
            </p:cNvPr>
            <p:cNvSpPr>
              <a:spLocks noChangeArrowheads="1"/>
            </p:cNvSpPr>
            <p:nvPr/>
          </p:nvSpPr>
          <p:spPr bwMode="auto">
            <a:xfrm>
              <a:off x="4898" y="1362"/>
              <a:ext cx="34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 </a:t>
              </a:r>
              <a:endParaRPr lang="en-US" altLang="zh-CN">
                <a:cs typeface="Arial" panose="020B0604020202020204" pitchFamily="34" charset="0"/>
              </a:endParaRPr>
            </a:p>
          </p:txBody>
        </p:sp>
        <p:sp>
          <p:nvSpPr>
            <p:cNvPr id="30857" name="Rectangle 136">
              <a:extLst>
                <a:ext uri="{FF2B5EF4-FFF2-40B4-BE49-F238E27FC236}">
                  <a16:creationId xmlns:a16="http://schemas.microsoft.com/office/drawing/2014/main" id="{892E9E08-A1E3-30AB-F525-01B0FE474011}"/>
                </a:ext>
              </a:extLst>
            </p:cNvPr>
            <p:cNvSpPr>
              <a:spLocks noChangeArrowheads="1"/>
            </p:cNvSpPr>
            <p:nvPr/>
          </p:nvSpPr>
          <p:spPr bwMode="auto">
            <a:xfrm>
              <a:off x="2769" y="1319"/>
              <a:ext cx="1286" cy="30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58" name="Rectangle 137">
              <a:extLst>
                <a:ext uri="{FF2B5EF4-FFF2-40B4-BE49-F238E27FC236}">
                  <a16:creationId xmlns:a16="http://schemas.microsoft.com/office/drawing/2014/main" id="{925668E6-94E7-0CA0-FD4F-92EE5DD9C043}"/>
                </a:ext>
              </a:extLst>
            </p:cNvPr>
            <p:cNvSpPr>
              <a:spLocks noChangeArrowheads="1"/>
            </p:cNvSpPr>
            <p:nvPr/>
          </p:nvSpPr>
          <p:spPr bwMode="auto">
            <a:xfrm>
              <a:off x="2960"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859" name="Rectangle 138">
              <a:extLst>
                <a:ext uri="{FF2B5EF4-FFF2-40B4-BE49-F238E27FC236}">
                  <a16:creationId xmlns:a16="http://schemas.microsoft.com/office/drawing/2014/main" id="{B9C03A66-4472-638C-446F-5CB0DDFF32A4}"/>
                </a:ext>
              </a:extLst>
            </p:cNvPr>
            <p:cNvSpPr>
              <a:spLocks noChangeArrowheads="1"/>
            </p:cNvSpPr>
            <p:nvPr/>
          </p:nvSpPr>
          <p:spPr bwMode="auto">
            <a:xfrm>
              <a:off x="3108"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60" name="Rectangle 139">
              <a:extLst>
                <a:ext uri="{FF2B5EF4-FFF2-40B4-BE49-F238E27FC236}">
                  <a16:creationId xmlns:a16="http://schemas.microsoft.com/office/drawing/2014/main" id="{C0714C78-14A3-B29C-8CCE-8493083D4639}"/>
                </a:ext>
              </a:extLst>
            </p:cNvPr>
            <p:cNvSpPr>
              <a:spLocks noChangeArrowheads="1"/>
            </p:cNvSpPr>
            <p:nvPr/>
          </p:nvSpPr>
          <p:spPr bwMode="auto">
            <a:xfrm>
              <a:off x="3141"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3</a:t>
              </a:r>
              <a:endParaRPr lang="en-US" altLang="zh-CN">
                <a:cs typeface="Arial" panose="020B0604020202020204" pitchFamily="34" charset="0"/>
              </a:endParaRPr>
            </a:p>
          </p:txBody>
        </p:sp>
        <p:sp>
          <p:nvSpPr>
            <p:cNvPr id="30861" name="Rectangle 140">
              <a:extLst>
                <a:ext uri="{FF2B5EF4-FFF2-40B4-BE49-F238E27FC236}">
                  <a16:creationId xmlns:a16="http://schemas.microsoft.com/office/drawing/2014/main" id="{8C53FD68-6530-8A79-200B-4711B10F92F6}"/>
                </a:ext>
              </a:extLst>
            </p:cNvPr>
            <p:cNvSpPr>
              <a:spLocks noChangeArrowheads="1"/>
            </p:cNvSpPr>
            <p:nvPr/>
          </p:nvSpPr>
          <p:spPr bwMode="auto">
            <a:xfrm>
              <a:off x="3226"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62" name="Rectangle 141">
              <a:extLst>
                <a:ext uri="{FF2B5EF4-FFF2-40B4-BE49-F238E27FC236}">
                  <a16:creationId xmlns:a16="http://schemas.microsoft.com/office/drawing/2014/main" id="{96BD9BE2-C2CB-DE97-6654-5AE59D89A7F9}"/>
                </a:ext>
              </a:extLst>
            </p:cNvPr>
            <p:cNvSpPr>
              <a:spLocks noChangeArrowheads="1"/>
            </p:cNvSpPr>
            <p:nvPr/>
          </p:nvSpPr>
          <p:spPr bwMode="auto">
            <a:xfrm>
              <a:off x="3336"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863" name="Rectangle 142">
              <a:extLst>
                <a:ext uri="{FF2B5EF4-FFF2-40B4-BE49-F238E27FC236}">
                  <a16:creationId xmlns:a16="http://schemas.microsoft.com/office/drawing/2014/main" id="{CDCE70DB-64A7-1D3E-3FFF-EB81BB7164AF}"/>
                </a:ext>
              </a:extLst>
            </p:cNvPr>
            <p:cNvSpPr>
              <a:spLocks noChangeArrowheads="1"/>
            </p:cNvSpPr>
            <p:nvPr/>
          </p:nvSpPr>
          <p:spPr bwMode="auto">
            <a:xfrm>
              <a:off x="3484"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64" name="Rectangle 143">
              <a:extLst>
                <a:ext uri="{FF2B5EF4-FFF2-40B4-BE49-F238E27FC236}">
                  <a16:creationId xmlns:a16="http://schemas.microsoft.com/office/drawing/2014/main" id="{30E13EE7-C40E-97F6-9FDC-2203D20DD179}"/>
                </a:ext>
              </a:extLst>
            </p:cNvPr>
            <p:cNvSpPr>
              <a:spLocks noChangeArrowheads="1"/>
            </p:cNvSpPr>
            <p:nvPr/>
          </p:nvSpPr>
          <p:spPr bwMode="auto">
            <a:xfrm>
              <a:off x="3517"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8</a:t>
              </a:r>
              <a:endParaRPr lang="en-US" altLang="zh-CN">
                <a:cs typeface="Arial" panose="020B0604020202020204" pitchFamily="34" charset="0"/>
              </a:endParaRPr>
            </a:p>
          </p:txBody>
        </p:sp>
        <p:sp>
          <p:nvSpPr>
            <p:cNvPr id="30865" name="Rectangle 144">
              <a:extLst>
                <a:ext uri="{FF2B5EF4-FFF2-40B4-BE49-F238E27FC236}">
                  <a16:creationId xmlns:a16="http://schemas.microsoft.com/office/drawing/2014/main" id="{062B6CDE-1F88-9207-1BB0-BB96C4FEF5FF}"/>
                </a:ext>
              </a:extLst>
            </p:cNvPr>
            <p:cNvSpPr>
              <a:spLocks noChangeArrowheads="1"/>
            </p:cNvSpPr>
            <p:nvPr/>
          </p:nvSpPr>
          <p:spPr bwMode="auto">
            <a:xfrm>
              <a:off x="3602" y="1362"/>
              <a:ext cx="29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a:t>
              </a:r>
              <a:endParaRPr lang="en-US" altLang="zh-CN">
                <a:cs typeface="Arial" panose="020B0604020202020204" pitchFamily="34" charset="0"/>
              </a:endParaRPr>
            </a:p>
          </p:txBody>
        </p:sp>
        <p:sp>
          <p:nvSpPr>
            <p:cNvPr id="30866" name="Rectangle 145">
              <a:extLst>
                <a:ext uri="{FF2B5EF4-FFF2-40B4-BE49-F238E27FC236}">
                  <a16:creationId xmlns:a16="http://schemas.microsoft.com/office/drawing/2014/main" id="{3502D517-472F-0AAF-E945-75B84F1CE065}"/>
                </a:ext>
              </a:extLst>
            </p:cNvPr>
            <p:cNvSpPr>
              <a:spLocks noChangeArrowheads="1"/>
            </p:cNvSpPr>
            <p:nvPr/>
          </p:nvSpPr>
          <p:spPr bwMode="auto">
            <a:xfrm>
              <a:off x="1660" y="1319"/>
              <a:ext cx="1109" cy="30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67" name="Rectangle 146">
              <a:extLst>
                <a:ext uri="{FF2B5EF4-FFF2-40B4-BE49-F238E27FC236}">
                  <a16:creationId xmlns:a16="http://schemas.microsoft.com/office/drawing/2014/main" id="{C25FAF17-4645-0CCE-8A7B-41A7F55062BD}"/>
                </a:ext>
              </a:extLst>
            </p:cNvPr>
            <p:cNvSpPr>
              <a:spLocks noChangeArrowheads="1"/>
            </p:cNvSpPr>
            <p:nvPr/>
          </p:nvSpPr>
          <p:spPr bwMode="auto">
            <a:xfrm>
              <a:off x="1840" y="1362"/>
              <a:ext cx="12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 </a:t>
              </a:r>
              <a:endParaRPr lang="en-US" altLang="zh-CN">
                <a:cs typeface="Arial" panose="020B0604020202020204" pitchFamily="34" charset="0"/>
              </a:endParaRPr>
            </a:p>
          </p:txBody>
        </p:sp>
        <p:sp>
          <p:nvSpPr>
            <p:cNvPr id="30868" name="Rectangle 147">
              <a:extLst>
                <a:ext uri="{FF2B5EF4-FFF2-40B4-BE49-F238E27FC236}">
                  <a16:creationId xmlns:a16="http://schemas.microsoft.com/office/drawing/2014/main" id="{2E53443C-39BE-F647-755E-3CB2270B70EB}"/>
                </a:ext>
              </a:extLst>
            </p:cNvPr>
            <p:cNvSpPr>
              <a:spLocks noChangeArrowheads="1"/>
            </p:cNvSpPr>
            <p:nvPr/>
          </p:nvSpPr>
          <p:spPr bwMode="auto">
            <a:xfrm>
              <a:off x="1950"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69" name="Rectangle 148">
              <a:extLst>
                <a:ext uri="{FF2B5EF4-FFF2-40B4-BE49-F238E27FC236}">
                  <a16:creationId xmlns:a16="http://schemas.microsoft.com/office/drawing/2014/main" id="{DE5E490F-7701-D538-5200-BB7CE0D62836}"/>
                </a:ext>
              </a:extLst>
            </p:cNvPr>
            <p:cNvSpPr>
              <a:spLocks noChangeArrowheads="1"/>
            </p:cNvSpPr>
            <p:nvPr/>
          </p:nvSpPr>
          <p:spPr bwMode="auto">
            <a:xfrm>
              <a:off x="2061" y="1362"/>
              <a:ext cx="1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870" name="Rectangle 149">
              <a:extLst>
                <a:ext uri="{FF2B5EF4-FFF2-40B4-BE49-F238E27FC236}">
                  <a16:creationId xmlns:a16="http://schemas.microsoft.com/office/drawing/2014/main" id="{50E7612F-56C6-C6BC-732B-FCCB10B28AA3}"/>
                </a:ext>
              </a:extLst>
            </p:cNvPr>
            <p:cNvSpPr>
              <a:spLocks noChangeArrowheads="1"/>
            </p:cNvSpPr>
            <p:nvPr/>
          </p:nvSpPr>
          <p:spPr bwMode="auto">
            <a:xfrm>
              <a:off x="2209" y="136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71" name="Rectangle 150">
              <a:extLst>
                <a:ext uri="{FF2B5EF4-FFF2-40B4-BE49-F238E27FC236}">
                  <a16:creationId xmlns:a16="http://schemas.microsoft.com/office/drawing/2014/main" id="{201BE281-A4DD-8B19-7746-44088B0EB07A}"/>
                </a:ext>
              </a:extLst>
            </p:cNvPr>
            <p:cNvSpPr>
              <a:spLocks noChangeArrowheads="1"/>
            </p:cNvSpPr>
            <p:nvPr/>
          </p:nvSpPr>
          <p:spPr bwMode="auto">
            <a:xfrm>
              <a:off x="2242" y="13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Arial" panose="020B0604020202020204" pitchFamily="34" charset="0"/>
                </a:rPr>
                <a:t>3</a:t>
              </a:r>
              <a:endParaRPr lang="en-US" altLang="zh-CN">
                <a:cs typeface="Arial" panose="020B0604020202020204" pitchFamily="34" charset="0"/>
              </a:endParaRPr>
            </a:p>
          </p:txBody>
        </p:sp>
        <p:sp>
          <p:nvSpPr>
            <p:cNvPr id="30872" name="Rectangle 151">
              <a:extLst>
                <a:ext uri="{FF2B5EF4-FFF2-40B4-BE49-F238E27FC236}">
                  <a16:creationId xmlns:a16="http://schemas.microsoft.com/office/drawing/2014/main" id="{9CBB7A56-19C7-4A89-3858-86DBF3945C7A}"/>
                </a:ext>
              </a:extLst>
            </p:cNvPr>
            <p:cNvSpPr>
              <a:spLocks noChangeArrowheads="1"/>
            </p:cNvSpPr>
            <p:nvPr/>
          </p:nvSpPr>
          <p:spPr bwMode="auto">
            <a:xfrm>
              <a:off x="2327" y="1362"/>
              <a:ext cx="29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Torr</a:t>
              </a:r>
              <a:endParaRPr lang="en-US" altLang="zh-CN">
                <a:cs typeface="Arial" panose="020B0604020202020204" pitchFamily="34" charset="0"/>
              </a:endParaRPr>
            </a:p>
          </p:txBody>
        </p:sp>
        <p:sp>
          <p:nvSpPr>
            <p:cNvPr id="30873" name="Rectangle 152">
              <a:extLst>
                <a:ext uri="{FF2B5EF4-FFF2-40B4-BE49-F238E27FC236}">
                  <a16:creationId xmlns:a16="http://schemas.microsoft.com/office/drawing/2014/main" id="{C2E51B07-B688-8139-F877-D8AD9AB4865D}"/>
                </a:ext>
              </a:extLst>
            </p:cNvPr>
            <p:cNvSpPr>
              <a:spLocks noChangeArrowheads="1"/>
            </p:cNvSpPr>
            <p:nvPr/>
          </p:nvSpPr>
          <p:spPr bwMode="auto">
            <a:xfrm>
              <a:off x="463" y="1319"/>
              <a:ext cx="1197" cy="3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74" name="Rectangle 153">
              <a:extLst>
                <a:ext uri="{FF2B5EF4-FFF2-40B4-BE49-F238E27FC236}">
                  <a16:creationId xmlns:a16="http://schemas.microsoft.com/office/drawing/2014/main" id="{B53221E2-FEFA-1640-398A-4E3558BCD70C}"/>
                </a:ext>
              </a:extLst>
            </p:cNvPr>
            <p:cNvSpPr>
              <a:spLocks noChangeArrowheads="1"/>
            </p:cNvSpPr>
            <p:nvPr/>
          </p:nvSpPr>
          <p:spPr bwMode="auto">
            <a:xfrm>
              <a:off x="690" y="1362"/>
              <a:ext cx="29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760 </a:t>
              </a:r>
              <a:endParaRPr lang="en-US" altLang="zh-CN">
                <a:cs typeface="Arial" panose="020B0604020202020204" pitchFamily="34" charset="0"/>
              </a:endParaRPr>
            </a:p>
          </p:txBody>
        </p:sp>
        <p:sp>
          <p:nvSpPr>
            <p:cNvPr id="30875" name="Rectangle 154">
              <a:extLst>
                <a:ext uri="{FF2B5EF4-FFF2-40B4-BE49-F238E27FC236}">
                  <a16:creationId xmlns:a16="http://schemas.microsoft.com/office/drawing/2014/main" id="{B3DCC0CE-C812-8A06-049F-E0E6FDE65154}"/>
                </a:ext>
              </a:extLst>
            </p:cNvPr>
            <p:cNvSpPr>
              <a:spLocks noChangeArrowheads="1"/>
            </p:cNvSpPr>
            <p:nvPr/>
          </p:nvSpPr>
          <p:spPr bwMode="auto">
            <a:xfrm>
              <a:off x="949" y="1362"/>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76" name="Rectangle 155">
              <a:extLst>
                <a:ext uri="{FF2B5EF4-FFF2-40B4-BE49-F238E27FC236}">
                  <a16:creationId xmlns:a16="http://schemas.microsoft.com/office/drawing/2014/main" id="{8D848E3B-A353-577A-D3F2-10577092E827}"/>
                </a:ext>
              </a:extLst>
            </p:cNvPr>
            <p:cNvSpPr>
              <a:spLocks noChangeArrowheads="1"/>
            </p:cNvSpPr>
            <p:nvPr/>
          </p:nvSpPr>
          <p:spPr bwMode="auto">
            <a:xfrm>
              <a:off x="1060" y="1362"/>
              <a:ext cx="4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1 Torr</a:t>
              </a:r>
              <a:endParaRPr lang="en-US" altLang="zh-CN">
                <a:cs typeface="Arial" panose="020B0604020202020204" pitchFamily="34" charset="0"/>
              </a:endParaRPr>
            </a:p>
          </p:txBody>
        </p:sp>
        <p:sp>
          <p:nvSpPr>
            <p:cNvPr id="30877" name="Rectangle 156">
              <a:extLst>
                <a:ext uri="{FF2B5EF4-FFF2-40B4-BE49-F238E27FC236}">
                  <a16:creationId xmlns:a16="http://schemas.microsoft.com/office/drawing/2014/main" id="{7ABDFE8F-7006-F5A9-71FD-60AA820D6C34}"/>
                </a:ext>
              </a:extLst>
            </p:cNvPr>
            <p:cNvSpPr>
              <a:spLocks noChangeArrowheads="1"/>
            </p:cNvSpPr>
            <p:nvPr/>
          </p:nvSpPr>
          <p:spPr bwMode="auto">
            <a:xfrm>
              <a:off x="4055" y="3139"/>
              <a:ext cx="1332"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78" name="Rectangle 157">
              <a:extLst>
                <a:ext uri="{FF2B5EF4-FFF2-40B4-BE49-F238E27FC236}">
                  <a16:creationId xmlns:a16="http://schemas.microsoft.com/office/drawing/2014/main" id="{76C4195B-7B3A-39CB-6480-990C04675E14}"/>
                </a:ext>
              </a:extLst>
            </p:cNvPr>
            <p:cNvSpPr>
              <a:spLocks noChangeArrowheads="1"/>
            </p:cNvSpPr>
            <p:nvPr/>
          </p:nvSpPr>
          <p:spPr bwMode="auto">
            <a:xfrm>
              <a:off x="2769" y="3139"/>
              <a:ext cx="1287"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79" name="Rectangle 158">
              <a:extLst>
                <a:ext uri="{FF2B5EF4-FFF2-40B4-BE49-F238E27FC236}">
                  <a16:creationId xmlns:a16="http://schemas.microsoft.com/office/drawing/2014/main" id="{2C0EE8A4-CF37-FAB8-5951-F21015150211}"/>
                </a:ext>
              </a:extLst>
            </p:cNvPr>
            <p:cNvSpPr>
              <a:spLocks noChangeArrowheads="1"/>
            </p:cNvSpPr>
            <p:nvPr/>
          </p:nvSpPr>
          <p:spPr bwMode="auto">
            <a:xfrm>
              <a:off x="463" y="3139"/>
              <a:ext cx="2307"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80" name="Rectangle 159">
              <a:extLst>
                <a:ext uri="{FF2B5EF4-FFF2-40B4-BE49-F238E27FC236}">
                  <a16:creationId xmlns:a16="http://schemas.microsoft.com/office/drawing/2014/main" id="{736BB85D-8D88-C274-82E5-82E3A7F9F05B}"/>
                </a:ext>
              </a:extLst>
            </p:cNvPr>
            <p:cNvSpPr>
              <a:spLocks noChangeArrowheads="1"/>
            </p:cNvSpPr>
            <p:nvPr/>
          </p:nvSpPr>
          <p:spPr bwMode="auto">
            <a:xfrm>
              <a:off x="4055" y="1622"/>
              <a:ext cx="1331" cy="304"/>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81" name="Rectangle 160">
              <a:extLst>
                <a:ext uri="{FF2B5EF4-FFF2-40B4-BE49-F238E27FC236}">
                  <a16:creationId xmlns:a16="http://schemas.microsoft.com/office/drawing/2014/main" id="{7DF66CFD-F0FA-D64B-CEB8-1708BA0206DD}"/>
                </a:ext>
              </a:extLst>
            </p:cNvPr>
            <p:cNvSpPr>
              <a:spLocks noChangeArrowheads="1"/>
            </p:cNvSpPr>
            <p:nvPr/>
          </p:nvSpPr>
          <p:spPr bwMode="auto">
            <a:xfrm>
              <a:off x="4395" y="1663"/>
              <a:ext cx="46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Less 10</a:t>
              </a:r>
              <a:endParaRPr lang="en-US" altLang="zh-CN">
                <a:cs typeface="Arial" panose="020B0604020202020204" pitchFamily="34" charset="0"/>
              </a:endParaRPr>
            </a:p>
          </p:txBody>
        </p:sp>
        <p:sp>
          <p:nvSpPr>
            <p:cNvPr id="30882" name="Rectangle 161">
              <a:extLst>
                <a:ext uri="{FF2B5EF4-FFF2-40B4-BE49-F238E27FC236}">
                  <a16:creationId xmlns:a16="http://schemas.microsoft.com/office/drawing/2014/main" id="{275F2B71-BD90-1704-ACA3-B01536B51A92}"/>
                </a:ext>
              </a:extLst>
            </p:cNvPr>
            <p:cNvSpPr>
              <a:spLocks noChangeArrowheads="1"/>
            </p:cNvSpPr>
            <p:nvPr/>
          </p:nvSpPr>
          <p:spPr bwMode="auto">
            <a:xfrm>
              <a:off x="4886" y="166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83" name="Rectangle 162">
              <a:extLst>
                <a:ext uri="{FF2B5EF4-FFF2-40B4-BE49-F238E27FC236}">
                  <a16:creationId xmlns:a16="http://schemas.microsoft.com/office/drawing/2014/main" id="{25272D0C-B04F-7905-8792-1E3E4F4DCF2F}"/>
                </a:ext>
              </a:extLst>
            </p:cNvPr>
            <p:cNvSpPr>
              <a:spLocks noChangeArrowheads="1"/>
            </p:cNvSpPr>
            <p:nvPr/>
          </p:nvSpPr>
          <p:spPr bwMode="auto">
            <a:xfrm>
              <a:off x="4915" y="1661"/>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6</a:t>
              </a:r>
              <a:endParaRPr lang="en-US" altLang="zh-CN">
                <a:cs typeface="Arial" panose="020B0604020202020204" pitchFamily="34" charset="0"/>
              </a:endParaRPr>
            </a:p>
          </p:txBody>
        </p:sp>
        <p:sp>
          <p:nvSpPr>
            <p:cNvPr id="30884" name="Rectangle 163">
              <a:extLst>
                <a:ext uri="{FF2B5EF4-FFF2-40B4-BE49-F238E27FC236}">
                  <a16:creationId xmlns:a16="http://schemas.microsoft.com/office/drawing/2014/main" id="{DFADF8AE-EDA2-7CA9-D806-6A4CD24218E9}"/>
                </a:ext>
              </a:extLst>
            </p:cNvPr>
            <p:cNvSpPr>
              <a:spLocks noChangeArrowheads="1"/>
            </p:cNvSpPr>
            <p:nvPr/>
          </p:nvSpPr>
          <p:spPr bwMode="auto">
            <a:xfrm>
              <a:off x="4996" y="166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Pa</a:t>
              </a:r>
              <a:endParaRPr lang="en-US" altLang="zh-CN">
                <a:cs typeface="Arial" panose="020B0604020202020204" pitchFamily="34" charset="0"/>
              </a:endParaRPr>
            </a:p>
          </p:txBody>
        </p:sp>
        <p:sp>
          <p:nvSpPr>
            <p:cNvPr id="30885" name="Rectangle 164">
              <a:extLst>
                <a:ext uri="{FF2B5EF4-FFF2-40B4-BE49-F238E27FC236}">
                  <a16:creationId xmlns:a16="http://schemas.microsoft.com/office/drawing/2014/main" id="{19BE4CAE-6F86-5276-09C1-4C962C748D4B}"/>
                </a:ext>
              </a:extLst>
            </p:cNvPr>
            <p:cNvSpPr>
              <a:spLocks noChangeArrowheads="1"/>
            </p:cNvSpPr>
            <p:nvPr/>
          </p:nvSpPr>
          <p:spPr bwMode="auto">
            <a:xfrm>
              <a:off x="2769" y="1622"/>
              <a:ext cx="1286" cy="304"/>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86" name="Rectangle 165">
              <a:extLst>
                <a:ext uri="{FF2B5EF4-FFF2-40B4-BE49-F238E27FC236}">
                  <a16:creationId xmlns:a16="http://schemas.microsoft.com/office/drawing/2014/main" id="{D27D558B-F396-5D3A-8801-D73F9B615E96}"/>
                </a:ext>
              </a:extLst>
            </p:cNvPr>
            <p:cNvSpPr>
              <a:spLocks noChangeArrowheads="1"/>
            </p:cNvSpPr>
            <p:nvPr/>
          </p:nvSpPr>
          <p:spPr bwMode="auto">
            <a:xfrm>
              <a:off x="2839" y="1666"/>
              <a:ext cx="38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0.133 </a:t>
              </a:r>
              <a:endParaRPr lang="en-US" altLang="zh-CN">
                <a:cs typeface="Arial" panose="020B0604020202020204" pitchFamily="34" charset="0"/>
              </a:endParaRPr>
            </a:p>
          </p:txBody>
        </p:sp>
        <p:sp>
          <p:nvSpPr>
            <p:cNvPr id="30887" name="Rectangle 166">
              <a:extLst>
                <a:ext uri="{FF2B5EF4-FFF2-40B4-BE49-F238E27FC236}">
                  <a16:creationId xmlns:a16="http://schemas.microsoft.com/office/drawing/2014/main" id="{D7ECA481-B4DD-5357-6778-C3A97B4C4A6D}"/>
                </a:ext>
              </a:extLst>
            </p:cNvPr>
            <p:cNvSpPr>
              <a:spLocks noChangeArrowheads="1"/>
            </p:cNvSpPr>
            <p:nvPr/>
          </p:nvSpPr>
          <p:spPr bwMode="auto">
            <a:xfrm>
              <a:off x="3172" y="166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88" name="Rectangle 167">
              <a:extLst>
                <a:ext uri="{FF2B5EF4-FFF2-40B4-BE49-F238E27FC236}">
                  <a16:creationId xmlns:a16="http://schemas.microsoft.com/office/drawing/2014/main" id="{F461A987-31B9-4833-BD74-3854E891E503}"/>
                </a:ext>
              </a:extLst>
            </p:cNvPr>
            <p:cNvSpPr>
              <a:spLocks noChangeArrowheads="1"/>
            </p:cNvSpPr>
            <p:nvPr/>
          </p:nvSpPr>
          <p:spPr bwMode="auto">
            <a:xfrm>
              <a:off x="3272" y="1666"/>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a:t>
              </a:r>
              <a:endParaRPr lang="en-US" altLang="zh-CN">
                <a:cs typeface="Arial" panose="020B0604020202020204" pitchFamily="34" charset="0"/>
              </a:endParaRPr>
            </a:p>
          </p:txBody>
        </p:sp>
        <p:sp>
          <p:nvSpPr>
            <p:cNvPr id="30889" name="Rectangle 168">
              <a:extLst>
                <a:ext uri="{FF2B5EF4-FFF2-40B4-BE49-F238E27FC236}">
                  <a16:creationId xmlns:a16="http://schemas.microsoft.com/office/drawing/2014/main" id="{B26A86CF-EB27-BFA4-379A-0C367D999694}"/>
                </a:ext>
              </a:extLst>
            </p:cNvPr>
            <p:cNvSpPr>
              <a:spLocks noChangeArrowheads="1"/>
            </p:cNvSpPr>
            <p:nvPr/>
          </p:nvSpPr>
          <p:spPr bwMode="auto">
            <a:xfrm>
              <a:off x="3538" y="164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Symbol" panose="05050102010706020507" pitchFamily="18" charset="2"/>
                  <a:cs typeface="Arial" panose="020B0604020202020204" pitchFamily="34" charset="0"/>
                </a:rPr>
                <a:t>´</a:t>
              </a:r>
              <a:endParaRPr lang="en-US" altLang="zh-CN">
                <a:cs typeface="Arial" panose="020B0604020202020204" pitchFamily="34" charset="0"/>
              </a:endParaRPr>
            </a:p>
          </p:txBody>
        </p:sp>
        <p:sp>
          <p:nvSpPr>
            <p:cNvPr id="30890" name="Rectangle 169">
              <a:extLst>
                <a:ext uri="{FF2B5EF4-FFF2-40B4-BE49-F238E27FC236}">
                  <a16:creationId xmlns:a16="http://schemas.microsoft.com/office/drawing/2014/main" id="{E87BF687-06EE-E0EA-9C16-35B5129551CC}"/>
                </a:ext>
              </a:extLst>
            </p:cNvPr>
            <p:cNvSpPr>
              <a:spLocks noChangeArrowheads="1"/>
            </p:cNvSpPr>
            <p:nvPr/>
          </p:nvSpPr>
          <p:spPr bwMode="auto">
            <a:xfrm>
              <a:off x="3611"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891" name="Rectangle 170">
              <a:extLst>
                <a:ext uri="{FF2B5EF4-FFF2-40B4-BE49-F238E27FC236}">
                  <a16:creationId xmlns:a16="http://schemas.microsoft.com/office/drawing/2014/main" id="{A0578565-25D5-D836-5320-78598AE89655}"/>
                </a:ext>
              </a:extLst>
            </p:cNvPr>
            <p:cNvSpPr>
              <a:spLocks noChangeArrowheads="1"/>
            </p:cNvSpPr>
            <p:nvPr/>
          </p:nvSpPr>
          <p:spPr bwMode="auto">
            <a:xfrm>
              <a:off x="3744" y="1669"/>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92" name="Rectangle 171">
              <a:extLst>
                <a:ext uri="{FF2B5EF4-FFF2-40B4-BE49-F238E27FC236}">
                  <a16:creationId xmlns:a16="http://schemas.microsoft.com/office/drawing/2014/main" id="{250E74A9-9766-8E0C-8179-276CC13B4A05}"/>
                </a:ext>
              </a:extLst>
            </p:cNvPr>
            <p:cNvSpPr>
              <a:spLocks noChangeArrowheads="1"/>
            </p:cNvSpPr>
            <p:nvPr/>
          </p:nvSpPr>
          <p:spPr bwMode="auto">
            <a:xfrm>
              <a:off x="3773" y="166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6</a:t>
              </a:r>
              <a:endParaRPr lang="en-US" altLang="zh-CN">
                <a:cs typeface="Arial" panose="020B0604020202020204" pitchFamily="34" charset="0"/>
              </a:endParaRPr>
            </a:p>
          </p:txBody>
        </p:sp>
        <p:sp>
          <p:nvSpPr>
            <p:cNvPr id="30893" name="Rectangle 172">
              <a:extLst>
                <a:ext uri="{FF2B5EF4-FFF2-40B4-BE49-F238E27FC236}">
                  <a16:creationId xmlns:a16="http://schemas.microsoft.com/office/drawing/2014/main" id="{5E498484-5E25-C8A8-FA14-2EA26CBBC5AC}"/>
                </a:ext>
              </a:extLst>
            </p:cNvPr>
            <p:cNvSpPr>
              <a:spLocks noChangeArrowheads="1"/>
            </p:cNvSpPr>
            <p:nvPr/>
          </p:nvSpPr>
          <p:spPr bwMode="auto">
            <a:xfrm>
              <a:off x="3851"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Pa</a:t>
              </a:r>
              <a:endParaRPr lang="en-US" altLang="zh-CN">
                <a:cs typeface="Arial" panose="020B0604020202020204" pitchFamily="34" charset="0"/>
              </a:endParaRPr>
            </a:p>
          </p:txBody>
        </p:sp>
        <p:sp>
          <p:nvSpPr>
            <p:cNvPr id="30894" name="Rectangle 173">
              <a:extLst>
                <a:ext uri="{FF2B5EF4-FFF2-40B4-BE49-F238E27FC236}">
                  <a16:creationId xmlns:a16="http://schemas.microsoft.com/office/drawing/2014/main" id="{EA3ACF10-852D-53D9-9307-B5FB622FFDB9}"/>
                </a:ext>
              </a:extLst>
            </p:cNvPr>
            <p:cNvSpPr>
              <a:spLocks noChangeArrowheads="1"/>
            </p:cNvSpPr>
            <p:nvPr/>
          </p:nvSpPr>
          <p:spPr bwMode="auto">
            <a:xfrm>
              <a:off x="1660" y="1622"/>
              <a:ext cx="1109" cy="304"/>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95" name="Rectangle 174">
              <a:extLst>
                <a:ext uri="{FF2B5EF4-FFF2-40B4-BE49-F238E27FC236}">
                  <a16:creationId xmlns:a16="http://schemas.microsoft.com/office/drawing/2014/main" id="{904E178B-B3FC-66B6-B7E0-261538C6607C}"/>
                </a:ext>
              </a:extLst>
            </p:cNvPr>
            <p:cNvSpPr>
              <a:spLocks noChangeArrowheads="1"/>
            </p:cNvSpPr>
            <p:nvPr/>
          </p:nvSpPr>
          <p:spPr bwMode="auto">
            <a:xfrm>
              <a:off x="1816" y="1663"/>
              <a:ext cx="26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a:t>
              </a:r>
              <a:endParaRPr lang="en-US" altLang="zh-CN">
                <a:cs typeface="Arial" panose="020B0604020202020204" pitchFamily="34" charset="0"/>
              </a:endParaRPr>
            </a:p>
          </p:txBody>
        </p:sp>
        <p:sp>
          <p:nvSpPr>
            <p:cNvPr id="30896" name="Rectangle 175">
              <a:extLst>
                <a:ext uri="{FF2B5EF4-FFF2-40B4-BE49-F238E27FC236}">
                  <a16:creationId xmlns:a16="http://schemas.microsoft.com/office/drawing/2014/main" id="{AC9D4BFB-5E76-0219-F596-2E6DAA967E0C}"/>
                </a:ext>
              </a:extLst>
            </p:cNvPr>
            <p:cNvSpPr>
              <a:spLocks noChangeArrowheads="1"/>
            </p:cNvSpPr>
            <p:nvPr/>
          </p:nvSpPr>
          <p:spPr bwMode="auto">
            <a:xfrm>
              <a:off x="2048" y="1663"/>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897" name="Rectangle 176">
              <a:extLst>
                <a:ext uri="{FF2B5EF4-FFF2-40B4-BE49-F238E27FC236}">
                  <a16:creationId xmlns:a16="http://schemas.microsoft.com/office/drawing/2014/main" id="{4AA57E79-3EDC-646F-8F55-20738F049645}"/>
                </a:ext>
              </a:extLst>
            </p:cNvPr>
            <p:cNvSpPr>
              <a:spLocks noChangeArrowheads="1"/>
            </p:cNvSpPr>
            <p:nvPr/>
          </p:nvSpPr>
          <p:spPr bwMode="auto">
            <a:xfrm>
              <a:off x="2148" y="1663"/>
              <a:ext cx="53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0.133 Pa</a:t>
              </a:r>
              <a:endParaRPr lang="en-US" altLang="zh-CN">
                <a:cs typeface="Arial" panose="020B0604020202020204" pitchFamily="34" charset="0"/>
              </a:endParaRPr>
            </a:p>
          </p:txBody>
        </p:sp>
        <p:sp>
          <p:nvSpPr>
            <p:cNvPr id="30898" name="Rectangle 177">
              <a:extLst>
                <a:ext uri="{FF2B5EF4-FFF2-40B4-BE49-F238E27FC236}">
                  <a16:creationId xmlns:a16="http://schemas.microsoft.com/office/drawing/2014/main" id="{8627E9A9-C847-0935-A5FF-0BED0AC2BCA5}"/>
                </a:ext>
              </a:extLst>
            </p:cNvPr>
            <p:cNvSpPr>
              <a:spLocks noChangeArrowheads="1"/>
            </p:cNvSpPr>
            <p:nvPr/>
          </p:nvSpPr>
          <p:spPr bwMode="auto">
            <a:xfrm>
              <a:off x="463" y="1622"/>
              <a:ext cx="1197" cy="30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899" name="Rectangle 178">
              <a:extLst>
                <a:ext uri="{FF2B5EF4-FFF2-40B4-BE49-F238E27FC236}">
                  <a16:creationId xmlns:a16="http://schemas.microsoft.com/office/drawing/2014/main" id="{6C42C209-3BA2-68FB-33F0-0B177970C4F5}"/>
                </a:ext>
              </a:extLst>
            </p:cNvPr>
            <p:cNvSpPr>
              <a:spLocks noChangeArrowheads="1"/>
            </p:cNvSpPr>
            <p:nvPr/>
          </p:nvSpPr>
          <p:spPr bwMode="auto">
            <a:xfrm>
              <a:off x="570" y="1666"/>
              <a:ext cx="26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1.01</a:t>
              </a:r>
              <a:endParaRPr lang="en-US" altLang="zh-CN">
                <a:cs typeface="Arial" panose="020B0604020202020204" pitchFamily="34" charset="0"/>
              </a:endParaRPr>
            </a:p>
          </p:txBody>
        </p:sp>
        <p:sp>
          <p:nvSpPr>
            <p:cNvPr id="30900" name="Rectangle 179">
              <a:extLst>
                <a:ext uri="{FF2B5EF4-FFF2-40B4-BE49-F238E27FC236}">
                  <a16:creationId xmlns:a16="http://schemas.microsoft.com/office/drawing/2014/main" id="{CC698FE0-257F-5CA1-5673-0A901DB11B26}"/>
                </a:ext>
              </a:extLst>
            </p:cNvPr>
            <p:cNvSpPr>
              <a:spLocks noChangeArrowheads="1"/>
            </p:cNvSpPr>
            <p:nvPr/>
          </p:nvSpPr>
          <p:spPr bwMode="auto">
            <a:xfrm>
              <a:off x="803" y="164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Symbol" panose="05050102010706020507" pitchFamily="18" charset="2"/>
                  <a:cs typeface="Arial" panose="020B0604020202020204" pitchFamily="34" charset="0"/>
                </a:rPr>
                <a:t>´</a:t>
              </a:r>
              <a:endParaRPr lang="en-US" altLang="zh-CN">
                <a:cs typeface="Arial" panose="020B0604020202020204" pitchFamily="34" charset="0"/>
              </a:endParaRPr>
            </a:p>
          </p:txBody>
        </p:sp>
        <p:sp>
          <p:nvSpPr>
            <p:cNvPr id="30901" name="Rectangle 180">
              <a:extLst>
                <a:ext uri="{FF2B5EF4-FFF2-40B4-BE49-F238E27FC236}">
                  <a16:creationId xmlns:a16="http://schemas.microsoft.com/office/drawing/2014/main" id="{9FBFC4A7-A189-34B4-95D5-A68A0337EAAC}"/>
                </a:ext>
              </a:extLst>
            </p:cNvPr>
            <p:cNvSpPr>
              <a:spLocks noChangeArrowheads="1"/>
            </p:cNvSpPr>
            <p:nvPr/>
          </p:nvSpPr>
          <p:spPr bwMode="auto">
            <a:xfrm>
              <a:off x="876" y="1666"/>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10</a:t>
              </a:r>
              <a:endParaRPr lang="en-US" altLang="zh-CN">
                <a:cs typeface="Arial" panose="020B0604020202020204" pitchFamily="34" charset="0"/>
              </a:endParaRPr>
            </a:p>
          </p:txBody>
        </p:sp>
        <p:sp>
          <p:nvSpPr>
            <p:cNvPr id="30902" name="Rectangle 181">
              <a:extLst>
                <a:ext uri="{FF2B5EF4-FFF2-40B4-BE49-F238E27FC236}">
                  <a16:creationId xmlns:a16="http://schemas.microsoft.com/office/drawing/2014/main" id="{6B6BA5F4-ACF7-1C73-1094-A598F311B746}"/>
                </a:ext>
              </a:extLst>
            </p:cNvPr>
            <p:cNvSpPr>
              <a:spLocks noChangeArrowheads="1"/>
            </p:cNvSpPr>
            <p:nvPr/>
          </p:nvSpPr>
          <p:spPr bwMode="auto">
            <a:xfrm>
              <a:off x="1009" y="166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300">
                  <a:solidFill>
                    <a:srgbClr val="000000"/>
                  </a:solidFill>
                  <a:latin typeface="Times New Roman" panose="02020603050405020304" pitchFamily="18" charset="0"/>
                  <a:cs typeface="Arial" panose="020B0604020202020204" pitchFamily="34" charset="0"/>
                </a:rPr>
                <a:t>5</a:t>
              </a:r>
              <a:endParaRPr lang="en-US" altLang="zh-CN">
                <a:cs typeface="Arial" panose="020B0604020202020204" pitchFamily="34" charset="0"/>
              </a:endParaRPr>
            </a:p>
          </p:txBody>
        </p:sp>
        <p:sp>
          <p:nvSpPr>
            <p:cNvPr id="30903" name="Rectangle 182">
              <a:extLst>
                <a:ext uri="{FF2B5EF4-FFF2-40B4-BE49-F238E27FC236}">
                  <a16:creationId xmlns:a16="http://schemas.microsoft.com/office/drawing/2014/main" id="{77B866AC-F5F6-657F-A7BF-B9B39B473BEA}"/>
                </a:ext>
              </a:extLst>
            </p:cNvPr>
            <p:cNvSpPr>
              <a:spLocks noChangeArrowheads="1"/>
            </p:cNvSpPr>
            <p:nvPr/>
          </p:nvSpPr>
          <p:spPr bwMode="auto">
            <a:xfrm>
              <a:off x="1087" y="166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a:t>
              </a:r>
              <a:endParaRPr lang="en-US" altLang="zh-CN">
                <a:cs typeface="Arial" panose="020B0604020202020204" pitchFamily="34" charset="0"/>
              </a:endParaRPr>
            </a:p>
          </p:txBody>
        </p:sp>
        <p:sp>
          <p:nvSpPr>
            <p:cNvPr id="30904" name="Rectangle 183">
              <a:extLst>
                <a:ext uri="{FF2B5EF4-FFF2-40B4-BE49-F238E27FC236}">
                  <a16:creationId xmlns:a16="http://schemas.microsoft.com/office/drawing/2014/main" id="{BD8A509A-E88D-DE1A-C632-63344DE8AD42}"/>
                </a:ext>
              </a:extLst>
            </p:cNvPr>
            <p:cNvSpPr>
              <a:spLocks noChangeArrowheads="1"/>
            </p:cNvSpPr>
            <p:nvPr/>
          </p:nvSpPr>
          <p:spPr bwMode="auto">
            <a:xfrm>
              <a:off x="1186" y="1666"/>
              <a:ext cx="41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900">
                  <a:solidFill>
                    <a:srgbClr val="000000"/>
                  </a:solidFill>
                  <a:latin typeface="Times New Roman" panose="02020603050405020304" pitchFamily="18" charset="0"/>
                  <a:cs typeface="Arial" panose="020B0604020202020204" pitchFamily="34" charset="0"/>
                </a:rPr>
                <a:t>133 Pa</a:t>
              </a:r>
              <a:endParaRPr lang="en-US" altLang="zh-CN">
                <a:cs typeface="Arial" panose="020B0604020202020204" pitchFamily="34" charset="0"/>
              </a:endParaRPr>
            </a:p>
          </p:txBody>
        </p:sp>
        <p:sp>
          <p:nvSpPr>
            <p:cNvPr id="30905" name="Rectangle 184">
              <a:extLst>
                <a:ext uri="{FF2B5EF4-FFF2-40B4-BE49-F238E27FC236}">
                  <a16:creationId xmlns:a16="http://schemas.microsoft.com/office/drawing/2014/main" id="{A8997D40-8B6B-3AF4-4B27-81BE50548733}"/>
                </a:ext>
              </a:extLst>
            </p:cNvPr>
            <p:cNvSpPr>
              <a:spLocks noChangeArrowheads="1"/>
            </p:cNvSpPr>
            <p:nvPr/>
          </p:nvSpPr>
          <p:spPr bwMode="auto">
            <a:xfrm>
              <a:off x="1660" y="1016"/>
              <a:ext cx="1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06" name="Rectangle 185">
              <a:extLst>
                <a:ext uri="{FF2B5EF4-FFF2-40B4-BE49-F238E27FC236}">
                  <a16:creationId xmlns:a16="http://schemas.microsoft.com/office/drawing/2014/main" id="{5CABD040-B41F-002C-9840-77D07F51CA0C}"/>
                </a:ext>
              </a:extLst>
            </p:cNvPr>
            <p:cNvSpPr>
              <a:spLocks noChangeArrowheads="1"/>
            </p:cNvSpPr>
            <p:nvPr/>
          </p:nvSpPr>
          <p:spPr bwMode="auto">
            <a:xfrm>
              <a:off x="1815" y="1058"/>
              <a:ext cx="91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Fine Vacuum</a:t>
              </a:r>
              <a:endParaRPr lang="en-US" altLang="zh-CN">
                <a:cs typeface="Arial" panose="020B0604020202020204" pitchFamily="34" charset="0"/>
              </a:endParaRPr>
            </a:p>
          </p:txBody>
        </p:sp>
        <p:sp>
          <p:nvSpPr>
            <p:cNvPr id="30907" name="Rectangle 186">
              <a:extLst>
                <a:ext uri="{FF2B5EF4-FFF2-40B4-BE49-F238E27FC236}">
                  <a16:creationId xmlns:a16="http://schemas.microsoft.com/office/drawing/2014/main" id="{06FADF77-0465-14F7-B959-D7D01C59F96A}"/>
                </a:ext>
              </a:extLst>
            </p:cNvPr>
            <p:cNvSpPr>
              <a:spLocks noChangeArrowheads="1"/>
            </p:cNvSpPr>
            <p:nvPr/>
          </p:nvSpPr>
          <p:spPr bwMode="auto">
            <a:xfrm>
              <a:off x="463" y="1016"/>
              <a:ext cx="119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08" name="Rectangle 187">
              <a:extLst>
                <a:ext uri="{FF2B5EF4-FFF2-40B4-BE49-F238E27FC236}">
                  <a16:creationId xmlns:a16="http://schemas.microsoft.com/office/drawing/2014/main" id="{ADFD118D-D2C1-A1F4-169B-D7E923A43499}"/>
                </a:ext>
              </a:extLst>
            </p:cNvPr>
            <p:cNvSpPr>
              <a:spLocks noChangeArrowheads="1"/>
            </p:cNvSpPr>
            <p:nvPr/>
          </p:nvSpPr>
          <p:spPr bwMode="auto">
            <a:xfrm>
              <a:off x="595" y="1058"/>
              <a:ext cx="106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000000"/>
                  </a:solidFill>
                  <a:latin typeface="Times New Roman" panose="02020603050405020304" pitchFamily="18" charset="0"/>
                  <a:cs typeface="Arial" panose="020B0604020202020204" pitchFamily="34" charset="0"/>
                </a:rPr>
                <a:t>Rough Vacuum</a:t>
              </a:r>
              <a:endParaRPr lang="en-US" altLang="zh-CN">
                <a:cs typeface="Arial" panose="020B0604020202020204" pitchFamily="34" charset="0"/>
              </a:endParaRPr>
            </a:p>
          </p:txBody>
        </p:sp>
        <p:sp>
          <p:nvSpPr>
            <p:cNvPr id="30909" name="Rectangle 188">
              <a:extLst>
                <a:ext uri="{FF2B5EF4-FFF2-40B4-BE49-F238E27FC236}">
                  <a16:creationId xmlns:a16="http://schemas.microsoft.com/office/drawing/2014/main" id="{B8C2413D-19CF-5ED7-2BC8-0A1FE091F0D5}"/>
                </a:ext>
              </a:extLst>
            </p:cNvPr>
            <p:cNvSpPr>
              <a:spLocks noChangeArrowheads="1"/>
            </p:cNvSpPr>
            <p:nvPr/>
          </p:nvSpPr>
          <p:spPr bwMode="auto">
            <a:xfrm>
              <a:off x="4055" y="679"/>
              <a:ext cx="1332"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10" name="Rectangle 189">
              <a:extLst>
                <a:ext uri="{FF2B5EF4-FFF2-40B4-BE49-F238E27FC236}">
                  <a16:creationId xmlns:a16="http://schemas.microsoft.com/office/drawing/2014/main" id="{9D64D7B1-4105-6F83-1E2A-BEA2C67A2328}"/>
                </a:ext>
              </a:extLst>
            </p:cNvPr>
            <p:cNvSpPr>
              <a:spLocks noChangeArrowheads="1"/>
            </p:cNvSpPr>
            <p:nvPr/>
          </p:nvSpPr>
          <p:spPr bwMode="auto">
            <a:xfrm>
              <a:off x="4125" y="721"/>
              <a:ext cx="13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ULTRA VACUUM</a:t>
              </a:r>
              <a:endParaRPr lang="en-US" altLang="zh-CN">
                <a:cs typeface="Arial" panose="020B0604020202020204" pitchFamily="34" charset="0"/>
              </a:endParaRPr>
            </a:p>
          </p:txBody>
        </p:sp>
        <p:sp>
          <p:nvSpPr>
            <p:cNvPr id="30911" name="Rectangle 190">
              <a:extLst>
                <a:ext uri="{FF2B5EF4-FFF2-40B4-BE49-F238E27FC236}">
                  <a16:creationId xmlns:a16="http://schemas.microsoft.com/office/drawing/2014/main" id="{851B3716-B24C-F2BF-142C-F134952D4691}"/>
                </a:ext>
              </a:extLst>
            </p:cNvPr>
            <p:cNvSpPr>
              <a:spLocks noChangeArrowheads="1"/>
            </p:cNvSpPr>
            <p:nvPr/>
          </p:nvSpPr>
          <p:spPr bwMode="auto">
            <a:xfrm>
              <a:off x="2769" y="679"/>
              <a:ext cx="1287"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12" name="Rectangle 191">
              <a:extLst>
                <a:ext uri="{FF2B5EF4-FFF2-40B4-BE49-F238E27FC236}">
                  <a16:creationId xmlns:a16="http://schemas.microsoft.com/office/drawing/2014/main" id="{BBE68DDA-57A9-DD94-CAC0-6E7C8EDBCB77}"/>
                </a:ext>
              </a:extLst>
            </p:cNvPr>
            <p:cNvSpPr>
              <a:spLocks noChangeArrowheads="1"/>
            </p:cNvSpPr>
            <p:nvPr/>
          </p:nvSpPr>
          <p:spPr bwMode="auto">
            <a:xfrm>
              <a:off x="2879" y="721"/>
              <a:ext cx="120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HIGH VACUUM</a:t>
              </a:r>
              <a:endParaRPr lang="en-US" altLang="zh-CN">
                <a:cs typeface="Arial" panose="020B0604020202020204" pitchFamily="34" charset="0"/>
              </a:endParaRPr>
            </a:p>
          </p:txBody>
        </p:sp>
        <p:sp>
          <p:nvSpPr>
            <p:cNvPr id="30913" name="Rectangle 192">
              <a:extLst>
                <a:ext uri="{FF2B5EF4-FFF2-40B4-BE49-F238E27FC236}">
                  <a16:creationId xmlns:a16="http://schemas.microsoft.com/office/drawing/2014/main" id="{B5005205-F56D-D765-A469-936AAC9CCBD7}"/>
                </a:ext>
              </a:extLst>
            </p:cNvPr>
            <p:cNvSpPr>
              <a:spLocks noChangeArrowheads="1"/>
            </p:cNvSpPr>
            <p:nvPr/>
          </p:nvSpPr>
          <p:spPr bwMode="auto">
            <a:xfrm>
              <a:off x="463" y="679"/>
              <a:ext cx="230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14" name="Rectangle 193">
              <a:extLst>
                <a:ext uri="{FF2B5EF4-FFF2-40B4-BE49-F238E27FC236}">
                  <a16:creationId xmlns:a16="http://schemas.microsoft.com/office/drawing/2014/main" id="{DD8FF9A0-EB97-776D-1302-81875F9D2855}"/>
                </a:ext>
              </a:extLst>
            </p:cNvPr>
            <p:cNvSpPr>
              <a:spLocks noChangeArrowheads="1"/>
            </p:cNvSpPr>
            <p:nvPr/>
          </p:nvSpPr>
          <p:spPr bwMode="auto">
            <a:xfrm>
              <a:off x="1100" y="721"/>
              <a:ext cx="117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100">
                  <a:solidFill>
                    <a:srgbClr val="3333CC"/>
                  </a:solidFill>
                  <a:latin typeface="Times New Roman" panose="02020603050405020304" pitchFamily="18" charset="0"/>
                  <a:cs typeface="Arial" panose="020B0604020202020204" pitchFamily="34" charset="0"/>
                </a:rPr>
                <a:t>LOW VACUUM</a:t>
              </a:r>
              <a:endParaRPr lang="en-US" altLang="zh-CN">
                <a:cs typeface="Arial" panose="020B0604020202020204" pitchFamily="34" charset="0"/>
              </a:endParaRPr>
            </a:p>
          </p:txBody>
        </p:sp>
        <p:sp>
          <p:nvSpPr>
            <p:cNvPr id="30915" name="Rectangle 194">
              <a:extLst>
                <a:ext uri="{FF2B5EF4-FFF2-40B4-BE49-F238E27FC236}">
                  <a16:creationId xmlns:a16="http://schemas.microsoft.com/office/drawing/2014/main" id="{53FC6327-3561-F9DE-08A9-DBE451BB9EBF}"/>
                </a:ext>
              </a:extLst>
            </p:cNvPr>
            <p:cNvSpPr>
              <a:spLocks noChangeArrowheads="1"/>
            </p:cNvSpPr>
            <p:nvPr/>
          </p:nvSpPr>
          <p:spPr bwMode="auto">
            <a:xfrm>
              <a:off x="455" y="669"/>
              <a:ext cx="4939"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16" name="Line 195">
              <a:extLst>
                <a:ext uri="{FF2B5EF4-FFF2-40B4-BE49-F238E27FC236}">
                  <a16:creationId xmlns:a16="http://schemas.microsoft.com/office/drawing/2014/main" id="{BE3360A3-CA04-4DBA-3F5D-0E610DF93605}"/>
                </a:ext>
              </a:extLst>
            </p:cNvPr>
            <p:cNvSpPr>
              <a:spLocks noChangeShapeType="1"/>
            </p:cNvSpPr>
            <p:nvPr/>
          </p:nvSpPr>
          <p:spPr bwMode="auto">
            <a:xfrm>
              <a:off x="463" y="1016"/>
              <a:ext cx="2306"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17" name="Line 196">
              <a:extLst>
                <a:ext uri="{FF2B5EF4-FFF2-40B4-BE49-F238E27FC236}">
                  <a16:creationId xmlns:a16="http://schemas.microsoft.com/office/drawing/2014/main" id="{465D6945-5612-6C10-A2D1-F853A9B22C2E}"/>
                </a:ext>
              </a:extLst>
            </p:cNvPr>
            <p:cNvSpPr>
              <a:spLocks noChangeShapeType="1"/>
            </p:cNvSpPr>
            <p:nvPr/>
          </p:nvSpPr>
          <p:spPr bwMode="auto">
            <a:xfrm>
              <a:off x="463" y="131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18" name="Line 197">
              <a:extLst>
                <a:ext uri="{FF2B5EF4-FFF2-40B4-BE49-F238E27FC236}">
                  <a16:creationId xmlns:a16="http://schemas.microsoft.com/office/drawing/2014/main" id="{6D1730BE-7D76-F68A-E351-0410566DC52B}"/>
                </a:ext>
              </a:extLst>
            </p:cNvPr>
            <p:cNvSpPr>
              <a:spLocks noChangeShapeType="1"/>
            </p:cNvSpPr>
            <p:nvPr/>
          </p:nvSpPr>
          <p:spPr bwMode="auto">
            <a:xfrm>
              <a:off x="463" y="1926"/>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19" name="Rectangle 198">
              <a:extLst>
                <a:ext uri="{FF2B5EF4-FFF2-40B4-BE49-F238E27FC236}">
                  <a16:creationId xmlns:a16="http://schemas.microsoft.com/office/drawing/2014/main" id="{B784AE99-D67C-86BA-3395-0347331AE27E}"/>
                </a:ext>
              </a:extLst>
            </p:cNvPr>
            <p:cNvSpPr>
              <a:spLocks noChangeArrowheads="1"/>
            </p:cNvSpPr>
            <p:nvPr/>
          </p:nvSpPr>
          <p:spPr bwMode="auto">
            <a:xfrm>
              <a:off x="455" y="3803"/>
              <a:ext cx="4939" cy="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20" name="Rectangle 199">
              <a:extLst>
                <a:ext uri="{FF2B5EF4-FFF2-40B4-BE49-F238E27FC236}">
                  <a16:creationId xmlns:a16="http://schemas.microsoft.com/office/drawing/2014/main" id="{77DC9163-3C8A-E806-76AB-B5F77CAB6811}"/>
                </a:ext>
              </a:extLst>
            </p:cNvPr>
            <p:cNvSpPr>
              <a:spLocks noChangeArrowheads="1"/>
            </p:cNvSpPr>
            <p:nvPr/>
          </p:nvSpPr>
          <p:spPr bwMode="auto">
            <a:xfrm>
              <a:off x="455" y="669"/>
              <a:ext cx="16" cy="3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21" name="Line 200">
              <a:extLst>
                <a:ext uri="{FF2B5EF4-FFF2-40B4-BE49-F238E27FC236}">
                  <a16:creationId xmlns:a16="http://schemas.microsoft.com/office/drawing/2014/main" id="{B8BC93B0-A4AF-F1E5-395A-7031526EF1F0}"/>
                </a:ext>
              </a:extLst>
            </p:cNvPr>
            <p:cNvSpPr>
              <a:spLocks noChangeShapeType="1"/>
            </p:cNvSpPr>
            <p:nvPr/>
          </p:nvSpPr>
          <p:spPr bwMode="auto">
            <a:xfrm>
              <a:off x="2769" y="679"/>
              <a:ext cx="1" cy="3134"/>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2" name="Line 201">
              <a:extLst>
                <a:ext uri="{FF2B5EF4-FFF2-40B4-BE49-F238E27FC236}">
                  <a16:creationId xmlns:a16="http://schemas.microsoft.com/office/drawing/2014/main" id="{C510304F-6A58-B268-B7A4-00BF2E6EA12A}"/>
                </a:ext>
              </a:extLst>
            </p:cNvPr>
            <p:cNvSpPr>
              <a:spLocks noChangeShapeType="1"/>
            </p:cNvSpPr>
            <p:nvPr/>
          </p:nvSpPr>
          <p:spPr bwMode="auto">
            <a:xfrm>
              <a:off x="4055" y="679"/>
              <a:ext cx="1" cy="215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3" name="Rectangle 202">
              <a:extLst>
                <a:ext uri="{FF2B5EF4-FFF2-40B4-BE49-F238E27FC236}">
                  <a16:creationId xmlns:a16="http://schemas.microsoft.com/office/drawing/2014/main" id="{ADCDAF8C-A9F2-4079-7619-D12CD14ABBF0}"/>
                </a:ext>
              </a:extLst>
            </p:cNvPr>
            <p:cNvSpPr>
              <a:spLocks noChangeArrowheads="1"/>
            </p:cNvSpPr>
            <p:nvPr/>
          </p:nvSpPr>
          <p:spPr bwMode="auto">
            <a:xfrm>
              <a:off x="5377" y="669"/>
              <a:ext cx="17" cy="31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0924" name="Line 203">
              <a:extLst>
                <a:ext uri="{FF2B5EF4-FFF2-40B4-BE49-F238E27FC236}">
                  <a16:creationId xmlns:a16="http://schemas.microsoft.com/office/drawing/2014/main" id="{EAD611A0-5034-843A-D74E-32B4F69527BE}"/>
                </a:ext>
              </a:extLst>
            </p:cNvPr>
            <p:cNvSpPr>
              <a:spLocks noChangeShapeType="1"/>
            </p:cNvSpPr>
            <p:nvPr/>
          </p:nvSpPr>
          <p:spPr bwMode="auto">
            <a:xfrm>
              <a:off x="463" y="1622"/>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5" name="Line 204">
              <a:extLst>
                <a:ext uri="{FF2B5EF4-FFF2-40B4-BE49-F238E27FC236}">
                  <a16:creationId xmlns:a16="http://schemas.microsoft.com/office/drawing/2014/main" id="{4171E739-B0EC-DCEB-ED6C-558243901F77}"/>
                </a:ext>
              </a:extLst>
            </p:cNvPr>
            <p:cNvSpPr>
              <a:spLocks noChangeShapeType="1"/>
            </p:cNvSpPr>
            <p:nvPr/>
          </p:nvSpPr>
          <p:spPr bwMode="auto">
            <a:xfrm>
              <a:off x="1660" y="1016"/>
              <a:ext cx="1" cy="1819"/>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6" name="Line 205">
              <a:extLst>
                <a:ext uri="{FF2B5EF4-FFF2-40B4-BE49-F238E27FC236}">
                  <a16:creationId xmlns:a16="http://schemas.microsoft.com/office/drawing/2014/main" id="{9B77F039-824A-AE49-2B7F-2354D42D6600}"/>
                </a:ext>
              </a:extLst>
            </p:cNvPr>
            <p:cNvSpPr>
              <a:spLocks noChangeShapeType="1"/>
            </p:cNvSpPr>
            <p:nvPr/>
          </p:nvSpPr>
          <p:spPr bwMode="auto">
            <a:xfrm>
              <a:off x="463" y="222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7" name="Line 206">
              <a:extLst>
                <a:ext uri="{FF2B5EF4-FFF2-40B4-BE49-F238E27FC236}">
                  <a16:creationId xmlns:a16="http://schemas.microsoft.com/office/drawing/2014/main" id="{9C09739F-C616-647A-057E-50512AADD1B1}"/>
                </a:ext>
              </a:extLst>
            </p:cNvPr>
            <p:cNvSpPr>
              <a:spLocks noChangeShapeType="1"/>
            </p:cNvSpPr>
            <p:nvPr/>
          </p:nvSpPr>
          <p:spPr bwMode="auto">
            <a:xfrm>
              <a:off x="463" y="2532"/>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8" name="Line 207">
              <a:extLst>
                <a:ext uri="{FF2B5EF4-FFF2-40B4-BE49-F238E27FC236}">
                  <a16:creationId xmlns:a16="http://schemas.microsoft.com/office/drawing/2014/main" id="{5B2CFDB5-1220-CE1C-4529-3C44C1930FF0}"/>
                </a:ext>
              </a:extLst>
            </p:cNvPr>
            <p:cNvSpPr>
              <a:spLocks noChangeShapeType="1"/>
            </p:cNvSpPr>
            <p:nvPr/>
          </p:nvSpPr>
          <p:spPr bwMode="auto">
            <a:xfrm>
              <a:off x="463" y="3139"/>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29" name="Line 208">
              <a:extLst>
                <a:ext uri="{FF2B5EF4-FFF2-40B4-BE49-F238E27FC236}">
                  <a16:creationId xmlns:a16="http://schemas.microsoft.com/office/drawing/2014/main" id="{7EE3B6B3-E428-A08C-89B9-57ADC8C78CE5}"/>
                </a:ext>
              </a:extLst>
            </p:cNvPr>
            <p:cNvSpPr>
              <a:spLocks noChangeShapeType="1"/>
            </p:cNvSpPr>
            <p:nvPr/>
          </p:nvSpPr>
          <p:spPr bwMode="auto">
            <a:xfrm>
              <a:off x="463" y="2835"/>
              <a:ext cx="492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0930" name="Line 209">
              <a:extLst>
                <a:ext uri="{FF2B5EF4-FFF2-40B4-BE49-F238E27FC236}">
                  <a16:creationId xmlns:a16="http://schemas.microsoft.com/office/drawing/2014/main" id="{EF419439-7C82-1C96-AA0D-4381FF4BE34C}"/>
                </a:ext>
              </a:extLst>
            </p:cNvPr>
            <p:cNvSpPr>
              <a:spLocks noChangeShapeType="1"/>
            </p:cNvSpPr>
            <p:nvPr/>
          </p:nvSpPr>
          <p:spPr bwMode="auto">
            <a:xfrm>
              <a:off x="4055" y="3139"/>
              <a:ext cx="1" cy="674"/>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HK"/>
            </a:p>
          </p:txBody>
        </p:sp>
        <p:pic>
          <p:nvPicPr>
            <p:cNvPr id="30931" name="Picture 210">
              <a:extLst>
                <a:ext uri="{FF2B5EF4-FFF2-40B4-BE49-F238E27FC236}">
                  <a16:creationId xmlns:a16="http://schemas.microsoft.com/office/drawing/2014/main" id="{9E68F4FD-0642-E942-D9B2-D9E0CDF25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 y="3189"/>
              <a:ext cx="84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2" name="Picture 211">
              <a:extLst>
                <a:ext uri="{FF2B5EF4-FFF2-40B4-BE49-F238E27FC236}">
                  <a16:creationId xmlns:a16="http://schemas.microsoft.com/office/drawing/2014/main" id="{B8356F5C-0677-90B2-3916-858E73332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 y="3189"/>
              <a:ext cx="106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3" name="Picture 212">
              <a:extLst>
                <a:ext uri="{FF2B5EF4-FFF2-40B4-BE49-F238E27FC236}">
                  <a16:creationId xmlns:a16="http://schemas.microsoft.com/office/drawing/2014/main" id="{F33AB23B-684B-8425-4C5E-676811E55F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6" y="3240"/>
              <a:ext cx="621"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2">
            <a:extLst>
              <a:ext uri="{FF2B5EF4-FFF2-40B4-BE49-F238E27FC236}">
                <a16:creationId xmlns:a16="http://schemas.microsoft.com/office/drawing/2014/main" id="{49315AF5-0A48-344C-F5B0-DF44F2D6BD56}"/>
              </a:ext>
            </a:extLst>
          </p:cNvPr>
          <p:cNvSpPr>
            <a:spLocks/>
          </p:cNvSpPr>
          <p:nvPr/>
        </p:nvSpPr>
        <p:spPr bwMode="auto">
          <a:xfrm>
            <a:off x="1160463" y="3765550"/>
            <a:ext cx="2305050" cy="2306638"/>
          </a:xfrm>
          <a:custGeom>
            <a:avLst/>
            <a:gdLst>
              <a:gd name="T0" fmla="*/ 1270000 w 1452"/>
              <a:gd name="T1" fmla="*/ 2298701 h 1453"/>
              <a:gd name="T2" fmla="*/ 1438275 w 1452"/>
              <a:gd name="T3" fmla="*/ 2271713 h 1453"/>
              <a:gd name="T4" fmla="*/ 1600200 w 1452"/>
              <a:gd name="T5" fmla="*/ 2214563 h 1453"/>
              <a:gd name="T6" fmla="*/ 1749425 w 1452"/>
              <a:gd name="T7" fmla="*/ 2139951 h 1453"/>
              <a:gd name="T8" fmla="*/ 1885950 w 1452"/>
              <a:gd name="T9" fmla="*/ 2041526 h 1453"/>
              <a:gd name="T10" fmla="*/ 2006600 w 1452"/>
              <a:gd name="T11" fmla="*/ 1928813 h 1453"/>
              <a:gd name="T12" fmla="*/ 2108200 w 1452"/>
              <a:gd name="T13" fmla="*/ 1798638 h 1453"/>
              <a:gd name="T14" fmla="*/ 2189163 w 1452"/>
              <a:gd name="T15" fmla="*/ 1654176 h 1453"/>
              <a:gd name="T16" fmla="*/ 2252663 w 1452"/>
              <a:gd name="T17" fmla="*/ 1495425 h 1453"/>
              <a:gd name="T18" fmla="*/ 2292350 w 1452"/>
              <a:gd name="T19" fmla="*/ 1328738 h 1453"/>
              <a:gd name="T20" fmla="*/ 2305050 w 1452"/>
              <a:gd name="T21" fmla="*/ 1152525 h 1453"/>
              <a:gd name="T22" fmla="*/ 2292350 w 1452"/>
              <a:gd name="T23" fmla="*/ 981075 h 1453"/>
              <a:gd name="T24" fmla="*/ 2252663 w 1452"/>
              <a:gd name="T25" fmla="*/ 811213 h 1453"/>
              <a:gd name="T26" fmla="*/ 2189163 w 1452"/>
              <a:gd name="T27" fmla="*/ 655638 h 1453"/>
              <a:gd name="T28" fmla="*/ 2108200 w 1452"/>
              <a:gd name="T29" fmla="*/ 511175 h 1453"/>
              <a:gd name="T30" fmla="*/ 2006600 w 1452"/>
              <a:gd name="T31" fmla="*/ 381000 h 1453"/>
              <a:gd name="T32" fmla="*/ 1885950 w 1452"/>
              <a:gd name="T33" fmla="*/ 265113 h 1453"/>
              <a:gd name="T34" fmla="*/ 1749425 w 1452"/>
              <a:gd name="T35" fmla="*/ 169863 h 1453"/>
              <a:gd name="T36" fmla="*/ 1600200 w 1452"/>
              <a:gd name="T37" fmla="*/ 92075 h 1453"/>
              <a:gd name="T38" fmla="*/ 1438275 w 1452"/>
              <a:gd name="T39" fmla="*/ 38100 h 1453"/>
              <a:gd name="T40" fmla="*/ 1270000 w 1452"/>
              <a:gd name="T41" fmla="*/ 6350 h 1453"/>
              <a:gd name="T42" fmla="*/ 1093788 w 1452"/>
              <a:gd name="T43" fmla="*/ 3175 h 1453"/>
              <a:gd name="T44" fmla="*/ 920750 w 1452"/>
              <a:gd name="T45" fmla="*/ 23813 h 1453"/>
              <a:gd name="T46" fmla="*/ 758825 w 1452"/>
              <a:gd name="T47" fmla="*/ 69850 h 1453"/>
              <a:gd name="T48" fmla="*/ 603250 w 1452"/>
              <a:gd name="T49" fmla="*/ 141288 h 1453"/>
              <a:gd name="T50" fmla="*/ 461963 w 1452"/>
              <a:gd name="T51" fmla="*/ 228600 h 1453"/>
              <a:gd name="T52" fmla="*/ 338137 w 1452"/>
              <a:gd name="T53" fmla="*/ 338138 h 1453"/>
              <a:gd name="T54" fmla="*/ 228600 w 1452"/>
              <a:gd name="T55" fmla="*/ 465138 h 1453"/>
              <a:gd name="T56" fmla="*/ 141288 w 1452"/>
              <a:gd name="T57" fmla="*/ 606425 h 1453"/>
              <a:gd name="T58" fmla="*/ 71438 w 1452"/>
              <a:gd name="T59" fmla="*/ 758825 h 1453"/>
              <a:gd name="T60" fmla="*/ 25400 w 1452"/>
              <a:gd name="T61" fmla="*/ 920750 h 1453"/>
              <a:gd name="T62" fmla="*/ 0 w 1452"/>
              <a:gd name="T63" fmla="*/ 1093788 h 1453"/>
              <a:gd name="T64" fmla="*/ 7938 w 1452"/>
              <a:gd name="T65" fmla="*/ 1273175 h 1453"/>
              <a:gd name="T66" fmla="*/ 34925 w 1452"/>
              <a:gd name="T67" fmla="*/ 1443038 h 1453"/>
              <a:gd name="T68" fmla="*/ 92075 w 1452"/>
              <a:gd name="T69" fmla="*/ 1601788 h 1453"/>
              <a:gd name="T70" fmla="*/ 165100 w 1452"/>
              <a:gd name="T71" fmla="*/ 1749426 h 1453"/>
              <a:gd name="T72" fmla="*/ 265113 w 1452"/>
              <a:gd name="T73" fmla="*/ 1887538 h 1453"/>
              <a:gd name="T74" fmla="*/ 377825 w 1452"/>
              <a:gd name="T75" fmla="*/ 2006601 h 1453"/>
              <a:gd name="T76" fmla="*/ 508000 w 1452"/>
              <a:gd name="T77" fmla="*/ 2108201 h 1453"/>
              <a:gd name="T78" fmla="*/ 652462 w 1452"/>
              <a:gd name="T79" fmla="*/ 2193926 h 1453"/>
              <a:gd name="T80" fmla="*/ 811212 w 1452"/>
              <a:gd name="T81" fmla="*/ 2254251 h 1453"/>
              <a:gd name="T82" fmla="*/ 976313 w 1452"/>
              <a:gd name="T83" fmla="*/ 2292351 h 1453"/>
              <a:gd name="T84" fmla="*/ 1152525 w 1452"/>
              <a:gd name="T85" fmla="*/ 2306638 h 14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52"/>
              <a:gd name="T130" fmla="*/ 0 h 1453"/>
              <a:gd name="T131" fmla="*/ 1452 w 1452"/>
              <a:gd name="T132" fmla="*/ 1453 h 14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52" h="1453">
                <a:moveTo>
                  <a:pt x="726" y="1453"/>
                </a:moveTo>
                <a:lnTo>
                  <a:pt x="764" y="1453"/>
                </a:lnTo>
                <a:lnTo>
                  <a:pt x="800" y="1448"/>
                </a:lnTo>
                <a:lnTo>
                  <a:pt x="837" y="1444"/>
                </a:lnTo>
                <a:lnTo>
                  <a:pt x="873" y="1437"/>
                </a:lnTo>
                <a:lnTo>
                  <a:pt x="906" y="1431"/>
                </a:lnTo>
                <a:lnTo>
                  <a:pt x="942" y="1420"/>
                </a:lnTo>
                <a:lnTo>
                  <a:pt x="975" y="1408"/>
                </a:lnTo>
                <a:lnTo>
                  <a:pt x="1008" y="1395"/>
                </a:lnTo>
                <a:lnTo>
                  <a:pt x="1039" y="1382"/>
                </a:lnTo>
                <a:lnTo>
                  <a:pt x="1070" y="1366"/>
                </a:lnTo>
                <a:lnTo>
                  <a:pt x="1102" y="1348"/>
                </a:lnTo>
                <a:lnTo>
                  <a:pt x="1130" y="1328"/>
                </a:lnTo>
                <a:lnTo>
                  <a:pt x="1159" y="1308"/>
                </a:lnTo>
                <a:lnTo>
                  <a:pt x="1188" y="1286"/>
                </a:lnTo>
                <a:lnTo>
                  <a:pt x="1213" y="1264"/>
                </a:lnTo>
                <a:lnTo>
                  <a:pt x="1239" y="1240"/>
                </a:lnTo>
                <a:lnTo>
                  <a:pt x="1264" y="1215"/>
                </a:lnTo>
                <a:lnTo>
                  <a:pt x="1286" y="1189"/>
                </a:lnTo>
                <a:lnTo>
                  <a:pt x="1308" y="1162"/>
                </a:lnTo>
                <a:lnTo>
                  <a:pt x="1328" y="1133"/>
                </a:lnTo>
                <a:lnTo>
                  <a:pt x="1346" y="1102"/>
                </a:lnTo>
                <a:lnTo>
                  <a:pt x="1364" y="1073"/>
                </a:lnTo>
                <a:lnTo>
                  <a:pt x="1379" y="1042"/>
                </a:lnTo>
                <a:lnTo>
                  <a:pt x="1395" y="1009"/>
                </a:lnTo>
                <a:lnTo>
                  <a:pt x="1408" y="975"/>
                </a:lnTo>
                <a:lnTo>
                  <a:pt x="1419" y="942"/>
                </a:lnTo>
                <a:lnTo>
                  <a:pt x="1428" y="909"/>
                </a:lnTo>
                <a:lnTo>
                  <a:pt x="1437" y="873"/>
                </a:lnTo>
                <a:lnTo>
                  <a:pt x="1444" y="837"/>
                </a:lnTo>
                <a:lnTo>
                  <a:pt x="1448" y="802"/>
                </a:lnTo>
                <a:lnTo>
                  <a:pt x="1450" y="764"/>
                </a:lnTo>
                <a:lnTo>
                  <a:pt x="1452" y="726"/>
                </a:lnTo>
                <a:lnTo>
                  <a:pt x="1450" y="689"/>
                </a:lnTo>
                <a:lnTo>
                  <a:pt x="1448" y="653"/>
                </a:lnTo>
                <a:lnTo>
                  <a:pt x="1444" y="618"/>
                </a:lnTo>
                <a:lnTo>
                  <a:pt x="1437" y="580"/>
                </a:lnTo>
                <a:lnTo>
                  <a:pt x="1428" y="546"/>
                </a:lnTo>
                <a:lnTo>
                  <a:pt x="1419" y="511"/>
                </a:lnTo>
                <a:lnTo>
                  <a:pt x="1408" y="478"/>
                </a:lnTo>
                <a:lnTo>
                  <a:pt x="1395" y="444"/>
                </a:lnTo>
                <a:lnTo>
                  <a:pt x="1379" y="413"/>
                </a:lnTo>
                <a:lnTo>
                  <a:pt x="1364" y="382"/>
                </a:lnTo>
                <a:lnTo>
                  <a:pt x="1346" y="351"/>
                </a:lnTo>
                <a:lnTo>
                  <a:pt x="1328" y="322"/>
                </a:lnTo>
                <a:lnTo>
                  <a:pt x="1308" y="293"/>
                </a:lnTo>
                <a:lnTo>
                  <a:pt x="1286" y="264"/>
                </a:lnTo>
                <a:lnTo>
                  <a:pt x="1264" y="240"/>
                </a:lnTo>
                <a:lnTo>
                  <a:pt x="1239" y="213"/>
                </a:lnTo>
                <a:lnTo>
                  <a:pt x="1213" y="189"/>
                </a:lnTo>
                <a:lnTo>
                  <a:pt x="1188" y="167"/>
                </a:lnTo>
                <a:lnTo>
                  <a:pt x="1159" y="144"/>
                </a:lnTo>
                <a:lnTo>
                  <a:pt x="1130" y="124"/>
                </a:lnTo>
                <a:lnTo>
                  <a:pt x="1102" y="107"/>
                </a:lnTo>
                <a:lnTo>
                  <a:pt x="1070" y="89"/>
                </a:lnTo>
                <a:lnTo>
                  <a:pt x="1039" y="73"/>
                </a:lnTo>
                <a:lnTo>
                  <a:pt x="1008" y="58"/>
                </a:lnTo>
                <a:lnTo>
                  <a:pt x="975" y="44"/>
                </a:lnTo>
                <a:lnTo>
                  <a:pt x="942" y="33"/>
                </a:lnTo>
                <a:lnTo>
                  <a:pt x="906" y="24"/>
                </a:lnTo>
                <a:lnTo>
                  <a:pt x="873" y="15"/>
                </a:lnTo>
                <a:lnTo>
                  <a:pt x="837" y="9"/>
                </a:lnTo>
                <a:lnTo>
                  <a:pt x="800" y="4"/>
                </a:lnTo>
                <a:lnTo>
                  <a:pt x="764" y="2"/>
                </a:lnTo>
                <a:lnTo>
                  <a:pt x="726" y="0"/>
                </a:lnTo>
                <a:lnTo>
                  <a:pt x="689" y="2"/>
                </a:lnTo>
                <a:lnTo>
                  <a:pt x="653" y="4"/>
                </a:lnTo>
                <a:lnTo>
                  <a:pt x="615" y="9"/>
                </a:lnTo>
                <a:lnTo>
                  <a:pt x="580" y="15"/>
                </a:lnTo>
                <a:lnTo>
                  <a:pt x="544" y="24"/>
                </a:lnTo>
                <a:lnTo>
                  <a:pt x="511" y="33"/>
                </a:lnTo>
                <a:lnTo>
                  <a:pt x="478" y="44"/>
                </a:lnTo>
                <a:lnTo>
                  <a:pt x="444" y="58"/>
                </a:lnTo>
                <a:lnTo>
                  <a:pt x="411" y="73"/>
                </a:lnTo>
                <a:lnTo>
                  <a:pt x="380" y="89"/>
                </a:lnTo>
                <a:lnTo>
                  <a:pt x="351" y="107"/>
                </a:lnTo>
                <a:lnTo>
                  <a:pt x="320" y="124"/>
                </a:lnTo>
                <a:lnTo>
                  <a:pt x="291" y="144"/>
                </a:lnTo>
                <a:lnTo>
                  <a:pt x="264" y="167"/>
                </a:lnTo>
                <a:lnTo>
                  <a:pt x="238" y="189"/>
                </a:lnTo>
                <a:lnTo>
                  <a:pt x="213" y="213"/>
                </a:lnTo>
                <a:lnTo>
                  <a:pt x="189" y="240"/>
                </a:lnTo>
                <a:lnTo>
                  <a:pt x="167" y="264"/>
                </a:lnTo>
                <a:lnTo>
                  <a:pt x="144" y="293"/>
                </a:lnTo>
                <a:lnTo>
                  <a:pt x="124" y="322"/>
                </a:lnTo>
                <a:lnTo>
                  <a:pt x="104" y="351"/>
                </a:lnTo>
                <a:lnTo>
                  <a:pt x="89" y="382"/>
                </a:lnTo>
                <a:lnTo>
                  <a:pt x="71" y="413"/>
                </a:lnTo>
                <a:lnTo>
                  <a:pt x="58" y="444"/>
                </a:lnTo>
                <a:lnTo>
                  <a:pt x="45" y="478"/>
                </a:lnTo>
                <a:lnTo>
                  <a:pt x="33" y="511"/>
                </a:lnTo>
                <a:lnTo>
                  <a:pt x="22" y="546"/>
                </a:lnTo>
                <a:lnTo>
                  <a:pt x="16" y="580"/>
                </a:lnTo>
                <a:lnTo>
                  <a:pt x="9" y="618"/>
                </a:lnTo>
                <a:lnTo>
                  <a:pt x="5" y="653"/>
                </a:lnTo>
                <a:lnTo>
                  <a:pt x="0" y="689"/>
                </a:lnTo>
                <a:lnTo>
                  <a:pt x="0" y="726"/>
                </a:lnTo>
                <a:lnTo>
                  <a:pt x="0" y="764"/>
                </a:lnTo>
                <a:lnTo>
                  <a:pt x="5" y="802"/>
                </a:lnTo>
                <a:lnTo>
                  <a:pt x="9" y="837"/>
                </a:lnTo>
                <a:lnTo>
                  <a:pt x="16" y="873"/>
                </a:lnTo>
                <a:lnTo>
                  <a:pt x="22" y="909"/>
                </a:lnTo>
                <a:lnTo>
                  <a:pt x="33" y="942"/>
                </a:lnTo>
                <a:lnTo>
                  <a:pt x="45" y="975"/>
                </a:lnTo>
                <a:lnTo>
                  <a:pt x="58" y="1009"/>
                </a:lnTo>
                <a:lnTo>
                  <a:pt x="71" y="1042"/>
                </a:lnTo>
                <a:lnTo>
                  <a:pt x="89" y="1073"/>
                </a:lnTo>
                <a:lnTo>
                  <a:pt x="104" y="1102"/>
                </a:lnTo>
                <a:lnTo>
                  <a:pt x="124" y="1133"/>
                </a:lnTo>
                <a:lnTo>
                  <a:pt x="144" y="1162"/>
                </a:lnTo>
                <a:lnTo>
                  <a:pt x="167" y="1189"/>
                </a:lnTo>
                <a:lnTo>
                  <a:pt x="189" y="1215"/>
                </a:lnTo>
                <a:lnTo>
                  <a:pt x="213" y="1240"/>
                </a:lnTo>
                <a:lnTo>
                  <a:pt x="238" y="1264"/>
                </a:lnTo>
                <a:lnTo>
                  <a:pt x="264" y="1286"/>
                </a:lnTo>
                <a:lnTo>
                  <a:pt x="291" y="1308"/>
                </a:lnTo>
                <a:lnTo>
                  <a:pt x="320" y="1328"/>
                </a:lnTo>
                <a:lnTo>
                  <a:pt x="351" y="1348"/>
                </a:lnTo>
                <a:lnTo>
                  <a:pt x="380" y="1366"/>
                </a:lnTo>
                <a:lnTo>
                  <a:pt x="411" y="1382"/>
                </a:lnTo>
                <a:lnTo>
                  <a:pt x="444" y="1395"/>
                </a:lnTo>
                <a:lnTo>
                  <a:pt x="478" y="1408"/>
                </a:lnTo>
                <a:lnTo>
                  <a:pt x="511" y="1420"/>
                </a:lnTo>
                <a:lnTo>
                  <a:pt x="544" y="1431"/>
                </a:lnTo>
                <a:lnTo>
                  <a:pt x="580" y="1437"/>
                </a:lnTo>
                <a:lnTo>
                  <a:pt x="615" y="1444"/>
                </a:lnTo>
                <a:lnTo>
                  <a:pt x="653" y="1448"/>
                </a:lnTo>
                <a:lnTo>
                  <a:pt x="689" y="1453"/>
                </a:lnTo>
                <a:lnTo>
                  <a:pt x="726" y="1453"/>
                </a:lnTo>
                <a:close/>
              </a:path>
            </a:pathLst>
          </a:custGeom>
          <a:solidFill>
            <a:srgbClr val="AA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31747" name="Rectangle 6">
            <a:extLst>
              <a:ext uri="{FF2B5EF4-FFF2-40B4-BE49-F238E27FC236}">
                <a16:creationId xmlns:a16="http://schemas.microsoft.com/office/drawing/2014/main" id="{E23521BE-5CB3-F20F-C515-D4CED48A6FEB}"/>
              </a:ext>
            </a:extLst>
          </p:cNvPr>
          <p:cNvSpPr>
            <a:spLocks noChangeArrowheads="1"/>
          </p:cNvSpPr>
          <p:nvPr/>
        </p:nvSpPr>
        <p:spPr bwMode="auto">
          <a:xfrm>
            <a:off x="4572000" y="3644900"/>
            <a:ext cx="3384550" cy="6223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48" name="Rectangle 7">
            <a:extLst>
              <a:ext uri="{FF2B5EF4-FFF2-40B4-BE49-F238E27FC236}">
                <a16:creationId xmlns:a16="http://schemas.microsoft.com/office/drawing/2014/main" id="{AE02EF99-2902-7033-7A72-9683666BA98A}"/>
              </a:ext>
            </a:extLst>
          </p:cNvPr>
          <p:cNvSpPr>
            <a:spLocks noChangeArrowheads="1"/>
          </p:cNvSpPr>
          <p:nvPr/>
        </p:nvSpPr>
        <p:spPr bwMode="auto">
          <a:xfrm>
            <a:off x="609600" y="228599"/>
            <a:ext cx="7772400"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dirty="0">
                <a:latin typeface="Times New Roman" panose="02020603050405020304" pitchFamily="18" charset="0"/>
                <a:ea typeface="新細明體" panose="02020500000000000000" pitchFamily="18" charset="-120"/>
              </a:rPr>
              <a:t>Realization of vacuum</a:t>
            </a:r>
          </a:p>
        </p:txBody>
      </p:sp>
      <p:sp>
        <p:nvSpPr>
          <p:cNvPr id="31749" name="Rectangle 8">
            <a:extLst>
              <a:ext uri="{FF2B5EF4-FFF2-40B4-BE49-F238E27FC236}">
                <a16:creationId xmlns:a16="http://schemas.microsoft.com/office/drawing/2014/main" id="{6F6EB6AE-2090-B982-1156-5EBD593BE20D}"/>
              </a:ext>
            </a:extLst>
          </p:cNvPr>
          <p:cNvSpPr>
            <a:spLocks noChangeArrowheads="1"/>
          </p:cNvSpPr>
          <p:nvPr/>
        </p:nvSpPr>
        <p:spPr bwMode="auto">
          <a:xfrm>
            <a:off x="762000" y="1219200"/>
            <a:ext cx="7543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000">
                <a:latin typeface="Times New Roman" panose="02020603050405020304" pitchFamily="18" charset="0"/>
                <a:ea typeface="新細明體" panose="02020500000000000000" pitchFamily="18" charset="-120"/>
                <a:cs typeface="Arial" panose="020B0604020202020204" pitchFamily="34" charset="0"/>
              </a:rPr>
              <a:t>  A vacuum in a vacuum chamber is generated by a series of pumping through a series of pipes, feedthroughs, fittings and valves and the pressure is monitored by appropriate pressure gauges.</a:t>
            </a:r>
          </a:p>
        </p:txBody>
      </p:sp>
      <p:sp>
        <p:nvSpPr>
          <p:cNvPr id="31750" name="Text Box 9">
            <a:extLst>
              <a:ext uri="{FF2B5EF4-FFF2-40B4-BE49-F238E27FC236}">
                <a16:creationId xmlns:a16="http://schemas.microsoft.com/office/drawing/2014/main" id="{28F968CB-36EB-D6EC-1E28-AB570C394578}"/>
              </a:ext>
            </a:extLst>
          </p:cNvPr>
          <p:cNvSpPr txBox="1">
            <a:spLocks noChangeArrowheads="1"/>
          </p:cNvSpPr>
          <p:nvPr/>
        </p:nvSpPr>
        <p:spPr bwMode="auto">
          <a:xfrm>
            <a:off x="1752600" y="2393950"/>
            <a:ext cx="4911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TW" altLang="en-US">
                <a:solidFill>
                  <a:schemeClr val="bg2"/>
                </a:solidFill>
                <a:latin typeface="Times New Roman" panose="02020603050405020304" pitchFamily="18" charset="0"/>
                <a:ea typeface="新細明體" panose="02020500000000000000" pitchFamily="18" charset="-120"/>
                <a:cs typeface="Arial" panose="020B0604020202020204" pitchFamily="34" charset="0"/>
              </a:rPr>
              <a:t> </a:t>
            </a:r>
            <a:r>
              <a:rPr lang="en-US" altLang="zh-TW">
                <a:latin typeface="Times New Roman" panose="02020603050405020304" pitchFamily="18" charset="0"/>
                <a:ea typeface="新細明體" panose="02020500000000000000" pitchFamily="18" charset="-120"/>
                <a:cs typeface="Arial" panose="020B0604020202020204" pitchFamily="34" charset="0"/>
              </a:rPr>
              <a:t>Use of proper gauges for different pressure ranges</a:t>
            </a:r>
          </a:p>
        </p:txBody>
      </p:sp>
      <p:sp>
        <p:nvSpPr>
          <p:cNvPr id="31751" name="Rectangle 11">
            <a:extLst>
              <a:ext uri="{FF2B5EF4-FFF2-40B4-BE49-F238E27FC236}">
                <a16:creationId xmlns:a16="http://schemas.microsoft.com/office/drawing/2014/main" id="{CA47ED1C-AF9D-A381-FDDE-2EEC9AB2C37F}"/>
              </a:ext>
            </a:extLst>
          </p:cNvPr>
          <p:cNvSpPr>
            <a:spLocks noChangeArrowheads="1"/>
          </p:cNvSpPr>
          <p:nvPr/>
        </p:nvSpPr>
        <p:spPr bwMode="auto">
          <a:xfrm>
            <a:off x="3200400" y="5822950"/>
            <a:ext cx="5102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TW" altLang="en-US">
                <a:solidFill>
                  <a:schemeClr val="bg2"/>
                </a:solidFill>
                <a:latin typeface="Times New Roman" panose="02020603050405020304" pitchFamily="18" charset="0"/>
                <a:ea typeface="新細明體" panose="02020500000000000000" pitchFamily="18" charset="-120"/>
                <a:cs typeface="Arial" panose="020B0604020202020204" pitchFamily="34" charset="0"/>
              </a:rPr>
              <a:t> </a:t>
            </a:r>
            <a:r>
              <a:rPr lang="en-US" altLang="zh-TW">
                <a:latin typeface="Times New Roman" panose="02020603050405020304" pitchFamily="18" charset="0"/>
                <a:ea typeface="新細明體" panose="02020500000000000000" pitchFamily="18" charset="-120"/>
                <a:cs typeface="Arial" panose="020B0604020202020204" pitchFamily="34" charset="0"/>
              </a:rPr>
              <a:t>Suitable vacuum materials for chamber construction</a:t>
            </a:r>
          </a:p>
        </p:txBody>
      </p:sp>
      <p:sp>
        <p:nvSpPr>
          <p:cNvPr id="31752" name="Rectangle 12">
            <a:extLst>
              <a:ext uri="{FF2B5EF4-FFF2-40B4-BE49-F238E27FC236}">
                <a16:creationId xmlns:a16="http://schemas.microsoft.com/office/drawing/2014/main" id="{A7F1AA4C-5510-F66A-E761-D19BE1D5E7BC}"/>
              </a:ext>
            </a:extLst>
          </p:cNvPr>
          <p:cNvSpPr>
            <a:spLocks noChangeArrowheads="1"/>
          </p:cNvSpPr>
          <p:nvPr/>
        </p:nvSpPr>
        <p:spPr bwMode="auto">
          <a:xfrm>
            <a:off x="4572000" y="3644900"/>
            <a:ext cx="4032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TW" altLang="en-US">
                <a:latin typeface="Times New Roman" panose="02020603050405020304" pitchFamily="18" charset="0"/>
                <a:ea typeface="新細明體" panose="02020500000000000000" pitchFamily="18" charset="-120"/>
                <a:cs typeface="Arial" panose="020B0604020202020204" pitchFamily="34" charset="0"/>
              </a:rPr>
              <a:t> </a:t>
            </a:r>
            <a:r>
              <a:rPr lang="en-US" altLang="zh-TW">
                <a:latin typeface="Times New Roman" panose="02020603050405020304" pitchFamily="18" charset="0"/>
                <a:ea typeface="新細明體" panose="02020500000000000000" pitchFamily="18" charset="-120"/>
                <a:cs typeface="Arial" panose="020B0604020202020204" pitchFamily="34" charset="0"/>
              </a:rPr>
              <a:t>Proper combination of pumps to generate the   the desired vacuum.</a:t>
            </a:r>
          </a:p>
        </p:txBody>
      </p:sp>
      <p:sp>
        <p:nvSpPr>
          <p:cNvPr id="31753" name="Rectangle 13">
            <a:extLst>
              <a:ext uri="{FF2B5EF4-FFF2-40B4-BE49-F238E27FC236}">
                <a16:creationId xmlns:a16="http://schemas.microsoft.com/office/drawing/2014/main" id="{E97940BF-F0AD-B2ED-F1AE-069B12F6941C}"/>
              </a:ext>
            </a:extLst>
          </p:cNvPr>
          <p:cNvSpPr>
            <a:spLocks noChangeArrowheads="1"/>
          </p:cNvSpPr>
          <p:nvPr/>
        </p:nvSpPr>
        <p:spPr bwMode="auto">
          <a:xfrm>
            <a:off x="3132138" y="2932113"/>
            <a:ext cx="5400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zh-TW" altLang="en-US">
                <a:solidFill>
                  <a:schemeClr val="bg2"/>
                </a:solidFill>
                <a:latin typeface="Times New Roman" panose="02020603050405020304" pitchFamily="18" charset="0"/>
                <a:ea typeface="新細明體" panose="02020500000000000000" pitchFamily="18" charset="-120"/>
                <a:cs typeface="Arial" panose="020B0604020202020204" pitchFamily="34" charset="0"/>
              </a:rPr>
              <a:t> </a:t>
            </a:r>
            <a:r>
              <a:rPr lang="en-US" altLang="zh-TW">
                <a:latin typeface="Times New Roman" panose="02020603050405020304" pitchFamily="18" charset="0"/>
                <a:ea typeface="新細明體" panose="02020500000000000000" pitchFamily="18" charset="-120"/>
                <a:cs typeface="Arial" panose="020B0604020202020204" pitchFamily="34" charset="0"/>
              </a:rPr>
              <a:t>Proper pipes, feedthroughs, fittings and valves to direct and control the flow of vacuum line and seal the vacuum.</a:t>
            </a:r>
          </a:p>
        </p:txBody>
      </p:sp>
      <p:sp>
        <p:nvSpPr>
          <p:cNvPr id="31754" name="Rectangle 14">
            <a:extLst>
              <a:ext uri="{FF2B5EF4-FFF2-40B4-BE49-F238E27FC236}">
                <a16:creationId xmlns:a16="http://schemas.microsoft.com/office/drawing/2014/main" id="{F83E1020-E8C1-4F5E-1844-CBFE3307BE8D}"/>
              </a:ext>
            </a:extLst>
          </p:cNvPr>
          <p:cNvSpPr>
            <a:spLocks noChangeArrowheads="1"/>
          </p:cNvSpPr>
          <p:nvPr/>
        </p:nvSpPr>
        <p:spPr bwMode="auto">
          <a:xfrm>
            <a:off x="1752600" y="2438400"/>
            <a:ext cx="4979988" cy="3048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55" name="Rectangle 15">
            <a:extLst>
              <a:ext uri="{FF2B5EF4-FFF2-40B4-BE49-F238E27FC236}">
                <a16:creationId xmlns:a16="http://schemas.microsoft.com/office/drawing/2014/main" id="{B3CFCF14-CE4D-6FA4-2FC0-98A0FEAD74C2}"/>
              </a:ext>
            </a:extLst>
          </p:cNvPr>
          <p:cNvSpPr>
            <a:spLocks noChangeArrowheads="1"/>
          </p:cNvSpPr>
          <p:nvPr/>
        </p:nvSpPr>
        <p:spPr bwMode="auto">
          <a:xfrm>
            <a:off x="3132138" y="2892425"/>
            <a:ext cx="5400675" cy="6810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56" name="Rectangle 16">
            <a:extLst>
              <a:ext uri="{FF2B5EF4-FFF2-40B4-BE49-F238E27FC236}">
                <a16:creationId xmlns:a16="http://schemas.microsoft.com/office/drawing/2014/main" id="{5AD5DF44-B5A1-3C55-B978-70F4BDC9F9D6}"/>
              </a:ext>
            </a:extLst>
          </p:cNvPr>
          <p:cNvSpPr>
            <a:spLocks noChangeArrowheads="1"/>
          </p:cNvSpPr>
          <p:nvPr/>
        </p:nvSpPr>
        <p:spPr bwMode="auto">
          <a:xfrm>
            <a:off x="3200400" y="5867400"/>
            <a:ext cx="5043488" cy="3048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57" name="Line 17">
            <a:extLst>
              <a:ext uri="{FF2B5EF4-FFF2-40B4-BE49-F238E27FC236}">
                <a16:creationId xmlns:a16="http://schemas.microsoft.com/office/drawing/2014/main" id="{41452F93-7959-3B3F-5151-434878725BAE}"/>
              </a:ext>
            </a:extLst>
          </p:cNvPr>
          <p:cNvSpPr>
            <a:spLocks noChangeShapeType="1"/>
          </p:cNvSpPr>
          <p:nvPr/>
        </p:nvSpPr>
        <p:spPr bwMode="auto">
          <a:xfrm flipH="1">
            <a:off x="2362200" y="2743200"/>
            <a:ext cx="304800" cy="22860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HK"/>
          </a:p>
        </p:txBody>
      </p:sp>
      <p:sp>
        <p:nvSpPr>
          <p:cNvPr id="31758" name="Line 18">
            <a:extLst>
              <a:ext uri="{FF2B5EF4-FFF2-40B4-BE49-F238E27FC236}">
                <a16:creationId xmlns:a16="http://schemas.microsoft.com/office/drawing/2014/main" id="{0FBAD4F5-001A-6AE5-C7FA-F0497B59BF74}"/>
              </a:ext>
            </a:extLst>
          </p:cNvPr>
          <p:cNvSpPr>
            <a:spLocks noChangeShapeType="1"/>
          </p:cNvSpPr>
          <p:nvPr/>
        </p:nvSpPr>
        <p:spPr bwMode="auto">
          <a:xfrm flipH="1" flipV="1">
            <a:off x="3276600" y="5562600"/>
            <a:ext cx="304800" cy="30480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HK"/>
          </a:p>
        </p:txBody>
      </p:sp>
      <p:sp>
        <p:nvSpPr>
          <p:cNvPr id="31759" name="Line 19">
            <a:extLst>
              <a:ext uri="{FF2B5EF4-FFF2-40B4-BE49-F238E27FC236}">
                <a16:creationId xmlns:a16="http://schemas.microsoft.com/office/drawing/2014/main" id="{6C3AA309-A506-7FAF-8F2B-75ECB5D2A166}"/>
              </a:ext>
            </a:extLst>
          </p:cNvPr>
          <p:cNvSpPr>
            <a:spLocks noChangeShapeType="1"/>
          </p:cNvSpPr>
          <p:nvPr/>
        </p:nvSpPr>
        <p:spPr bwMode="auto">
          <a:xfrm flipH="1">
            <a:off x="3581400" y="3581400"/>
            <a:ext cx="152400" cy="114300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HK"/>
          </a:p>
        </p:txBody>
      </p:sp>
      <p:sp>
        <p:nvSpPr>
          <p:cNvPr id="31760" name="Line 20">
            <a:extLst>
              <a:ext uri="{FF2B5EF4-FFF2-40B4-BE49-F238E27FC236}">
                <a16:creationId xmlns:a16="http://schemas.microsoft.com/office/drawing/2014/main" id="{1F8CB148-D16E-2FE9-1413-6C7A4235CBB6}"/>
              </a:ext>
            </a:extLst>
          </p:cNvPr>
          <p:cNvSpPr>
            <a:spLocks noChangeShapeType="1"/>
          </p:cNvSpPr>
          <p:nvPr/>
        </p:nvSpPr>
        <p:spPr bwMode="auto">
          <a:xfrm>
            <a:off x="3733800" y="3581400"/>
            <a:ext cx="762000" cy="99060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HK"/>
          </a:p>
        </p:txBody>
      </p:sp>
      <p:sp>
        <p:nvSpPr>
          <p:cNvPr id="31761" name="Line 21">
            <a:extLst>
              <a:ext uri="{FF2B5EF4-FFF2-40B4-BE49-F238E27FC236}">
                <a16:creationId xmlns:a16="http://schemas.microsoft.com/office/drawing/2014/main" id="{56BD7617-285B-B8AE-739B-650985C3F0F7}"/>
              </a:ext>
            </a:extLst>
          </p:cNvPr>
          <p:cNvSpPr>
            <a:spLocks noChangeShapeType="1"/>
          </p:cNvSpPr>
          <p:nvPr/>
        </p:nvSpPr>
        <p:spPr bwMode="auto">
          <a:xfrm flipH="1">
            <a:off x="7086600" y="4267200"/>
            <a:ext cx="381000" cy="7620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HK"/>
          </a:p>
        </p:txBody>
      </p:sp>
      <p:grpSp>
        <p:nvGrpSpPr>
          <p:cNvPr id="2" name="Group 49">
            <a:extLst>
              <a:ext uri="{FF2B5EF4-FFF2-40B4-BE49-F238E27FC236}">
                <a16:creationId xmlns:a16="http://schemas.microsoft.com/office/drawing/2014/main" id="{F89AFA45-49C1-093D-B3C0-A86B7BB817D6}"/>
              </a:ext>
            </a:extLst>
          </p:cNvPr>
          <p:cNvGrpSpPr>
            <a:grpSpLocks/>
          </p:cNvGrpSpPr>
          <p:nvPr/>
        </p:nvGrpSpPr>
        <p:grpSpPr bwMode="auto">
          <a:xfrm>
            <a:off x="4600575" y="4333875"/>
            <a:ext cx="2500313" cy="1123950"/>
            <a:chOff x="2898" y="2730"/>
            <a:chExt cx="1575" cy="708"/>
          </a:xfrm>
        </p:grpSpPr>
        <p:sp>
          <p:nvSpPr>
            <p:cNvPr id="31792" name="Rectangle 4">
              <a:extLst>
                <a:ext uri="{FF2B5EF4-FFF2-40B4-BE49-F238E27FC236}">
                  <a16:creationId xmlns:a16="http://schemas.microsoft.com/office/drawing/2014/main" id="{65C0EE44-6FB6-A013-DE56-463987487F6F}"/>
                </a:ext>
              </a:extLst>
            </p:cNvPr>
            <p:cNvSpPr>
              <a:spLocks noChangeArrowheads="1"/>
            </p:cNvSpPr>
            <p:nvPr/>
          </p:nvSpPr>
          <p:spPr bwMode="auto">
            <a:xfrm>
              <a:off x="2898" y="2730"/>
              <a:ext cx="1575" cy="708"/>
            </a:xfrm>
            <a:prstGeom prst="rect">
              <a:avLst/>
            </a:prstGeom>
            <a:solidFill>
              <a:srgbClr val="CCFF99"/>
            </a:solidFill>
            <a:ln w="3175">
              <a:solidFill>
                <a:srgbClr val="1F1A17"/>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93" name="Text Box 22">
              <a:extLst>
                <a:ext uri="{FF2B5EF4-FFF2-40B4-BE49-F238E27FC236}">
                  <a16:creationId xmlns:a16="http://schemas.microsoft.com/office/drawing/2014/main" id="{8974BA2F-E56F-AF92-8A46-645E9FBDC3D2}"/>
                </a:ext>
              </a:extLst>
            </p:cNvPr>
            <p:cNvSpPr txBox="1">
              <a:spLocks noChangeArrowheads="1"/>
            </p:cNvSpPr>
            <p:nvPr/>
          </p:nvSpPr>
          <p:spPr bwMode="auto">
            <a:xfrm>
              <a:off x="3024" y="2947"/>
              <a:ext cx="1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i="1">
                  <a:ea typeface="新細明體" panose="02020500000000000000" pitchFamily="18" charset="-120"/>
                  <a:cs typeface="Arial" panose="020B0604020202020204" pitchFamily="34" charset="0"/>
                </a:rPr>
                <a:t>Pumping system</a:t>
              </a:r>
            </a:p>
          </p:txBody>
        </p:sp>
      </p:grpSp>
      <p:grpSp>
        <p:nvGrpSpPr>
          <p:cNvPr id="3" name="Group 51">
            <a:extLst>
              <a:ext uri="{FF2B5EF4-FFF2-40B4-BE49-F238E27FC236}">
                <a16:creationId xmlns:a16="http://schemas.microsoft.com/office/drawing/2014/main" id="{C13CC2DC-E304-10F9-2091-BEDD9A0DA4B8}"/>
              </a:ext>
            </a:extLst>
          </p:cNvPr>
          <p:cNvGrpSpPr>
            <a:grpSpLocks/>
          </p:cNvGrpSpPr>
          <p:nvPr/>
        </p:nvGrpSpPr>
        <p:grpSpPr bwMode="auto">
          <a:xfrm>
            <a:off x="1835150" y="2982913"/>
            <a:ext cx="954088" cy="620712"/>
            <a:chOff x="1156" y="1879"/>
            <a:chExt cx="601" cy="391"/>
          </a:xfrm>
        </p:grpSpPr>
        <p:sp>
          <p:nvSpPr>
            <p:cNvPr id="31790" name="Rectangle 50">
              <a:extLst>
                <a:ext uri="{FF2B5EF4-FFF2-40B4-BE49-F238E27FC236}">
                  <a16:creationId xmlns:a16="http://schemas.microsoft.com/office/drawing/2014/main" id="{DF70ABEF-1F47-FB80-1D22-1252B57FE477}"/>
                </a:ext>
              </a:extLst>
            </p:cNvPr>
            <p:cNvSpPr>
              <a:spLocks noChangeArrowheads="1"/>
            </p:cNvSpPr>
            <p:nvPr/>
          </p:nvSpPr>
          <p:spPr bwMode="auto">
            <a:xfrm>
              <a:off x="1156" y="1879"/>
              <a:ext cx="601" cy="391"/>
            </a:xfrm>
            <a:prstGeom prst="rect">
              <a:avLst/>
            </a:prstGeom>
            <a:solidFill>
              <a:srgbClr val="CC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91" name="Rectangle 23">
              <a:extLst>
                <a:ext uri="{FF2B5EF4-FFF2-40B4-BE49-F238E27FC236}">
                  <a16:creationId xmlns:a16="http://schemas.microsoft.com/office/drawing/2014/main" id="{A8C8614D-EF21-EDE2-1CBE-78966F3725D6}"/>
                </a:ext>
              </a:extLst>
            </p:cNvPr>
            <p:cNvSpPr>
              <a:spLocks noChangeArrowheads="1"/>
            </p:cNvSpPr>
            <p:nvPr/>
          </p:nvSpPr>
          <p:spPr bwMode="auto">
            <a:xfrm>
              <a:off x="1156" y="1899"/>
              <a:ext cx="5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i="1">
                  <a:ea typeface="新細明體" panose="02020500000000000000" pitchFamily="18" charset="-120"/>
                  <a:cs typeface="Arial" panose="020B0604020202020204" pitchFamily="34" charset="0"/>
                </a:rPr>
                <a:t>Gauge</a:t>
              </a:r>
            </a:p>
          </p:txBody>
        </p:sp>
      </p:grpSp>
      <p:sp>
        <p:nvSpPr>
          <p:cNvPr id="31764" name="Rectangle 25">
            <a:extLst>
              <a:ext uri="{FF2B5EF4-FFF2-40B4-BE49-F238E27FC236}">
                <a16:creationId xmlns:a16="http://schemas.microsoft.com/office/drawing/2014/main" id="{999072C7-323D-DFCD-3C25-359E6765796C}"/>
              </a:ext>
            </a:extLst>
          </p:cNvPr>
          <p:cNvSpPr>
            <a:spLocks noChangeArrowheads="1"/>
          </p:cNvSpPr>
          <p:nvPr/>
        </p:nvSpPr>
        <p:spPr bwMode="auto">
          <a:xfrm>
            <a:off x="3375025" y="4727575"/>
            <a:ext cx="1011238" cy="377825"/>
          </a:xfrm>
          <a:prstGeom prst="rect">
            <a:avLst/>
          </a:prstGeom>
          <a:solidFill>
            <a:srgbClr val="FFF5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65" name="Rectangle 26">
            <a:extLst>
              <a:ext uri="{FF2B5EF4-FFF2-40B4-BE49-F238E27FC236}">
                <a16:creationId xmlns:a16="http://schemas.microsoft.com/office/drawing/2014/main" id="{8A9D9727-4D58-127F-85A3-DEA6B61B5143}"/>
              </a:ext>
            </a:extLst>
          </p:cNvPr>
          <p:cNvSpPr>
            <a:spLocks noChangeArrowheads="1"/>
          </p:cNvSpPr>
          <p:nvPr/>
        </p:nvSpPr>
        <p:spPr bwMode="auto">
          <a:xfrm>
            <a:off x="3375025" y="4727575"/>
            <a:ext cx="1011238" cy="377825"/>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66" name="Rectangle 27">
            <a:extLst>
              <a:ext uri="{FF2B5EF4-FFF2-40B4-BE49-F238E27FC236}">
                <a16:creationId xmlns:a16="http://schemas.microsoft.com/office/drawing/2014/main" id="{FBF49372-9D34-F5CD-984C-FBEC109E7384}"/>
              </a:ext>
            </a:extLst>
          </p:cNvPr>
          <p:cNvSpPr>
            <a:spLocks noChangeArrowheads="1"/>
          </p:cNvSpPr>
          <p:nvPr/>
        </p:nvSpPr>
        <p:spPr bwMode="auto">
          <a:xfrm>
            <a:off x="7086600" y="4710113"/>
            <a:ext cx="1011238" cy="377825"/>
          </a:xfrm>
          <a:prstGeom prst="rect">
            <a:avLst/>
          </a:prstGeom>
          <a:solidFill>
            <a:srgbClr val="FFF5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67" name="Rectangle 28">
            <a:extLst>
              <a:ext uri="{FF2B5EF4-FFF2-40B4-BE49-F238E27FC236}">
                <a16:creationId xmlns:a16="http://schemas.microsoft.com/office/drawing/2014/main" id="{81C0FC5C-63E8-FA31-772B-5A0B0D2EB5B7}"/>
              </a:ext>
            </a:extLst>
          </p:cNvPr>
          <p:cNvSpPr>
            <a:spLocks noChangeArrowheads="1"/>
          </p:cNvSpPr>
          <p:nvPr/>
        </p:nvSpPr>
        <p:spPr bwMode="auto">
          <a:xfrm>
            <a:off x="7086600" y="4710113"/>
            <a:ext cx="1011238" cy="377825"/>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68" name="Rectangle 29">
            <a:extLst>
              <a:ext uri="{FF2B5EF4-FFF2-40B4-BE49-F238E27FC236}">
                <a16:creationId xmlns:a16="http://schemas.microsoft.com/office/drawing/2014/main" id="{CF282244-B2E9-C80D-C0DB-641EA2A1FBEA}"/>
              </a:ext>
            </a:extLst>
          </p:cNvPr>
          <p:cNvSpPr>
            <a:spLocks noChangeArrowheads="1"/>
          </p:cNvSpPr>
          <p:nvPr/>
        </p:nvSpPr>
        <p:spPr bwMode="auto">
          <a:xfrm>
            <a:off x="2003425" y="3560763"/>
            <a:ext cx="620713" cy="311150"/>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69" name="Rectangle 30">
            <a:extLst>
              <a:ext uri="{FF2B5EF4-FFF2-40B4-BE49-F238E27FC236}">
                <a16:creationId xmlns:a16="http://schemas.microsoft.com/office/drawing/2014/main" id="{0CA1E269-A29A-C141-8DE3-EC050BE34764}"/>
              </a:ext>
            </a:extLst>
          </p:cNvPr>
          <p:cNvSpPr>
            <a:spLocks noChangeArrowheads="1"/>
          </p:cNvSpPr>
          <p:nvPr/>
        </p:nvSpPr>
        <p:spPr bwMode="auto">
          <a:xfrm>
            <a:off x="2003425" y="3560763"/>
            <a:ext cx="620713" cy="311150"/>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0" name="Rectangle 31">
            <a:extLst>
              <a:ext uri="{FF2B5EF4-FFF2-40B4-BE49-F238E27FC236}">
                <a16:creationId xmlns:a16="http://schemas.microsoft.com/office/drawing/2014/main" id="{52904484-17FE-6868-B0BB-1E3C5A90E66E}"/>
              </a:ext>
            </a:extLst>
          </p:cNvPr>
          <p:cNvSpPr>
            <a:spLocks noChangeArrowheads="1"/>
          </p:cNvSpPr>
          <p:nvPr/>
        </p:nvSpPr>
        <p:spPr bwMode="auto">
          <a:xfrm>
            <a:off x="1836738" y="2989263"/>
            <a:ext cx="952500" cy="617537"/>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1" name="Freeform 32">
            <a:extLst>
              <a:ext uri="{FF2B5EF4-FFF2-40B4-BE49-F238E27FC236}">
                <a16:creationId xmlns:a16="http://schemas.microsoft.com/office/drawing/2014/main" id="{64196470-B31A-B25B-F773-C570407ABC7E}"/>
              </a:ext>
            </a:extLst>
          </p:cNvPr>
          <p:cNvSpPr>
            <a:spLocks/>
          </p:cNvSpPr>
          <p:nvPr/>
        </p:nvSpPr>
        <p:spPr bwMode="auto">
          <a:xfrm>
            <a:off x="1160463" y="3765550"/>
            <a:ext cx="2305050" cy="2306638"/>
          </a:xfrm>
          <a:custGeom>
            <a:avLst/>
            <a:gdLst>
              <a:gd name="T0" fmla="*/ 1270000 w 1452"/>
              <a:gd name="T1" fmla="*/ 2298701 h 1453"/>
              <a:gd name="T2" fmla="*/ 1438275 w 1452"/>
              <a:gd name="T3" fmla="*/ 2271713 h 1453"/>
              <a:gd name="T4" fmla="*/ 1600200 w 1452"/>
              <a:gd name="T5" fmla="*/ 2214563 h 1453"/>
              <a:gd name="T6" fmla="*/ 1749425 w 1452"/>
              <a:gd name="T7" fmla="*/ 2139951 h 1453"/>
              <a:gd name="T8" fmla="*/ 1885950 w 1452"/>
              <a:gd name="T9" fmla="*/ 2041526 h 1453"/>
              <a:gd name="T10" fmla="*/ 2006600 w 1452"/>
              <a:gd name="T11" fmla="*/ 1928813 h 1453"/>
              <a:gd name="T12" fmla="*/ 2108200 w 1452"/>
              <a:gd name="T13" fmla="*/ 1798638 h 1453"/>
              <a:gd name="T14" fmla="*/ 2189163 w 1452"/>
              <a:gd name="T15" fmla="*/ 1654176 h 1453"/>
              <a:gd name="T16" fmla="*/ 2252663 w 1452"/>
              <a:gd name="T17" fmla="*/ 1495425 h 1453"/>
              <a:gd name="T18" fmla="*/ 2292350 w 1452"/>
              <a:gd name="T19" fmla="*/ 1328738 h 1453"/>
              <a:gd name="T20" fmla="*/ 2305050 w 1452"/>
              <a:gd name="T21" fmla="*/ 1152525 h 1453"/>
              <a:gd name="T22" fmla="*/ 2292350 w 1452"/>
              <a:gd name="T23" fmla="*/ 981075 h 1453"/>
              <a:gd name="T24" fmla="*/ 2252663 w 1452"/>
              <a:gd name="T25" fmla="*/ 811213 h 1453"/>
              <a:gd name="T26" fmla="*/ 2189163 w 1452"/>
              <a:gd name="T27" fmla="*/ 655638 h 1453"/>
              <a:gd name="T28" fmla="*/ 2108200 w 1452"/>
              <a:gd name="T29" fmla="*/ 511175 h 1453"/>
              <a:gd name="T30" fmla="*/ 2006600 w 1452"/>
              <a:gd name="T31" fmla="*/ 381000 h 1453"/>
              <a:gd name="T32" fmla="*/ 1885950 w 1452"/>
              <a:gd name="T33" fmla="*/ 265113 h 1453"/>
              <a:gd name="T34" fmla="*/ 1749425 w 1452"/>
              <a:gd name="T35" fmla="*/ 169863 h 1453"/>
              <a:gd name="T36" fmla="*/ 1600200 w 1452"/>
              <a:gd name="T37" fmla="*/ 92075 h 1453"/>
              <a:gd name="T38" fmla="*/ 1438275 w 1452"/>
              <a:gd name="T39" fmla="*/ 38100 h 1453"/>
              <a:gd name="T40" fmla="*/ 1270000 w 1452"/>
              <a:gd name="T41" fmla="*/ 6350 h 1453"/>
              <a:gd name="T42" fmla="*/ 1093788 w 1452"/>
              <a:gd name="T43" fmla="*/ 3175 h 1453"/>
              <a:gd name="T44" fmla="*/ 920750 w 1452"/>
              <a:gd name="T45" fmla="*/ 23813 h 1453"/>
              <a:gd name="T46" fmla="*/ 758825 w 1452"/>
              <a:gd name="T47" fmla="*/ 69850 h 1453"/>
              <a:gd name="T48" fmla="*/ 603250 w 1452"/>
              <a:gd name="T49" fmla="*/ 141288 h 1453"/>
              <a:gd name="T50" fmla="*/ 461963 w 1452"/>
              <a:gd name="T51" fmla="*/ 228600 h 1453"/>
              <a:gd name="T52" fmla="*/ 338137 w 1452"/>
              <a:gd name="T53" fmla="*/ 338138 h 1453"/>
              <a:gd name="T54" fmla="*/ 228600 w 1452"/>
              <a:gd name="T55" fmla="*/ 465138 h 1453"/>
              <a:gd name="T56" fmla="*/ 141288 w 1452"/>
              <a:gd name="T57" fmla="*/ 606425 h 1453"/>
              <a:gd name="T58" fmla="*/ 71438 w 1452"/>
              <a:gd name="T59" fmla="*/ 758825 h 1453"/>
              <a:gd name="T60" fmla="*/ 25400 w 1452"/>
              <a:gd name="T61" fmla="*/ 920750 h 1453"/>
              <a:gd name="T62" fmla="*/ 0 w 1452"/>
              <a:gd name="T63" fmla="*/ 1093788 h 1453"/>
              <a:gd name="T64" fmla="*/ 7938 w 1452"/>
              <a:gd name="T65" fmla="*/ 1273175 h 1453"/>
              <a:gd name="T66" fmla="*/ 34925 w 1452"/>
              <a:gd name="T67" fmla="*/ 1443038 h 1453"/>
              <a:gd name="T68" fmla="*/ 92075 w 1452"/>
              <a:gd name="T69" fmla="*/ 1601788 h 1453"/>
              <a:gd name="T70" fmla="*/ 165100 w 1452"/>
              <a:gd name="T71" fmla="*/ 1749426 h 1453"/>
              <a:gd name="T72" fmla="*/ 265113 w 1452"/>
              <a:gd name="T73" fmla="*/ 1887538 h 1453"/>
              <a:gd name="T74" fmla="*/ 377825 w 1452"/>
              <a:gd name="T75" fmla="*/ 2006601 h 1453"/>
              <a:gd name="T76" fmla="*/ 508000 w 1452"/>
              <a:gd name="T77" fmla="*/ 2108201 h 1453"/>
              <a:gd name="T78" fmla="*/ 652462 w 1452"/>
              <a:gd name="T79" fmla="*/ 2193926 h 1453"/>
              <a:gd name="T80" fmla="*/ 811212 w 1452"/>
              <a:gd name="T81" fmla="*/ 2254251 h 1453"/>
              <a:gd name="T82" fmla="*/ 976313 w 1452"/>
              <a:gd name="T83" fmla="*/ 2292351 h 1453"/>
              <a:gd name="T84" fmla="*/ 1152525 w 1452"/>
              <a:gd name="T85" fmla="*/ 2306638 h 14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52"/>
              <a:gd name="T130" fmla="*/ 0 h 1453"/>
              <a:gd name="T131" fmla="*/ 1452 w 1452"/>
              <a:gd name="T132" fmla="*/ 1453 h 14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52" h="1453">
                <a:moveTo>
                  <a:pt x="726" y="1453"/>
                </a:moveTo>
                <a:lnTo>
                  <a:pt x="764" y="1453"/>
                </a:lnTo>
                <a:lnTo>
                  <a:pt x="800" y="1448"/>
                </a:lnTo>
                <a:lnTo>
                  <a:pt x="837" y="1444"/>
                </a:lnTo>
                <a:lnTo>
                  <a:pt x="873" y="1437"/>
                </a:lnTo>
                <a:lnTo>
                  <a:pt x="906" y="1431"/>
                </a:lnTo>
                <a:lnTo>
                  <a:pt x="942" y="1420"/>
                </a:lnTo>
                <a:lnTo>
                  <a:pt x="975" y="1408"/>
                </a:lnTo>
                <a:lnTo>
                  <a:pt x="1008" y="1395"/>
                </a:lnTo>
                <a:lnTo>
                  <a:pt x="1039" y="1382"/>
                </a:lnTo>
                <a:lnTo>
                  <a:pt x="1070" y="1366"/>
                </a:lnTo>
                <a:lnTo>
                  <a:pt x="1102" y="1348"/>
                </a:lnTo>
                <a:lnTo>
                  <a:pt x="1130" y="1328"/>
                </a:lnTo>
                <a:lnTo>
                  <a:pt x="1159" y="1308"/>
                </a:lnTo>
                <a:lnTo>
                  <a:pt x="1188" y="1286"/>
                </a:lnTo>
                <a:lnTo>
                  <a:pt x="1213" y="1264"/>
                </a:lnTo>
                <a:lnTo>
                  <a:pt x="1239" y="1240"/>
                </a:lnTo>
                <a:lnTo>
                  <a:pt x="1264" y="1215"/>
                </a:lnTo>
                <a:lnTo>
                  <a:pt x="1286" y="1189"/>
                </a:lnTo>
                <a:lnTo>
                  <a:pt x="1308" y="1162"/>
                </a:lnTo>
                <a:lnTo>
                  <a:pt x="1328" y="1133"/>
                </a:lnTo>
                <a:lnTo>
                  <a:pt x="1346" y="1102"/>
                </a:lnTo>
                <a:lnTo>
                  <a:pt x="1364" y="1073"/>
                </a:lnTo>
                <a:lnTo>
                  <a:pt x="1379" y="1042"/>
                </a:lnTo>
                <a:lnTo>
                  <a:pt x="1395" y="1009"/>
                </a:lnTo>
                <a:lnTo>
                  <a:pt x="1408" y="975"/>
                </a:lnTo>
                <a:lnTo>
                  <a:pt x="1419" y="942"/>
                </a:lnTo>
                <a:lnTo>
                  <a:pt x="1428" y="909"/>
                </a:lnTo>
                <a:lnTo>
                  <a:pt x="1437" y="873"/>
                </a:lnTo>
                <a:lnTo>
                  <a:pt x="1444" y="837"/>
                </a:lnTo>
                <a:lnTo>
                  <a:pt x="1448" y="802"/>
                </a:lnTo>
                <a:lnTo>
                  <a:pt x="1450" y="764"/>
                </a:lnTo>
                <a:lnTo>
                  <a:pt x="1452" y="726"/>
                </a:lnTo>
                <a:lnTo>
                  <a:pt x="1450" y="689"/>
                </a:lnTo>
                <a:lnTo>
                  <a:pt x="1448" y="653"/>
                </a:lnTo>
                <a:lnTo>
                  <a:pt x="1444" y="618"/>
                </a:lnTo>
                <a:lnTo>
                  <a:pt x="1437" y="580"/>
                </a:lnTo>
                <a:lnTo>
                  <a:pt x="1428" y="546"/>
                </a:lnTo>
                <a:lnTo>
                  <a:pt x="1419" y="511"/>
                </a:lnTo>
                <a:lnTo>
                  <a:pt x="1408" y="478"/>
                </a:lnTo>
                <a:lnTo>
                  <a:pt x="1395" y="444"/>
                </a:lnTo>
                <a:lnTo>
                  <a:pt x="1379" y="413"/>
                </a:lnTo>
                <a:lnTo>
                  <a:pt x="1364" y="382"/>
                </a:lnTo>
                <a:lnTo>
                  <a:pt x="1346" y="351"/>
                </a:lnTo>
                <a:lnTo>
                  <a:pt x="1328" y="322"/>
                </a:lnTo>
                <a:lnTo>
                  <a:pt x="1308" y="293"/>
                </a:lnTo>
                <a:lnTo>
                  <a:pt x="1286" y="264"/>
                </a:lnTo>
                <a:lnTo>
                  <a:pt x="1264" y="240"/>
                </a:lnTo>
                <a:lnTo>
                  <a:pt x="1239" y="213"/>
                </a:lnTo>
                <a:lnTo>
                  <a:pt x="1213" y="189"/>
                </a:lnTo>
                <a:lnTo>
                  <a:pt x="1188" y="167"/>
                </a:lnTo>
                <a:lnTo>
                  <a:pt x="1159" y="144"/>
                </a:lnTo>
                <a:lnTo>
                  <a:pt x="1130" y="124"/>
                </a:lnTo>
                <a:lnTo>
                  <a:pt x="1102" y="107"/>
                </a:lnTo>
                <a:lnTo>
                  <a:pt x="1070" y="89"/>
                </a:lnTo>
                <a:lnTo>
                  <a:pt x="1039" y="73"/>
                </a:lnTo>
                <a:lnTo>
                  <a:pt x="1008" y="58"/>
                </a:lnTo>
                <a:lnTo>
                  <a:pt x="975" y="44"/>
                </a:lnTo>
                <a:lnTo>
                  <a:pt x="942" y="33"/>
                </a:lnTo>
                <a:lnTo>
                  <a:pt x="906" y="24"/>
                </a:lnTo>
                <a:lnTo>
                  <a:pt x="873" y="15"/>
                </a:lnTo>
                <a:lnTo>
                  <a:pt x="837" y="9"/>
                </a:lnTo>
                <a:lnTo>
                  <a:pt x="800" y="4"/>
                </a:lnTo>
                <a:lnTo>
                  <a:pt x="764" y="2"/>
                </a:lnTo>
                <a:lnTo>
                  <a:pt x="726" y="0"/>
                </a:lnTo>
                <a:lnTo>
                  <a:pt x="689" y="2"/>
                </a:lnTo>
                <a:lnTo>
                  <a:pt x="653" y="4"/>
                </a:lnTo>
                <a:lnTo>
                  <a:pt x="615" y="9"/>
                </a:lnTo>
                <a:lnTo>
                  <a:pt x="580" y="15"/>
                </a:lnTo>
                <a:lnTo>
                  <a:pt x="544" y="24"/>
                </a:lnTo>
                <a:lnTo>
                  <a:pt x="511" y="33"/>
                </a:lnTo>
                <a:lnTo>
                  <a:pt x="478" y="44"/>
                </a:lnTo>
                <a:lnTo>
                  <a:pt x="444" y="58"/>
                </a:lnTo>
                <a:lnTo>
                  <a:pt x="411" y="73"/>
                </a:lnTo>
                <a:lnTo>
                  <a:pt x="380" y="89"/>
                </a:lnTo>
                <a:lnTo>
                  <a:pt x="351" y="107"/>
                </a:lnTo>
                <a:lnTo>
                  <a:pt x="320" y="124"/>
                </a:lnTo>
                <a:lnTo>
                  <a:pt x="291" y="144"/>
                </a:lnTo>
                <a:lnTo>
                  <a:pt x="264" y="167"/>
                </a:lnTo>
                <a:lnTo>
                  <a:pt x="238" y="189"/>
                </a:lnTo>
                <a:lnTo>
                  <a:pt x="213" y="213"/>
                </a:lnTo>
                <a:lnTo>
                  <a:pt x="189" y="240"/>
                </a:lnTo>
                <a:lnTo>
                  <a:pt x="167" y="264"/>
                </a:lnTo>
                <a:lnTo>
                  <a:pt x="144" y="293"/>
                </a:lnTo>
                <a:lnTo>
                  <a:pt x="124" y="322"/>
                </a:lnTo>
                <a:lnTo>
                  <a:pt x="104" y="351"/>
                </a:lnTo>
                <a:lnTo>
                  <a:pt x="89" y="382"/>
                </a:lnTo>
                <a:lnTo>
                  <a:pt x="71" y="413"/>
                </a:lnTo>
                <a:lnTo>
                  <a:pt x="58" y="444"/>
                </a:lnTo>
                <a:lnTo>
                  <a:pt x="45" y="478"/>
                </a:lnTo>
                <a:lnTo>
                  <a:pt x="33" y="511"/>
                </a:lnTo>
                <a:lnTo>
                  <a:pt x="22" y="546"/>
                </a:lnTo>
                <a:lnTo>
                  <a:pt x="16" y="580"/>
                </a:lnTo>
                <a:lnTo>
                  <a:pt x="9" y="618"/>
                </a:lnTo>
                <a:lnTo>
                  <a:pt x="5" y="653"/>
                </a:lnTo>
                <a:lnTo>
                  <a:pt x="0" y="689"/>
                </a:lnTo>
                <a:lnTo>
                  <a:pt x="0" y="726"/>
                </a:lnTo>
                <a:lnTo>
                  <a:pt x="0" y="764"/>
                </a:lnTo>
                <a:lnTo>
                  <a:pt x="5" y="802"/>
                </a:lnTo>
                <a:lnTo>
                  <a:pt x="9" y="837"/>
                </a:lnTo>
                <a:lnTo>
                  <a:pt x="16" y="873"/>
                </a:lnTo>
                <a:lnTo>
                  <a:pt x="22" y="909"/>
                </a:lnTo>
                <a:lnTo>
                  <a:pt x="33" y="942"/>
                </a:lnTo>
                <a:lnTo>
                  <a:pt x="45" y="975"/>
                </a:lnTo>
                <a:lnTo>
                  <a:pt x="58" y="1009"/>
                </a:lnTo>
                <a:lnTo>
                  <a:pt x="71" y="1042"/>
                </a:lnTo>
                <a:lnTo>
                  <a:pt x="89" y="1073"/>
                </a:lnTo>
                <a:lnTo>
                  <a:pt x="104" y="1102"/>
                </a:lnTo>
                <a:lnTo>
                  <a:pt x="124" y="1133"/>
                </a:lnTo>
                <a:lnTo>
                  <a:pt x="144" y="1162"/>
                </a:lnTo>
                <a:lnTo>
                  <a:pt x="167" y="1189"/>
                </a:lnTo>
                <a:lnTo>
                  <a:pt x="189" y="1215"/>
                </a:lnTo>
                <a:lnTo>
                  <a:pt x="213" y="1240"/>
                </a:lnTo>
                <a:lnTo>
                  <a:pt x="238" y="1264"/>
                </a:lnTo>
                <a:lnTo>
                  <a:pt x="264" y="1286"/>
                </a:lnTo>
                <a:lnTo>
                  <a:pt x="291" y="1308"/>
                </a:lnTo>
                <a:lnTo>
                  <a:pt x="320" y="1328"/>
                </a:lnTo>
                <a:lnTo>
                  <a:pt x="351" y="1348"/>
                </a:lnTo>
                <a:lnTo>
                  <a:pt x="380" y="1366"/>
                </a:lnTo>
                <a:lnTo>
                  <a:pt x="411" y="1382"/>
                </a:lnTo>
                <a:lnTo>
                  <a:pt x="444" y="1395"/>
                </a:lnTo>
                <a:lnTo>
                  <a:pt x="478" y="1408"/>
                </a:lnTo>
                <a:lnTo>
                  <a:pt x="511" y="1420"/>
                </a:lnTo>
                <a:lnTo>
                  <a:pt x="544" y="1431"/>
                </a:lnTo>
                <a:lnTo>
                  <a:pt x="580" y="1437"/>
                </a:lnTo>
                <a:lnTo>
                  <a:pt x="615" y="1444"/>
                </a:lnTo>
                <a:lnTo>
                  <a:pt x="653" y="1448"/>
                </a:lnTo>
                <a:lnTo>
                  <a:pt x="689" y="1453"/>
                </a:lnTo>
                <a:lnTo>
                  <a:pt x="726" y="1453"/>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31772" name="Freeform 33">
            <a:extLst>
              <a:ext uri="{FF2B5EF4-FFF2-40B4-BE49-F238E27FC236}">
                <a16:creationId xmlns:a16="http://schemas.microsoft.com/office/drawing/2014/main" id="{8047D3C6-85FA-9F65-ABF5-4A7BFBF356E3}"/>
              </a:ext>
            </a:extLst>
          </p:cNvPr>
          <p:cNvSpPr>
            <a:spLocks/>
          </p:cNvSpPr>
          <p:nvPr/>
        </p:nvSpPr>
        <p:spPr bwMode="auto">
          <a:xfrm>
            <a:off x="1290638" y="3895725"/>
            <a:ext cx="2044700" cy="2046288"/>
          </a:xfrm>
          <a:custGeom>
            <a:avLst/>
            <a:gdLst>
              <a:gd name="T0" fmla="*/ 1125537 w 1288"/>
              <a:gd name="T1" fmla="*/ 2038351 h 1289"/>
              <a:gd name="T2" fmla="*/ 1276350 w 1288"/>
              <a:gd name="T3" fmla="*/ 2014538 h 1289"/>
              <a:gd name="T4" fmla="*/ 1417637 w 1288"/>
              <a:gd name="T5" fmla="*/ 1965326 h 1289"/>
              <a:gd name="T6" fmla="*/ 1550987 w 1288"/>
              <a:gd name="T7" fmla="*/ 1897063 h 1289"/>
              <a:gd name="T8" fmla="*/ 1671638 w 1288"/>
              <a:gd name="T9" fmla="*/ 1812926 h 1289"/>
              <a:gd name="T10" fmla="*/ 1776413 w 1288"/>
              <a:gd name="T11" fmla="*/ 1711326 h 1289"/>
              <a:gd name="T12" fmla="*/ 1868488 w 1288"/>
              <a:gd name="T13" fmla="*/ 1593850 h 1289"/>
              <a:gd name="T14" fmla="*/ 1943100 w 1288"/>
              <a:gd name="T15" fmla="*/ 1466850 h 1289"/>
              <a:gd name="T16" fmla="*/ 1998663 w 1288"/>
              <a:gd name="T17" fmla="*/ 1325563 h 1289"/>
              <a:gd name="T18" fmla="*/ 2030413 w 1288"/>
              <a:gd name="T19" fmla="*/ 1177925 h 1289"/>
              <a:gd name="T20" fmla="*/ 2044700 w 1288"/>
              <a:gd name="T21" fmla="*/ 1022350 h 1289"/>
              <a:gd name="T22" fmla="*/ 2030413 w 1288"/>
              <a:gd name="T23" fmla="*/ 868363 h 1289"/>
              <a:gd name="T24" fmla="*/ 1998663 w 1288"/>
              <a:gd name="T25" fmla="*/ 719138 h 1289"/>
              <a:gd name="T26" fmla="*/ 1943100 w 1288"/>
              <a:gd name="T27" fmla="*/ 582613 h 1289"/>
              <a:gd name="T28" fmla="*/ 1868488 w 1288"/>
              <a:gd name="T29" fmla="*/ 450850 h 1289"/>
              <a:gd name="T30" fmla="*/ 1776413 w 1288"/>
              <a:gd name="T31" fmla="*/ 338138 h 1289"/>
              <a:gd name="T32" fmla="*/ 1671638 w 1288"/>
              <a:gd name="T33" fmla="*/ 236538 h 1289"/>
              <a:gd name="T34" fmla="*/ 1550987 w 1288"/>
              <a:gd name="T35" fmla="*/ 147638 h 1289"/>
              <a:gd name="T36" fmla="*/ 1417637 w 1288"/>
              <a:gd name="T37" fmla="*/ 80963 h 1289"/>
              <a:gd name="T38" fmla="*/ 1276350 w 1288"/>
              <a:gd name="T39" fmla="*/ 34925 h 1289"/>
              <a:gd name="T40" fmla="*/ 1125537 w 1288"/>
              <a:gd name="T41" fmla="*/ 7938 h 1289"/>
              <a:gd name="T42" fmla="*/ 969963 w 1288"/>
              <a:gd name="T43" fmla="*/ 3175 h 1289"/>
              <a:gd name="T44" fmla="*/ 817563 w 1288"/>
              <a:gd name="T45" fmla="*/ 20638 h 1289"/>
              <a:gd name="T46" fmla="*/ 669925 w 1288"/>
              <a:gd name="T47" fmla="*/ 63500 h 1289"/>
              <a:gd name="T48" fmla="*/ 536575 w 1288"/>
              <a:gd name="T49" fmla="*/ 123825 h 1289"/>
              <a:gd name="T50" fmla="*/ 412750 w 1288"/>
              <a:gd name="T51" fmla="*/ 204788 h 1289"/>
              <a:gd name="T52" fmla="*/ 300037 w 1288"/>
              <a:gd name="T53" fmla="*/ 300038 h 1289"/>
              <a:gd name="T54" fmla="*/ 204788 w 1288"/>
              <a:gd name="T55" fmla="*/ 412750 h 1289"/>
              <a:gd name="T56" fmla="*/ 123825 w 1288"/>
              <a:gd name="T57" fmla="*/ 536575 h 1289"/>
              <a:gd name="T58" fmla="*/ 63500 w 1288"/>
              <a:gd name="T59" fmla="*/ 673100 h 1289"/>
              <a:gd name="T60" fmla="*/ 22225 w 1288"/>
              <a:gd name="T61" fmla="*/ 819150 h 1289"/>
              <a:gd name="T62" fmla="*/ 0 w 1288"/>
              <a:gd name="T63" fmla="*/ 969963 h 1289"/>
              <a:gd name="T64" fmla="*/ 7938 w 1288"/>
              <a:gd name="T65" fmla="*/ 1128713 h 1289"/>
              <a:gd name="T66" fmla="*/ 31750 w 1288"/>
              <a:gd name="T67" fmla="*/ 1276350 h 1289"/>
              <a:gd name="T68" fmla="*/ 80962 w 1288"/>
              <a:gd name="T69" fmla="*/ 1420813 h 1289"/>
              <a:gd name="T70" fmla="*/ 149225 w 1288"/>
              <a:gd name="T71" fmla="*/ 1552575 h 1289"/>
              <a:gd name="T72" fmla="*/ 233363 w 1288"/>
              <a:gd name="T73" fmla="*/ 1671638 h 1289"/>
              <a:gd name="T74" fmla="*/ 334962 w 1288"/>
              <a:gd name="T75" fmla="*/ 1781176 h 1289"/>
              <a:gd name="T76" fmla="*/ 452438 w 1288"/>
              <a:gd name="T77" fmla="*/ 1870076 h 1289"/>
              <a:gd name="T78" fmla="*/ 577850 w 1288"/>
              <a:gd name="T79" fmla="*/ 1943101 h 1289"/>
              <a:gd name="T80" fmla="*/ 719137 w 1288"/>
              <a:gd name="T81" fmla="*/ 2000251 h 1289"/>
              <a:gd name="T82" fmla="*/ 868363 w 1288"/>
              <a:gd name="T83" fmla="*/ 2035176 h 1289"/>
              <a:gd name="T84" fmla="*/ 1022350 w 1288"/>
              <a:gd name="T85" fmla="*/ 2046288 h 128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88"/>
              <a:gd name="T130" fmla="*/ 0 h 1289"/>
              <a:gd name="T131" fmla="*/ 1288 w 1288"/>
              <a:gd name="T132" fmla="*/ 1289 h 128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88" h="1289">
                <a:moveTo>
                  <a:pt x="644" y="1289"/>
                </a:moveTo>
                <a:lnTo>
                  <a:pt x="678" y="1289"/>
                </a:lnTo>
                <a:lnTo>
                  <a:pt x="709" y="1284"/>
                </a:lnTo>
                <a:lnTo>
                  <a:pt x="742" y="1282"/>
                </a:lnTo>
                <a:lnTo>
                  <a:pt x="773" y="1275"/>
                </a:lnTo>
                <a:lnTo>
                  <a:pt x="804" y="1269"/>
                </a:lnTo>
                <a:lnTo>
                  <a:pt x="835" y="1260"/>
                </a:lnTo>
                <a:lnTo>
                  <a:pt x="864" y="1249"/>
                </a:lnTo>
                <a:lnTo>
                  <a:pt x="893" y="1238"/>
                </a:lnTo>
                <a:lnTo>
                  <a:pt x="922" y="1224"/>
                </a:lnTo>
                <a:lnTo>
                  <a:pt x="951" y="1211"/>
                </a:lnTo>
                <a:lnTo>
                  <a:pt x="977" y="1195"/>
                </a:lnTo>
                <a:lnTo>
                  <a:pt x="1004" y="1178"/>
                </a:lnTo>
                <a:lnTo>
                  <a:pt x="1028" y="1160"/>
                </a:lnTo>
                <a:lnTo>
                  <a:pt x="1053" y="1142"/>
                </a:lnTo>
                <a:lnTo>
                  <a:pt x="1077" y="1122"/>
                </a:lnTo>
                <a:lnTo>
                  <a:pt x="1099" y="1100"/>
                </a:lnTo>
                <a:lnTo>
                  <a:pt x="1119" y="1078"/>
                </a:lnTo>
                <a:lnTo>
                  <a:pt x="1139" y="1053"/>
                </a:lnTo>
                <a:lnTo>
                  <a:pt x="1159" y="1029"/>
                </a:lnTo>
                <a:lnTo>
                  <a:pt x="1177" y="1004"/>
                </a:lnTo>
                <a:lnTo>
                  <a:pt x="1195" y="978"/>
                </a:lnTo>
                <a:lnTo>
                  <a:pt x="1211" y="951"/>
                </a:lnTo>
                <a:lnTo>
                  <a:pt x="1224" y="924"/>
                </a:lnTo>
                <a:lnTo>
                  <a:pt x="1237" y="895"/>
                </a:lnTo>
                <a:lnTo>
                  <a:pt x="1248" y="867"/>
                </a:lnTo>
                <a:lnTo>
                  <a:pt x="1259" y="835"/>
                </a:lnTo>
                <a:lnTo>
                  <a:pt x="1268" y="804"/>
                </a:lnTo>
                <a:lnTo>
                  <a:pt x="1275" y="773"/>
                </a:lnTo>
                <a:lnTo>
                  <a:pt x="1279" y="742"/>
                </a:lnTo>
                <a:lnTo>
                  <a:pt x="1284" y="711"/>
                </a:lnTo>
                <a:lnTo>
                  <a:pt x="1286" y="678"/>
                </a:lnTo>
                <a:lnTo>
                  <a:pt x="1288" y="644"/>
                </a:lnTo>
                <a:lnTo>
                  <a:pt x="1286" y="611"/>
                </a:lnTo>
                <a:lnTo>
                  <a:pt x="1284" y="580"/>
                </a:lnTo>
                <a:lnTo>
                  <a:pt x="1279" y="547"/>
                </a:lnTo>
                <a:lnTo>
                  <a:pt x="1275" y="516"/>
                </a:lnTo>
                <a:lnTo>
                  <a:pt x="1268" y="484"/>
                </a:lnTo>
                <a:lnTo>
                  <a:pt x="1259" y="453"/>
                </a:lnTo>
                <a:lnTo>
                  <a:pt x="1248" y="424"/>
                </a:lnTo>
                <a:lnTo>
                  <a:pt x="1237" y="396"/>
                </a:lnTo>
                <a:lnTo>
                  <a:pt x="1224" y="367"/>
                </a:lnTo>
                <a:lnTo>
                  <a:pt x="1211" y="338"/>
                </a:lnTo>
                <a:lnTo>
                  <a:pt x="1195" y="311"/>
                </a:lnTo>
                <a:lnTo>
                  <a:pt x="1177" y="284"/>
                </a:lnTo>
                <a:lnTo>
                  <a:pt x="1159" y="260"/>
                </a:lnTo>
                <a:lnTo>
                  <a:pt x="1139" y="236"/>
                </a:lnTo>
                <a:lnTo>
                  <a:pt x="1119" y="213"/>
                </a:lnTo>
                <a:lnTo>
                  <a:pt x="1099" y="189"/>
                </a:lnTo>
                <a:lnTo>
                  <a:pt x="1077" y="169"/>
                </a:lnTo>
                <a:lnTo>
                  <a:pt x="1053" y="149"/>
                </a:lnTo>
                <a:lnTo>
                  <a:pt x="1028" y="129"/>
                </a:lnTo>
                <a:lnTo>
                  <a:pt x="1004" y="111"/>
                </a:lnTo>
                <a:lnTo>
                  <a:pt x="977" y="93"/>
                </a:lnTo>
                <a:lnTo>
                  <a:pt x="951" y="78"/>
                </a:lnTo>
                <a:lnTo>
                  <a:pt x="922" y="65"/>
                </a:lnTo>
                <a:lnTo>
                  <a:pt x="893" y="51"/>
                </a:lnTo>
                <a:lnTo>
                  <a:pt x="864" y="40"/>
                </a:lnTo>
                <a:lnTo>
                  <a:pt x="835" y="29"/>
                </a:lnTo>
                <a:lnTo>
                  <a:pt x="804" y="22"/>
                </a:lnTo>
                <a:lnTo>
                  <a:pt x="773" y="13"/>
                </a:lnTo>
                <a:lnTo>
                  <a:pt x="742" y="9"/>
                </a:lnTo>
                <a:lnTo>
                  <a:pt x="709" y="5"/>
                </a:lnTo>
                <a:lnTo>
                  <a:pt x="678" y="2"/>
                </a:lnTo>
                <a:lnTo>
                  <a:pt x="644" y="0"/>
                </a:lnTo>
                <a:lnTo>
                  <a:pt x="611" y="2"/>
                </a:lnTo>
                <a:lnTo>
                  <a:pt x="578" y="5"/>
                </a:lnTo>
                <a:lnTo>
                  <a:pt x="547" y="9"/>
                </a:lnTo>
                <a:lnTo>
                  <a:pt x="515" y="13"/>
                </a:lnTo>
                <a:lnTo>
                  <a:pt x="484" y="22"/>
                </a:lnTo>
                <a:lnTo>
                  <a:pt x="453" y="29"/>
                </a:lnTo>
                <a:lnTo>
                  <a:pt x="422" y="40"/>
                </a:lnTo>
                <a:lnTo>
                  <a:pt x="393" y="51"/>
                </a:lnTo>
                <a:lnTo>
                  <a:pt x="364" y="65"/>
                </a:lnTo>
                <a:lnTo>
                  <a:pt x="338" y="78"/>
                </a:lnTo>
                <a:lnTo>
                  <a:pt x="311" y="93"/>
                </a:lnTo>
                <a:lnTo>
                  <a:pt x="285" y="111"/>
                </a:lnTo>
                <a:lnTo>
                  <a:pt x="260" y="129"/>
                </a:lnTo>
                <a:lnTo>
                  <a:pt x="236" y="149"/>
                </a:lnTo>
                <a:lnTo>
                  <a:pt x="211" y="169"/>
                </a:lnTo>
                <a:lnTo>
                  <a:pt x="189" y="189"/>
                </a:lnTo>
                <a:lnTo>
                  <a:pt x="169" y="213"/>
                </a:lnTo>
                <a:lnTo>
                  <a:pt x="147" y="236"/>
                </a:lnTo>
                <a:lnTo>
                  <a:pt x="129" y="260"/>
                </a:lnTo>
                <a:lnTo>
                  <a:pt x="111" y="284"/>
                </a:lnTo>
                <a:lnTo>
                  <a:pt x="94" y="311"/>
                </a:lnTo>
                <a:lnTo>
                  <a:pt x="78" y="338"/>
                </a:lnTo>
                <a:lnTo>
                  <a:pt x="65" y="367"/>
                </a:lnTo>
                <a:lnTo>
                  <a:pt x="51" y="396"/>
                </a:lnTo>
                <a:lnTo>
                  <a:pt x="40" y="424"/>
                </a:lnTo>
                <a:lnTo>
                  <a:pt x="29" y="453"/>
                </a:lnTo>
                <a:lnTo>
                  <a:pt x="20" y="484"/>
                </a:lnTo>
                <a:lnTo>
                  <a:pt x="14" y="516"/>
                </a:lnTo>
                <a:lnTo>
                  <a:pt x="7" y="547"/>
                </a:lnTo>
                <a:lnTo>
                  <a:pt x="5" y="580"/>
                </a:lnTo>
                <a:lnTo>
                  <a:pt x="0" y="611"/>
                </a:lnTo>
                <a:lnTo>
                  <a:pt x="0" y="644"/>
                </a:lnTo>
                <a:lnTo>
                  <a:pt x="0" y="678"/>
                </a:lnTo>
                <a:lnTo>
                  <a:pt x="5" y="711"/>
                </a:lnTo>
                <a:lnTo>
                  <a:pt x="7" y="742"/>
                </a:lnTo>
                <a:lnTo>
                  <a:pt x="14" y="773"/>
                </a:lnTo>
                <a:lnTo>
                  <a:pt x="20" y="804"/>
                </a:lnTo>
                <a:lnTo>
                  <a:pt x="29" y="835"/>
                </a:lnTo>
                <a:lnTo>
                  <a:pt x="40" y="867"/>
                </a:lnTo>
                <a:lnTo>
                  <a:pt x="51" y="895"/>
                </a:lnTo>
                <a:lnTo>
                  <a:pt x="65" y="924"/>
                </a:lnTo>
                <a:lnTo>
                  <a:pt x="78" y="951"/>
                </a:lnTo>
                <a:lnTo>
                  <a:pt x="94" y="978"/>
                </a:lnTo>
                <a:lnTo>
                  <a:pt x="111" y="1004"/>
                </a:lnTo>
                <a:lnTo>
                  <a:pt x="129" y="1029"/>
                </a:lnTo>
                <a:lnTo>
                  <a:pt x="147" y="1053"/>
                </a:lnTo>
                <a:lnTo>
                  <a:pt x="169" y="1078"/>
                </a:lnTo>
                <a:lnTo>
                  <a:pt x="189" y="1100"/>
                </a:lnTo>
                <a:lnTo>
                  <a:pt x="211" y="1122"/>
                </a:lnTo>
                <a:lnTo>
                  <a:pt x="236" y="1142"/>
                </a:lnTo>
                <a:lnTo>
                  <a:pt x="260" y="1160"/>
                </a:lnTo>
                <a:lnTo>
                  <a:pt x="285" y="1178"/>
                </a:lnTo>
                <a:lnTo>
                  <a:pt x="311" y="1195"/>
                </a:lnTo>
                <a:lnTo>
                  <a:pt x="338" y="1211"/>
                </a:lnTo>
                <a:lnTo>
                  <a:pt x="364" y="1224"/>
                </a:lnTo>
                <a:lnTo>
                  <a:pt x="393" y="1238"/>
                </a:lnTo>
                <a:lnTo>
                  <a:pt x="422" y="1249"/>
                </a:lnTo>
                <a:lnTo>
                  <a:pt x="453" y="1260"/>
                </a:lnTo>
                <a:lnTo>
                  <a:pt x="484" y="1269"/>
                </a:lnTo>
                <a:lnTo>
                  <a:pt x="515" y="1275"/>
                </a:lnTo>
                <a:lnTo>
                  <a:pt x="547" y="1282"/>
                </a:lnTo>
                <a:lnTo>
                  <a:pt x="578" y="1284"/>
                </a:lnTo>
                <a:lnTo>
                  <a:pt x="611" y="1289"/>
                </a:lnTo>
                <a:lnTo>
                  <a:pt x="644" y="1289"/>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31773" name="Rectangle 34">
            <a:extLst>
              <a:ext uri="{FF2B5EF4-FFF2-40B4-BE49-F238E27FC236}">
                <a16:creationId xmlns:a16="http://schemas.microsoft.com/office/drawing/2014/main" id="{617F1BDE-3781-FE00-4604-1DC09A1BA284}"/>
              </a:ext>
            </a:extLst>
          </p:cNvPr>
          <p:cNvSpPr>
            <a:spLocks noChangeArrowheads="1"/>
          </p:cNvSpPr>
          <p:nvPr/>
        </p:nvSpPr>
        <p:spPr bwMode="auto">
          <a:xfrm>
            <a:off x="4357688" y="4541838"/>
            <a:ext cx="233362" cy="739775"/>
          </a:xfrm>
          <a:prstGeom prst="rect">
            <a:avLst/>
          </a:prstGeom>
          <a:solidFill>
            <a:srgbClr val="DFDF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4" name="Rectangle 35">
            <a:extLst>
              <a:ext uri="{FF2B5EF4-FFF2-40B4-BE49-F238E27FC236}">
                <a16:creationId xmlns:a16="http://schemas.microsoft.com/office/drawing/2014/main" id="{0E1D47D2-073E-C1BD-30B3-60E49EE126F6}"/>
              </a:ext>
            </a:extLst>
          </p:cNvPr>
          <p:cNvSpPr>
            <a:spLocks noChangeArrowheads="1"/>
          </p:cNvSpPr>
          <p:nvPr/>
        </p:nvSpPr>
        <p:spPr bwMode="auto">
          <a:xfrm>
            <a:off x="4357688" y="4541838"/>
            <a:ext cx="233362" cy="739775"/>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5" name="Rectangle 36">
            <a:extLst>
              <a:ext uri="{FF2B5EF4-FFF2-40B4-BE49-F238E27FC236}">
                <a16:creationId xmlns:a16="http://schemas.microsoft.com/office/drawing/2014/main" id="{616E475E-8CA0-EB24-E4F0-69ABDFB2E33D}"/>
              </a:ext>
            </a:extLst>
          </p:cNvPr>
          <p:cNvSpPr>
            <a:spLocks noChangeArrowheads="1"/>
          </p:cNvSpPr>
          <p:nvPr/>
        </p:nvSpPr>
        <p:spPr bwMode="auto">
          <a:xfrm>
            <a:off x="4600575" y="4333875"/>
            <a:ext cx="2500313" cy="1123950"/>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6" name="Rectangle 37">
            <a:extLst>
              <a:ext uri="{FF2B5EF4-FFF2-40B4-BE49-F238E27FC236}">
                <a16:creationId xmlns:a16="http://schemas.microsoft.com/office/drawing/2014/main" id="{E0BD5D97-D6A5-CA9D-CA6B-598322BB2A31}"/>
              </a:ext>
            </a:extLst>
          </p:cNvPr>
          <p:cNvSpPr>
            <a:spLocks noChangeArrowheads="1"/>
          </p:cNvSpPr>
          <p:nvPr/>
        </p:nvSpPr>
        <p:spPr bwMode="auto">
          <a:xfrm>
            <a:off x="3375025" y="4727575"/>
            <a:ext cx="1011238" cy="377825"/>
          </a:xfrm>
          <a:prstGeom prst="rect">
            <a:avLst/>
          </a:prstGeom>
          <a:solidFill>
            <a:srgbClr val="FFF5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7" name="Rectangle 38">
            <a:extLst>
              <a:ext uri="{FF2B5EF4-FFF2-40B4-BE49-F238E27FC236}">
                <a16:creationId xmlns:a16="http://schemas.microsoft.com/office/drawing/2014/main" id="{DB87460E-D229-2F96-1FE7-59781F049510}"/>
              </a:ext>
            </a:extLst>
          </p:cNvPr>
          <p:cNvSpPr>
            <a:spLocks noChangeArrowheads="1"/>
          </p:cNvSpPr>
          <p:nvPr/>
        </p:nvSpPr>
        <p:spPr bwMode="auto">
          <a:xfrm>
            <a:off x="3375025" y="4727575"/>
            <a:ext cx="1011238" cy="377825"/>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8" name="Rectangle 39">
            <a:extLst>
              <a:ext uri="{FF2B5EF4-FFF2-40B4-BE49-F238E27FC236}">
                <a16:creationId xmlns:a16="http://schemas.microsoft.com/office/drawing/2014/main" id="{FD98329F-3EC0-BA67-0EEC-C27846ACEB8F}"/>
              </a:ext>
            </a:extLst>
          </p:cNvPr>
          <p:cNvSpPr>
            <a:spLocks noChangeArrowheads="1"/>
          </p:cNvSpPr>
          <p:nvPr/>
        </p:nvSpPr>
        <p:spPr bwMode="auto">
          <a:xfrm>
            <a:off x="2003425" y="3560763"/>
            <a:ext cx="620713" cy="311150"/>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79" name="Rectangle 40">
            <a:extLst>
              <a:ext uri="{FF2B5EF4-FFF2-40B4-BE49-F238E27FC236}">
                <a16:creationId xmlns:a16="http://schemas.microsoft.com/office/drawing/2014/main" id="{8AC854E4-E8B0-86FB-E8AC-551C78B952DC}"/>
              </a:ext>
            </a:extLst>
          </p:cNvPr>
          <p:cNvSpPr>
            <a:spLocks noChangeArrowheads="1"/>
          </p:cNvSpPr>
          <p:nvPr/>
        </p:nvSpPr>
        <p:spPr bwMode="auto">
          <a:xfrm>
            <a:off x="2003425" y="3560763"/>
            <a:ext cx="620713" cy="311150"/>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80" name="Rectangle 41">
            <a:extLst>
              <a:ext uri="{FF2B5EF4-FFF2-40B4-BE49-F238E27FC236}">
                <a16:creationId xmlns:a16="http://schemas.microsoft.com/office/drawing/2014/main" id="{1AD45539-30EF-CAA2-980C-A65F338ECB18}"/>
              </a:ext>
            </a:extLst>
          </p:cNvPr>
          <p:cNvSpPr>
            <a:spLocks noChangeArrowheads="1"/>
          </p:cNvSpPr>
          <p:nvPr/>
        </p:nvSpPr>
        <p:spPr bwMode="auto">
          <a:xfrm>
            <a:off x="1836738" y="2989263"/>
            <a:ext cx="952500" cy="617537"/>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81" name="Freeform 42">
            <a:extLst>
              <a:ext uri="{FF2B5EF4-FFF2-40B4-BE49-F238E27FC236}">
                <a16:creationId xmlns:a16="http://schemas.microsoft.com/office/drawing/2014/main" id="{9DF384AD-5D82-7EA7-FE7D-4315F5F3DE46}"/>
              </a:ext>
            </a:extLst>
          </p:cNvPr>
          <p:cNvSpPr>
            <a:spLocks/>
          </p:cNvSpPr>
          <p:nvPr/>
        </p:nvSpPr>
        <p:spPr bwMode="auto">
          <a:xfrm>
            <a:off x="1160463" y="3765550"/>
            <a:ext cx="2305050" cy="2306638"/>
          </a:xfrm>
          <a:custGeom>
            <a:avLst/>
            <a:gdLst>
              <a:gd name="T0" fmla="*/ 1270000 w 1452"/>
              <a:gd name="T1" fmla="*/ 2298701 h 1453"/>
              <a:gd name="T2" fmla="*/ 1438275 w 1452"/>
              <a:gd name="T3" fmla="*/ 2271713 h 1453"/>
              <a:gd name="T4" fmla="*/ 1600200 w 1452"/>
              <a:gd name="T5" fmla="*/ 2214563 h 1453"/>
              <a:gd name="T6" fmla="*/ 1749425 w 1452"/>
              <a:gd name="T7" fmla="*/ 2139951 h 1453"/>
              <a:gd name="T8" fmla="*/ 1885950 w 1452"/>
              <a:gd name="T9" fmla="*/ 2041526 h 1453"/>
              <a:gd name="T10" fmla="*/ 2006600 w 1452"/>
              <a:gd name="T11" fmla="*/ 1928813 h 1453"/>
              <a:gd name="T12" fmla="*/ 2108200 w 1452"/>
              <a:gd name="T13" fmla="*/ 1798638 h 1453"/>
              <a:gd name="T14" fmla="*/ 2189163 w 1452"/>
              <a:gd name="T15" fmla="*/ 1654176 h 1453"/>
              <a:gd name="T16" fmla="*/ 2252663 w 1452"/>
              <a:gd name="T17" fmla="*/ 1495425 h 1453"/>
              <a:gd name="T18" fmla="*/ 2292350 w 1452"/>
              <a:gd name="T19" fmla="*/ 1328738 h 1453"/>
              <a:gd name="T20" fmla="*/ 2305050 w 1452"/>
              <a:gd name="T21" fmla="*/ 1152525 h 1453"/>
              <a:gd name="T22" fmla="*/ 2292350 w 1452"/>
              <a:gd name="T23" fmla="*/ 981075 h 1453"/>
              <a:gd name="T24" fmla="*/ 2252663 w 1452"/>
              <a:gd name="T25" fmla="*/ 811213 h 1453"/>
              <a:gd name="T26" fmla="*/ 2189163 w 1452"/>
              <a:gd name="T27" fmla="*/ 655638 h 1453"/>
              <a:gd name="T28" fmla="*/ 2108200 w 1452"/>
              <a:gd name="T29" fmla="*/ 511175 h 1453"/>
              <a:gd name="T30" fmla="*/ 2006600 w 1452"/>
              <a:gd name="T31" fmla="*/ 381000 h 1453"/>
              <a:gd name="T32" fmla="*/ 1885950 w 1452"/>
              <a:gd name="T33" fmla="*/ 265113 h 1453"/>
              <a:gd name="T34" fmla="*/ 1749425 w 1452"/>
              <a:gd name="T35" fmla="*/ 169863 h 1453"/>
              <a:gd name="T36" fmla="*/ 1600200 w 1452"/>
              <a:gd name="T37" fmla="*/ 92075 h 1453"/>
              <a:gd name="T38" fmla="*/ 1438275 w 1452"/>
              <a:gd name="T39" fmla="*/ 38100 h 1453"/>
              <a:gd name="T40" fmla="*/ 1270000 w 1452"/>
              <a:gd name="T41" fmla="*/ 6350 h 1453"/>
              <a:gd name="T42" fmla="*/ 1093788 w 1452"/>
              <a:gd name="T43" fmla="*/ 3175 h 1453"/>
              <a:gd name="T44" fmla="*/ 920750 w 1452"/>
              <a:gd name="T45" fmla="*/ 23813 h 1453"/>
              <a:gd name="T46" fmla="*/ 758825 w 1452"/>
              <a:gd name="T47" fmla="*/ 69850 h 1453"/>
              <a:gd name="T48" fmla="*/ 603250 w 1452"/>
              <a:gd name="T49" fmla="*/ 141288 h 1453"/>
              <a:gd name="T50" fmla="*/ 461963 w 1452"/>
              <a:gd name="T51" fmla="*/ 228600 h 1453"/>
              <a:gd name="T52" fmla="*/ 338137 w 1452"/>
              <a:gd name="T53" fmla="*/ 338138 h 1453"/>
              <a:gd name="T54" fmla="*/ 228600 w 1452"/>
              <a:gd name="T55" fmla="*/ 465138 h 1453"/>
              <a:gd name="T56" fmla="*/ 141288 w 1452"/>
              <a:gd name="T57" fmla="*/ 606425 h 1453"/>
              <a:gd name="T58" fmla="*/ 71438 w 1452"/>
              <a:gd name="T59" fmla="*/ 758825 h 1453"/>
              <a:gd name="T60" fmla="*/ 25400 w 1452"/>
              <a:gd name="T61" fmla="*/ 920750 h 1453"/>
              <a:gd name="T62" fmla="*/ 0 w 1452"/>
              <a:gd name="T63" fmla="*/ 1093788 h 1453"/>
              <a:gd name="T64" fmla="*/ 7938 w 1452"/>
              <a:gd name="T65" fmla="*/ 1273175 h 1453"/>
              <a:gd name="T66" fmla="*/ 34925 w 1452"/>
              <a:gd name="T67" fmla="*/ 1443038 h 1453"/>
              <a:gd name="T68" fmla="*/ 92075 w 1452"/>
              <a:gd name="T69" fmla="*/ 1601788 h 1453"/>
              <a:gd name="T70" fmla="*/ 165100 w 1452"/>
              <a:gd name="T71" fmla="*/ 1749426 h 1453"/>
              <a:gd name="T72" fmla="*/ 265113 w 1452"/>
              <a:gd name="T73" fmla="*/ 1887538 h 1453"/>
              <a:gd name="T74" fmla="*/ 377825 w 1452"/>
              <a:gd name="T75" fmla="*/ 2006601 h 1453"/>
              <a:gd name="T76" fmla="*/ 508000 w 1452"/>
              <a:gd name="T77" fmla="*/ 2108201 h 1453"/>
              <a:gd name="T78" fmla="*/ 652462 w 1452"/>
              <a:gd name="T79" fmla="*/ 2193926 h 1453"/>
              <a:gd name="T80" fmla="*/ 811212 w 1452"/>
              <a:gd name="T81" fmla="*/ 2254251 h 1453"/>
              <a:gd name="T82" fmla="*/ 976313 w 1452"/>
              <a:gd name="T83" fmla="*/ 2292351 h 1453"/>
              <a:gd name="T84" fmla="*/ 1152525 w 1452"/>
              <a:gd name="T85" fmla="*/ 2306638 h 14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52"/>
              <a:gd name="T130" fmla="*/ 0 h 1453"/>
              <a:gd name="T131" fmla="*/ 1452 w 1452"/>
              <a:gd name="T132" fmla="*/ 1453 h 14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52" h="1453">
                <a:moveTo>
                  <a:pt x="726" y="1453"/>
                </a:moveTo>
                <a:lnTo>
                  <a:pt x="764" y="1453"/>
                </a:lnTo>
                <a:lnTo>
                  <a:pt x="800" y="1448"/>
                </a:lnTo>
                <a:lnTo>
                  <a:pt x="837" y="1444"/>
                </a:lnTo>
                <a:lnTo>
                  <a:pt x="873" y="1437"/>
                </a:lnTo>
                <a:lnTo>
                  <a:pt x="906" y="1431"/>
                </a:lnTo>
                <a:lnTo>
                  <a:pt x="942" y="1420"/>
                </a:lnTo>
                <a:lnTo>
                  <a:pt x="975" y="1408"/>
                </a:lnTo>
                <a:lnTo>
                  <a:pt x="1008" y="1395"/>
                </a:lnTo>
                <a:lnTo>
                  <a:pt x="1039" y="1382"/>
                </a:lnTo>
                <a:lnTo>
                  <a:pt x="1070" y="1366"/>
                </a:lnTo>
                <a:lnTo>
                  <a:pt x="1102" y="1348"/>
                </a:lnTo>
                <a:lnTo>
                  <a:pt x="1130" y="1328"/>
                </a:lnTo>
                <a:lnTo>
                  <a:pt x="1159" y="1308"/>
                </a:lnTo>
                <a:lnTo>
                  <a:pt x="1188" y="1286"/>
                </a:lnTo>
                <a:lnTo>
                  <a:pt x="1213" y="1264"/>
                </a:lnTo>
                <a:lnTo>
                  <a:pt x="1239" y="1240"/>
                </a:lnTo>
                <a:lnTo>
                  <a:pt x="1264" y="1215"/>
                </a:lnTo>
                <a:lnTo>
                  <a:pt x="1286" y="1189"/>
                </a:lnTo>
                <a:lnTo>
                  <a:pt x="1308" y="1162"/>
                </a:lnTo>
                <a:lnTo>
                  <a:pt x="1328" y="1133"/>
                </a:lnTo>
                <a:lnTo>
                  <a:pt x="1346" y="1102"/>
                </a:lnTo>
                <a:lnTo>
                  <a:pt x="1364" y="1073"/>
                </a:lnTo>
                <a:lnTo>
                  <a:pt x="1379" y="1042"/>
                </a:lnTo>
                <a:lnTo>
                  <a:pt x="1395" y="1009"/>
                </a:lnTo>
                <a:lnTo>
                  <a:pt x="1408" y="975"/>
                </a:lnTo>
                <a:lnTo>
                  <a:pt x="1419" y="942"/>
                </a:lnTo>
                <a:lnTo>
                  <a:pt x="1428" y="909"/>
                </a:lnTo>
                <a:lnTo>
                  <a:pt x="1437" y="873"/>
                </a:lnTo>
                <a:lnTo>
                  <a:pt x="1444" y="837"/>
                </a:lnTo>
                <a:lnTo>
                  <a:pt x="1448" y="802"/>
                </a:lnTo>
                <a:lnTo>
                  <a:pt x="1450" y="764"/>
                </a:lnTo>
                <a:lnTo>
                  <a:pt x="1452" y="726"/>
                </a:lnTo>
                <a:lnTo>
                  <a:pt x="1450" y="689"/>
                </a:lnTo>
                <a:lnTo>
                  <a:pt x="1448" y="653"/>
                </a:lnTo>
                <a:lnTo>
                  <a:pt x="1444" y="618"/>
                </a:lnTo>
                <a:lnTo>
                  <a:pt x="1437" y="580"/>
                </a:lnTo>
                <a:lnTo>
                  <a:pt x="1428" y="546"/>
                </a:lnTo>
                <a:lnTo>
                  <a:pt x="1419" y="511"/>
                </a:lnTo>
                <a:lnTo>
                  <a:pt x="1408" y="478"/>
                </a:lnTo>
                <a:lnTo>
                  <a:pt x="1395" y="444"/>
                </a:lnTo>
                <a:lnTo>
                  <a:pt x="1379" y="413"/>
                </a:lnTo>
                <a:lnTo>
                  <a:pt x="1364" y="382"/>
                </a:lnTo>
                <a:lnTo>
                  <a:pt x="1346" y="351"/>
                </a:lnTo>
                <a:lnTo>
                  <a:pt x="1328" y="322"/>
                </a:lnTo>
                <a:lnTo>
                  <a:pt x="1308" y="293"/>
                </a:lnTo>
                <a:lnTo>
                  <a:pt x="1286" y="264"/>
                </a:lnTo>
                <a:lnTo>
                  <a:pt x="1264" y="240"/>
                </a:lnTo>
                <a:lnTo>
                  <a:pt x="1239" y="213"/>
                </a:lnTo>
                <a:lnTo>
                  <a:pt x="1213" y="189"/>
                </a:lnTo>
                <a:lnTo>
                  <a:pt x="1188" y="167"/>
                </a:lnTo>
                <a:lnTo>
                  <a:pt x="1159" y="144"/>
                </a:lnTo>
                <a:lnTo>
                  <a:pt x="1130" y="124"/>
                </a:lnTo>
                <a:lnTo>
                  <a:pt x="1102" y="107"/>
                </a:lnTo>
                <a:lnTo>
                  <a:pt x="1070" y="89"/>
                </a:lnTo>
                <a:lnTo>
                  <a:pt x="1039" y="73"/>
                </a:lnTo>
                <a:lnTo>
                  <a:pt x="1008" y="58"/>
                </a:lnTo>
                <a:lnTo>
                  <a:pt x="975" y="44"/>
                </a:lnTo>
                <a:lnTo>
                  <a:pt x="942" y="33"/>
                </a:lnTo>
                <a:lnTo>
                  <a:pt x="906" y="24"/>
                </a:lnTo>
                <a:lnTo>
                  <a:pt x="873" y="15"/>
                </a:lnTo>
                <a:lnTo>
                  <a:pt x="837" y="9"/>
                </a:lnTo>
                <a:lnTo>
                  <a:pt x="800" y="4"/>
                </a:lnTo>
                <a:lnTo>
                  <a:pt x="764" y="2"/>
                </a:lnTo>
                <a:lnTo>
                  <a:pt x="726" y="0"/>
                </a:lnTo>
                <a:lnTo>
                  <a:pt x="689" y="2"/>
                </a:lnTo>
                <a:lnTo>
                  <a:pt x="653" y="4"/>
                </a:lnTo>
                <a:lnTo>
                  <a:pt x="615" y="9"/>
                </a:lnTo>
                <a:lnTo>
                  <a:pt x="580" y="15"/>
                </a:lnTo>
                <a:lnTo>
                  <a:pt x="544" y="24"/>
                </a:lnTo>
                <a:lnTo>
                  <a:pt x="511" y="33"/>
                </a:lnTo>
                <a:lnTo>
                  <a:pt x="478" y="44"/>
                </a:lnTo>
                <a:lnTo>
                  <a:pt x="444" y="58"/>
                </a:lnTo>
                <a:lnTo>
                  <a:pt x="411" y="73"/>
                </a:lnTo>
                <a:lnTo>
                  <a:pt x="380" y="89"/>
                </a:lnTo>
                <a:lnTo>
                  <a:pt x="351" y="107"/>
                </a:lnTo>
                <a:lnTo>
                  <a:pt x="320" y="124"/>
                </a:lnTo>
                <a:lnTo>
                  <a:pt x="291" y="144"/>
                </a:lnTo>
                <a:lnTo>
                  <a:pt x="264" y="167"/>
                </a:lnTo>
                <a:lnTo>
                  <a:pt x="238" y="189"/>
                </a:lnTo>
                <a:lnTo>
                  <a:pt x="213" y="213"/>
                </a:lnTo>
                <a:lnTo>
                  <a:pt x="189" y="240"/>
                </a:lnTo>
                <a:lnTo>
                  <a:pt x="167" y="264"/>
                </a:lnTo>
                <a:lnTo>
                  <a:pt x="144" y="293"/>
                </a:lnTo>
                <a:lnTo>
                  <a:pt x="124" y="322"/>
                </a:lnTo>
                <a:lnTo>
                  <a:pt x="104" y="351"/>
                </a:lnTo>
                <a:lnTo>
                  <a:pt x="89" y="382"/>
                </a:lnTo>
                <a:lnTo>
                  <a:pt x="71" y="413"/>
                </a:lnTo>
                <a:lnTo>
                  <a:pt x="58" y="444"/>
                </a:lnTo>
                <a:lnTo>
                  <a:pt x="45" y="478"/>
                </a:lnTo>
                <a:lnTo>
                  <a:pt x="33" y="511"/>
                </a:lnTo>
                <a:lnTo>
                  <a:pt x="22" y="546"/>
                </a:lnTo>
                <a:lnTo>
                  <a:pt x="16" y="580"/>
                </a:lnTo>
                <a:lnTo>
                  <a:pt x="9" y="618"/>
                </a:lnTo>
                <a:lnTo>
                  <a:pt x="5" y="653"/>
                </a:lnTo>
                <a:lnTo>
                  <a:pt x="0" y="689"/>
                </a:lnTo>
                <a:lnTo>
                  <a:pt x="0" y="726"/>
                </a:lnTo>
                <a:lnTo>
                  <a:pt x="0" y="764"/>
                </a:lnTo>
                <a:lnTo>
                  <a:pt x="5" y="802"/>
                </a:lnTo>
                <a:lnTo>
                  <a:pt x="9" y="837"/>
                </a:lnTo>
                <a:lnTo>
                  <a:pt x="16" y="873"/>
                </a:lnTo>
                <a:lnTo>
                  <a:pt x="22" y="909"/>
                </a:lnTo>
                <a:lnTo>
                  <a:pt x="33" y="942"/>
                </a:lnTo>
                <a:lnTo>
                  <a:pt x="45" y="975"/>
                </a:lnTo>
                <a:lnTo>
                  <a:pt x="58" y="1009"/>
                </a:lnTo>
                <a:lnTo>
                  <a:pt x="71" y="1042"/>
                </a:lnTo>
                <a:lnTo>
                  <a:pt x="89" y="1073"/>
                </a:lnTo>
                <a:lnTo>
                  <a:pt x="104" y="1102"/>
                </a:lnTo>
                <a:lnTo>
                  <a:pt x="124" y="1133"/>
                </a:lnTo>
                <a:lnTo>
                  <a:pt x="144" y="1162"/>
                </a:lnTo>
                <a:lnTo>
                  <a:pt x="167" y="1189"/>
                </a:lnTo>
                <a:lnTo>
                  <a:pt x="189" y="1215"/>
                </a:lnTo>
                <a:lnTo>
                  <a:pt x="213" y="1240"/>
                </a:lnTo>
                <a:lnTo>
                  <a:pt x="238" y="1264"/>
                </a:lnTo>
                <a:lnTo>
                  <a:pt x="264" y="1286"/>
                </a:lnTo>
                <a:lnTo>
                  <a:pt x="291" y="1308"/>
                </a:lnTo>
                <a:lnTo>
                  <a:pt x="320" y="1328"/>
                </a:lnTo>
                <a:lnTo>
                  <a:pt x="351" y="1348"/>
                </a:lnTo>
                <a:lnTo>
                  <a:pt x="380" y="1366"/>
                </a:lnTo>
                <a:lnTo>
                  <a:pt x="411" y="1382"/>
                </a:lnTo>
                <a:lnTo>
                  <a:pt x="444" y="1395"/>
                </a:lnTo>
                <a:lnTo>
                  <a:pt x="478" y="1408"/>
                </a:lnTo>
                <a:lnTo>
                  <a:pt x="511" y="1420"/>
                </a:lnTo>
                <a:lnTo>
                  <a:pt x="544" y="1431"/>
                </a:lnTo>
                <a:lnTo>
                  <a:pt x="580" y="1437"/>
                </a:lnTo>
                <a:lnTo>
                  <a:pt x="615" y="1444"/>
                </a:lnTo>
                <a:lnTo>
                  <a:pt x="653" y="1448"/>
                </a:lnTo>
                <a:lnTo>
                  <a:pt x="689" y="1453"/>
                </a:lnTo>
                <a:lnTo>
                  <a:pt x="726" y="1453"/>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31782" name="Freeform 43">
            <a:extLst>
              <a:ext uri="{FF2B5EF4-FFF2-40B4-BE49-F238E27FC236}">
                <a16:creationId xmlns:a16="http://schemas.microsoft.com/office/drawing/2014/main" id="{685FBBD0-4BD1-6BFA-1E35-A07B111F5EBB}"/>
              </a:ext>
            </a:extLst>
          </p:cNvPr>
          <p:cNvSpPr>
            <a:spLocks/>
          </p:cNvSpPr>
          <p:nvPr/>
        </p:nvSpPr>
        <p:spPr bwMode="auto">
          <a:xfrm>
            <a:off x="1290638" y="3895725"/>
            <a:ext cx="2044700" cy="2046288"/>
          </a:xfrm>
          <a:custGeom>
            <a:avLst/>
            <a:gdLst>
              <a:gd name="T0" fmla="*/ 1125537 w 1288"/>
              <a:gd name="T1" fmla="*/ 2038351 h 1289"/>
              <a:gd name="T2" fmla="*/ 1276350 w 1288"/>
              <a:gd name="T3" fmla="*/ 2014538 h 1289"/>
              <a:gd name="T4" fmla="*/ 1417637 w 1288"/>
              <a:gd name="T5" fmla="*/ 1965326 h 1289"/>
              <a:gd name="T6" fmla="*/ 1550987 w 1288"/>
              <a:gd name="T7" fmla="*/ 1897063 h 1289"/>
              <a:gd name="T8" fmla="*/ 1671638 w 1288"/>
              <a:gd name="T9" fmla="*/ 1812926 h 1289"/>
              <a:gd name="T10" fmla="*/ 1776413 w 1288"/>
              <a:gd name="T11" fmla="*/ 1711326 h 1289"/>
              <a:gd name="T12" fmla="*/ 1868488 w 1288"/>
              <a:gd name="T13" fmla="*/ 1593850 h 1289"/>
              <a:gd name="T14" fmla="*/ 1943100 w 1288"/>
              <a:gd name="T15" fmla="*/ 1466850 h 1289"/>
              <a:gd name="T16" fmla="*/ 1998663 w 1288"/>
              <a:gd name="T17" fmla="*/ 1325563 h 1289"/>
              <a:gd name="T18" fmla="*/ 2030413 w 1288"/>
              <a:gd name="T19" fmla="*/ 1177925 h 1289"/>
              <a:gd name="T20" fmla="*/ 2044700 w 1288"/>
              <a:gd name="T21" fmla="*/ 1022350 h 1289"/>
              <a:gd name="T22" fmla="*/ 2030413 w 1288"/>
              <a:gd name="T23" fmla="*/ 868363 h 1289"/>
              <a:gd name="T24" fmla="*/ 1998663 w 1288"/>
              <a:gd name="T25" fmla="*/ 719138 h 1289"/>
              <a:gd name="T26" fmla="*/ 1943100 w 1288"/>
              <a:gd name="T27" fmla="*/ 582613 h 1289"/>
              <a:gd name="T28" fmla="*/ 1868488 w 1288"/>
              <a:gd name="T29" fmla="*/ 450850 h 1289"/>
              <a:gd name="T30" fmla="*/ 1776413 w 1288"/>
              <a:gd name="T31" fmla="*/ 338138 h 1289"/>
              <a:gd name="T32" fmla="*/ 1671638 w 1288"/>
              <a:gd name="T33" fmla="*/ 236538 h 1289"/>
              <a:gd name="T34" fmla="*/ 1550987 w 1288"/>
              <a:gd name="T35" fmla="*/ 147638 h 1289"/>
              <a:gd name="T36" fmla="*/ 1417637 w 1288"/>
              <a:gd name="T37" fmla="*/ 80963 h 1289"/>
              <a:gd name="T38" fmla="*/ 1276350 w 1288"/>
              <a:gd name="T39" fmla="*/ 34925 h 1289"/>
              <a:gd name="T40" fmla="*/ 1125537 w 1288"/>
              <a:gd name="T41" fmla="*/ 7938 h 1289"/>
              <a:gd name="T42" fmla="*/ 969963 w 1288"/>
              <a:gd name="T43" fmla="*/ 3175 h 1289"/>
              <a:gd name="T44" fmla="*/ 817563 w 1288"/>
              <a:gd name="T45" fmla="*/ 20638 h 1289"/>
              <a:gd name="T46" fmla="*/ 669925 w 1288"/>
              <a:gd name="T47" fmla="*/ 63500 h 1289"/>
              <a:gd name="T48" fmla="*/ 536575 w 1288"/>
              <a:gd name="T49" fmla="*/ 123825 h 1289"/>
              <a:gd name="T50" fmla="*/ 412750 w 1288"/>
              <a:gd name="T51" fmla="*/ 204788 h 1289"/>
              <a:gd name="T52" fmla="*/ 300037 w 1288"/>
              <a:gd name="T53" fmla="*/ 300038 h 1289"/>
              <a:gd name="T54" fmla="*/ 204788 w 1288"/>
              <a:gd name="T55" fmla="*/ 412750 h 1289"/>
              <a:gd name="T56" fmla="*/ 123825 w 1288"/>
              <a:gd name="T57" fmla="*/ 536575 h 1289"/>
              <a:gd name="T58" fmla="*/ 63500 w 1288"/>
              <a:gd name="T59" fmla="*/ 673100 h 1289"/>
              <a:gd name="T60" fmla="*/ 22225 w 1288"/>
              <a:gd name="T61" fmla="*/ 819150 h 1289"/>
              <a:gd name="T62" fmla="*/ 0 w 1288"/>
              <a:gd name="T63" fmla="*/ 969963 h 1289"/>
              <a:gd name="T64" fmla="*/ 7938 w 1288"/>
              <a:gd name="T65" fmla="*/ 1128713 h 1289"/>
              <a:gd name="T66" fmla="*/ 31750 w 1288"/>
              <a:gd name="T67" fmla="*/ 1276350 h 1289"/>
              <a:gd name="T68" fmla="*/ 80962 w 1288"/>
              <a:gd name="T69" fmla="*/ 1420813 h 1289"/>
              <a:gd name="T70" fmla="*/ 149225 w 1288"/>
              <a:gd name="T71" fmla="*/ 1552575 h 1289"/>
              <a:gd name="T72" fmla="*/ 233363 w 1288"/>
              <a:gd name="T73" fmla="*/ 1671638 h 1289"/>
              <a:gd name="T74" fmla="*/ 334962 w 1288"/>
              <a:gd name="T75" fmla="*/ 1781176 h 1289"/>
              <a:gd name="T76" fmla="*/ 452438 w 1288"/>
              <a:gd name="T77" fmla="*/ 1870076 h 1289"/>
              <a:gd name="T78" fmla="*/ 577850 w 1288"/>
              <a:gd name="T79" fmla="*/ 1943101 h 1289"/>
              <a:gd name="T80" fmla="*/ 719137 w 1288"/>
              <a:gd name="T81" fmla="*/ 2000251 h 1289"/>
              <a:gd name="T82" fmla="*/ 868363 w 1288"/>
              <a:gd name="T83" fmla="*/ 2035176 h 1289"/>
              <a:gd name="T84" fmla="*/ 1022350 w 1288"/>
              <a:gd name="T85" fmla="*/ 2046288 h 128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88"/>
              <a:gd name="T130" fmla="*/ 0 h 1289"/>
              <a:gd name="T131" fmla="*/ 1288 w 1288"/>
              <a:gd name="T132" fmla="*/ 1289 h 128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88" h="1289">
                <a:moveTo>
                  <a:pt x="644" y="1289"/>
                </a:moveTo>
                <a:lnTo>
                  <a:pt x="678" y="1289"/>
                </a:lnTo>
                <a:lnTo>
                  <a:pt x="709" y="1284"/>
                </a:lnTo>
                <a:lnTo>
                  <a:pt x="742" y="1282"/>
                </a:lnTo>
                <a:lnTo>
                  <a:pt x="773" y="1275"/>
                </a:lnTo>
                <a:lnTo>
                  <a:pt x="804" y="1269"/>
                </a:lnTo>
                <a:lnTo>
                  <a:pt x="835" y="1260"/>
                </a:lnTo>
                <a:lnTo>
                  <a:pt x="864" y="1249"/>
                </a:lnTo>
                <a:lnTo>
                  <a:pt x="893" y="1238"/>
                </a:lnTo>
                <a:lnTo>
                  <a:pt x="922" y="1224"/>
                </a:lnTo>
                <a:lnTo>
                  <a:pt x="951" y="1211"/>
                </a:lnTo>
                <a:lnTo>
                  <a:pt x="977" y="1195"/>
                </a:lnTo>
                <a:lnTo>
                  <a:pt x="1004" y="1178"/>
                </a:lnTo>
                <a:lnTo>
                  <a:pt x="1028" y="1160"/>
                </a:lnTo>
                <a:lnTo>
                  <a:pt x="1053" y="1142"/>
                </a:lnTo>
                <a:lnTo>
                  <a:pt x="1077" y="1122"/>
                </a:lnTo>
                <a:lnTo>
                  <a:pt x="1099" y="1100"/>
                </a:lnTo>
                <a:lnTo>
                  <a:pt x="1119" y="1078"/>
                </a:lnTo>
                <a:lnTo>
                  <a:pt x="1139" y="1053"/>
                </a:lnTo>
                <a:lnTo>
                  <a:pt x="1159" y="1029"/>
                </a:lnTo>
                <a:lnTo>
                  <a:pt x="1177" y="1004"/>
                </a:lnTo>
                <a:lnTo>
                  <a:pt x="1195" y="978"/>
                </a:lnTo>
                <a:lnTo>
                  <a:pt x="1211" y="951"/>
                </a:lnTo>
                <a:lnTo>
                  <a:pt x="1224" y="924"/>
                </a:lnTo>
                <a:lnTo>
                  <a:pt x="1237" y="895"/>
                </a:lnTo>
                <a:lnTo>
                  <a:pt x="1248" y="867"/>
                </a:lnTo>
                <a:lnTo>
                  <a:pt x="1259" y="835"/>
                </a:lnTo>
                <a:lnTo>
                  <a:pt x="1268" y="804"/>
                </a:lnTo>
                <a:lnTo>
                  <a:pt x="1275" y="773"/>
                </a:lnTo>
                <a:lnTo>
                  <a:pt x="1279" y="742"/>
                </a:lnTo>
                <a:lnTo>
                  <a:pt x="1284" y="711"/>
                </a:lnTo>
                <a:lnTo>
                  <a:pt x="1286" y="678"/>
                </a:lnTo>
                <a:lnTo>
                  <a:pt x="1288" y="644"/>
                </a:lnTo>
                <a:lnTo>
                  <a:pt x="1286" y="611"/>
                </a:lnTo>
                <a:lnTo>
                  <a:pt x="1284" y="580"/>
                </a:lnTo>
                <a:lnTo>
                  <a:pt x="1279" y="547"/>
                </a:lnTo>
                <a:lnTo>
                  <a:pt x="1275" y="516"/>
                </a:lnTo>
                <a:lnTo>
                  <a:pt x="1268" y="484"/>
                </a:lnTo>
                <a:lnTo>
                  <a:pt x="1259" y="453"/>
                </a:lnTo>
                <a:lnTo>
                  <a:pt x="1248" y="424"/>
                </a:lnTo>
                <a:lnTo>
                  <a:pt x="1237" y="396"/>
                </a:lnTo>
                <a:lnTo>
                  <a:pt x="1224" y="367"/>
                </a:lnTo>
                <a:lnTo>
                  <a:pt x="1211" y="338"/>
                </a:lnTo>
                <a:lnTo>
                  <a:pt x="1195" y="311"/>
                </a:lnTo>
                <a:lnTo>
                  <a:pt x="1177" y="284"/>
                </a:lnTo>
                <a:lnTo>
                  <a:pt x="1159" y="260"/>
                </a:lnTo>
                <a:lnTo>
                  <a:pt x="1139" y="236"/>
                </a:lnTo>
                <a:lnTo>
                  <a:pt x="1119" y="213"/>
                </a:lnTo>
                <a:lnTo>
                  <a:pt x="1099" y="189"/>
                </a:lnTo>
                <a:lnTo>
                  <a:pt x="1077" y="169"/>
                </a:lnTo>
                <a:lnTo>
                  <a:pt x="1053" y="149"/>
                </a:lnTo>
                <a:lnTo>
                  <a:pt x="1028" y="129"/>
                </a:lnTo>
                <a:lnTo>
                  <a:pt x="1004" y="111"/>
                </a:lnTo>
                <a:lnTo>
                  <a:pt x="977" y="93"/>
                </a:lnTo>
                <a:lnTo>
                  <a:pt x="951" y="78"/>
                </a:lnTo>
                <a:lnTo>
                  <a:pt x="922" y="65"/>
                </a:lnTo>
                <a:lnTo>
                  <a:pt x="893" y="51"/>
                </a:lnTo>
                <a:lnTo>
                  <a:pt x="864" y="40"/>
                </a:lnTo>
                <a:lnTo>
                  <a:pt x="835" y="29"/>
                </a:lnTo>
                <a:lnTo>
                  <a:pt x="804" y="22"/>
                </a:lnTo>
                <a:lnTo>
                  <a:pt x="773" y="13"/>
                </a:lnTo>
                <a:lnTo>
                  <a:pt x="742" y="9"/>
                </a:lnTo>
                <a:lnTo>
                  <a:pt x="709" y="5"/>
                </a:lnTo>
                <a:lnTo>
                  <a:pt x="678" y="2"/>
                </a:lnTo>
                <a:lnTo>
                  <a:pt x="644" y="0"/>
                </a:lnTo>
                <a:lnTo>
                  <a:pt x="611" y="2"/>
                </a:lnTo>
                <a:lnTo>
                  <a:pt x="578" y="5"/>
                </a:lnTo>
                <a:lnTo>
                  <a:pt x="547" y="9"/>
                </a:lnTo>
                <a:lnTo>
                  <a:pt x="515" y="13"/>
                </a:lnTo>
                <a:lnTo>
                  <a:pt x="484" y="22"/>
                </a:lnTo>
                <a:lnTo>
                  <a:pt x="453" y="29"/>
                </a:lnTo>
                <a:lnTo>
                  <a:pt x="422" y="40"/>
                </a:lnTo>
                <a:lnTo>
                  <a:pt x="393" y="51"/>
                </a:lnTo>
                <a:lnTo>
                  <a:pt x="364" y="65"/>
                </a:lnTo>
                <a:lnTo>
                  <a:pt x="338" y="78"/>
                </a:lnTo>
                <a:lnTo>
                  <a:pt x="311" y="93"/>
                </a:lnTo>
                <a:lnTo>
                  <a:pt x="285" y="111"/>
                </a:lnTo>
                <a:lnTo>
                  <a:pt x="260" y="129"/>
                </a:lnTo>
                <a:lnTo>
                  <a:pt x="236" y="149"/>
                </a:lnTo>
                <a:lnTo>
                  <a:pt x="211" y="169"/>
                </a:lnTo>
                <a:lnTo>
                  <a:pt x="189" y="189"/>
                </a:lnTo>
                <a:lnTo>
                  <a:pt x="169" y="213"/>
                </a:lnTo>
                <a:lnTo>
                  <a:pt x="147" y="236"/>
                </a:lnTo>
                <a:lnTo>
                  <a:pt x="129" y="260"/>
                </a:lnTo>
                <a:lnTo>
                  <a:pt x="111" y="284"/>
                </a:lnTo>
                <a:lnTo>
                  <a:pt x="94" y="311"/>
                </a:lnTo>
                <a:lnTo>
                  <a:pt x="78" y="338"/>
                </a:lnTo>
                <a:lnTo>
                  <a:pt x="65" y="367"/>
                </a:lnTo>
                <a:lnTo>
                  <a:pt x="51" y="396"/>
                </a:lnTo>
                <a:lnTo>
                  <a:pt x="40" y="424"/>
                </a:lnTo>
                <a:lnTo>
                  <a:pt x="29" y="453"/>
                </a:lnTo>
                <a:lnTo>
                  <a:pt x="20" y="484"/>
                </a:lnTo>
                <a:lnTo>
                  <a:pt x="14" y="516"/>
                </a:lnTo>
                <a:lnTo>
                  <a:pt x="7" y="547"/>
                </a:lnTo>
                <a:lnTo>
                  <a:pt x="5" y="580"/>
                </a:lnTo>
                <a:lnTo>
                  <a:pt x="0" y="611"/>
                </a:lnTo>
                <a:lnTo>
                  <a:pt x="0" y="644"/>
                </a:lnTo>
                <a:lnTo>
                  <a:pt x="0" y="678"/>
                </a:lnTo>
                <a:lnTo>
                  <a:pt x="5" y="711"/>
                </a:lnTo>
                <a:lnTo>
                  <a:pt x="7" y="742"/>
                </a:lnTo>
                <a:lnTo>
                  <a:pt x="14" y="773"/>
                </a:lnTo>
                <a:lnTo>
                  <a:pt x="20" y="804"/>
                </a:lnTo>
                <a:lnTo>
                  <a:pt x="29" y="835"/>
                </a:lnTo>
                <a:lnTo>
                  <a:pt x="40" y="867"/>
                </a:lnTo>
                <a:lnTo>
                  <a:pt x="51" y="895"/>
                </a:lnTo>
                <a:lnTo>
                  <a:pt x="65" y="924"/>
                </a:lnTo>
                <a:lnTo>
                  <a:pt x="78" y="951"/>
                </a:lnTo>
                <a:lnTo>
                  <a:pt x="94" y="978"/>
                </a:lnTo>
                <a:lnTo>
                  <a:pt x="111" y="1004"/>
                </a:lnTo>
                <a:lnTo>
                  <a:pt x="129" y="1029"/>
                </a:lnTo>
                <a:lnTo>
                  <a:pt x="147" y="1053"/>
                </a:lnTo>
                <a:lnTo>
                  <a:pt x="169" y="1078"/>
                </a:lnTo>
                <a:lnTo>
                  <a:pt x="189" y="1100"/>
                </a:lnTo>
                <a:lnTo>
                  <a:pt x="211" y="1122"/>
                </a:lnTo>
                <a:lnTo>
                  <a:pt x="236" y="1142"/>
                </a:lnTo>
                <a:lnTo>
                  <a:pt x="260" y="1160"/>
                </a:lnTo>
                <a:lnTo>
                  <a:pt x="285" y="1178"/>
                </a:lnTo>
                <a:lnTo>
                  <a:pt x="311" y="1195"/>
                </a:lnTo>
                <a:lnTo>
                  <a:pt x="338" y="1211"/>
                </a:lnTo>
                <a:lnTo>
                  <a:pt x="364" y="1224"/>
                </a:lnTo>
                <a:lnTo>
                  <a:pt x="393" y="1238"/>
                </a:lnTo>
                <a:lnTo>
                  <a:pt x="422" y="1249"/>
                </a:lnTo>
                <a:lnTo>
                  <a:pt x="453" y="1260"/>
                </a:lnTo>
                <a:lnTo>
                  <a:pt x="484" y="1269"/>
                </a:lnTo>
                <a:lnTo>
                  <a:pt x="515" y="1275"/>
                </a:lnTo>
                <a:lnTo>
                  <a:pt x="547" y="1282"/>
                </a:lnTo>
                <a:lnTo>
                  <a:pt x="578" y="1284"/>
                </a:lnTo>
                <a:lnTo>
                  <a:pt x="611" y="1289"/>
                </a:lnTo>
                <a:lnTo>
                  <a:pt x="644" y="1289"/>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31783" name="Rectangle 44">
            <a:extLst>
              <a:ext uri="{FF2B5EF4-FFF2-40B4-BE49-F238E27FC236}">
                <a16:creationId xmlns:a16="http://schemas.microsoft.com/office/drawing/2014/main" id="{78A37041-F457-3F2F-19D7-8EE515D23FCC}"/>
              </a:ext>
            </a:extLst>
          </p:cNvPr>
          <p:cNvSpPr>
            <a:spLocks noChangeArrowheads="1"/>
          </p:cNvSpPr>
          <p:nvPr/>
        </p:nvSpPr>
        <p:spPr bwMode="auto">
          <a:xfrm>
            <a:off x="4357688" y="4541838"/>
            <a:ext cx="233362" cy="739775"/>
          </a:xfrm>
          <a:prstGeom prst="rect">
            <a:avLst/>
          </a:prstGeom>
          <a:solidFill>
            <a:srgbClr val="DFDF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84" name="Rectangle 45">
            <a:extLst>
              <a:ext uri="{FF2B5EF4-FFF2-40B4-BE49-F238E27FC236}">
                <a16:creationId xmlns:a16="http://schemas.microsoft.com/office/drawing/2014/main" id="{4CA31B8B-8892-5809-0691-28B9228B31F4}"/>
              </a:ext>
            </a:extLst>
          </p:cNvPr>
          <p:cNvSpPr>
            <a:spLocks noChangeArrowheads="1"/>
          </p:cNvSpPr>
          <p:nvPr/>
        </p:nvSpPr>
        <p:spPr bwMode="auto">
          <a:xfrm>
            <a:off x="4357688" y="4541838"/>
            <a:ext cx="233362" cy="739775"/>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1785" name="Line 46">
            <a:extLst>
              <a:ext uri="{FF2B5EF4-FFF2-40B4-BE49-F238E27FC236}">
                <a16:creationId xmlns:a16="http://schemas.microsoft.com/office/drawing/2014/main" id="{43C4A27C-22DD-A950-121D-066CA8D5AB04}"/>
              </a:ext>
            </a:extLst>
          </p:cNvPr>
          <p:cNvSpPr>
            <a:spLocks noChangeShapeType="1"/>
          </p:cNvSpPr>
          <p:nvPr/>
        </p:nvSpPr>
        <p:spPr bwMode="auto">
          <a:xfrm flipV="1">
            <a:off x="4360863" y="4541838"/>
            <a:ext cx="236537" cy="739775"/>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a:lstStyle/>
          <a:p>
            <a:endParaRPr lang="en-HK"/>
          </a:p>
        </p:txBody>
      </p:sp>
      <p:sp>
        <p:nvSpPr>
          <p:cNvPr id="31786" name="Line 47">
            <a:extLst>
              <a:ext uri="{FF2B5EF4-FFF2-40B4-BE49-F238E27FC236}">
                <a16:creationId xmlns:a16="http://schemas.microsoft.com/office/drawing/2014/main" id="{7324FEE2-345F-7C72-C894-898BD9D8469C}"/>
              </a:ext>
            </a:extLst>
          </p:cNvPr>
          <p:cNvSpPr>
            <a:spLocks noChangeShapeType="1"/>
          </p:cNvSpPr>
          <p:nvPr/>
        </p:nvSpPr>
        <p:spPr bwMode="auto">
          <a:xfrm>
            <a:off x="4360863" y="4541838"/>
            <a:ext cx="222250" cy="739775"/>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a:lstStyle/>
          <a:p>
            <a:endParaRPr lang="en-HK"/>
          </a:p>
        </p:txBody>
      </p:sp>
      <p:grpSp>
        <p:nvGrpSpPr>
          <p:cNvPr id="4" name="Group 52">
            <a:extLst>
              <a:ext uri="{FF2B5EF4-FFF2-40B4-BE49-F238E27FC236}">
                <a16:creationId xmlns:a16="http://schemas.microsoft.com/office/drawing/2014/main" id="{C5F9BBA1-6C96-36CC-8F7B-BC0A9871CF4D}"/>
              </a:ext>
            </a:extLst>
          </p:cNvPr>
          <p:cNvGrpSpPr>
            <a:grpSpLocks/>
          </p:cNvGrpSpPr>
          <p:nvPr/>
        </p:nvGrpSpPr>
        <p:grpSpPr bwMode="auto">
          <a:xfrm>
            <a:off x="1303338" y="3895725"/>
            <a:ext cx="2044700" cy="2046288"/>
            <a:chOff x="821" y="2454"/>
            <a:chExt cx="1288" cy="1289"/>
          </a:xfrm>
        </p:grpSpPr>
        <p:sp>
          <p:nvSpPr>
            <p:cNvPr id="31788" name="Freeform 3">
              <a:extLst>
                <a:ext uri="{FF2B5EF4-FFF2-40B4-BE49-F238E27FC236}">
                  <a16:creationId xmlns:a16="http://schemas.microsoft.com/office/drawing/2014/main" id="{8C665242-6998-8963-77D0-19622E0FEA47}"/>
                </a:ext>
              </a:extLst>
            </p:cNvPr>
            <p:cNvSpPr>
              <a:spLocks/>
            </p:cNvSpPr>
            <p:nvPr/>
          </p:nvSpPr>
          <p:spPr bwMode="auto">
            <a:xfrm>
              <a:off x="821" y="2454"/>
              <a:ext cx="1288" cy="1289"/>
            </a:xfrm>
            <a:custGeom>
              <a:avLst/>
              <a:gdLst>
                <a:gd name="T0" fmla="*/ 709 w 1288"/>
                <a:gd name="T1" fmla="*/ 1284 h 1289"/>
                <a:gd name="T2" fmla="*/ 804 w 1288"/>
                <a:gd name="T3" fmla="*/ 1269 h 1289"/>
                <a:gd name="T4" fmla="*/ 893 w 1288"/>
                <a:gd name="T5" fmla="*/ 1238 h 1289"/>
                <a:gd name="T6" fmla="*/ 977 w 1288"/>
                <a:gd name="T7" fmla="*/ 1195 h 1289"/>
                <a:gd name="T8" fmla="*/ 1053 w 1288"/>
                <a:gd name="T9" fmla="*/ 1142 h 1289"/>
                <a:gd name="T10" fmla="*/ 1119 w 1288"/>
                <a:gd name="T11" fmla="*/ 1078 h 1289"/>
                <a:gd name="T12" fmla="*/ 1177 w 1288"/>
                <a:gd name="T13" fmla="*/ 1004 h 1289"/>
                <a:gd name="T14" fmla="*/ 1224 w 1288"/>
                <a:gd name="T15" fmla="*/ 924 h 1289"/>
                <a:gd name="T16" fmla="*/ 1259 w 1288"/>
                <a:gd name="T17" fmla="*/ 835 h 1289"/>
                <a:gd name="T18" fmla="*/ 1279 w 1288"/>
                <a:gd name="T19" fmla="*/ 742 h 1289"/>
                <a:gd name="T20" fmla="*/ 1288 w 1288"/>
                <a:gd name="T21" fmla="*/ 644 h 1289"/>
                <a:gd name="T22" fmla="*/ 1279 w 1288"/>
                <a:gd name="T23" fmla="*/ 547 h 1289"/>
                <a:gd name="T24" fmla="*/ 1259 w 1288"/>
                <a:gd name="T25" fmla="*/ 453 h 1289"/>
                <a:gd name="T26" fmla="*/ 1224 w 1288"/>
                <a:gd name="T27" fmla="*/ 367 h 1289"/>
                <a:gd name="T28" fmla="*/ 1177 w 1288"/>
                <a:gd name="T29" fmla="*/ 284 h 1289"/>
                <a:gd name="T30" fmla="*/ 1119 w 1288"/>
                <a:gd name="T31" fmla="*/ 213 h 1289"/>
                <a:gd name="T32" fmla="*/ 1053 w 1288"/>
                <a:gd name="T33" fmla="*/ 149 h 1289"/>
                <a:gd name="T34" fmla="*/ 977 w 1288"/>
                <a:gd name="T35" fmla="*/ 93 h 1289"/>
                <a:gd name="T36" fmla="*/ 893 w 1288"/>
                <a:gd name="T37" fmla="*/ 51 h 1289"/>
                <a:gd name="T38" fmla="*/ 804 w 1288"/>
                <a:gd name="T39" fmla="*/ 22 h 1289"/>
                <a:gd name="T40" fmla="*/ 709 w 1288"/>
                <a:gd name="T41" fmla="*/ 5 h 1289"/>
                <a:gd name="T42" fmla="*/ 611 w 1288"/>
                <a:gd name="T43" fmla="*/ 2 h 1289"/>
                <a:gd name="T44" fmla="*/ 515 w 1288"/>
                <a:gd name="T45" fmla="*/ 13 h 1289"/>
                <a:gd name="T46" fmla="*/ 422 w 1288"/>
                <a:gd name="T47" fmla="*/ 40 h 1289"/>
                <a:gd name="T48" fmla="*/ 338 w 1288"/>
                <a:gd name="T49" fmla="*/ 78 h 1289"/>
                <a:gd name="T50" fmla="*/ 260 w 1288"/>
                <a:gd name="T51" fmla="*/ 129 h 1289"/>
                <a:gd name="T52" fmla="*/ 189 w 1288"/>
                <a:gd name="T53" fmla="*/ 189 h 1289"/>
                <a:gd name="T54" fmla="*/ 129 w 1288"/>
                <a:gd name="T55" fmla="*/ 260 h 1289"/>
                <a:gd name="T56" fmla="*/ 78 w 1288"/>
                <a:gd name="T57" fmla="*/ 338 h 1289"/>
                <a:gd name="T58" fmla="*/ 40 w 1288"/>
                <a:gd name="T59" fmla="*/ 424 h 1289"/>
                <a:gd name="T60" fmla="*/ 14 w 1288"/>
                <a:gd name="T61" fmla="*/ 516 h 1289"/>
                <a:gd name="T62" fmla="*/ 0 w 1288"/>
                <a:gd name="T63" fmla="*/ 611 h 1289"/>
                <a:gd name="T64" fmla="*/ 5 w 1288"/>
                <a:gd name="T65" fmla="*/ 711 h 1289"/>
                <a:gd name="T66" fmla="*/ 20 w 1288"/>
                <a:gd name="T67" fmla="*/ 804 h 1289"/>
                <a:gd name="T68" fmla="*/ 51 w 1288"/>
                <a:gd name="T69" fmla="*/ 895 h 1289"/>
                <a:gd name="T70" fmla="*/ 94 w 1288"/>
                <a:gd name="T71" fmla="*/ 978 h 1289"/>
                <a:gd name="T72" fmla="*/ 147 w 1288"/>
                <a:gd name="T73" fmla="*/ 1053 h 1289"/>
                <a:gd name="T74" fmla="*/ 211 w 1288"/>
                <a:gd name="T75" fmla="*/ 1122 h 1289"/>
                <a:gd name="T76" fmla="*/ 285 w 1288"/>
                <a:gd name="T77" fmla="*/ 1178 h 1289"/>
                <a:gd name="T78" fmla="*/ 364 w 1288"/>
                <a:gd name="T79" fmla="*/ 1224 h 1289"/>
                <a:gd name="T80" fmla="*/ 453 w 1288"/>
                <a:gd name="T81" fmla="*/ 1260 h 1289"/>
                <a:gd name="T82" fmla="*/ 547 w 1288"/>
                <a:gd name="T83" fmla="*/ 1282 h 1289"/>
                <a:gd name="T84" fmla="*/ 644 w 1288"/>
                <a:gd name="T85" fmla="*/ 1289 h 128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88"/>
                <a:gd name="T130" fmla="*/ 0 h 1289"/>
                <a:gd name="T131" fmla="*/ 1288 w 1288"/>
                <a:gd name="T132" fmla="*/ 1289 h 128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88" h="1289">
                  <a:moveTo>
                    <a:pt x="644" y="1289"/>
                  </a:moveTo>
                  <a:lnTo>
                    <a:pt x="678" y="1289"/>
                  </a:lnTo>
                  <a:lnTo>
                    <a:pt x="709" y="1284"/>
                  </a:lnTo>
                  <a:lnTo>
                    <a:pt x="742" y="1282"/>
                  </a:lnTo>
                  <a:lnTo>
                    <a:pt x="773" y="1275"/>
                  </a:lnTo>
                  <a:lnTo>
                    <a:pt x="804" y="1269"/>
                  </a:lnTo>
                  <a:lnTo>
                    <a:pt x="835" y="1260"/>
                  </a:lnTo>
                  <a:lnTo>
                    <a:pt x="864" y="1249"/>
                  </a:lnTo>
                  <a:lnTo>
                    <a:pt x="893" y="1238"/>
                  </a:lnTo>
                  <a:lnTo>
                    <a:pt x="922" y="1224"/>
                  </a:lnTo>
                  <a:lnTo>
                    <a:pt x="951" y="1211"/>
                  </a:lnTo>
                  <a:lnTo>
                    <a:pt x="977" y="1195"/>
                  </a:lnTo>
                  <a:lnTo>
                    <a:pt x="1004" y="1178"/>
                  </a:lnTo>
                  <a:lnTo>
                    <a:pt x="1028" y="1160"/>
                  </a:lnTo>
                  <a:lnTo>
                    <a:pt x="1053" y="1142"/>
                  </a:lnTo>
                  <a:lnTo>
                    <a:pt x="1077" y="1122"/>
                  </a:lnTo>
                  <a:lnTo>
                    <a:pt x="1099" y="1100"/>
                  </a:lnTo>
                  <a:lnTo>
                    <a:pt x="1119" y="1078"/>
                  </a:lnTo>
                  <a:lnTo>
                    <a:pt x="1139" y="1053"/>
                  </a:lnTo>
                  <a:lnTo>
                    <a:pt x="1159" y="1029"/>
                  </a:lnTo>
                  <a:lnTo>
                    <a:pt x="1177" y="1004"/>
                  </a:lnTo>
                  <a:lnTo>
                    <a:pt x="1195" y="978"/>
                  </a:lnTo>
                  <a:lnTo>
                    <a:pt x="1211" y="951"/>
                  </a:lnTo>
                  <a:lnTo>
                    <a:pt x="1224" y="924"/>
                  </a:lnTo>
                  <a:lnTo>
                    <a:pt x="1237" y="895"/>
                  </a:lnTo>
                  <a:lnTo>
                    <a:pt x="1248" y="867"/>
                  </a:lnTo>
                  <a:lnTo>
                    <a:pt x="1259" y="835"/>
                  </a:lnTo>
                  <a:lnTo>
                    <a:pt x="1268" y="804"/>
                  </a:lnTo>
                  <a:lnTo>
                    <a:pt x="1275" y="773"/>
                  </a:lnTo>
                  <a:lnTo>
                    <a:pt x="1279" y="742"/>
                  </a:lnTo>
                  <a:lnTo>
                    <a:pt x="1284" y="711"/>
                  </a:lnTo>
                  <a:lnTo>
                    <a:pt x="1286" y="678"/>
                  </a:lnTo>
                  <a:lnTo>
                    <a:pt x="1288" y="644"/>
                  </a:lnTo>
                  <a:lnTo>
                    <a:pt x="1286" y="611"/>
                  </a:lnTo>
                  <a:lnTo>
                    <a:pt x="1284" y="580"/>
                  </a:lnTo>
                  <a:lnTo>
                    <a:pt x="1279" y="547"/>
                  </a:lnTo>
                  <a:lnTo>
                    <a:pt x="1275" y="516"/>
                  </a:lnTo>
                  <a:lnTo>
                    <a:pt x="1268" y="484"/>
                  </a:lnTo>
                  <a:lnTo>
                    <a:pt x="1259" y="453"/>
                  </a:lnTo>
                  <a:lnTo>
                    <a:pt x="1248" y="424"/>
                  </a:lnTo>
                  <a:lnTo>
                    <a:pt x="1237" y="396"/>
                  </a:lnTo>
                  <a:lnTo>
                    <a:pt x="1224" y="367"/>
                  </a:lnTo>
                  <a:lnTo>
                    <a:pt x="1211" y="338"/>
                  </a:lnTo>
                  <a:lnTo>
                    <a:pt x="1195" y="311"/>
                  </a:lnTo>
                  <a:lnTo>
                    <a:pt x="1177" y="284"/>
                  </a:lnTo>
                  <a:lnTo>
                    <a:pt x="1159" y="260"/>
                  </a:lnTo>
                  <a:lnTo>
                    <a:pt x="1139" y="236"/>
                  </a:lnTo>
                  <a:lnTo>
                    <a:pt x="1119" y="213"/>
                  </a:lnTo>
                  <a:lnTo>
                    <a:pt x="1099" y="189"/>
                  </a:lnTo>
                  <a:lnTo>
                    <a:pt x="1077" y="169"/>
                  </a:lnTo>
                  <a:lnTo>
                    <a:pt x="1053" y="149"/>
                  </a:lnTo>
                  <a:lnTo>
                    <a:pt x="1028" y="129"/>
                  </a:lnTo>
                  <a:lnTo>
                    <a:pt x="1004" y="111"/>
                  </a:lnTo>
                  <a:lnTo>
                    <a:pt x="977" y="93"/>
                  </a:lnTo>
                  <a:lnTo>
                    <a:pt x="951" y="78"/>
                  </a:lnTo>
                  <a:lnTo>
                    <a:pt x="922" y="65"/>
                  </a:lnTo>
                  <a:lnTo>
                    <a:pt x="893" y="51"/>
                  </a:lnTo>
                  <a:lnTo>
                    <a:pt x="864" y="40"/>
                  </a:lnTo>
                  <a:lnTo>
                    <a:pt x="835" y="29"/>
                  </a:lnTo>
                  <a:lnTo>
                    <a:pt x="804" y="22"/>
                  </a:lnTo>
                  <a:lnTo>
                    <a:pt x="773" y="13"/>
                  </a:lnTo>
                  <a:lnTo>
                    <a:pt x="742" y="9"/>
                  </a:lnTo>
                  <a:lnTo>
                    <a:pt x="709" y="5"/>
                  </a:lnTo>
                  <a:lnTo>
                    <a:pt x="678" y="2"/>
                  </a:lnTo>
                  <a:lnTo>
                    <a:pt x="644" y="0"/>
                  </a:lnTo>
                  <a:lnTo>
                    <a:pt x="611" y="2"/>
                  </a:lnTo>
                  <a:lnTo>
                    <a:pt x="578" y="5"/>
                  </a:lnTo>
                  <a:lnTo>
                    <a:pt x="547" y="9"/>
                  </a:lnTo>
                  <a:lnTo>
                    <a:pt x="515" y="13"/>
                  </a:lnTo>
                  <a:lnTo>
                    <a:pt x="484" y="22"/>
                  </a:lnTo>
                  <a:lnTo>
                    <a:pt x="453" y="29"/>
                  </a:lnTo>
                  <a:lnTo>
                    <a:pt x="422" y="40"/>
                  </a:lnTo>
                  <a:lnTo>
                    <a:pt x="393" y="51"/>
                  </a:lnTo>
                  <a:lnTo>
                    <a:pt x="364" y="65"/>
                  </a:lnTo>
                  <a:lnTo>
                    <a:pt x="338" y="78"/>
                  </a:lnTo>
                  <a:lnTo>
                    <a:pt x="311" y="93"/>
                  </a:lnTo>
                  <a:lnTo>
                    <a:pt x="285" y="111"/>
                  </a:lnTo>
                  <a:lnTo>
                    <a:pt x="260" y="129"/>
                  </a:lnTo>
                  <a:lnTo>
                    <a:pt x="236" y="149"/>
                  </a:lnTo>
                  <a:lnTo>
                    <a:pt x="211" y="169"/>
                  </a:lnTo>
                  <a:lnTo>
                    <a:pt x="189" y="189"/>
                  </a:lnTo>
                  <a:lnTo>
                    <a:pt x="169" y="213"/>
                  </a:lnTo>
                  <a:lnTo>
                    <a:pt x="147" y="236"/>
                  </a:lnTo>
                  <a:lnTo>
                    <a:pt x="129" y="260"/>
                  </a:lnTo>
                  <a:lnTo>
                    <a:pt x="111" y="284"/>
                  </a:lnTo>
                  <a:lnTo>
                    <a:pt x="94" y="311"/>
                  </a:lnTo>
                  <a:lnTo>
                    <a:pt x="78" y="338"/>
                  </a:lnTo>
                  <a:lnTo>
                    <a:pt x="65" y="367"/>
                  </a:lnTo>
                  <a:lnTo>
                    <a:pt x="51" y="396"/>
                  </a:lnTo>
                  <a:lnTo>
                    <a:pt x="40" y="424"/>
                  </a:lnTo>
                  <a:lnTo>
                    <a:pt x="29" y="453"/>
                  </a:lnTo>
                  <a:lnTo>
                    <a:pt x="20" y="484"/>
                  </a:lnTo>
                  <a:lnTo>
                    <a:pt x="14" y="516"/>
                  </a:lnTo>
                  <a:lnTo>
                    <a:pt x="7" y="547"/>
                  </a:lnTo>
                  <a:lnTo>
                    <a:pt x="5" y="580"/>
                  </a:lnTo>
                  <a:lnTo>
                    <a:pt x="0" y="611"/>
                  </a:lnTo>
                  <a:lnTo>
                    <a:pt x="0" y="644"/>
                  </a:lnTo>
                  <a:lnTo>
                    <a:pt x="0" y="678"/>
                  </a:lnTo>
                  <a:lnTo>
                    <a:pt x="5" y="711"/>
                  </a:lnTo>
                  <a:lnTo>
                    <a:pt x="7" y="742"/>
                  </a:lnTo>
                  <a:lnTo>
                    <a:pt x="14" y="773"/>
                  </a:lnTo>
                  <a:lnTo>
                    <a:pt x="20" y="804"/>
                  </a:lnTo>
                  <a:lnTo>
                    <a:pt x="29" y="835"/>
                  </a:lnTo>
                  <a:lnTo>
                    <a:pt x="40" y="867"/>
                  </a:lnTo>
                  <a:lnTo>
                    <a:pt x="51" y="895"/>
                  </a:lnTo>
                  <a:lnTo>
                    <a:pt x="65" y="924"/>
                  </a:lnTo>
                  <a:lnTo>
                    <a:pt x="78" y="951"/>
                  </a:lnTo>
                  <a:lnTo>
                    <a:pt x="94" y="978"/>
                  </a:lnTo>
                  <a:lnTo>
                    <a:pt x="111" y="1004"/>
                  </a:lnTo>
                  <a:lnTo>
                    <a:pt x="129" y="1029"/>
                  </a:lnTo>
                  <a:lnTo>
                    <a:pt x="147" y="1053"/>
                  </a:lnTo>
                  <a:lnTo>
                    <a:pt x="169" y="1078"/>
                  </a:lnTo>
                  <a:lnTo>
                    <a:pt x="189" y="1100"/>
                  </a:lnTo>
                  <a:lnTo>
                    <a:pt x="211" y="1122"/>
                  </a:lnTo>
                  <a:lnTo>
                    <a:pt x="236" y="1142"/>
                  </a:lnTo>
                  <a:lnTo>
                    <a:pt x="260" y="1160"/>
                  </a:lnTo>
                  <a:lnTo>
                    <a:pt x="285" y="1178"/>
                  </a:lnTo>
                  <a:lnTo>
                    <a:pt x="311" y="1195"/>
                  </a:lnTo>
                  <a:lnTo>
                    <a:pt x="338" y="1211"/>
                  </a:lnTo>
                  <a:lnTo>
                    <a:pt x="364" y="1224"/>
                  </a:lnTo>
                  <a:lnTo>
                    <a:pt x="393" y="1238"/>
                  </a:lnTo>
                  <a:lnTo>
                    <a:pt x="422" y="1249"/>
                  </a:lnTo>
                  <a:lnTo>
                    <a:pt x="453" y="1260"/>
                  </a:lnTo>
                  <a:lnTo>
                    <a:pt x="484" y="1269"/>
                  </a:lnTo>
                  <a:lnTo>
                    <a:pt x="515" y="1275"/>
                  </a:lnTo>
                  <a:lnTo>
                    <a:pt x="547" y="1282"/>
                  </a:lnTo>
                  <a:lnTo>
                    <a:pt x="578" y="1284"/>
                  </a:lnTo>
                  <a:lnTo>
                    <a:pt x="611" y="1289"/>
                  </a:lnTo>
                  <a:lnTo>
                    <a:pt x="644" y="1289"/>
                  </a:lnTo>
                  <a:close/>
                </a:path>
              </a:pathLst>
            </a:custGeom>
            <a:solidFill>
              <a:srgbClr val="CC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31789" name="Text Box 48">
              <a:extLst>
                <a:ext uri="{FF2B5EF4-FFF2-40B4-BE49-F238E27FC236}">
                  <a16:creationId xmlns:a16="http://schemas.microsoft.com/office/drawing/2014/main" id="{6A0245E6-5DCD-FEC3-9BF4-D8414C983260}"/>
                </a:ext>
              </a:extLst>
            </p:cNvPr>
            <p:cNvSpPr txBox="1">
              <a:spLocks noChangeArrowheads="1"/>
            </p:cNvSpPr>
            <p:nvPr/>
          </p:nvSpPr>
          <p:spPr bwMode="auto">
            <a:xfrm>
              <a:off x="1008" y="2704"/>
              <a:ext cx="965"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t>A close system of chamber and pipelines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E45DEEC-C2D0-8417-5289-1ED5B6786BB3}"/>
              </a:ext>
            </a:extLst>
          </p:cNvPr>
          <p:cNvSpPr>
            <a:spLocks noChangeArrowheads="1"/>
          </p:cNvSpPr>
          <p:nvPr/>
        </p:nvSpPr>
        <p:spPr bwMode="auto">
          <a:xfrm>
            <a:off x="7620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Materials used in vacuum</a:t>
            </a:r>
          </a:p>
        </p:txBody>
      </p:sp>
      <p:sp>
        <p:nvSpPr>
          <p:cNvPr id="32771" name="Rectangle 3">
            <a:extLst>
              <a:ext uri="{FF2B5EF4-FFF2-40B4-BE49-F238E27FC236}">
                <a16:creationId xmlns:a16="http://schemas.microsoft.com/office/drawing/2014/main" id="{291EF969-39AE-DD08-3E04-C500D8D01931}"/>
              </a:ext>
            </a:extLst>
          </p:cNvPr>
          <p:cNvSpPr>
            <a:spLocks noChangeArrowheads="1"/>
          </p:cNvSpPr>
          <p:nvPr/>
        </p:nvSpPr>
        <p:spPr bwMode="auto">
          <a:xfrm>
            <a:off x="762000" y="1447800"/>
            <a:ext cx="119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Criteria:</a:t>
            </a:r>
          </a:p>
        </p:txBody>
      </p:sp>
      <p:sp>
        <p:nvSpPr>
          <p:cNvPr id="32772" name="Rectangle 4">
            <a:extLst>
              <a:ext uri="{FF2B5EF4-FFF2-40B4-BE49-F238E27FC236}">
                <a16:creationId xmlns:a16="http://schemas.microsoft.com/office/drawing/2014/main" id="{3790DD68-4429-94C2-FE7D-FA76C7A96861}"/>
              </a:ext>
            </a:extLst>
          </p:cNvPr>
          <p:cNvSpPr>
            <a:spLocks noChangeArrowheads="1"/>
          </p:cNvSpPr>
          <p:nvPr/>
        </p:nvSpPr>
        <p:spPr bwMode="auto">
          <a:xfrm>
            <a:off x="838200" y="1981200"/>
            <a:ext cx="57150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zh-TW" altLang="en-US" sz="2200">
                <a:latin typeface="Times New Roman" panose="02020603050405020304" pitchFamily="18" charset="0"/>
                <a:ea typeface="新細明體" panose="02020500000000000000" pitchFamily="18" charset="-120"/>
                <a:cs typeface="Arial" panose="020B0604020202020204" pitchFamily="34" charset="0"/>
              </a:rPr>
              <a:t> </a:t>
            </a:r>
            <a:r>
              <a:rPr lang="en-US" altLang="zh-TW" sz="2200">
                <a:latin typeface="Times New Roman" panose="02020603050405020304" pitchFamily="18" charset="0"/>
                <a:ea typeface="新細明體" panose="02020500000000000000" pitchFamily="18" charset="-120"/>
                <a:cs typeface="Arial" panose="020B0604020202020204" pitchFamily="34" charset="0"/>
              </a:rPr>
              <a:t>able to sustain the pressure difference</a:t>
            </a:r>
          </a:p>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 low trapping of other gaseous molecules</a:t>
            </a:r>
          </a:p>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 low vapour pressure</a:t>
            </a:r>
          </a:p>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 bakeable (up to 200 </a:t>
            </a:r>
            <a:r>
              <a:rPr lang="en-US" altLang="zh-TW" sz="2200" baseline="30000">
                <a:latin typeface="Times New Roman" panose="02020603050405020304" pitchFamily="18" charset="0"/>
                <a:ea typeface="新細明體" panose="02020500000000000000" pitchFamily="18" charset="-120"/>
                <a:cs typeface="Arial" panose="020B0604020202020204" pitchFamily="34" charset="0"/>
              </a:rPr>
              <a:t>o</a:t>
            </a:r>
            <a:r>
              <a:rPr lang="en-US" altLang="zh-TW" sz="2200">
                <a:latin typeface="Times New Roman" panose="02020603050405020304" pitchFamily="18" charset="0"/>
                <a:ea typeface="新細明體" panose="02020500000000000000" pitchFamily="18" charset="-120"/>
                <a:cs typeface="Arial" panose="020B0604020202020204" pitchFamily="34" charset="0"/>
              </a:rPr>
              <a:t>C)</a:t>
            </a:r>
          </a:p>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 easy to machine</a:t>
            </a:r>
          </a:p>
        </p:txBody>
      </p:sp>
      <p:sp>
        <p:nvSpPr>
          <p:cNvPr id="32773" name="Rectangle 5">
            <a:extLst>
              <a:ext uri="{FF2B5EF4-FFF2-40B4-BE49-F238E27FC236}">
                <a16:creationId xmlns:a16="http://schemas.microsoft.com/office/drawing/2014/main" id="{3581A1FB-B0BE-2208-B0E8-0E3B99D3F68E}"/>
              </a:ext>
            </a:extLst>
          </p:cNvPr>
          <p:cNvSpPr>
            <a:spLocks noChangeArrowheads="1"/>
          </p:cNvSpPr>
          <p:nvPr/>
        </p:nvSpPr>
        <p:spPr bwMode="auto">
          <a:xfrm>
            <a:off x="838200" y="4038600"/>
            <a:ext cx="346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Commonly used materials:</a:t>
            </a:r>
          </a:p>
        </p:txBody>
      </p:sp>
      <p:sp>
        <p:nvSpPr>
          <p:cNvPr id="32774" name="Rectangle 6">
            <a:extLst>
              <a:ext uri="{FF2B5EF4-FFF2-40B4-BE49-F238E27FC236}">
                <a16:creationId xmlns:a16="http://schemas.microsoft.com/office/drawing/2014/main" id="{80F1C1C7-7A9E-EF01-310F-6981FC46648B}"/>
              </a:ext>
            </a:extLst>
          </p:cNvPr>
          <p:cNvSpPr>
            <a:spLocks noChangeArrowheads="1"/>
          </p:cNvSpPr>
          <p:nvPr/>
        </p:nvSpPr>
        <p:spPr bwMode="auto">
          <a:xfrm>
            <a:off x="838200" y="4724400"/>
            <a:ext cx="7391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zh-TW" altLang="en-US" sz="2000">
                <a:latin typeface="Times New Roman" panose="02020603050405020304" pitchFamily="18" charset="0"/>
                <a:ea typeface="新細明體" panose="02020500000000000000" pitchFamily="18" charset="-120"/>
                <a:cs typeface="Arial" panose="020B0604020202020204" pitchFamily="34" charset="0"/>
              </a:rPr>
              <a:t> </a:t>
            </a:r>
            <a:r>
              <a:rPr lang="en-US" altLang="zh-TW" sz="2000">
                <a:latin typeface="Times New Roman" panose="02020603050405020304" pitchFamily="18" charset="0"/>
                <a:ea typeface="新細明體" panose="02020500000000000000" pitchFamily="18" charset="-120"/>
                <a:cs typeface="Arial" panose="020B0604020202020204" pitchFamily="34" charset="0"/>
              </a:rPr>
              <a:t>Metals: Al, Mo, O-free Cu, and etc.</a:t>
            </a:r>
          </a:p>
          <a:p>
            <a:pPr eaLnBrk="1" hangingPunct="1">
              <a:lnSpc>
                <a:spcPct val="70000"/>
              </a:lnSpc>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 Alloys: 5052 (Mg-Cr), 6061 (Cu-Si-Mg-Cr), stainless steel, and etc.</a:t>
            </a:r>
          </a:p>
          <a:p>
            <a:pPr eaLnBrk="1" hangingPunct="1">
              <a:lnSpc>
                <a:spcPct val="70000"/>
              </a:lnSpc>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  Polymers: Viton, Teflon, Silicon, PTFE, and etc.</a:t>
            </a:r>
          </a:p>
          <a:p>
            <a:pPr eaLnBrk="1" hangingPunct="1">
              <a:lnSpc>
                <a:spcPct val="70000"/>
              </a:lnSpc>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 Ceramics: Alumina, sapphire, Kovar (Fe-Ni-Mo-Mn), and etc.</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6452945F-BF6A-83C0-9139-4CBA509C8F61}"/>
              </a:ext>
            </a:extLst>
          </p:cNvPr>
          <p:cNvSpPr>
            <a:spLocks noChangeArrowheads="1"/>
          </p:cNvSpPr>
          <p:nvPr/>
        </p:nvSpPr>
        <p:spPr bwMode="auto">
          <a:xfrm>
            <a:off x="1524000" y="1600200"/>
            <a:ext cx="7239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8194" name="Object 3">
            <a:extLst>
              <a:ext uri="{FF2B5EF4-FFF2-40B4-BE49-F238E27FC236}">
                <a16:creationId xmlns:a16="http://schemas.microsoft.com/office/drawing/2014/main" id="{EF90814E-1F1E-D0B1-4060-70DD68CDB7A5}"/>
              </a:ext>
            </a:extLst>
          </p:cNvPr>
          <p:cNvGraphicFramePr>
            <a:graphicFrameLocks noChangeAspect="1"/>
          </p:cNvGraphicFramePr>
          <p:nvPr/>
        </p:nvGraphicFramePr>
        <p:xfrm>
          <a:off x="2209800" y="4114800"/>
          <a:ext cx="6303963" cy="2471738"/>
        </p:xfrm>
        <a:graphic>
          <a:graphicData uri="http://schemas.openxmlformats.org/presentationml/2006/ole">
            <mc:AlternateContent xmlns:mc="http://schemas.openxmlformats.org/markup-compatibility/2006">
              <mc:Choice xmlns:v="urn:schemas-microsoft-com:vml" Requires="v">
                <p:oleObj name="CorelPhotoPaint.Image.8" r:id="rId2" imgW="5032045" imgH="1964190" progId="CorelPhotoPaint.Image.8">
                  <p:embed/>
                </p:oleObj>
              </mc:Choice>
              <mc:Fallback>
                <p:oleObj name="CorelPhotoPaint.Image.8" r:id="rId2" imgW="5032045" imgH="1964190" progId="CorelPhotoPaint.Image.8">
                  <p:embed/>
                  <p:pic>
                    <p:nvPicPr>
                      <p:cNvPr id="8194" name="Object 3">
                        <a:extLst>
                          <a:ext uri="{FF2B5EF4-FFF2-40B4-BE49-F238E27FC236}">
                            <a16:creationId xmlns:a16="http://schemas.microsoft.com/office/drawing/2014/main" id="{EF90814E-1F1E-D0B1-4060-70DD68CDB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114800"/>
                        <a:ext cx="6303963" cy="247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196" name="Picture 4" descr="fig4_2_1">
            <a:extLst>
              <a:ext uri="{FF2B5EF4-FFF2-40B4-BE49-F238E27FC236}">
                <a16:creationId xmlns:a16="http://schemas.microsoft.com/office/drawing/2014/main" id="{4D6DAB4A-95C5-7524-5415-1F53F0240A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990600"/>
            <a:ext cx="6934200" cy="323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5">
            <a:extLst>
              <a:ext uri="{FF2B5EF4-FFF2-40B4-BE49-F238E27FC236}">
                <a16:creationId xmlns:a16="http://schemas.microsoft.com/office/drawing/2014/main" id="{EC891F37-13C9-399E-4918-2A3F5E0E0B1D}"/>
              </a:ext>
            </a:extLst>
          </p:cNvPr>
          <p:cNvSpPr>
            <a:spLocks noChangeArrowheads="1"/>
          </p:cNvSpPr>
          <p:nvPr/>
        </p:nvSpPr>
        <p:spPr bwMode="auto">
          <a:xfrm>
            <a:off x="2057400" y="304800"/>
            <a:ext cx="4495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Sealing</a:t>
            </a:r>
          </a:p>
        </p:txBody>
      </p:sp>
      <p:sp>
        <p:nvSpPr>
          <p:cNvPr id="8198" name="Rectangle 6">
            <a:extLst>
              <a:ext uri="{FF2B5EF4-FFF2-40B4-BE49-F238E27FC236}">
                <a16:creationId xmlns:a16="http://schemas.microsoft.com/office/drawing/2014/main" id="{2C73FAB6-59D5-EF1B-DCE9-253EBDE47642}"/>
              </a:ext>
            </a:extLst>
          </p:cNvPr>
          <p:cNvSpPr>
            <a:spLocks noChangeArrowheads="1"/>
          </p:cNvSpPr>
          <p:nvPr/>
        </p:nvSpPr>
        <p:spPr bwMode="auto">
          <a:xfrm>
            <a:off x="457200" y="1219200"/>
            <a:ext cx="267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ConFlat fittings</a:t>
            </a:r>
          </a:p>
        </p:txBody>
      </p:sp>
      <p:sp>
        <p:nvSpPr>
          <p:cNvPr id="8199" name="Rectangle 7">
            <a:extLst>
              <a:ext uri="{FF2B5EF4-FFF2-40B4-BE49-F238E27FC236}">
                <a16:creationId xmlns:a16="http://schemas.microsoft.com/office/drawing/2014/main" id="{B2C42B6D-8562-8AC3-0AB6-1978CACDD23E}"/>
              </a:ext>
            </a:extLst>
          </p:cNvPr>
          <p:cNvSpPr>
            <a:spLocks noChangeArrowheads="1"/>
          </p:cNvSpPr>
          <p:nvPr/>
        </p:nvSpPr>
        <p:spPr bwMode="auto">
          <a:xfrm>
            <a:off x="762000" y="3886200"/>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KF fittings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E3D6E51-79C3-0595-C35B-3FEF75D1C837}"/>
              </a:ext>
            </a:extLst>
          </p:cNvPr>
          <p:cNvSpPr>
            <a:spLocks noChangeArrowheads="1"/>
          </p:cNvSpPr>
          <p:nvPr/>
        </p:nvSpPr>
        <p:spPr bwMode="auto">
          <a:xfrm>
            <a:off x="6096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Pumps</a:t>
            </a:r>
          </a:p>
        </p:txBody>
      </p:sp>
      <p:sp>
        <p:nvSpPr>
          <p:cNvPr id="33795" name="Rectangle 3">
            <a:extLst>
              <a:ext uri="{FF2B5EF4-FFF2-40B4-BE49-F238E27FC236}">
                <a16:creationId xmlns:a16="http://schemas.microsoft.com/office/drawing/2014/main" id="{23ECC7A3-E765-03C3-01DE-74E4190B3F61}"/>
              </a:ext>
            </a:extLst>
          </p:cNvPr>
          <p:cNvSpPr>
            <a:spLocks noChangeArrowheads="1"/>
          </p:cNvSpPr>
          <p:nvPr/>
        </p:nvSpPr>
        <p:spPr bwMode="auto">
          <a:xfrm>
            <a:off x="533400" y="1447800"/>
            <a:ext cx="304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Classification of pump:</a:t>
            </a:r>
          </a:p>
        </p:txBody>
      </p:sp>
      <p:sp>
        <p:nvSpPr>
          <p:cNvPr id="33796" name="Rectangle 4">
            <a:extLst>
              <a:ext uri="{FF2B5EF4-FFF2-40B4-BE49-F238E27FC236}">
                <a16:creationId xmlns:a16="http://schemas.microsoft.com/office/drawing/2014/main" id="{146C0E36-C11A-D4B2-F2AA-DF1E2D5A4A9C}"/>
              </a:ext>
            </a:extLst>
          </p:cNvPr>
          <p:cNvSpPr>
            <a:spLocks noChangeArrowheads="1"/>
          </p:cNvSpPr>
          <p:nvPr/>
        </p:nvSpPr>
        <p:spPr bwMode="auto">
          <a:xfrm>
            <a:off x="609600" y="2201863"/>
            <a:ext cx="4953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lang="zh-TW" altLang="en-US" sz="1600">
                <a:latin typeface="Times New Roman" panose="02020603050405020304" pitchFamily="18" charset="0"/>
                <a:ea typeface="新細明體" panose="02020500000000000000" pitchFamily="18" charset="-120"/>
                <a:cs typeface="Arial" panose="020B0604020202020204" pitchFamily="34" charset="0"/>
              </a:rPr>
              <a:t> </a:t>
            </a:r>
            <a:r>
              <a:rPr lang="en-US" altLang="zh-TW" b="1">
                <a:latin typeface="Times New Roman" panose="02020603050405020304" pitchFamily="18" charset="0"/>
                <a:ea typeface="新細明體" panose="02020500000000000000" pitchFamily="18" charset="-120"/>
                <a:cs typeface="Arial" panose="020B0604020202020204" pitchFamily="34" charset="0"/>
              </a:rPr>
              <a:t>A. Positive displacement pump</a:t>
            </a:r>
            <a:endParaRPr lang="en-US" altLang="zh-TW" sz="1600" b="1">
              <a:latin typeface="Times New Roman" panose="02020603050405020304" pitchFamily="18" charset="0"/>
              <a:ea typeface="新細明體" panose="02020500000000000000" pitchFamily="18" charset="-120"/>
              <a:cs typeface="Arial" panose="020B0604020202020204" pitchFamily="34" charset="0"/>
            </a:endParaRPr>
          </a:p>
        </p:txBody>
      </p:sp>
      <p:sp>
        <p:nvSpPr>
          <p:cNvPr id="33797" name="Rectangle 5">
            <a:extLst>
              <a:ext uri="{FF2B5EF4-FFF2-40B4-BE49-F238E27FC236}">
                <a16:creationId xmlns:a16="http://schemas.microsoft.com/office/drawing/2014/main" id="{D31B5342-51F7-2E23-1B50-6AE1CD2CE94C}"/>
              </a:ext>
            </a:extLst>
          </p:cNvPr>
          <p:cNvSpPr>
            <a:spLocks noChangeArrowheads="1"/>
          </p:cNvSpPr>
          <p:nvPr/>
        </p:nvSpPr>
        <p:spPr bwMode="auto">
          <a:xfrm>
            <a:off x="1066800" y="2582863"/>
            <a:ext cx="45720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zh-TW" altLang="en-US" sz="1600" b="1">
                <a:latin typeface="Times New Roman" panose="02020603050405020304" pitchFamily="18" charset="0"/>
                <a:ea typeface="新細明體" panose="02020500000000000000" pitchFamily="18" charset="-120"/>
                <a:cs typeface="Arial" panose="020B0604020202020204" pitchFamily="34" charset="0"/>
              </a:rPr>
              <a:t> </a:t>
            </a:r>
            <a:r>
              <a:rPr lang="en-US" altLang="zh-TW" sz="1600" b="1">
                <a:latin typeface="Times New Roman" panose="02020603050405020304" pitchFamily="18" charset="0"/>
                <a:ea typeface="新細明體" panose="02020500000000000000" pitchFamily="18" charset="-120"/>
                <a:cs typeface="Arial" panose="020B0604020202020204" pitchFamily="34" charset="0"/>
              </a:rPr>
              <a:t>rotary pumps;</a:t>
            </a:r>
          </a:p>
          <a:p>
            <a:pPr eaLnBrk="1" hangingPunct="1">
              <a:lnSpc>
                <a:spcPct val="70000"/>
              </a:lnSpc>
              <a:spcBef>
                <a:spcPct val="50000"/>
              </a:spcBef>
              <a:buFontTx/>
              <a:buChar char="•"/>
            </a:pPr>
            <a:r>
              <a:rPr lang="en-US" altLang="zh-TW" sz="1600" b="1">
                <a:latin typeface="Times New Roman" panose="02020603050405020304" pitchFamily="18" charset="0"/>
                <a:ea typeface="新細明體" panose="02020500000000000000" pitchFamily="18" charset="-120"/>
                <a:cs typeface="Arial" panose="020B0604020202020204" pitchFamily="34" charset="0"/>
              </a:rPr>
              <a:t> diaphragm pumps, and etc.</a:t>
            </a:r>
          </a:p>
        </p:txBody>
      </p:sp>
      <p:sp>
        <p:nvSpPr>
          <p:cNvPr id="33798" name="Rectangle 6">
            <a:extLst>
              <a:ext uri="{FF2B5EF4-FFF2-40B4-BE49-F238E27FC236}">
                <a16:creationId xmlns:a16="http://schemas.microsoft.com/office/drawing/2014/main" id="{5FCC115A-C61A-209D-5BC3-59A4440E91F7}"/>
              </a:ext>
            </a:extLst>
          </p:cNvPr>
          <p:cNvSpPr>
            <a:spLocks noChangeArrowheads="1"/>
          </p:cNvSpPr>
          <p:nvPr/>
        </p:nvSpPr>
        <p:spPr bwMode="auto">
          <a:xfrm>
            <a:off x="609600" y="3421063"/>
            <a:ext cx="4953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lang="zh-TW" altLang="en-US" sz="1600">
                <a:latin typeface="Times New Roman" panose="02020603050405020304" pitchFamily="18" charset="0"/>
                <a:ea typeface="新細明體" panose="02020500000000000000" pitchFamily="18" charset="-120"/>
                <a:cs typeface="Arial" panose="020B0604020202020204" pitchFamily="34" charset="0"/>
              </a:rPr>
              <a:t> </a:t>
            </a:r>
            <a:r>
              <a:rPr lang="en-US" altLang="zh-TW" b="1">
                <a:latin typeface="Times New Roman" panose="02020603050405020304" pitchFamily="18" charset="0"/>
                <a:ea typeface="新細明體" panose="02020500000000000000" pitchFamily="18" charset="-120"/>
                <a:cs typeface="Arial" panose="020B0604020202020204" pitchFamily="34" charset="0"/>
              </a:rPr>
              <a:t>B. Momentum transfer pump</a:t>
            </a:r>
            <a:endParaRPr lang="en-US" altLang="zh-TW" sz="1600" b="1">
              <a:latin typeface="Times New Roman" panose="02020603050405020304" pitchFamily="18" charset="0"/>
              <a:ea typeface="新細明體" panose="02020500000000000000" pitchFamily="18" charset="-120"/>
              <a:cs typeface="Arial" panose="020B0604020202020204" pitchFamily="34" charset="0"/>
            </a:endParaRPr>
          </a:p>
        </p:txBody>
      </p:sp>
      <p:sp>
        <p:nvSpPr>
          <p:cNvPr id="33799" name="Rectangle 7">
            <a:extLst>
              <a:ext uri="{FF2B5EF4-FFF2-40B4-BE49-F238E27FC236}">
                <a16:creationId xmlns:a16="http://schemas.microsoft.com/office/drawing/2014/main" id="{CA337D05-6952-064A-285F-14DB39D97159}"/>
              </a:ext>
            </a:extLst>
          </p:cNvPr>
          <p:cNvSpPr>
            <a:spLocks noChangeArrowheads="1"/>
          </p:cNvSpPr>
          <p:nvPr/>
        </p:nvSpPr>
        <p:spPr bwMode="auto">
          <a:xfrm>
            <a:off x="1066800" y="3802063"/>
            <a:ext cx="45720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zh-TW" altLang="en-US" sz="1600" b="1">
                <a:latin typeface="Times New Roman" panose="02020603050405020304" pitchFamily="18" charset="0"/>
                <a:ea typeface="新細明體" panose="02020500000000000000" pitchFamily="18" charset="-120"/>
                <a:cs typeface="Arial" panose="020B0604020202020204" pitchFamily="34" charset="0"/>
              </a:rPr>
              <a:t> </a:t>
            </a:r>
            <a:r>
              <a:rPr lang="en-US" altLang="zh-TW" sz="1600" b="1">
                <a:latin typeface="Times New Roman" panose="02020603050405020304" pitchFamily="18" charset="0"/>
                <a:ea typeface="新細明體" panose="02020500000000000000" pitchFamily="18" charset="-120"/>
                <a:cs typeface="Arial" panose="020B0604020202020204" pitchFamily="34" charset="0"/>
              </a:rPr>
              <a:t>turbomolecular pumps;</a:t>
            </a:r>
          </a:p>
          <a:p>
            <a:pPr eaLnBrk="1" hangingPunct="1">
              <a:lnSpc>
                <a:spcPct val="70000"/>
              </a:lnSpc>
              <a:spcBef>
                <a:spcPct val="50000"/>
              </a:spcBef>
              <a:buFontTx/>
              <a:buChar char="•"/>
            </a:pPr>
            <a:r>
              <a:rPr lang="en-US" altLang="zh-TW" sz="1600" b="1">
                <a:latin typeface="Times New Roman" panose="02020603050405020304" pitchFamily="18" charset="0"/>
                <a:ea typeface="新細明體" panose="02020500000000000000" pitchFamily="18" charset="-120"/>
                <a:cs typeface="Arial" panose="020B0604020202020204" pitchFamily="34" charset="0"/>
              </a:rPr>
              <a:t> diffusion pumps, and etc.</a:t>
            </a:r>
          </a:p>
        </p:txBody>
      </p:sp>
      <p:sp>
        <p:nvSpPr>
          <p:cNvPr id="33800" name="Rectangle 8">
            <a:extLst>
              <a:ext uri="{FF2B5EF4-FFF2-40B4-BE49-F238E27FC236}">
                <a16:creationId xmlns:a16="http://schemas.microsoft.com/office/drawing/2014/main" id="{66C430D3-AA4C-38A1-858A-D33C2FDB8B01}"/>
              </a:ext>
            </a:extLst>
          </p:cNvPr>
          <p:cNvSpPr>
            <a:spLocks noChangeArrowheads="1"/>
          </p:cNvSpPr>
          <p:nvPr/>
        </p:nvSpPr>
        <p:spPr bwMode="auto">
          <a:xfrm>
            <a:off x="609600" y="4640263"/>
            <a:ext cx="4953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lang="zh-TW" altLang="en-US" sz="1600">
                <a:latin typeface="Times New Roman" panose="02020603050405020304" pitchFamily="18" charset="0"/>
                <a:ea typeface="新細明體" panose="02020500000000000000" pitchFamily="18" charset="-120"/>
                <a:cs typeface="Arial" panose="020B0604020202020204" pitchFamily="34" charset="0"/>
              </a:rPr>
              <a:t> </a:t>
            </a:r>
            <a:r>
              <a:rPr lang="en-US" altLang="zh-TW" b="1">
                <a:latin typeface="Times New Roman" panose="02020603050405020304" pitchFamily="18" charset="0"/>
                <a:ea typeface="新細明體" panose="02020500000000000000" pitchFamily="18" charset="-120"/>
                <a:cs typeface="Arial" panose="020B0604020202020204" pitchFamily="34" charset="0"/>
              </a:rPr>
              <a:t>C. Capture pump</a:t>
            </a:r>
            <a:endParaRPr lang="en-US" altLang="zh-TW" sz="1600" b="1">
              <a:latin typeface="Times New Roman" panose="02020603050405020304" pitchFamily="18" charset="0"/>
              <a:ea typeface="新細明體" panose="02020500000000000000" pitchFamily="18" charset="-120"/>
              <a:cs typeface="Arial" panose="020B0604020202020204" pitchFamily="34" charset="0"/>
            </a:endParaRPr>
          </a:p>
        </p:txBody>
      </p:sp>
      <p:sp>
        <p:nvSpPr>
          <p:cNvPr id="33801" name="Rectangle 9">
            <a:extLst>
              <a:ext uri="{FF2B5EF4-FFF2-40B4-BE49-F238E27FC236}">
                <a16:creationId xmlns:a16="http://schemas.microsoft.com/office/drawing/2014/main" id="{08B39BE8-CF2B-7E74-49EE-687AB7D5F881}"/>
              </a:ext>
            </a:extLst>
          </p:cNvPr>
          <p:cNvSpPr>
            <a:spLocks noChangeArrowheads="1"/>
          </p:cNvSpPr>
          <p:nvPr/>
        </p:nvSpPr>
        <p:spPr bwMode="auto">
          <a:xfrm>
            <a:off x="1066800" y="5021263"/>
            <a:ext cx="45720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zh-TW" altLang="en-US" sz="1600" b="1">
                <a:latin typeface="Times New Roman" panose="02020603050405020304" pitchFamily="18" charset="0"/>
                <a:ea typeface="新細明體" panose="02020500000000000000" pitchFamily="18" charset="-120"/>
                <a:cs typeface="Arial" panose="020B0604020202020204" pitchFamily="34" charset="0"/>
              </a:rPr>
              <a:t> </a:t>
            </a:r>
            <a:r>
              <a:rPr lang="en-US" altLang="zh-TW" sz="1600" b="1">
                <a:latin typeface="Times New Roman" panose="02020603050405020304" pitchFamily="18" charset="0"/>
                <a:ea typeface="新細明體" panose="02020500000000000000" pitchFamily="18" charset="-120"/>
                <a:cs typeface="Arial" panose="020B0604020202020204" pitchFamily="34" charset="0"/>
              </a:rPr>
              <a:t>ionization pump;</a:t>
            </a:r>
          </a:p>
          <a:p>
            <a:pPr eaLnBrk="1" hangingPunct="1">
              <a:lnSpc>
                <a:spcPct val="70000"/>
              </a:lnSpc>
              <a:spcBef>
                <a:spcPct val="50000"/>
              </a:spcBef>
              <a:buFontTx/>
              <a:buChar char="•"/>
            </a:pPr>
            <a:r>
              <a:rPr lang="en-US" altLang="zh-TW" sz="1600" b="1">
                <a:latin typeface="Times New Roman" panose="02020603050405020304" pitchFamily="18" charset="0"/>
                <a:ea typeface="新細明體" panose="02020500000000000000" pitchFamily="18" charset="-120"/>
                <a:cs typeface="Arial" panose="020B0604020202020204" pitchFamily="34" charset="0"/>
              </a:rPr>
              <a:t> titanium sublimation pump;</a:t>
            </a:r>
          </a:p>
          <a:p>
            <a:pPr eaLnBrk="1" hangingPunct="1">
              <a:lnSpc>
                <a:spcPct val="70000"/>
              </a:lnSpc>
              <a:spcBef>
                <a:spcPct val="50000"/>
              </a:spcBef>
              <a:buFontTx/>
              <a:buChar char="•"/>
            </a:pPr>
            <a:r>
              <a:rPr lang="en-US" altLang="zh-TW" sz="1600" b="1">
                <a:latin typeface="Times New Roman" panose="02020603050405020304" pitchFamily="18" charset="0"/>
                <a:ea typeface="新細明體" panose="02020500000000000000" pitchFamily="18" charset="-120"/>
                <a:cs typeface="Arial" panose="020B0604020202020204" pitchFamily="34" charset="0"/>
              </a:rPr>
              <a:t> cryogenic pump, and etc.</a:t>
            </a:r>
          </a:p>
        </p:txBody>
      </p:sp>
      <p:sp>
        <p:nvSpPr>
          <p:cNvPr id="33802" name="AutoShape 10">
            <a:extLst>
              <a:ext uri="{FF2B5EF4-FFF2-40B4-BE49-F238E27FC236}">
                <a16:creationId xmlns:a16="http://schemas.microsoft.com/office/drawing/2014/main" id="{1B3D1D4C-8A27-D2A4-DB27-5DFF8972A9AB}"/>
              </a:ext>
            </a:extLst>
          </p:cNvPr>
          <p:cNvSpPr>
            <a:spLocks noChangeArrowheads="1"/>
          </p:cNvSpPr>
          <p:nvPr/>
        </p:nvSpPr>
        <p:spPr bwMode="auto">
          <a:xfrm rot="5400000" flipV="1">
            <a:off x="3162300" y="3306763"/>
            <a:ext cx="3390900" cy="1333500"/>
          </a:xfrm>
          <a:custGeom>
            <a:avLst/>
            <a:gdLst>
              <a:gd name="T0" fmla="*/ 399243009 w 21600"/>
              <a:gd name="T1" fmla="*/ 0 h 21600"/>
              <a:gd name="T2" fmla="*/ 0 w 21600"/>
              <a:gd name="T3" fmla="*/ 41162553 h 21600"/>
              <a:gd name="T4" fmla="*/ 399243009 w 21600"/>
              <a:gd name="T5" fmla="*/ 82325105 h 21600"/>
              <a:gd name="T6" fmla="*/ 532324169 w 21600"/>
              <a:gd name="T7" fmla="*/ 4116255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0066"/>
              </a:gs>
              <a:gs pos="100000">
                <a:srgbClr val="3399FF"/>
              </a:gs>
            </a:gsLst>
            <a:lin ang="5400000" scaled="1"/>
          </a:gradFill>
          <a:ln w="9525">
            <a:solidFill>
              <a:schemeClr val="tx1"/>
            </a:solidFill>
            <a:miter lim="800000"/>
            <a:headEnd/>
            <a:tailEnd/>
          </a:ln>
        </p:spPr>
        <p:txBody>
          <a:bodyPr wrap="none" anchor="ctr"/>
          <a:lstStyle/>
          <a:p>
            <a:endParaRPr lang="en-HK"/>
          </a:p>
        </p:txBody>
      </p:sp>
      <p:sp>
        <p:nvSpPr>
          <p:cNvPr id="33803" name="Text Box 11">
            <a:extLst>
              <a:ext uri="{FF2B5EF4-FFF2-40B4-BE49-F238E27FC236}">
                <a16:creationId xmlns:a16="http://schemas.microsoft.com/office/drawing/2014/main" id="{D1107A2D-583A-348F-B40E-98525A1A512A}"/>
              </a:ext>
            </a:extLst>
          </p:cNvPr>
          <p:cNvSpPr txBox="1">
            <a:spLocks noChangeArrowheads="1"/>
          </p:cNvSpPr>
          <p:nvPr/>
        </p:nvSpPr>
        <p:spPr bwMode="auto">
          <a:xfrm>
            <a:off x="6064250" y="2133600"/>
            <a:ext cx="17827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Low vacuum</a:t>
            </a:r>
          </a:p>
          <a:p>
            <a:pPr algn="ct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(viscous regime)</a:t>
            </a:r>
          </a:p>
        </p:txBody>
      </p:sp>
      <p:sp>
        <p:nvSpPr>
          <p:cNvPr id="33804" name="Text Box 12">
            <a:extLst>
              <a:ext uri="{FF2B5EF4-FFF2-40B4-BE49-F238E27FC236}">
                <a16:creationId xmlns:a16="http://schemas.microsoft.com/office/drawing/2014/main" id="{68E8468B-C292-DB6B-AEBA-0365697FF48C}"/>
              </a:ext>
            </a:extLst>
          </p:cNvPr>
          <p:cNvSpPr txBox="1">
            <a:spLocks noChangeArrowheads="1"/>
          </p:cNvSpPr>
          <p:nvPr/>
        </p:nvSpPr>
        <p:spPr bwMode="auto">
          <a:xfrm>
            <a:off x="5716588" y="3505200"/>
            <a:ext cx="2451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Very high vacuum</a:t>
            </a:r>
          </a:p>
          <a:p>
            <a:pPr algn="ct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(molecular regime)</a:t>
            </a:r>
          </a:p>
        </p:txBody>
      </p:sp>
      <p:sp>
        <p:nvSpPr>
          <p:cNvPr id="33805" name="Text Box 13">
            <a:extLst>
              <a:ext uri="{FF2B5EF4-FFF2-40B4-BE49-F238E27FC236}">
                <a16:creationId xmlns:a16="http://schemas.microsoft.com/office/drawing/2014/main" id="{9746C8BE-C0DD-2256-2B47-6979416270B9}"/>
              </a:ext>
            </a:extLst>
          </p:cNvPr>
          <p:cNvSpPr txBox="1">
            <a:spLocks noChangeArrowheads="1"/>
          </p:cNvSpPr>
          <p:nvPr/>
        </p:nvSpPr>
        <p:spPr bwMode="auto">
          <a:xfrm>
            <a:off x="5716588" y="4953000"/>
            <a:ext cx="23907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Ultrahigh vacuum</a:t>
            </a:r>
          </a:p>
          <a:p>
            <a:pPr algn="ctr" eaLnBrk="1" hangingPunct="1"/>
            <a:r>
              <a:rPr lang="en-US" altLang="zh-TW" sz="1600" i="1">
                <a:latin typeface="Times New Roman" panose="02020603050405020304" pitchFamily="18" charset="0"/>
                <a:ea typeface="新細明體" panose="02020500000000000000" pitchFamily="18" charset="-120"/>
                <a:cs typeface="Arial" panose="020B0604020202020204" pitchFamily="34" charset="0"/>
              </a:rPr>
              <a:t>(molecular regime)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a:extLst>
              <a:ext uri="{FF2B5EF4-FFF2-40B4-BE49-F238E27FC236}">
                <a16:creationId xmlns:a16="http://schemas.microsoft.com/office/drawing/2014/main" id="{12A46742-25EB-18F3-4F70-A3C5E84B4A31}"/>
              </a:ext>
            </a:extLst>
          </p:cNvPr>
          <p:cNvGraphicFramePr>
            <a:graphicFrameLocks noChangeAspect="1"/>
          </p:cNvGraphicFramePr>
          <p:nvPr/>
        </p:nvGraphicFramePr>
        <p:xfrm>
          <a:off x="609600" y="376238"/>
          <a:ext cx="8153400" cy="6232525"/>
        </p:xfrm>
        <a:graphic>
          <a:graphicData uri="http://schemas.openxmlformats.org/presentationml/2006/ole">
            <mc:AlternateContent xmlns:mc="http://schemas.openxmlformats.org/markup-compatibility/2006">
              <mc:Choice xmlns:v="urn:schemas-microsoft-com:vml" Requires="v">
                <p:oleObj name="CorelPhotoPaint.Image.8" r:id="rId2" imgW="4922113" imgH="3760921" progId="CorelPhotoPaint.Image.8">
                  <p:embed/>
                </p:oleObj>
              </mc:Choice>
              <mc:Fallback>
                <p:oleObj name="CorelPhotoPaint.Image.8" r:id="rId2" imgW="4922113" imgH="3760921" progId="CorelPhotoPaint.Image.8">
                  <p:embed/>
                  <p:pic>
                    <p:nvPicPr>
                      <p:cNvPr id="9218" name="Object 2">
                        <a:extLst>
                          <a:ext uri="{FF2B5EF4-FFF2-40B4-BE49-F238E27FC236}">
                            <a16:creationId xmlns:a16="http://schemas.microsoft.com/office/drawing/2014/main" id="{12A46742-25EB-18F3-4F70-A3C5E84B4A31}"/>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609600" y="376238"/>
                        <a:ext cx="8153400" cy="623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a:extLst>
              <a:ext uri="{FF2B5EF4-FFF2-40B4-BE49-F238E27FC236}">
                <a16:creationId xmlns:a16="http://schemas.microsoft.com/office/drawing/2014/main" id="{8538F68D-F75E-4F6E-2D24-20E4BE7AABAB}"/>
              </a:ext>
            </a:extLst>
          </p:cNvPr>
          <p:cNvSpPr txBox="1">
            <a:spLocks noChangeArrowheads="1"/>
          </p:cNvSpPr>
          <p:nvPr/>
        </p:nvSpPr>
        <p:spPr bwMode="auto">
          <a:xfrm>
            <a:off x="517525" y="766762"/>
            <a:ext cx="3311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Times New Roman" panose="02020603050405020304" pitchFamily="18" charset="0"/>
                <a:cs typeface="Arial" panose="020B0604020202020204" pitchFamily="34" charset="0"/>
              </a:rPr>
              <a:t>Pumping mechanisms</a:t>
            </a:r>
          </a:p>
        </p:txBody>
      </p:sp>
      <p:sp>
        <p:nvSpPr>
          <p:cNvPr id="10244" name="Rectangle 3">
            <a:extLst>
              <a:ext uri="{FF2B5EF4-FFF2-40B4-BE49-F238E27FC236}">
                <a16:creationId xmlns:a16="http://schemas.microsoft.com/office/drawing/2014/main" id="{8F9E3998-3FCF-5BD1-0EF9-85BB462E0715}"/>
              </a:ext>
            </a:extLst>
          </p:cNvPr>
          <p:cNvSpPr>
            <a:spLocks noChangeArrowheads="1"/>
          </p:cNvSpPr>
          <p:nvPr/>
        </p:nvSpPr>
        <p:spPr bwMode="auto">
          <a:xfrm>
            <a:off x="1143000" y="1538287"/>
            <a:ext cx="400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1. Positive displacement pump:</a:t>
            </a:r>
          </a:p>
        </p:txBody>
      </p:sp>
      <p:graphicFrame>
        <p:nvGraphicFramePr>
          <p:cNvPr id="10242" name="Object 4">
            <a:extLst>
              <a:ext uri="{FF2B5EF4-FFF2-40B4-BE49-F238E27FC236}">
                <a16:creationId xmlns:a16="http://schemas.microsoft.com/office/drawing/2014/main" id="{0FF86272-7408-86A9-69B9-6DDCCC024326}"/>
              </a:ext>
            </a:extLst>
          </p:cNvPr>
          <p:cNvGraphicFramePr>
            <a:graphicFrameLocks noChangeAspect="1"/>
          </p:cNvGraphicFramePr>
          <p:nvPr>
            <p:extLst>
              <p:ext uri="{D42A27DB-BD31-4B8C-83A1-F6EECF244321}">
                <p14:modId xmlns:p14="http://schemas.microsoft.com/office/powerpoint/2010/main" val="2742184375"/>
              </p:ext>
            </p:extLst>
          </p:nvPr>
        </p:nvGraphicFramePr>
        <p:xfrm>
          <a:off x="2057400" y="2193925"/>
          <a:ext cx="5691188" cy="2940050"/>
        </p:xfrm>
        <a:graphic>
          <a:graphicData uri="http://schemas.openxmlformats.org/presentationml/2006/ole">
            <mc:AlternateContent xmlns:mc="http://schemas.openxmlformats.org/markup-compatibility/2006">
              <mc:Choice xmlns:v="urn:schemas-microsoft-com:vml" Requires="v">
                <p:oleObj name="CorelPhotoPaint.Image.8" r:id="rId2" imgW="4973925" imgH="2569252" progId="CorelPhotoPaint.Image.8">
                  <p:embed/>
                </p:oleObj>
              </mc:Choice>
              <mc:Fallback>
                <p:oleObj name="CorelPhotoPaint.Image.8" r:id="rId2" imgW="4973925" imgH="2569252" progId="CorelPhotoPaint.Image.8">
                  <p:embed/>
                  <p:pic>
                    <p:nvPicPr>
                      <p:cNvPr id="10242" name="Object 4">
                        <a:extLst>
                          <a:ext uri="{FF2B5EF4-FFF2-40B4-BE49-F238E27FC236}">
                            <a16:creationId xmlns:a16="http://schemas.microsoft.com/office/drawing/2014/main" id="{0FF86272-7408-86A9-69B9-6DDCCC0243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193925"/>
                        <a:ext cx="5691188"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5" name="Rectangle 5">
            <a:extLst>
              <a:ext uri="{FF2B5EF4-FFF2-40B4-BE49-F238E27FC236}">
                <a16:creationId xmlns:a16="http://schemas.microsoft.com/office/drawing/2014/main" id="{7CD3665E-F7DB-A401-070C-6466750D8C76}"/>
              </a:ext>
            </a:extLst>
          </p:cNvPr>
          <p:cNvSpPr>
            <a:spLocks noChangeArrowheads="1"/>
          </p:cNvSpPr>
          <p:nvPr/>
        </p:nvSpPr>
        <p:spPr bwMode="auto">
          <a:xfrm>
            <a:off x="1905000" y="5394325"/>
            <a:ext cx="59436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lang="zh-TW" altLang="en-US" sz="2200">
                <a:latin typeface="Times New Roman" panose="02020603050405020304" pitchFamily="18" charset="0"/>
                <a:ea typeface="新細明體" panose="02020500000000000000" pitchFamily="18" charset="-120"/>
                <a:cs typeface="Arial" panose="020B0604020202020204" pitchFamily="34" charset="0"/>
              </a:rPr>
              <a:t> </a:t>
            </a:r>
            <a:r>
              <a:rPr lang="en-US" altLang="zh-TW" sz="2200">
                <a:latin typeface="Times New Roman" panose="02020603050405020304" pitchFamily="18" charset="0"/>
                <a:ea typeface="新細明體" panose="02020500000000000000" pitchFamily="18" charset="-120"/>
                <a:cs typeface="Arial" panose="020B0604020202020204" pitchFamily="34" charset="0"/>
              </a:rPr>
              <a:t>pumping gas out volume by volume</a:t>
            </a:r>
          </a:p>
          <a:p>
            <a:pPr eaLnBrk="1" hangingPunct="1">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 working range: atm. to ~10</a:t>
            </a:r>
            <a:r>
              <a:rPr lang="en-US" altLang="zh-TW" sz="2200" baseline="30000">
                <a:latin typeface="Times New Roman" panose="02020603050405020304" pitchFamily="18" charset="0"/>
                <a:ea typeface="新細明體" panose="02020500000000000000" pitchFamily="18" charset="-120"/>
                <a:cs typeface="Arial" panose="020B0604020202020204" pitchFamily="34" charset="0"/>
              </a:rPr>
              <a:t>-2</a:t>
            </a:r>
            <a:r>
              <a:rPr lang="en-US" altLang="zh-TW" sz="2200">
                <a:latin typeface="Times New Roman" panose="02020603050405020304" pitchFamily="18" charset="0"/>
                <a:ea typeface="新細明體" panose="02020500000000000000" pitchFamily="18" charset="-120"/>
                <a:cs typeface="Arial" panose="020B0604020202020204" pitchFamily="34" charset="0"/>
              </a:rPr>
              <a:t> Torr.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4BAC1068-D6E2-1F0E-FE59-BB96CC7BBE44}"/>
              </a:ext>
            </a:extLst>
          </p:cNvPr>
          <p:cNvSpPr>
            <a:spLocks noChangeArrowheads="1"/>
          </p:cNvSpPr>
          <p:nvPr/>
        </p:nvSpPr>
        <p:spPr bwMode="auto">
          <a:xfrm>
            <a:off x="563879" y="781447"/>
            <a:ext cx="3770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dirty="0">
                <a:latin typeface="Times New Roman" panose="02020603050405020304" pitchFamily="18" charset="0"/>
                <a:ea typeface="新細明體" panose="02020500000000000000" pitchFamily="18" charset="-120"/>
                <a:cs typeface="Arial" panose="020B0604020202020204" pitchFamily="34" charset="0"/>
              </a:rPr>
              <a:t>2. Momentum transfer pump:</a:t>
            </a:r>
          </a:p>
        </p:txBody>
      </p:sp>
      <p:graphicFrame>
        <p:nvGraphicFramePr>
          <p:cNvPr id="11266" name="Object 4">
            <a:extLst>
              <a:ext uri="{FF2B5EF4-FFF2-40B4-BE49-F238E27FC236}">
                <a16:creationId xmlns:a16="http://schemas.microsoft.com/office/drawing/2014/main" id="{3D2A0E2B-8D04-492A-32BB-348A29E0752F}"/>
              </a:ext>
            </a:extLst>
          </p:cNvPr>
          <p:cNvGraphicFramePr>
            <a:graphicFrameLocks noChangeAspect="1"/>
          </p:cNvGraphicFramePr>
          <p:nvPr>
            <p:extLst>
              <p:ext uri="{D42A27DB-BD31-4B8C-83A1-F6EECF244321}">
                <p14:modId xmlns:p14="http://schemas.microsoft.com/office/powerpoint/2010/main" val="1857783798"/>
              </p:ext>
            </p:extLst>
          </p:nvPr>
        </p:nvGraphicFramePr>
        <p:xfrm>
          <a:off x="739988" y="1485900"/>
          <a:ext cx="7127449" cy="3886200"/>
        </p:xfrm>
        <a:graphic>
          <a:graphicData uri="http://schemas.openxmlformats.org/presentationml/2006/ole">
            <mc:AlternateContent xmlns:mc="http://schemas.openxmlformats.org/markup-compatibility/2006">
              <mc:Choice xmlns:v="urn:schemas-microsoft-com:vml" Requires="v">
                <p:oleObj name="CorelPhotoPaint.Image.8" r:id="rId2" imgW="5510328" imgH="3005334" progId="CorelPhotoPaint.Image.8">
                  <p:embed/>
                </p:oleObj>
              </mc:Choice>
              <mc:Fallback>
                <p:oleObj name="CorelPhotoPaint.Image.8" r:id="rId2" imgW="5510328" imgH="3005334" progId="CorelPhotoPaint.Image.8">
                  <p:embed/>
                  <p:pic>
                    <p:nvPicPr>
                      <p:cNvPr id="11266" name="Object 4">
                        <a:extLst>
                          <a:ext uri="{FF2B5EF4-FFF2-40B4-BE49-F238E27FC236}">
                            <a16:creationId xmlns:a16="http://schemas.microsoft.com/office/drawing/2014/main" id="{3D2A0E2B-8D04-492A-32BB-348A29E07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988" y="1485900"/>
                        <a:ext cx="7127449" cy="3886200"/>
                      </a:xfrm>
                      <a:prstGeom prst="rect">
                        <a:avLst/>
                      </a:prstGeom>
                      <a:noFill/>
                      <a:ln>
                        <a:noFill/>
                      </a:ln>
                      <a:effectLst/>
                    </p:spPr>
                  </p:pic>
                </p:oleObj>
              </mc:Fallback>
            </mc:AlternateContent>
          </a:graphicData>
        </a:graphic>
      </p:graphicFrame>
      <p:sp>
        <p:nvSpPr>
          <p:cNvPr id="11268" name="Rectangle 3">
            <a:extLst>
              <a:ext uri="{FF2B5EF4-FFF2-40B4-BE49-F238E27FC236}">
                <a16:creationId xmlns:a16="http://schemas.microsoft.com/office/drawing/2014/main" id="{EFABDDAD-06A9-5AF2-FADE-1E066A3F281D}"/>
              </a:ext>
            </a:extLst>
          </p:cNvPr>
          <p:cNvSpPr>
            <a:spLocks noChangeArrowheads="1"/>
          </p:cNvSpPr>
          <p:nvPr/>
        </p:nvSpPr>
        <p:spPr bwMode="auto">
          <a:xfrm>
            <a:off x="1143000" y="5409406"/>
            <a:ext cx="6858000"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en-US" altLang="zh-TW" sz="2200" dirty="0">
                <a:latin typeface="Times New Roman" panose="02020603050405020304" pitchFamily="18" charset="0"/>
                <a:ea typeface="新細明體" panose="02020500000000000000" pitchFamily="18" charset="-120"/>
                <a:cs typeface="Arial" panose="020B0604020202020204" pitchFamily="34" charset="0"/>
              </a:rPr>
              <a:t>impose a certain momentum onto gaseous molecules, so that they move in a particular direction</a:t>
            </a:r>
          </a:p>
          <a:p>
            <a:pPr eaLnBrk="1" hangingPunct="1">
              <a:spcBef>
                <a:spcPct val="50000"/>
              </a:spcBef>
              <a:buFontTx/>
              <a:buChar char="•"/>
            </a:pPr>
            <a:r>
              <a:rPr lang="en-US" altLang="zh-TW" sz="2200" dirty="0">
                <a:latin typeface="Times New Roman" panose="02020603050405020304" pitchFamily="18" charset="0"/>
                <a:ea typeface="新細明體" panose="02020500000000000000" pitchFamily="18" charset="-120"/>
                <a:cs typeface="Arial" panose="020B0604020202020204" pitchFamily="34" charset="0"/>
              </a:rPr>
              <a:t>working range: ~10</a:t>
            </a:r>
            <a:r>
              <a:rPr lang="en-US" altLang="zh-TW" sz="2200" baseline="30000" dirty="0">
                <a:latin typeface="Times New Roman" panose="02020603050405020304" pitchFamily="18" charset="0"/>
                <a:ea typeface="新細明體" panose="02020500000000000000" pitchFamily="18" charset="-120"/>
                <a:cs typeface="Arial" panose="020B0604020202020204" pitchFamily="34" charset="0"/>
              </a:rPr>
              <a:t>-2</a:t>
            </a:r>
            <a:r>
              <a:rPr lang="en-US" altLang="zh-TW" sz="2200" dirty="0">
                <a:latin typeface="Times New Roman" panose="02020603050405020304" pitchFamily="18" charset="0"/>
                <a:ea typeface="新細明體" panose="02020500000000000000" pitchFamily="18" charset="-120"/>
                <a:cs typeface="Arial" panose="020B0604020202020204" pitchFamily="34" charset="0"/>
              </a:rPr>
              <a:t> to ~10</a:t>
            </a:r>
            <a:r>
              <a:rPr lang="en-US" altLang="zh-TW" sz="2200" baseline="30000" dirty="0">
                <a:latin typeface="Times New Roman" panose="02020603050405020304" pitchFamily="18" charset="0"/>
                <a:ea typeface="新細明體" panose="02020500000000000000" pitchFamily="18" charset="-120"/>
                <a:cs typeface="Arial" panose="020B0604020202020204" pitchFamily="34" charset="0"/>
              </a:rPr>
              <a:t>-8</a:t>
            </a:r>
            <a:r>
              <a:rPr lang="en-US" altLang="zh-TW" sz="2200" dirty="0">
                <a:latin typeface="Times New Roman" panose="02020603050405020304" pitchFamily="18" charset="0"/>
                <a:ea typeface="新細明體" panose="02020500000000000000" pitchFamily="18" charset="-120"/>
                <a:cs typeface="Arial" panose="020B0604020202020204" pitchFamily="34" charset="0"/>
              </a:rPr>
              <a:t> Torr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C8375720-18F0-645B-57BA-10B11DACCACC}"/>
              </a:ext>
            </a:extLst>
          </p:cNvPr>
          <p:cNvSpPr>
            <a:spLocks noChangeArrowheads="1"/>
          </p:cNvSpPr>
          <p:nvPr/>
        </p:nvSpPr>
        <p:spPr bwMode="auto">
          <a:xfrm>
            <a:off x="457200" y="693420"/>
            <a:ext cx="2001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dirty="0">
                <a:latin typeface="Times New Roman" panose="02020603050405020304" pitchFamily="18" charset="0"/>
                <a:ea typeface="新細明體" panose="02020500000000000000" pitchFamily="18" charset="-120"/>
                <a:cs typeface="Arial" panose="020B0604020202020204" pitchFamily="34" charset="0"/>
              </a:rPr>
              <a:t>Capture pump:</a:t>
            </a:r>
          </a:p>
        </p:txBody>
      </p:sp>
      <p:sp>
        <p:nvSpPr>
          <p:cNvPr id="12293" name="Rectangle 3">
            <a:extLst>
              <a:ext uri="{FF2B5EF4-FFF2-40B4-BE49-F238E27FC236}">
                <a16:creationId xmlns:a16="http://schemas.microsoft.com/office/drawing/2014/main" id="{4A7225B5-C535-D8B4-E90E-8AD5FB3AF2F8}"/>
              </a:ext>
            </a:extLst>
          </p:cNvPr>
          <p:cNvSpPr>
            <a:spLocks noChangeArrowheads="1"/>
          </p:cNvSpPr>
          <p:nvPr/>
        </p:nvSpPr>
        <p:spPr bwMode="auto">
          <a:xfrm>
            <a:off x="1143000" y="5105400"/>
            <a:ext cx="693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4950" indent="-2349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capture the gaseous molecules through burying, gettering and sorption by reactive or cold surfaces</a:t>
            </a:r>
          </a:p>
          <a:p>
            <a:pPr eaLnBrk="1" hangingPunct="1">
              <a:lnSpc>
                <a:spcPct val="70000"/>
              </a:lnSpc>
              <a:spcBef>
                <a:spcPct val="50000"/>
              </a:spcBef>
              <a:buFontTx/>
              <a:buChar char="•"/>
            </a:pPr>
            <a:r>
              <a:rPr lang="en-US" altLang="zh-TW" sz="2200">
                <a:latin typeface="Times New Roman" panose="02020603050405020304" pitchFamily="18" charset="0"/>
                <a:ea typeface="新細明體" panose="02020500000000000000" pitchFamily="18" charset="-120"/>
                <a:cs typeface="Arial" panose="020B0604020202020204" pitchFamily="34" charset="0"/>
              </a:rPr>
              <a:t>normal working range: ~10</a:t>
            </a:r>
            <a:r>
              <a:rPr lang="en-US" altLang="zh-TW" sz="2200" baseline="30000">
                <a:latin typeface="Times New Roman" panose="02020603050405020304" pitchFamily="18" charset="0"/>
                <a:ea typeface="新細明體" panose="02020500000000000000" pitchFamily="18" charset="-120"/>
                <a:cs typeface="Arial" panose="020B0604020202020204" pitchFamily="34" charset="0"/>
              </a:rPr>
              <a:t>-6</a:t>
            </a:r>
            <a:r>
              <a:rPr lang="en-US" altLang="zh-TW" sz="2200">
                <a:latin typeface="Times New Roman" panose="02020603050405020304" pitchFamily="18" charset="0"/>
                <a:ea typeface="新細明體" panose="02020500000000000000" pitchFamily="18" charset="-120"/>
                <a:cs typeface="Arial" panose="020B0604020202020204" pitchFamily="34" charset="0"/>
              </a:rPr>
              <a:t> to ~10</a:t>
            </a:r>
            <a:r>
              <a:rPr lang="en-US" altLang="zh-TW" sz="2200" baseline="30000">
                <a:latin typeface="Times New Roman" panose="02020603050405020304" pitchFamily="18" charset="0"/>
                <a:ea typeface="新細明體" panose="02020500000000000000" pitchFamily="18" charset="-120"/>
                <a:cs typeface="Arial" panose="020B0604020202020204" pitchFamily="34" charset="0"/>
              </a:rPr>
              <a:t>-10</a:t>
            </a:r>
            <a:r>
              <a:rPr lang="en-US" altLang="zh-TW" sz="2200">
                <a:latin typeface="Times New Roman" panose="02020603050405020304" pitchFamily="18" charset="0"/>
                <a:ea typeface="新細明體" panose="02020500000000000000" pitchFamily="18" charset="-120"/>
                <a:cs typeface="Arial" panose="020B0604020202020204" pitchFamily="34" charset="0"/>
              </a:rPr>
              <a:t> Torr, some sorption pump can work in low pressure range</a:t>
            </a:r>
          </a:p>
        </p:txBody>
      </p:sp>
      <p:graphicFrame>
        <p:nvGraphicFramePr>
          <p:cNvPr id="12290" name="Object 4">
            <a:extLst>
              <a:ext uri="{FF2B5EF4-FFF2-40B4-BE49-F238E27FC236}">
                <a16:creationId xmlns:a16="http://schemas.microsoft.com/office/drawing/2014/main" id="{73D8F717-6A37-50C1-338B-3189F29E7ECE}"/>
              </a:ext>
            </a:extLst>
          </p:cNvPr>
          <p:cNvGraphicFramePr>
            <a:graphicFrameLocks noChangeAspect="1"/>
          </p:cNvGraphicFramePr>
          <p:nvPr/>
        </p:nvGraphicFramePr>
        <p:xfrm>
          <a:off x="533400" y="1143000"/>
          <a:ext cx="4030663" cy="3827463"/>
        </p:xfrm>
        <a:graphic>
          <a:graphicData uri="http://schemas.openxmlformats.org/presentationml/2006/ole">
            <mc:AlternateContent xmlns:mc="http://schemas.openxmlformats.org/markup-compatibility/2006">
              <mc:Choice xmlns:v="urn:schemas-microsoft-com:vml" Requires="v">
                <p:oleObj name="CorelPhotoPaint.Image.8" r:id="rId2" imgW="2697485" imgH="2560325" progId="CorelPhotoPaint.Image.8">
                  <p:embed/>
                </p:oleObj>
              </mc:Choice>
              <mc:Fallback>
                <p:oleObj name="CorelPhotoPaint.Image.8" r:id="rId2" imgW="2697485" imgH="2560325" progId="CorelPhotoPaint.Image.8">
                  <p:embed/>
                  <p:pic>
                    <p:nvPicPr>
                      <p:cNvPr id="12290" name="Object 4">
                        <a:extLst>
                          <a:ext uri="{FF2B5EF4-FFF2-40B4-BE49-F238E27FC236}">
                            <a16:creationId xmlns:a16="http://schemas.microsoft.com/office/drawing/2014/main" id="{73D8F717-6A37-50C1-338B-3189F29E7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43000"/>
                        <a:ext cx="4030663" cy="3827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1" name="Object 5">
            <a:extLst>
              <a:ext uri="{FF2B5EF4-FFF2-40B4-BE49-F238E27FC236}">
                <a16:creationId xmlns:a16="http://schemas.microsoft.com/office/drawing/2014/main" id="{97886B20-6DC3-E650-D19F-C1642FE6E79B}"/>
              </a:ext>
            </a:extLst>
          </p:cNvPr>
          <p:cNvGraphicFramePr>
            <a:graphicFrameLocks noChangeAspect="1"/>
          </p:cNvGraphicFramePr>
          <p:nvPr/>
        </p:nvGraphicFramePr>
        <p:xfrm>
          <a:off x="5135563" y="838200"/>
          <a:ext cx="3246437" cy="3803650"/>
        </p:xfrm>
        <a:graphic>
          <a:graphicData uri="http://schemas.openxmlformats.org/presentationml/2006/ole">
            <mc:AlternateContent xmlns:mc="http://schemas.openxmlformats.org/markup-compatibility/2006">
              <mc:Choice xmlns:v="urn:schemas-microsoft-com:vml" Requires="v">
                <p:oleObj name="CorelPhotoPaint.Image.8" r:id="rId4" imgW="1764646" imgH="2069246" progId="CorelPhotoPaint.Image.8">
                  <p:embed/>
                </p:oleObj>
              </mc:Choice>
              <mc:Fallback>
                <p:oleObj name="CorelPhotoPaint.Image.8" r:id="rId4" imgW="1764646" imgH="2069246" progId="CorelPhotoPaint.Image.8">
                  <p:embed/>
                  <p:pic>
                    <p:nvPicPr>
                      <p:cNvPr id="12291" name="Object 5">
                        <a:extLst>
                          <a:ext uri="{FF2B5EF4-FFF2-40B4-BE49-F238E27FC236}">
                            <a16:creationId xmlns:a16="http://schemas.microsoft.com/office/drawing/2014/main" id="{97886B20-6DC3-E650-D19F-C1642FE6E7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5563" y="838200"/>
                        <a:ext cx="3246437" cy="380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B3DEF883-79CA-08E1-5527-8EB253868F07}"/>
              </a:ext>
            </a:extLst>
          </p:cNvPr>
          <p:cNvSpPr>
            <a:spLocks noGrp="1" noChangeArrowheads="1"/>
          </p:cNvSpPr>
          <p:nvPr>
            <p:ph type="title" idx="4294967295"/>
          </p:nvPr>
        </p:nvSpPr>
        <p:spPr>
          <a:xfrm>
            <a:off x="0" y="274638"/>
            <a:ext cx="8229600" cy="1143000"/>
          </a:xfrm>
        </p:spPr>
        <p:txBody>
          <a:bodyPr/>
          <a:lstStyle/>
          <a:p>
            <a:pPr eaLnBrk="1" hangingPunct="1"/>
            <a:r>
              <a:rPr lang="en-US" altLang="zh-CN" sz="3600">
                <a:latin typeface="Times New Roman" panose="02020603050405020304" pitchFamily="18" charset="0"/>
              </a:rPr>
              <a:t>Examples of different pumps</a:t>
            </a:r>
          </a:p>
        </p:txBody>
      </p:sp>
      <p:sp>
        <p:nvSpPr>
          <p:cNvPr id="13316" name="Rectangle 3">
            <a:extLst>
              <a:ext uri="{FF2B5EF4-FFF2-40B4-BE49-F238E27FC236}">
                <a16:creationId xmlns:a16="http://schemas.microsoft.com/office/drawing/2014/main" id="{4F89D0D5-D970-F511-C163-15A6C91F4711}"/>
              </a:ext>
            </a:extLst>
          </p:cNvPr>
          <p:cNvSpPr>
            <a:spLocks noChangeArrowheads="1"/>
          </p:cNvSpPr>
          <p:nvPr/>
        </p:nvSpPr>
        <p:spPr bwMode="auto">
          <a:xfrm>
            <a:off x="381000" y="1295400"/>
            <a:ext cx="568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1. Positive displacement pump: Rotary pump</a:t>
            </a:r>
          </a:p>
        </p:txBody>
      </p:sp>
      <p:graphicFrame>
        <p:nvGraphicFramePr>
          <p:cNvPr id="13314" name="Object 4">
            <a:extLst>
              <a:ext uri="{FF2B5EF4-FFF2-40B4-BE49-F238E27FC236}">
                <a16:creationId xmlns:a16="http://schemas.microsoft.com/office/drawing/2014/main" id="{C90E839E-7EC0-234B-48DF-4ABACB2ECB34}"/>
              </a:ext>
            </a:extLst>
          </p:cNvPr>
          <p:cNvGraphicFramePr>
            <a:graphicFrameLocks noChangeAspect="1"/>
          </p:cNvGraphicFramePr>
          <p:nvPr/>
        </p:nvGraphicFramePr>
        <p:xfrm>
          <a:off x="457200" y="2514600"/>
          <a:ext cx="4114800" cy="3087688"/>
        </p:xfrm>
        <a:graphic>
          <a:graphicData uri="http://schemas.openxmlformats.org/presentationml/2006/ole">
            <mc:AlternateContent xmlns:mc="http://schemas.openxmlformats.org/markup-compatibility/2006">
              <mc:Choice xmlns:v="urn:schemas-microsoft-com:vml" Requires="v">
                <p:oleObj name="CorelPhotoPaint.Image.8" r:id="rId2" imgW="360000" imgH="360000" progId="CorelPhotoPaint.Image.8">
                  <p:embed/>
                </p:oleObj>
              </mc:Choice>
              <mc:Fallback>
                <p:oleObj name="CorelPhotoPaint.Image.8" r:id="rId2" imgW="360000" imgH="360000" progId="CorelPhotoPaint.Image.8">
                  <p:embed/>
                  <p:pic>
                    <p:nvPicPr>
                      <p:cNvPr id="13314" name="Object 4">
                        <a:extLst>
                          <a:ext uri="{FF2B5EF4-FFF2-40B4-BE49-F238E27FC236}">
                            <a16:creationId xmlns:a16="http://schemas.microsoft.com/office/drawing/2014/main" id="{C90E839E-7EC0-234B-48DF-4ABACB2EC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514600"/>
                        <a:ext cx="4114800" cy="308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3317" name="Picture 5" descr="3_1_4">
            <a:extLst>
              <a:ext uri="{FF2B5EF4-FFF2-40B4-BE49-F238E27FC236}">
                <a16:creationId xmlns:a16="http://schemas.microsoft.com/office/drawing/2014/main" id="{9B0C5773-29A8-D5A0-CF42-9241D70C75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28800"/>
            <a:ext cx="4267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25A741EF-AEC9-8BF7-BC13-C7FC3B2DF33F}"/>
              </a:ext>
            </a:extLst>
          </p:cNvPr>
          <p:cNvSpPr txBox="1">
            <a:spLocks noChangeArrowheads="1"/>
          </p:cNvSpPr>
          <p:nvPr/>
        </p:nvSpPr>
        <p:spPr bwMode="auto">
          <a:xfrm>
            <a:off x="457200" y="1844675"/>
            <a:ext cx="358140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TW" sz="2000">
                <a:latin typeface="Times New Roman" panose="02020603050405020304" pitchFamily="18" charset="0"/>
                <a:ea typeface="新細明體" panose="02020500000000000000" pitchFamily="18" charset="-120"/>
                <a:cs typeface="Arial" panose="020B0604020202020204" pitchFamily="34" charset="0"/>
              </a:rPr>
              <a:t>Transfer: </a:t>
            </a:r>
            <a:r>
              <a:rPr lang="en-US" altLang="zh-TW" sz="2000">
                <a:latin typeface="Times New Roman" panose="02020603050405020304" pitchFamily="18" charset="0"/>
                <a:ea typeface="MingLiU" panose="02020509000000000000" pitchFamily="49" charset="-120"/>
                <a:cs typeface="Arial" panose="020B0604020202020204" pitchFamily="34" charset="0"/>
              </a:rPr>
              <a:t>The gas molecules trapped in the compartment between the two vanes, is transferred to the exhaust as the rotor rotates.</a:t>
            </a:r>
          </a:p>
          <a:p>
            <a:pPr algn="just">
              <a:spcBef>
                <a:spcPct val="50000"/>
              </a:spcBef>
            </a:pPr>
            <a:r>
              <a:rPr lang="en-US" altLang="zh-TW" sz="2000">
                <a:latin typeface="Times New Roman" panose="02020603050405020304" pitchFamily="18" charset="0"/>
                <a:ea typeface="新細明體" panose="02020500000000000000" pitchFamily="18" charset="-120"/>
                <a:cs typeface="Arial" panose="020B0604020202020204" pitchFamily="34" charset="0"/>
              </a:rPr>
              <a:t>Compression: </a:t>
            </a:r>
            <a:r>
              <a:rPr lang="en-US" altLang="zh-TW" sz="2000">
                <a:latin typeface="Times New Roman" panose="02020603050405020304" pitchFamily="18" charset="0"/>
                <a:ea typeface="MingLiU" panose="02020509000000000000" pitchFamily="49" charset="-120"/>
                <a:cs typeface="Arial" panose="020B0604020202020204" pitchFamily="34" charset="0"/>
              </a:rPr>
              <a:t>The gas is compressed until the outlet valve is opened.</a:t>
            </a:r>
          </a:p>
          <a:p>
            <a:pPr algn="just">
              <a:spcBef>
                <a:spcPct val="50000"/>
              </a:spcBef>
            </a:pPr>
            <a:r>
              <a:rPr lang="en-US" altLang="zh-TW" sz="2000">
                <a:latin typeface="Times New Roman" panose="02020603050405020304" pitchFamily="18" charset="0"/>
                <a:ea typeface="新細明體" panose="02020500000000000000" pitchFamily="18" charset="-120"/>
                <a:cs typeface="Arial" panose="020B0604020202020204" pitchFamily="34" charset="0"/>
              </a:rPr>
              <a:t>Exhaust: </a:t>
            </a:r>
            <a:r>
              <a:rPr lang="en-US" altLang="zh-TW" sz="2000">
                <a:latin typeface="Times New Roman" panose="02020603050405020304" pitchFamily="18" charset="0"/>
                <a:ea typeface="MingLiU" panose="02020509000000000000" pitchFamily="49" charset="-120"/>
                <a:cs typeface="Arial" panose="020B0604020202020204" pitchFamily="34" charset="0"/>
              </a:rPr>
              <a:t>When the pressure of the compression compartment is sufficiently high (&gt;113 kPa) to open the outlet valve, the gas is expelled into the oil casing.</a:t>
            </a:r>
          </a:p>
        </p:txBody>
      </p:sp>
      <p:sp>
        <p:nvSpPr>
          <p:cNvPr id="34819" name="Text Box 3">
            <a:extLst>
              <a:ext uri="{FF2B5EF4-FFF2-40B4-BE49-F238E27FC236}">
                <a16:creationId xmlns:a16="http://schemas.microsoft.com/office/drawing/2014/main" id="{CB3DECA3-06EB-A144-1285-5AB7AD220831}"/>
              </a:ext>
            </a:extLst>
          </p:cNvPr>
          <p:cNvSpPr txBox="1">
            <a:spLocks noChangeArrowheads="1"/>
          </p:cNvSpPr>
          <p:nvPr/>
        </p:nvSpPr>
        <p:spPr bwMode="auto">
          <a:xfrm>
            <a:off x="533400" y="76200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TW" sz="2000">
                <a:latin typeface="Times New Roman" panose="02020603050405020304" pitchFamily="18" charset="0"/>
                <a:ea typeface="新細明體" panose="02020500000000000000" pitchFamily="18" charset="-120"/>
                <a:cs typeface="Arial" panose="020B0604020202020204" pitchFamily="34" charset="0"/>
              </a:rPr>
              <a:t>Inlet: </a:t>
            </a:r>
            <a:r>
              <a:rPr lang="en-US" altLang="zh-TW" sz="2000">
                <a:latin typeface="Times New Roman" panose="02020603050405020304" pitchFamily="18" charset="0"/>
                <a:ea typeface="MingLiU" panose="02020509000000000000" pitchFamily="49" charset="-120"/>
                <a:cs typeface="Arial" panose="020B0604020202020204" pitchFamily="34" charset="0"/>
              </a:rPr>
              <a:t>As the vane passes at the inlet port, the volume of the inlet compartment increases.</a:t>
            </a:r>
            <a:r>
              <a:rPr lang="en-US" altLang="zh-TW" sz="2000">
                <a:latin typeface="Times New Roman" panose="02020603050405020304" pitchFamily="18" charset="0"/>
                <a:ea typeface="新細明體" panose="02020500000000000000" pitchFamily="18" charset="-120"/>
                <a:cs typeface="Arial" panose="020B0604020202020204" pitchFamily="34" charset="0"/>
              </a:rPr>
              <a:t> </a:t>
            </a:r>
          </a:p>
        </p:txBody>
      </p:sp>
      <p:pic>
        <p:nvPicPr>
          <p:cNvPr id="34820" name="Picture 4" descr="3_1_5">
            <a:extLst>
              <a:ext uri="{FF2B5EF4-FFF2-40B4-BE49-F238E27FC236}">
                <a16:creationId xmlns:a16="http://schemas.microsoft.com/office/drawing/2014/main" id="{460BAFFB-3DAF-1CD8-D8EB-65903C3FF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7850" y="12954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descr="3_1_9">
            <a:extLst>
              <a:ext uri="{FF2B5EF4-FFF2-40B4-BE49-F238E27FC236}">
                <a16:creationId xmlns:a16="http://schemas.microsoft.com/office/drawing/2014/main" id="{6A6FBABF-5126-8AA0-8C7C-5A0C311CCA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0" y="38100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6">
            <a:extLst>
              <a:ext uri="{FF2B5EF4-FFF2-40B4-BE49-F238E27FC236}">
                <a16:creationId xmlns:a16="http://schemas.microsoft.com/office/drawing/2014/main" id="{9103CABC-135D-B7CA-DE9C-3F75F0F88A44}"/>
              </a:ext>
            </a:extLst>
          </p:cNvPr>
          <p:cNvSpPr txBox="1">
            <a:spLocks noChangeArrowheads="1"/>
          </p:cNvSpPr>
          <p:nvPr/>
        </p:nvSpPr>
        <p:spPr bwMode="auto">
          <a:xfrm>
            <a:off x="5956300"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TW" altLang="en-US" sz="2400" i="1">
                <a:latin typeface="Times New Roman" panose="02020603050405020304" pitchFamily="18" charset="0"/>
                <a:ea typeface="新細明體" panose="02020500000000000000" pitchFamily="18" charset="-120"/>
                <a:cs typeface="Arial" panose="020B0604020202020204" pitchFamily="34" charset="0"/>
              </a:rPr>
              <a:t>1</a:t>
            </a:r>
          </a:p>
        </p:txBody>
      </p:sp>
      <p:sp>
        <p:nvSpPr>
          <p:cNvPr id="34823" name="Text Box 7">
            <a:extLst>
              <a:ext uri="{FF2B5EF4-FFF2-40B4-BE49-F238E27FC236}">
                <a16:creationId xmlns:a16="http://schemas.microsoft.com/office/drawing/2014/main" id="{9F9A3A19-E53F-CEAC-985D-63720821D1F4}"/>
              </a:ext>
            </a:extLst>
          </p:cNvPr>
          <p:cNvSpPr txBox="1">
            <a:spLocks noChangeArrowheads="1"/>
          </p:cNvSpPr>
          <p:nvPr/>
        </p:nvSpPr>
        <p:spPr bwMode="auto">
          <a:xfrm>
            <a:off x="8013700" y="5257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TW" altLang="en-US" sz="2400" i="1">
                <a:latin typeface="Times New Roman" panose="02020603050405020304" pitchFamily="18" charset="0"/>
                <a:ea typeface="新細明體" panose="02020500000000000000" pitchFamily="18" charset="-120"/>
                <a:cs typeface="Arial" panose="020B0604020202020204" pitchFamily="34" charset="0"/>
              </a:rPr>
              <a:t>4</a:t>
            </a:r>
          </a:p>
        </p:txBody>
      </p:sp>
      <p:pic>
        <p:nvPicPr>
          <p:cNvPr id="34824" name="Picture 8" descr="fig3_1_6">
            <a:extLst>
              <a:ext uri="{FF2B5EF4-FFF2-40B4-BE49-F238E27FC236}">
                <a16:creationId xmlns:a16="http://schemas.microsoft.com/office/drawing/2014/main" id="{07819919-8CB2-BAB8-255D-3A0F6519D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7850" y="38100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Text Box 9">
            <a:extLst>
              <a:ext uri="{FF2B5EF4-FFF2-40B4-BE49-F238E27FC236}">
                <a16:creationId xmlns:a16="http://schemas.microsoft.com/office/drawing/2014/main" id="{08BBF2BE-59F9-A053-1AB0-CF9CD7E0DA73}"/>
              </a:ext>
            </a:extLst>
          </p:cNvPr>
          <p:cNvSpPr txBox="1">
            <a:spLocks noChangeArrowheads="1"/>
          </p:cNvSpPr>
          <p:nvPr/>
        </p:nvSpPr>
        <p:spPr bwMode="auto">
          <a:xfrm>
            <a:off x="5988050" y="5257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TW" altLang="en-US" sz="2400" i="1">
                <a:latin typeface="Times New Roman" panose="02020603050405020304" pitchFamily="18" charset="0"/>
                <a:ea typeface="新細明體" panose="02020500000000000000" pitchFamily="18" charset="-120"/>
                <a:cs typeface="Arial" panose="020B0604020202020204" pitchFamily="34" charset="0"/>
              </a:rPr>
              <a:t>2</a:t>
            </a:r>
          </a:p>
        </p:txBody>
      </p:sp>
      <p:pic>
        <p:nvPicPr>
          <p:cNvPr id="34826" name="Picture 10" descr="fig3_1_7">
            <a:extLst>
              <a:ext uri="{FF2B5EF4-FFF2-40B4-BE49-F238E27FC236}">
                <a16:creationId xmlns:a16="http://schemas.microsoft.com/office/drawing/2014/main" id="{B5BF786E-03B8-D16D-743B-F34299CC89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5250" y="12954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7" name="Text Box 11">
            <a:extLst>
              <a:ext uri="{FF2B5EF4-FFF2-40B4-BE49-F238E27FC236}">
                <a16:creationId xmlns:a16="http://schemas.microsoft.com/office/drawing/2014/main" id="{1029667A-D042-0122-683C-E400B998CAB9}"/>
              </a:ext>
            </a:extLst>
          </p:cNvPr>
          <p:cNvSpPr txBox="1">
            <a:spLocks noChangeArrowheads="1"/>
          </p:cNvSpPr>
          <p:nvPr/>
        </p:nvSpPr>
        <p:spPr bwMode="auto">
          <a:xfrm>
            <a:off x="8045450"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TW" altLang="en-US" sz="2400" i="1">
                <a:latin typeface="Times New Roman" panose="02020603050405020304" pitchFamily="18" charset="0"/>
                <a:ea typeface="新細明體" panose="02020500000000000000" pitchFamily="18" charset="-120"/>
                <a:cs typeface="Arial" panose="020B0604020202020204" pitchFamily="34" charset="0"/>
              </a:rPr>
              <a:t>3</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D9D732BD-4C09-43BB-2068-664D70914545}"/>
              </a:ext>
            </a:extLst>
          </p:cNvPr>
          <p:cNvSpPr>
            <a:spLocks noChangeArrowheads="1"/>
          </p:cNvSpPr>
          <p:nvPr/>
        </p:nvSpPr>
        <p:spPr bwMode="auto">
          <a:xfrm>
            <a:off x="457200" y="685800"/>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2. Momentum transfer pump: Diffusion pump</a:t>
            </a:r>
          </a:p>
        </p:txBody>
      </p:sp>
      <p:pic>
        <p:nvPicPr>
          <p:cNvPr id="14340" name="Picture 3">
            <a:extLst>
              <a:ext uri="{FF2B5EF4-FFF2-40B4-BE49-F238E27FC236}">
                <a16:creationId xmlns:a16="http://schemas.microsoft.com/office/drawing/2014/main" id="{6114949A-58A2-EDD6-A1AB-67F24E515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33600"/>
            <a:ext cx="3781425"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38" name="Object 4">
            <a:extLst>
              <a:ext uri="{FF2B5EF4-FFF2-40B4-BE49-F238E27FC236}">
                <a16:creationId xmlns:a16="http://schemas.microsoft.com/office/drawing/2014/main" id="{991D886B-DA3D-A321-DC88-9301F6FDB0F2}"/>
              </a:ext>
            </a:extLst>
          </p:cNvPr>
          <p:cNvGraphicFramePr>
            <a:graphicFrameLocks noChangeAspect="1"/>
          </p:cNvGraphicFramePr>
          <p:nvPr/>
        </p:nvGraphicFramePr>
        <p:xfrm>
          <a:off x="4876800" y="2127250"/>
          <a:ext cx="3429000" cy="3244850"/>
        </p:xfrm>
        <a:graphic>
          <a:graphicData uri="http://schemas.openxmlformats.org/presentationml/2006/ole">
            <mc:AlternateContent xmlns:mc="http://schemas.openxmlformats.org/markup-compatibility/2006">
              <mc:Choice xmlns:v="urn:schemas-microsoft-com:vml" Requires="v">
                <p:oleObj name="CorelPhotoPaint.Image.8" r:id="rId3" imgW="4559431" imgH="4315611" progId="CorelPhotoPaint.Image.8">
                  <p:embed/>
                </p:oleObj>
              </mc:Choice>
              <mc:Fallback>
                <p:oleObj name="CorelPhotoPaint.Image.8" r:id="rId3" imgW="4559431" imgH="4315611" progId="CorelPhotoPaint.Image.8">
                  <p:embed/>
                  <p:pic>
                    <p:nvPicPr>
                      <p:cNvPr id="14338" name="Object 4">
                        <a:extLst>
                          <a:ext uri="{FF2B5EF4-FFF2-40B4-BE49-F238E27FC236}">
                            <a16:creationId xmlns:a16="http://schemas.microsoft.com/office/drawing/2014/main" id="{991D886B-DA3D-A321-DC88-9301F6FDB0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127250"/>
                        <a:ext cx="3429000" cy="324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2BF2B70-70FE-7E96-C232-908DFD4245A8}"/>
              </a:ext>
            </a:extLst>
          </p:cNvPr>
          <p:cNvSpPr>
            <a:spLocks noChangeArrowheads="1"/>
          </p:cNvSpPr>
          <p:nvPr/>
        </p:nvSpPr>
        <p:spPr bwMode="auto">
          <a:xfrm>
            <a:off x="228600" y="685800"/>
            <a:ext cx="3733800" cy="542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While the pumping fluid molecules move in a very directed motion (speed </a:t>
            </a:r>
            <a:r>
              <a:rPr lang="en-US" altLang="zh-TW" sz="2000">
                <a:latin typeface="Times New Roman" panose="02020603050405020304" pitchFamily="18" charset="0"/>
                <a:ea typeface="新細明體" panose="02020500000000000000" pitchFamily="18" charset="-120"/>
                <a:cs typeface="Times New Roman" panose="02020603050405020304" pitchFamily="18" charset="0"/>
              </a:rPr>
              <a:t>~300m/s)</a:t>
            </a:r>
            <a:r>
              <a:rPr lang="en-US" altLang="zh-TW" sz="2000">
                <a:latin typeface="Times New Roman" panose="02020603050405020304" pitchFamily="18" charset="0"/>
                <a:ea typeface="新細明體" panose="02020500000000000000" pitchFamily="18" charset="-120"/>
                <a:cs typeface="Arial" panose="020B0604020202020204" pitchFamily="34" charset="0"/>
              </a:rPr>
              <a:t>, the vapor molecules impart a momentum in the preferred direction to any gaseous molecules which they encounter.</a:t>
            </a:r>
          </a:p>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Because of the large molecular weight of the vapor molecules, they also continue in their original direction after encounter with the residual gas molecules. The residual gaseous molecules thus gain a downward momentum and are eventually expelled out.</a:t>
            </a:r>
          </a:p>
        </p:txBody>
      </p:sp>
      <p:sp>
        <p:nvSpPr>
          <p:cNvPr id="35843" name="Rectangle 3">
            <a:extLst>
              <a:ext uri="{FF2B5EF4-FFF2-40B4-BE49-F238E27FC236}">
                <a16:creationId xmlns:a16="http://schemas.microsoft.com/office/drawing/2014/main" id="{C37BEE98-B319-B25F-CCFA-92F92CEA2258}"/>
              </a:ext>
            </a:extLst>
          </p:cNvPr>
          <p:cNvSpPr>
            <a:spLocks noChangeArrowheads="1"/>
          </p:cNvSpPr>
          <p:nvPr/>
        </p:nvSpPr>
        <p:spPr bwMode="auto">
          <a:xfrm>
            <a:off x="3962400" y="3581400"/>
            <a:ext cx="50292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pumping fluid strike the cool wall, they condense to form a liquid, and run down the pump wall to the reservoir to again heated by the boiler.  </a:t>
            </a:r>
          </a:p>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A vapor of the pumping fluid with a pressure of the order of 0.5 Torr in the chimney is generated; the  molecules of the pumping fluid are ejected at velocities of the order of 300m/s. </a:t>
            </a:r>
          </a:p>
        </p:txBody>
      </p:sp>
      <p:pic>
        <p:nvPicPr>
          <p:cNvPr id="35844" name="Picture 4" descr="fig3_1_11">
            <a:extLst>
              <a:ext uri="{FF2B5EF4-FFF2-40B4-BE49-F238E27FC236}">
                <a16:creationId xmlns:a16="http://schemas.microsoft.com/office/drawing/2014/main" id="{A74FF88E-C20D-734D-F346-916D5780E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609600"/>
            <a:ext cx="353377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3" name="Group 2">
            <a:extLst>
              <a:ext uri="{FF2B5EF4-FFF2-40B4-BE49-F238E27FC236}">
                <a16:creationId xmlns:a16="http://schemas.microsoft.com/office/drawing/2014/main" id="{6AA725C0-C9A3-A2AA-9062-B5F7A5D79F90}"/>
              </a:ext>
            </a:extLst>
          </p:cNvPr>
          <p:cNvGrpSpPr>
            <a:grpSpLocks/>
          </p:cNvGrpSpPr>
          <p:nvPr/>
        </p:nvGrpSpPr>
        <p:grpSpPr bwMode="auto">
          <a:xfrm>
            <a:off x="685800" y="1143000"/>
            <a:ext cx="8229600" cy="4953000"/>
            <a:chOff x="720" y="1152"/>
            <a:chExt cx="4800" cy="2976"/>
          </a:xfrm>
        </p:grpSpPr>
        <p:pic>
          <p:nvPicPr>
            <p:cNvPr id="15364" name="Picture 3" descr="fig3_1_12">
              <a:extLst>
                <a:ext uri="{FF2B5EF4-FFF2-40B4-BE49-F238E27FC236}">
                  <a16:creationId xmlns:a16="http://schemas.microsoft.com/office/drawing/2014/main" id="{9FCD9D87-FA46-8DE7-6D85-4E0008C58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 y="1152"/>
              <a:ext cx="2976" cy="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362" name="Object 4">
              <a:extLst>
                <a:ext uri="{FF2B5EF4-FFF2-40B4-BE49-F238E27FC236}">
                  <a16:creationId xmlns:a16="http://schemas.microsoft.com/office/drawing/2014/main" id="{D6C6FCB4-5385-C945-F3D5-5D3C3E354D84}"/>
                </a:ext>
              </a:extLst>
            </p:cNvPr>
            <p:cNvGraphicFramePr>
              <a:graphicFrameLocks noChangeAspect="1"/>
            </p:cNvGraphicFramePr>
            <p:nvPr/>
          </p:nvGraphicFramePr>
          <p:xfrm>
            <a:off x="720" y="1152"/>
            <a:ext cx="1843" cy="2976"/>
          </p:xfrm>
          <a:graphic>
            <a:graphicData uri="http://schemas.openxmlformats.org/presentationml/2006/ole">
              <mc:AlternateContent xmlns:mc="http://schemas.openxmlformats.org/markup-compatibility/2006">
                <mc:Choice xmlns:v="urn:schemas-microsoft-com:vml" Requires="v">
                  <p:oleObj name="CorelPhotoPaint.Image.8" r:id="rId3" imgW="2514605" imgH="4062992" progId="CorelPhotoPaint.Image.8">
                    <p:embed/>
                  </p:oleObj>
                </mc:Choice>
                <mc:Fallback>
                  <p:oleObj name="CorelPhotoPaint.Image.8" r:id="rId3" imgW="2514605" imgH="4062992" progId="CorelPhotoPaint.Image.8">
                    <p:embed/>
                    <p:pic>
                      <p:nvPicPr>
                        <p:cNvPr id="15362" name="Object 4">
                          <a:extLst>
                            <a:ext uri="{FF2B5EF4-FFF2-40B4-BE49-F238E27FC236}">
                              <a16:creationId xmlns:a16="http://schemas.microsoft.com/office/drawing/2014/main" id="{D6C6FCB4-5385-C945-F3D5-5D3C3E354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1152"/>
                          <a:ext cx="1843" cy="2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0956FA6-3439-9643-11F0-8218F123BEAE}"/>
              </a:ext>
            </a:extLst>
          </p:cNvPr>
          <p:cNvSpPr>
            <a:spLocks noChangeArrowheads="1"/>
          </p:cNvSpPr>
          <p:nvPr/>
        </p:nvSpPr>
        <p:spPr bwMode="auto">
          <a:xfrm>
            <a:off x="609600" y="1066800"/>
            <a:ext cx="715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ea typeface="新細明體" panose="02020500000000000000" pitchFamily="18" charset="-120"/>
                <a:cs typeface="Arial" panose="020B0604020202020204" pitchFamily="34" charset="0"/>
              </a:rPr>
              <a:t>2. Momentum transfer pump: Turbomolecular pump</a:t>
            </a:r>
          </a:p>
        </p:txBody>
      </p:sp>
      <p:grpSp>
        <p:nvGrpSpPr>
          <p:cNvPr id="36867" name="Group 3">
            <a:extLst>
              <a:ext uri="{FF2B5EF4-FFF2-40B4-BE49-F238E27FC236}">
                <a16:creationId xmlns:a16="http://schemas.microsoft.com/office/drawing/2014/main" id="{149C3DB0-955C-A459-E1CB-2CD64842C533}"/>
              </a:ext>
            </a:extLst>
          </p:cNvPr>
          <p:cNvGrpSpPr>
            <a:grpSpLocks/>
          </p:cNvGrpSpPr>
          <p:nvPr/>
        </p:nvGrpSpPr>
        <p:grpSpPr bwMode="auto">
          <a:xfrm>
            <a:off x="533400" y="1828800"/>
            <a:ext cx="7772400" cy="3429000"/>
            <a:chOff x="960" y="1680"/>
            <a:chExt cx="4514" cy="1881"/>
          </a:xfrm>
        </p:grpSpPr>
        <p:pic>
          <p:nvPicPr>
            <p:cNvPr id="36868" name="Picture 4">
              <a:extLst>
                <a:ext uri="{FF2B5EF4-FFF2-40B4-BE49-F238E27FC236}">
                  <a16:creationId xmlns:a16="http://schemas.microsoft.com/office/drawing/2014/main" id="{52A7AA1D-A3EA-6D26-7B36-9352928E1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1680"/>
              <a:ext cx="2688" cy="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5">
              <a:extLst>
                <a:ext uri="{FF2B5EF4-FFF2-40B4-BE49-F238E27FC236}">
                  <a16:creationId xmlns:a16="http://schemas.microsoft.com/office/drawing/2014/main" id="{30F53E2F-69AA-5B6F-3510-4C1616DC38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4" y="1680"/>
              <a:ext cx="1730"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fig3_1_14">
            <a:extLst>
              <a:ext uri="{FF2B5EF4-FFF2-40B4-BE49-F238E27FC236}">
                <a16:creationId xmlns:a16="http://schemas.microsoft.com/office/drawing/2014/main" id="{48B3ACCB-035F-C05B-4EC5-FD34B0EF4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766763"/>
            <a:ext cx="5162550"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3">
            <a:extLst>
              <a:ext uri="{FF2B5EF4-FFF2-40B4-BE49-F238E27FC236}">
                <a16:creationId xmlns:a16="http://schemas.microsoft.com/office/drawing/2014/main" id="{A97B221E-A747-D5F9-7D53-539AFF0A3994}"/>
              </a:ext>
            </a:extLst>
          </p:cNvPr>
          <p:cNvSpPr>
            <a:spLocks noChangeArrowheads="1"/>
          </p:cNvSpPr>
          <p:nvPr/>
        </p:nvSpPr>
        <p:spPr bwMode="auto">
          <a:xfrm>
            <a:off x="762000" y="3657600"/>
            <a:ext cx="76200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1125" indent="-1111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in fact, the molecules do not “bounce” on the blades, but they first adsorb on the blade surface and then desorb from the surface;</a:t>
            </a:r>
          </a:p>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on a stationary blade, molecules desorbing from both sides of the blade have the same velocities;</a:t>
            </a:r>
          </a:p>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on a moving blade with velocity, the molecules desorb from one side (lower side in the figure) have high velocities but that desorb from the other side have nearly zero velocity.</a:t>
            </a:r>
          </a:p>
        </p:txBody>
      </p:sp>
      <p:sp>
        <p:nvSpPr>
          <p:cNvPr id="37892" name="Text Box 4">
            <a:extLst>
              <a:ext uri="{FF2B5EF4-FFF2-40B4-BE49-F238E27FC236}">
                <a16:creationId xmlns:a16="http://schemas.microsoft.com/office/drawing/2014/main" id="{7362B2E6-B05A-C639-BACE-15CB85470DB6}"/>
              </a:ext>
            </a:extLst>
          </p:cNvPr>
          <p:cNvSpPr txBox="1">
            <a:spLocks noChangeArrowheads="1"/>
          </p:cNvSpPr>
          <p:nvPr/>
        </p:nvSpPr>
        <p:spPr bwMode="auto">
          <a:xfrm>
            <a:off x="914400" y="1127125"/>
            <a:ext cx="28194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moving blades         moving with a comparable speed to that of molecules strike the molecules and knock them in the preferred direction;</a:t>
            </a:r>
          </a:p>
          <a:p>
            <a:pPr eaLnBrk="1" hangingPunct="1"/>
            <a:endParaRPr lang="en-US" altLang="zh-CN" sz="2000">
              <a:latin typeface="Times New Roman" panose="02020603050405020304" pitchFamily="18" charset="0"/>
              <a:ea typeface="新細明體" panose="02020500000000000000" pitchFamily="18" charset="-120"/>
              <a:cs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fig3_1_13">
            <a:extLst>
              <a:ext uri="{FF2B5EF4-FFF2-40B4-BE49-F238E27FC236}">
                <a16:creationId xmlns:a16="http://schemas.microsoft.com/office/drawing/2014/main" id="{E12E0DB1-E758-EAC5-6BCD-F222FE643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76275"/>
            <a:ext cx="7772400" cy="596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107836E-E1E6-C9A1-228B-2E4F0B773D97}"/>
              </a:ext>
            </a:extLst>
          </p:cNvPr>
          <p:cNvSpPr>
            <a:spLocks noChangeArrowheads="1"/>
          </p:cNvSpPr>
          <p:nvPr/>
        </p:nvSpPr>
        <p:spPr bwMode="auto">
          <a:xfrm>
            <a:off x="685800" y="685800"/>
            <a:ext cx="438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3, Capture pump: Ionization pump</a:t>
            </a:r>
          </a:p>
        </p:txBody>
      </p:sp>
      <p:pic>
        <p:nvPicPr>
          <p:cNvPr id="39939" name="Picture 3" descr="Vac500">
            <a:extLst>
              <a:ext uri="{FF2B5EF4-FFF2-40B4-BE49-F238E27FC236}">
                <a16:creationId xmlns:a16="http://schemas.microsoft.com/office/drawing/2014/main" id="{17470B58-48DC-2530-F3A0-5AA04EFB3D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57400"/>
            <a:ext cx="3065463" cy="380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4" descr="Vac40">
            <a:extLst>
              <a:ext uri="{FF2B5EF4-FFF2-40B4-BE49-F238E27FC236}">
                <a16:creationId xmlns:a16="http://schemas.microsoft.com/office/drawing/2014/main" id="{08FFA5EC-527F-F9A7-D4D6-91FD50B99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447800"/>
            <a:ext cx="2789238"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Vac150">
            <a:extLst>
              <a:ext uri="{FF2B5EF4-FFF2-40B4-BE49-F238E27FC236}">
                <a16:creationId xmlns:a16="http://schemas.microsoft.com/office/drawing/2014/main" id="{989F5E08-23F9-23A8-D53E-E769711637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90800"/>
            <a:ext cx="2584450"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7" name="Group 2">
            <a:extLst>
              <a:ext uri="{FF2B5EF4-FFF2-40B4-BE49-F238E27FC236}">
                <a16:creationId xmlns:a16="http://schemas.microsoft.com/office/drawing/2014/main" id="{CF96EE16-E598-1C8E-D701-52F022D1DB67}"/>
              </a:ext>
            </a:extLst>
          </p:cNvPr>
          <p:cNvGrpSpPr>
            <a:grpSpLocks/>
          </p:cNvGrpSpPr>
          <p:nvPr/>
        </p:nvGrpSpPr>
        <p:grpSpPr bwMode="auto">
          <a:xfrm>
            <a:off x="381000" y="838200"/>
            <a:ext cx="8001000" cy="5334000"/>
            <a:chOff x="960" y="1344"/>
            <a:chExt cx="4122" cy="2496"/>
          </a:xfrm>
        </p:grpSpPr>
        <p:pic>
          <p:nvPicPr>
            <p:cNvPr id="16388" name="Picture 3" descr="fig3_1_15">
              <a:extLst>
                <a:ext uri="{FF2B5EF4-FFF2-40B4-BE49-F238E27FC236}">
                  <a16:creationId xmlns:a16="http://schemas.microsoft.com/office/drawing/2014/main" id="{FB11BD10-FCBE-5A3E-751A-F77BA9533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1344"/>
              <a:ext cx="3000"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6" name="Object 4">
              <a:extLst>
                <a:ext uri="{FF2B5EF4-FFF2-40B4-BE49-F238E27FC236}">
                  <a16:creationId xmlns:a16="http://schemas.microsoft.com/office/drawing/2014/main" id="{94D342E9-5D81-4257-A5D8-34DFE56230BA}"/>
                </a:ext>
              </a:extLst>
            </p:cNvPr>
            <p:cNvGraphicFramePr>
              <a:graphicFrameLocks noChangeAspect="1"/>
            </p:cNvGraphicFramePr>
            <p:nvPr/>
          </p:nvGraphicFramePr>
          <p:xfrm>
            <a:off x="3936" y="1344"/>
            <a:ext cx="1146" cy="2496"/>
          </p:xfrm>
          <a:graphic>
            <a:graphicData uri="http://schemas.openxmlformats.org/presentationml/2006/ole">
              <mc:AlternateContent xmlns:mc="http://schemas.openxmlformats.org/markup-compatibility/2006">
                <mc:Choice xmlns:v="urn:schemas-microsoft-com:vml" Requires="v">
                  <p:oleObj name="CorelPhotoPaint.Image.8" r:id="rId3" imgW="2444501" imgH="5321368" progId="CorelPhotoPaint.Image.8">
                    <p:embed/>
                  </p:oleObj>
                </mc:Choice>
                <mc:Fallback>
                  <p:oleObj name="CorelPhotoPaint.Image.8" r:id="rId3" imgW="2444501" imgH="5321368" progId="CorelPhotoPaint.Image.8">
                    <p:embed/>
                    <p:pic>
                      <p:nvPicPr>
                        <p:cNvPr id="16386" name="Object 4">
                          <a:extLst>
                            <a:ext uri="{FF2B5EF4-FFF2-40B4-BE49-F238E27FC236}">
                              <a16:creationId xmlns:a16="http://schemas.microsoft.com/office/drawing/2014/main" id="{94D342E9-5D81-4257-A5D8-34DFE56230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 y="1344"/>
                          <a:ext cx="1146" cy="2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2">
            <a:extLst>
              <a:ext uri="{FF2B5EF4-FFF2-40B4-BE49-F238E27FC236}">
                <a16:creationId xmlns:a16="http://schemas.microsoft.com/office/drawing/2014/main" id="{8A8179FC-739F-67D5-1D51-CC9883EF2F20}"/>
              </a:ext>
            </a:extLst>
          </p:cNvPr>
          <p:cNvGraphicFramePr>
            <a:graphicFrameLocks noChangeAspect="1"/>
          </p:cNvGraphicFramePr>
          <p:nvPr>
            <p:extLst>
              <p:ext uri="{D42A27DB-BD31-4B8C-83A1-F6EECF244321}">
                <p14:modId xmlns:p14="http://schemas.microsoft.com/office/powerpoint/2010/main" val="3673424852"/>
              </p:ext>
            </p:extLst>
          </p:nvPr>
        </p:nvGraphicFramePr>
        <p:xfrm>
          <a:off x="5867400" y="1066800"/>
          <a:ext cx="2743200" cy="5334000"/>
        </p:xfrm>
        <a:graphic>
          <a:graphicData uri="http://schemas.openxmlformats.org/presentationml/2006/ole">
            <mc:AlternateContent xmlns:mc="http://schemas.openxmlformats.org/markup-compatibility/2006">
              <mc:Choice xmlns:v="urn:schemas-microsoft-com:vml" Requires="v">
                <p:oleObj name="CorelPhotoPaint.Image.8" r:id="rId2" imgW="2575347" imgH="5004826" progId="CorelPhotoPaint.Image.8">
                  <p:embed/>
                </p:oleObj>
              </mc:Choice>
              <mc:Fallback>
                <p:oleObj name="CorelPhotoPaint.Image.8" r:id="rId2" imgW="2575347" imgH="5004826" progId="CorelPhotoPaint.Image.8">
                  <p:embed/>
                  <p:pic>
                    <p:nvPicPr>
                      <p:cNvPr id="17410" name="Object 2">
                        <a:extLst>
                          <a:ext uri="{FF2B5EF4-FFF2-40B4-BE49-F238E27FC236}">
                            <a16:creationId xmlns:a16="http://schemas.microsoft.com/office/drawing/2014/main" id="{8A8179FC-739F-67D5-1D51-CC9883EF2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066800"/>
                        <a:ext cx="27432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1" name="Text Box 3">
            <a:extLst>
              <a:ext uri="{FF2B5EF4-FFF2-40B4-BE49-F238E27FC236}">
                <a16:creationId xmlns:a16="http://schemas.microsoft.com/office/drawing/2014/main" id="{A036CAEF-CDE0-B9C9-371C-FFD5C5EB98CD}"/>
              </a:ext>
            </a:extLst>
          </p:cNvPr>
          <p:cNvSpPr txBox="1">
            <a:spLocks noChangeArrowheads="1"/>
          </p:cNvSpPr>
          <p:nvPr/>
        </p:nvSpPr>
        <p:spPr bwMode="auto">
          <a:xfrm>
            <a:off x="457200" y="762000"/>
            <a:ext cx="5172075"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0650" indent="-1206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a free electron is accelerating towards the anode. When the electron acquires sufficient energy and when it strikes a molecule, it can ionize the molecule and create an electron and a positive ion.  When the electron strikes the anode, it is removed from the process.</a:t>
            </a:r>
          </a:p>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in order to increase the pathlength of electrons so that the ionization process is enhanced, the electron is allowed to pass through the hole in the ring positively biased.  The electron will then follow oscillatory motion instead of directly striking the anode.</a:t>
            </a:r>
          </a:p>
        </p:txBody>
      </p:sp>
      <p:sp>
        <p:nvSpPr>
          <p:cNvPr id="17412" name="Text Box 4">
            <a:extLst>
              <a:ext uri="{FF2B5EF4-FFF2-40B4-BE49-F238E27FC236}">
                <a16:creationId xmlns:a16="http://schemas.microsoft.com/office/drawing/2014/main" id="{C877AFF9-6830-B975-DAB1-7A033A8D4F93}"/>
              </a:ext>
            </a:extLst>
          </p:cNvPr>
          <p:cNvSpPr txBox="1">
            <a:spLocks noChangeArrowheads="1"/>
          </p:cNvSpPr>
          <p:nvPr/>
        </p:nvSpPr>
        <p:spPr bwMode="auto">
          <a:xfrm>
            <a:off x="457200" y="4784725"/>
            <a:ext cx="52578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0650" indent="-1206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an additional magnetic field provides a force on the electrons which is perpendicular to the direction of motion and causes the electrons to move in a spiral path.  Thus, the probability for the electron to have collision with other molecules is greatly increased.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2">
            <a:extLst>
              <a:ext uri="{FF2B5EF4-FFF2-40B4-BE49-F238E27FC236}">
                <a16:creationId xmlns:a16="http://schemas.microsoft.com/office/drawing/2014/main" id="{839BCDB6-8820-85DC-1331-F1A109E76E4C}"/>
              </a:ext>
            </a:extLst>
          </p:cNvPr>
          <p:cNvSpPr txBox="1">
            <a:spLocks noChangeArrowheads="1"/>
          </p:cNvSpPr>
          <p:nvPr/>
        </p:nvSpPr>
        <p:spPr bwMode="auto">
          <a:xfrm>
            <a:off x="381000" y="762000"/>
            <a:ext cx="45720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Tx/>
              <a:buAutoNum type="arabicPeriod"/>
            </a:pPr>
            <a:r>
              <a:rPr lang="en-US" altLang="zh-TW" sz="2000">
                <a:latin typeface="Times New Roman" panose="02020603050405020304" pitchFamily="18" charset="0"/>
                <a:ea typeface="新細明體" panose="02020500000000000000" pitchFamily="18" charset="-120"/>
                <a:cs typeface="Arial" panose="020B0604020202020204" pitchFamily="34" charset="0"/>
              </a:rPr>
              <a:t>Sputtering</a:t>
            </a:r>
          </a:p>
          <a:p>
            <a:pPr algn="just"/>
            <a:r>
              <a:rPr lang="en-US" altLang="zh-TW" sz="2000">
                <a:latin typeface="Times New Roman" panose="02020603050405020304" pitchFamily="18" charset="0"/>
                <a:ea typeface="新細明體" panose="02020500000000000000" pitchFamily="18" charset="-120"/>
                <a:cs typeface="Arial" panose="020B0604020202020204" pitchFamily="34" charset="0"/>
              </a:rPr>
              <a:t>	The positive ion is accelerated by the cathode and strikes the surface.  The process knocks out the Ti atoms on the cathode.  The sputtered Ti atoms will deposit in the cell.  Metallic Ti is also exposed on the sputtered surface.</a:t>
            </a:r>
          </a:p>
          <a:p>
            <a:pPr algn="just"/>
            <a:endParaRPr lang="en-US" altLang="zh-TW" sz="2000">
              <a:latin typeface="Times New Roman" panose="02020603050405020304" pitchFamily="18" charset="0"/>
              <a:ea typeface="新細明體" panose="02020500000000000000" pitchFamily="18" charset="-120"/>
              <a:cs typeface="Arial" panose="020B0604020202020204" pitchFamily="34" charset="0"/>
            </a:endParaRPr>
          </a:p>
          <a:p>
            <a:pPr algn="just"/>
            <a:r>
              <a:rPr lang="en-US" altLang="zh-TW" sz="2000">
                <a:latin typeface="Times New Roman" panose="02020603050405020304" pitchFamily="18" charset="0"/>
                <a:ea typeface="新細明體" panose="02020500000000000000" pitchFamily="18" charset="-120"/>
                <a:cs typeface="Arial" panose="020B0604020202020204" pitchFamily="34" charset="0"/>
              </a:rPr>
              <a:t>2.	Gettering</a:t>
            </a:r>
          </a:p>
          <a:p>
            <a:pPr algn="just"/>
            <a:r>
              <a:rPr lang="en-US" altLang="zh-TW" sz="2000">
                <a:latin typeface="Times New Roman" panose="02020603050405020304" pitchFamily="18" charset="0"/>
                <a:ea typeface="新細明體" panose="02020500000000000000" pitchFamily="18" charset="-120"/>
                <a:cs typeface="Arial" panose="020B0604020202020204" pitchFamily="34" charset="0"/>
              </a:rPr>
              <a:t>	Metallic Ti is very reactive.  The gas molecules adsorb on the surface.</a:t>
            </a:r>
          </a:p>
          <a:p>
            <a:pPr algn="just"/>
            <a:endParaRPr lang="en-US" altLang="zh-TW" sz="2000">
              <a:latin typeface="Times New Roman" panose="02020603050405020304" pitchFamily="18" charset="0"/>
              <a:ea typeface="新細明體" panose="02020500000000000000" pitchFamily="18" charset="-120"/>
              <a:cs typeface="Arial" panose="020B0604020202020204" pitchFamily="34" charset="0"/>
            </a:endParaRPr>
          </a:p>
          <a:p>
            <a:pPr algn="just"/>
            <a:r>
              <a:rPr lang="en-US" altLang="zh-TW" sz="2000">
                <a:latin typeface="Times New Roman" panose="02020603050405020304" pitchFamily="18" charset="0"/>
                <a:ea typeface="新細明體" panose="02020500000000000000" pitchFamily="18" charset="-120"/>
                <a:cs typeface="Arial" panose="020B0604020202020204" pitchFamily="34" charset="0"/>
              </a:rPr>
              <a:t>3.	Burial</a:t>
            </a:r>
          </a:p>
          <a:p>
            <a:pPr algn="just"/>
            <a:r>
              <a:rPr lang="en-US" altLang="zh-TW" sz="2000">
                <a:latin typeface="Times New Roman" panose="02020603050405020304" pitchFamily="18" charset="0"/>
                <a:ea typeface="新細明體" panose="02020500000000000000" pitchFamily="18" charset="-120"/>
                <a:cs typeface="Arial" panose="020B0604020202020204" pitchFamily="34" charset="0"/>
              </a:rPr>
              <a:t>	The sputtered Ti atoms bury the molecules that already adsorbed on the surface.  This burial is the pumping mechanism for noble gases and other inert molecules.</a:t>
            </a:r>
          </a:p>
        </p:txBody>
      </p:sp>
      <p:grpSp>
        <p:nvGrpSpPr>
          <p:cNvPr id="18437" name="Group 3">
            <a:extLst>
              <a:ext uri="{FF2B5EF4-FFF2-40B4-BE49-F238E27FC236}">
                <a16:creationId xmlns:a16="http://schemas.microsoft.com/office/drawing/2014/main" id="{205D7178-9C27-76A1-8CFA-E00E64D9D095}"/>
              </a:ext>
            </a:extLst>
          </p:cNvPr>
          <p:cNvGrpSpPr>
            <a:grpSpLocks/>
          </p:cNvGrpSpPr>
          <p:nvPr/>
        </p:nvGrpSpPr>
        <p:grpSpPr bwMode="auto">
          <a:xfrm>
            <a:off x="5105400" y="1066800"/>
            <a:ext cx="3429000" cy="5334000"/>
            <a:chOff x="3456" y="1008"/>
            <a:chExt cx="1968" cy="3120"/>
          </a:xfrm>
        </p:grpSpPr>
        <p:sp>
          <p:nvSpPr>
            <p:cNvPr id="18438" name="Rectangle 4">
              <a:extLst>
                <a:ext uri="{FF2B5EF4-FFF2-40B4-BE49-F238E27FC236}">
                  <a16:creationId xmlns:a16="http://schemas.microsoft.com/office/drawing/2014/main" id="{2CCA7FE6-5A77-B15C-14A9-0B8ABE47A526}"/>
                </a:ext>
              </a:extLst>
            </p:cNvPr>
            <p:cNvSpPr>
              <a:spLocks noChangeArrowheads="1"/>
            </p:cNvSpPr>
            <p:nvPr/>
          </p:nvSpPr>
          <p:spPr bwMode="auto">
            <a:xfrm>
              <a:off x="3456" y="1008"/>
              <a:ext cx="1968" cy="3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18434" name="Object 5">
              <a:extLst>
                <a:ext uri="{FF2B5EF4-FFF2-40B4-BE49-F238E27FC236}">
                  <a16:creationId xmlns:a16="http://schemas.microsoft.com/office/drawing/2014/main" id="{99ADDD48-034A-58F3-E5EA-F46E69A5F257}"/>
                </a:ext>
              </a:extLst>
            </p:cNvPr>
            <p:cNvGraphicFramePr>
              <a:graphicFrameLocks noChangeAspect="1"/>
            </p:cNvGraphicFramePr>
            <p:nvPr/>
          </p:nvGraphicFramePr>
          <p:xfrm>
            <a:off x="3792" y="1104"/>
            <a:ext cx="1539" cy="1230"/>
          </p:xfrm>
          <a:graphic>
            <a:graphicData uri="http://schemas.openxmlformats.org/presentationml/2006/ole">
              <mc:AlternateContent xmlns:mc="http://schemas.openxmlformats.org/markup-compatibility/2006">
                <mc:Choice xmlns:v="urn:schemas-microsoft-com:vml" Requires="v">
                  <p:oleObj name="CorelPhotoPaint.Image.8" r:id="rId2" imgW="2136652" imgH="1706739" progId="CorelPhotoPaint.Image.8">
                    <p:embed/>
                  </p:oleObj>
                </mc:Choice>
                <mc:Fallback>
                  <p:oleObj name="CorelPhotoPaint.Image.8" r:id="rId2" imgW="2136652" imgH="1706739" progId="CorelPhotoPaint.Image.8">
                    <p:embed/>
                    <p:pic>
                      <p:nvPicPr>
                        <p:cNvPr id="18434" name="Object 5">
                          <a:extLst>
                            <a:ext uri="{FF2B5EF4-FFF2-40B4-BE49-F238E27FC236}">
                              <a16:creationId xmlns:a16="http://schemas.microsoft.com/office/drawing/2014/main" id="{99ADDD48-034A-58F3-E5EA-F46E69A5F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1104"/>
                          <a:ext cx="1539" cy="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5" name="Object 6">
              <a:extLst>
                <a:ext uri="{FF2B5EF4-FFF2-40B4-BE49-F238E27FC236}">
                  <a16:creationId xmlns:a16="http://schemas.microsoft.com/office/drawing/2014/main" id="{DE6BE833-7B54-D3C3-C49F-5F78FCC897A8}"/>
                </a:ext>
              </a:extLst>
            </p:cNvPr>
            <p:cNvGraphicFramePr>
              <a:graphicFrameLocks noChangeAspect="1"/>
            </p:cNvGraphicFramePr>
            <p:nvPr/>
          </p:nvGraphicFramePr>
          <p:xfrm>
            <a:off x="3600" y="2444"/>
            <a:ext cx="1723" cy="1636"/>
          </p:xfrm>
          <a:graphic>
            <a:graphicData uri="http://schemas.openxmlformats.org/presentationml/2006/ole">
              <mc:AlternateContent xmlns:mc="http://schemas.openxmlformats.org/markup-compatibility/2006">
                <mc:Choice xmlns:v="urn:schemas-microsoft-com:vml" Requires="v">
                  <p:oleObj name="CorelPhotoPaint.Image.8" r:id="rId4" imgW="2697485" imgH="2560325" progId="CorelPhotoPaint.Image.8">
                    <p:embed/>
                  </p:oleObj>
                </mc:Choice>
                <mc:Fallback>
                  <p:oleObj name="CorelPhotoPaint.Image.8" r:id="rId4" imgW="2697485" imgH="2560325" progId="CorelPhotoPaint.Image.8">
                    <p:embed/>
                    <p:pic>
                      <p:nvPicPr>
                        <p:cNvPr id="18435" name="Object 6">
                          <a:extLst>
                            <a:ext uri="{FF2B5EF4-FFF2-40B4-BE49-F238E27FC236}">
                              <a16:creationId xmlns:a16="http://schemas.microsoft.com/office/drawing/2014/main" id="{DE6BE833-7B54-D3C3-C49F-5F78FCC897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 y="2444"/>
                          <a:ext cx="1723" cy="1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CD92C38-7BEF-0BDE-9BC3-C0E580906A72}"/>
              </a:ext>
            </a:extLst>
          </p:cNvPr>
          <p:cNvSpPr>
            <a:spLocks noChangeArrowheads="1"/>
          </p:cNvSpPr>
          <p:nvPr/>
        </p:nvSpPr>
        <p:spPr bwMode="auto">
          <a:xfrm>
            <a:off x="381000" y="899160"/>
            <a:ext cx="578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dirty="0">
                <a:latin typeface="Times New Roman" panose="02020603050405020304" pitchFamily="18" charset="0"/>
                <a:ea typeface="新細明體" panose="02020500000000000000" pitchFamily="18" charset="-120"/>
                <a:cs typeface="Arial" panose="020B0604020202020204" pitchFamily="34" charset="0"/>
              </a:rPr>
              <a:t>3. Capture pump: Titanium sublimation pump</a:t>
            </a:r>
          </a:p>
        </p:txBody>
      </p:sp>
      <p:pic>
        <p:nvPicPr>
          <p:cNvPr id="40963" name="Picture 3" descr="fig3_1_19">
            <a:extLst>
              <a:ext uri="{FF2B5EF4-FFF2-40B4-BE49-F238E27FC236}">
                <a16:creationId xmlns:a16="http://schemas.microsoft.com/office/drawing/2014/main" id="{FC27B35A-F1D6-8812-C3E2-84469C927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371600"/>
            <a:ext cx="5029200"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4">
            <a:extLst>
              <a:ext uri="{FF2B5EF4-FFF2-40B4-BE49-F238E27FC236}">
                <a16:creationId xmlns:a16="http://schemas.microsoft.com/office/drawing/2014/main" id="{30CCA861-C3A9-6291-E155-EDF8EB78158D}"/>
              </a:ext>
            </a:extLst>
          </p:cNvPr>
          <p:cNvSpPr txBox="1">
            <a:spLocks noChangeArrowheads="1"/>
          </p:cNvSpPr>
          <p:nvPr/>
        </p:nvSpPr>
        <p:spPr bwMode="auto">
          <a:xfrm>
            <a:off x="685800" y="2514600"/>
            <a:ext cx="3505200" cy="243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TW" sz="2200">
                <a:latin typeface="Times New Roman" panose="02020603050405020304" pitchFamily="18" charset="0"/>
                <a:ea typeface="MingLiU" panose="02020509000000000000" pitchFamily="49" charset="-120"/>
                <a:cs typeface="Arial" panose="020B0604020202020204" pitchFamily="34" charset="0"/>
              </a:rPr>
              <a:t>A high current passes through a titanium rod.  The current heats up the Ti metal and generates Ti vapor.  New Ti surface is continuously created on the inner walls of the pump. </a:t>
            </a:r>
            <a:endParaRPr lang="en-US" altLang="zh-TW" sz="2200">
              <a:latin typeface="Times New Roman" panose="02020603050405020304" pitchFamily="18" charset="0"/>
              <a:ea typeface="新細明體" panose="02020500000000000000" pitchFamily="18" charset="-120"/>
              <a:cs typeface="Arial" panose="020B06040202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7C6D8A7D-88EB-535E-0AD5-3434F0E17673}"/>
              </a:ext>
            </a:extLst>
          </p:cNvPr>
          <p:cNvSpPr>
            <a:spLocks noChangeArrowheads="1"/>
          </p:cNvSpPr>
          <p:nvPr/>
        </p:nvSpPr>
        <p:spPr bwMode="auto">
          <a:xfrm>
            <a:off x="381000" y="685800"/>
            <a:ext cx="5554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3. Capture pump: Cryogenic/Sorption pump</a:t>
            </a:r>
          </a:p>
        </p:txBody>
      </p:sp>
      <p:grpSp>
        <p:nvGrpSpPr>
          <p:cNvPr id="19460" name="Group 3">
            <a:extLst>
              <a:ext uri="{FF2B5EF4-FFF2-40B4-BE49-F238E27FC236}">
                <a16:creationId xmlns:a16="http://schemas.microsoft.com/office/drawing/2014/main" id="{2B290006-9271-E738-2F80-17933F243DDC}"/>
              </a:ext>
            </a:extLst>
          </p:cNvPr>
          <p:cNvGrpSpPr>
            <a:grpSpLocks/>
          </p:cNvGrpSpPr>
          <p:nvPr/>
        </p:nvGrpSpPr>
        <p:grpSpPr bwMode="auto">
          <a:xfrm>
            <a:off x="609600" y="1219200"/>
            <a:ext cx="6858000" cy="4038600"/>
            <a:chOff x="816" y="1104"/>
            <a:chExt cx="4560" cy="2928"/>
          </a:xfrm>
        </p:grpSpPr>
        <p:sp>
          <p:nvSpPr>
            <p:cNvPr id="19462" name="Rectangle 4">
              <a:extLst>
                <a:ext uri="{FF2B5EF4-FFF2-40B4-BE49-F238E27FC236}">
                  <a16:creationId xmlns:a16="http://schemas.microsoft.com/office/drawing/2014/main" id="{DA559912-3D1E-9C80-6F20-282D9DFDE7F9}"/>
                </a:ext>
              </a:extLst>
            </p:cNvPr>
            <p:cNvSpPr>
              <a:spLocks noChangeArrowheads="1"/>
            </p:cNvSpPr>
            <p:nvPr/>
          </p:nvSpPr>
          <p:spPr bwMode="auto">
            <a:xfrm>
              <a:off x="816" y="1104"/>
              <a:ext cx="4560"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19458" name="Object 5">
              <a:extLst>
                <a:ext uri="{FF2B5EF4-FFF2-40B4-BE49-F238E27FC236}">
                  <a16:creationId xmlns:a16="http://schemas.microsoft.com/office/drawing/2014/main" id="{4ACFC308-9C2A-5056-8A65-D75E9E87CCA7}"/>
                </a:ext>
              </a:extLst>
            </p:cNvPr>
            <p:cNvGraphicFramePr>
              <a:graphicFrameLocks noChangeAspect="1"/>
            </p:cNvGraphicFramePr>
            <p:nvPr/>
          </p:nvGraphicFramePr>
          <p:xfrm>
            <a:off x="900" y="1344"/>
            <a:ext cx="2415" cy="2544"/>
          </p:xfrm>
          <a:graphic>
            <a:graphicData uri="http://schemas.openxmlformats.org/presentationml/2006/ole">
              <mc:AlternateContent xmlns:mc="http://schemas.openxmlformats.org/markup-compatibility/2006">
                <mc:Choice xmlns:v="urn:schemas-microsoft-com:vml" Requires="v">
                  <p:oleObj name="CorelPhotoPaint.Image.8" r:id="rId2" imgW="3431764" imgH="3614629" progId="CorelPhotoPaint.Image.8">
                    <p:embed/>
                  </p:oleObj>
                </mc:Choice>
                <mc:Fallback>
                  <p:oleObj name="CorelPhotoPaint.Image.8" r:id="rId2" imgW="3431764" imgH="3614629" progId="CorelPhotoPaint.Image.8">
                    <p:embed/>
                    <p:pic>
                      <p:nvPicPr>
                        <p:cNvPr id="19458" name="Object 5">
                          <a:extLst>
                            <a:ext uri="{FF2B5EF4-FFF2-40B4-BE49-F238E27FC236}">
                              <a16:creationId xmlns:a16="http://schemas.microsoft.com/office/drawing/2014/main" id="{4ACFC308-9C2A-5056-8A65-D75E9E87C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 y="1344"/>
                          <a:ext cx="2415"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3" name="Picture 6">
              <a:extLst>
                <a:ext uri="{FF2B5EF4-FFF2-40B4-BE49-F238E27FC236}">
                  <a16:creationId xmlns:a16="http://schemas.microsoft.com/office/drawing/2014/main" id="{402516D0-DDBD-FF26-ABDE-3D497E78BD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6" y="1344"/>
              <a:ext cx="1854" cy="2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1" name="Rectangle 7">
            <a:extLst>
              <a:ext uri="{FF2B5EF4-FFF2-40B4-BE49-F238E27FC236}">
                <a16:creationId xmlns:a16="http://schemas.microsoft.com/office/drawing/2014/main" id="{023F6E43-11B9-9380-3915-626E139CFEB4}"/>
              </a:ext>
            </a:extLst>
          </p:cNvPr>
          <p:cNvSpPr>
            <a:spLocks noChangeArrowheads="1"/>
          </p:cNvSpPr>
          <p:nvPr/>
        </p:nvSpPr>
        <p:spPr bwMode="auto">
          <a:xfrm>
            <a:off x="990600" y="5410200"/>
            <a:ext cx="693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the principle is based on the physi-sorption of gases on a chilled surface</a:t>
            </a:r>
          </a:p>
          <a:p>
            <a:pPr eaLnBrk="1" hangingPunct="1">
              <a:buFontTx/>
              <a:buChar char="•"/>
            </a:pPr>
            <a:r>
              <a:rPr lang="en-US" altLang="zh-TW" sz="2000">
                <a:latin typeface="Times New Roman" panose="02020603050405020304" pitchFamily="18" charset="0"/>
                <a:ea typeface="新細明體" panose="02020500000000000000" pitchFamily="18" charset="-120"/>
                <a:cs typeface="Arial" panose="020B0604020202020204" pitchFamily="34" charset="0"/>
              </a:rPr>
              <a:t>clean, contamination free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3_1_20">
            <a:extLst>
              <a:ext uri="{FF2B5EF4-FFF2-40B4-BE49-F238E27FC236}">
                <a16:creationId xmlns:a16="http://schemas.microsoft.com/office/drawing/2014/main" id="{798CAF1E-ECDF-F3CB-3D87-4C3BA3CA68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09600"/>
            <a:ext cx="8153400"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3">
            <a:extLst>
              <a:ext uri="{FF2B5EF4-FFF2-40B4-BE49-F238E27FC236}">
                <a16:creationId xmlns:a16="http://schemas.microsoft.com/office/drawing/2014/main" id="{D5B7CE9A-D765-93D9-C820-1A185251685F}"/>
              </a:ext>
            </a:extLst>
          </p:cNvPr>
          <p:cNvSpPr>
            <a:spLocks noChangeArrowheads="1"/>
          </p:cNvSpPr>
          <p:nvPr/>
        </p:nvSpPr>
        <p:spPr bwMode="auto">
          <a:xfrm>
            <a:off x="990600" y="4724400"/>
            <a:ext cx="72390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TW" sz="2200">
                <a:latin typeface="Times New Roman" panose="02020603050405020304" pitchFamily="18" charset="0"/>
                <a:ea typeface="MingLiU" panose="02020509000000000000" pitchFamily="49" charset="-120"/>
                <a:cs typeface="Arial" panose="020B0604020202020204" pitchFamily="34" charset="0"/>
              </a:rPr>
              <a:t>Gas molecules trapped in a molecular sieve of a cryogenic pump, which is cooled down to liquid nitrogen. The cryogenic pump pumps down from the atmospheric pressure to 10</a:t>
            </a:r>
            <a:r>
              <a:rPr lang="en-US" altLang="zh-TW" sz="2200" baseline="30000">
                <a:latin typeface="Times New Roman" panose="02020603050405020304" pitchFamily="18" charset="0"/>
                <a:ea typeface="MingLiU" panose="02020509000000000000" pitchFamily="49" charset="-120"/>
                <a:cs typeface="Arial" panose="020B0604020202020204" pitchFamily="34" charset="0"/>
              </a:rPr>
              <a:t>-6</a:t>
            </a:r>
            <a:r>
              <a:rPr lang="en-US" altLang="zh-TW" sz="2200">
                <a:latin typeface="Times New Roman" panose="02020603050405020304" pitchFamily="18" charset="0"/>
                <a:ea typeface="MingLiU" panose="02020509000000000000" pitchFamily="49" charset="-120"/>
                <a:cs typeface="Arial" panose="020B0604020202020204" pitchFamily="34" charset="0"/>
              </a:rPr>
              <a:t> Torr. </a:t>
            </a:r>
            <a:endParaRPr lang="en-US" altLang="zh-TW" sz="2200">
              <a:latin typeface="Times New Roman" panose="02020603050405020304" pitchFamily="18" charset="0"/>
              <a:ea typeface="新細明體" panose="02020500000000000000" pitchFamily="18" charset="-120"/>
              <a:cs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a:extLst>
              <a:ext uri="{FF2B5EF4-FFF2-40B4-BE49-F238E27FC236}">
                <a16:creationId xmlns:a16="http://schemas.microsoft.com/office/drawing/2014/main" id="{E5FC6C6E-E84C-2B5E-30D4-7E653B2D71D9}"/>
              </a:ext>
            </a:extLst>
          </p:cNvPr>
          <p:cNvGraphicFramePr>
            <a:graphicFrameLocks noChangeAspect="1"/>
          </p:cNvGraphicFramePr>
          <p:nvPr/>
        </p:nvGraphicFramePr>
        <p:xfrm>
          <a:off x="0" y="533400"/>
          <a:ext cx="8915400" cy="6019800"/>
        </p:xfrm>
        <a:graphic>
          <a:graphicData uri="http://schemas.openxmlformats.org/presentationml/2006/ole">
            <mc:AlternateContent xmlns:mc="http://schemas.openxmlformats.org/markup-compatibility/2006">
              <mc:Choice xmlns:v="urn:schemas-microsoft-com:vml" Requires="v">
                <p:oleObj name="CorelPhotoPaint.Image.8" r:id="rId2" imgW="4262456" imgH="3154686" progId="CorelPhotoPaint.Image.8">
                  <p:embed/>
                </p:oleObj>
              </mc:Choice>
              <mc:Fallback>
                <p:oleObj name="CorelPhotoPaint.Image.8" r:id="rId2" imgW="4262456" imgH="3154686" progId="CorelPhotoPaint.Image.8">
                  <p:embed/>
                  <p:pic>
                    <p:nvPicPr>
                      <p:cNvPr id="20482" name="Object 2">
                        <a:extLst>
                          <a:ext uri="{FF2B5EF4-FFF2-40B4-BE49-F238E27FC236}">
                            <a16:creationId xmlns:a16="http://schemas.microsoft.com/office/drawing/2014/main" id="{E5FC6C6E-E84C-2B5E-30D4-7E653B2D7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3400"/>
                        <a:ext cx="89154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3" name="Rectangle 3">
            <a:extLst>
              <a:ext uri="{FF2B5EF4-FFF2-40B4-BE49-F238E27FC236}">
                <a16:creationId xmlns:a16="http://schemas.microsoft.com/office/drawing/2014/main" id="{D08FE47D-7676-2B51-D6B0-7D28FB7F10E4}"/>
              </a:ext>
            </a:extLst>
          </p:cNvPr>
          <p:cNvSpPr>
            <a:spLocks noChangeArrowheads="1"/>
          </p:cNvSpPr>
          <p:nvPr/>
        </p:nvSpPr>
        <p:spPr bwMode="auto">
          <a:xfrm>
            <a:off x="304800" y="762000"/>
            <a:ext cx="594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TW" sz="3600">
                <a:latin typeface="Times New Roman" panose="02020603050405020304" pitchFamily="18" charset="0"/>
                <a:ea typeface="新細明體" panose="02020500000000000000" pitchFamily="18" charset="-120"/>
              </a:rPr>
              <a:t>Pressure gauges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784A048-EADD-A580-FAC0-C83019FA7750}"/>
              </a:ext>
            </a:extLst>
          </p:cNvPr>
          <p:cNvSpPr>
            <a:spLocks noChangeArrowheads="1"/>
          </p:cNvSpPr>
          <p:nvPr/>
        </p:nvSpPr>
        <p:spPr bwMode="auto">
          <a:xfrm>
            <a:off x="2133600" y="762000"/>
            <a:ext cx="4402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400">
                <a:latin typeface="Times New Roman" panose="02020603050405020304" pitchFamily="18" charset="0"/>
                <a:ea typeface="新細明體" panose="02020500000000000000" pitchFamily="18" charset="-120"/>
                <a:cs typeface="Arial" panose="020B0604020202020204" pitchFamily="34" charset="0"/>
              </a:rPr>
              <a:t>Direct gauge: Mercury manometer</a:t>
            </a:r>
          </a:p>
        </p:txBody>
      </p:sp>
      <p:pic>
        <p:nvPicPr>
          <p:cNvPr id="43011" name="Picture 3" descr="3_2_1">
            <a:extLst>
              <a:ext uri="{FF2B5EF4-FFF2-40B4-BE49-F238E27FC236}">
                <a16:creationId xmlns:a16="http://schemas.microsoft.com/office/drawing/2014/main" id="{F68C71AC-49B1-B4C0-8FB8-A20F57AA0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0"/>
            <a:ext cx="5267325"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61CCC17-98B7-CDC3-43FA-8F573D4BE6A8}"/>
              </a:ext>
            </a:extLst>
          </p:cNvPr>
          <p:cNvSpPr>
            <a:spLocks noChangeArrowheads="1"/>
          </p:cNvSpPr>
          <p:nvPr/>
        </p:nvSpPr>
        <p:spPr bwMode="auto">
          <a:xfrm>
            <a:off x="1295400" y="2286000"/>
            <a:ext cx="3962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pic>
        <p:nvPicPr>
          <p:cNvPr id="44035" name="Picture 3" descr="fig3_2_2">
            <a:extLst>
              <a:ext uri="{FF2B5EF4-FFF2-40B4-BE49-F238E27FC236}">
                <a16:creationId xmlns:a16="http://schemas.microsoft.com/office/drawing/2014/main" id="{E8F106CB-0629-6CAE-F120-061F27EED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4800600"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4">
            <a:extLst>
              <a:ext uri="{FF2B5EF4-FFF2-40B4-BE49-F238E27FC236}">
                <a16:creationId xmlns:a16="http://schemas.microsoft.com/office/drawing/2014/main" id="{E24F0682-2AC5-925E-50EB-BA8D6A60F172}"/>
              </a:ext>
            </a:extLst>
          </p:cNvPr>
          <p:cNvSpPr>
            <a:spLocks noChangeArrowheads="1"/>
          </p:cNvSpPr>
          <p:nvPr/>
        </p:nvSpPr>
        <p:spPr bwMode="auto">
          <a:xfrm>
            <a:off x="2438400" y="220382"/>
            <a:ext cx="47291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800" dirty="0">
                <a:latin typeface="Times New Roman" panose="02020603050405020304" pitchFamily="18" charset="0"/>
                <a:ea typeface="新細明體" panose="02020500000000000000" pitchFamily="18" charset="-120"/>
                <a:cs typeface="Arial" panose="020B0604020202020204" pitchFamily="34" charset="0"/>
              </a:rPr>
              <a:t>Indirect gauge: Thermal gauges</a:t>
            </a:r>
          </a:p>
        </p:txBody>
      </p:sp>
      <p:sp>
        <p:nvSpPr>
          <p:cNvPr id="44037" name="Text Box 5">
            <a:extLst>
              <a:ext uri="{FF2B5EF4-FFF2-40B4-BE49-F238E27FC236}">
                <a16:creationId xmlns:a16="http://schemas.microsoft.com/office/drawing/2014/main" id="{DB9CC632-C92F-1075-0282-6A255668CB61}"/>
              </a:ext>
            </a:extLst>
          </p:cNvPr>
          <p:cNvSpPr txBox="1">
            <a:spLocks noChangeArrowheads="1"/>
          </p:cNvSpPr>
          <p:nvPr/>
        </p:nvSpPr>
        <p:spPr bwMode="auto">
          <a:xfrm>
            <a:off x="5029200" y="1219200"/>
            <a:ext cx="3429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TW" sz="2000">
                <a:latin typeface="Times New Roman" panose="02020603050405020304" pitchFamily="18" charset="0"/>
                <a:ea typeface="MingLiU" panose="02020509000000000000" pitchFamily="49" charset="-120"/>
                <a:cs typeface="Arial" panose="020B0604020202020204" pitchFamily="34" charset="0"/>
              </a:rPr>
              <a:t>Thermal gauges measure the pressure indirectly by detecting the thermal (or cooling) effect on various parameters, </a:t>
            </a:r>
            <a:r>
              <a:rPr lang="en-US" altLang="zh-TW" sz="2000" i="1">
                <a:latin typeface="Times New Roman" panose="02020603050405020304" pitchFamily="18" charset="0"/>
                <a:ea typeface="MingLiU" panose="02020509000000000000" pitchFamily="49" charset="-120"/>
                <a:cs typeface="Arial" panose="020B0604020202020204" pitchFamily="34" charset="0"/>
              </a:rPr>
              <a:t>e.g.</a:t>
            </a:r>
            <a:r>
              <a:rPr lang="en-US" altLang="zh-TW" sz="2000">
                <a:latin typeface="Times New Roman" panose="02020603050405020304" pitchFamily="18" charset="0"/>
                <a:ea typeface="MingLiU" panose="02020509000000000000" pitchFamily="49" charset="-120"/>
                <a:cs typeface="Arial" panose="020B0604020202020204" pitchFamily="34" charset="0"/>
              </a:rPr>
              <a:t> temperature, resistance of wire, capacitance, and etc., when the gauge is attached to a system under different vacuum state.</a:t>
            </a:r>
          </a:p>
          <a:p>
            <a:pPr algn="just" eaLnBrk="1" hangingPunct="1"/>
            <a:endParaRPr lang="en-US" altLang="zh-TW" sz="2000">
              <a:latin typeface="Times New Roman" panose="02020603050405020304" pitchFamily="18" charset="0"/>
              <a:ea typeface="MingLiU" panose="02020509000000000000" pitchFamily="49" charset="-120"/>
              <a:cs typeface="Arial" panose="020B0604020202020204" pitchFamily="34" charset="0"/>
            </a:endParaRPr>
          </a:p>
          <a:p>
            <a:pPr algn="just" eaLnBrk="1" hangingPunct="1"/>
            <a:endParaRPr lang="zh-TW" altLang="en-US" sz="2000">
              <a:latin typeface="Times New Roman" panose="02020603050405020304" pitchFamily="18" charset="0"/>
              <a:ea typeface="新細明體" panose="02020500000000000000" pitchFamily="18" charset="-120"/>
              <a:cs typeface="Arial" panose="020B0604020202020204" pitchFamily="34" charset="0"/>
            </a:endParaRPr>
          </a:p>
        </p:txBody>
      </p:sp>
      <p:sp>
        <p:nvSpPr>
          <p:cNvPr id="44038" name="Text Box 6">
            <a:extLst>
              <a:ext uri="{FF2B5EF4-FFF2-40B4-BE49-F238E27FC236}">
                <a16:creationId xmlns:a16="http://schemas.microsoft.com/office/drawing/2014/main" id="{C4F954B9-D7E3-4DCA-441D-B82480F1775C}"/>
              </a:ext>
            </a:extLst>
          </p:cNvPr>
          <p:cNvSpPr txBox="1">
            <a:spLocks noChangeArrowheads="1"/>
          </p:cNvSpPr>
          <p:nvPr/>
        </p:nvSpPr>
        <p:spPr bwMode="auto">
          <a:xfrm>
            <a:off x="1295400" y="5943600"/>
            <a:ext cx="25511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200">
                <a:latin typeface="Times New Roman" panose="02020603050405020304" pitchFamily="18" charset="0"/>
                <a:ea typeface="新細明體" panose="02020500000000000000" pitchFamily="18" charset="-120"/>
                <a:cs typeface="Arial" panose="020B0604020202020204" pitchFamily="34" charset="0"/>
              </a:rPr>
              <a:t>Thermocouple gauge</a:t>
            </a:r>
          </a:p>
        </p:txBody>
      </p:sp>
      <p:sp>
        <p:nvSpPr>
          <p:cNvPr id="44039" name="Rectangle 7">
            <a:extLst>
              <a:ext uri="{FF2B5EF4-FFF2-40B4-BE49-F238E27FC236}">
                <a16:creationId xmlns:a16="http://schemas.microsoft.com/office/drawing/2014/main" id="{FAC86339-17E6-1CB8-FBA8-3EC45D761161}"/>
              </a:ext>
            </a:extLst>
          </p:cNvPr>
          <p:cNvSpPr>
            <a:spLocks noChangeArrowheads="1"/>
          </p:cNvSpPr>
          <p:nvPr/>
        </p:nvSpPr>
        <p:spPr bwMode="auto">
          <a:xfrm>
            <a:off x="1066800" y="5410200"/>
            <a:ext cx="3695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TW" sz="2000">
                <a:latin typeface="Times New Roman" panose="02020603050405020304" pitchFamily="18" charset="0"/>
                <a:ea typeface="新細明體" panose="02020500000000000000" pitchFamily="18" charset="-120"/>
                <a:cs typeface="Arial" panose="020B0604020202020204" pitchFamily="34" charset="0"/>
              </a:rPr>
              <a:t>Working pressure: Atm - 10</a:t>
            </a:r>
            <a:r>
              <a:rPr lang="en-US" altLang="zh-TW" sz="2000" baseline="30000">
                <a:latin typeface="Times New Roman" panose="02020603050405020304" pitchFamily="18" charset="0"/>
                <a:ea typeface="新細明體" panose="02020500000000000000" pitchFamily="18" charset="-120"/>
                <a:cs typeface="Arial" panose="020B0604020202020204" pitchFamily="34" charset="0"/>
              </a:rPr>
              <a:t>-4</a:t>
            </a:r>
            <a:r>
              <a:rPr lang="en-US" altLang="zh-TW" sz="2000">
                <a:latin typeface="Times New Roman" panose="02020603050405020304" pitchFamily="18" charset="0"/>
                <a:ea typeface="新細明體" panose="02020500000000000000" pitchFamily="18" charset="-120"/>
                <a:cs typeface="Arial" panose="020B0604020202020204" pitchFamily="34" charset="0"/>
              </a:rPr>
              <a:t> Torr</a:t>
            </a:r>
          </a:p>
        </p:txBody>
      </p:sp>
      <p:pic>
        <p:nvPicPr>
          <p:cNvPr id="44040" name="Picture 8">
            <a:extLst>
              <a:ext uri="{FF2B5EF4-FFF2-40B4-BE49-F238E27FC236}">
                <a16:creationId xmlns:a16="http://schemas.microsoft.com/office/drawing/2014/main" id="{98C00923-AB0D-2895-6C8A-52CD5EA48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4038600"/>
            <a:ext cx="3276600"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2" descr="HCG">
            <a:extLst>
              <a:ext uri="{FF2B5EF4-FFF2-40B4-BE49-F238E27FC236}">
                <a16:creationId xmlns:a16="http://schemas.microsoft.com/office/drawing/2014/main" id="{A26AF44E-09CE-5842-D142-8E13650CD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057400"/>
            <a:ext cx="2830513"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3">
            <a:extLst>
              <a:ext uri="{FF2B5EF4-FFF2-40B4-BE49-F238E27FC236}">
                <a16:creationId xmlns:a16="http://schemas.microsoft.com/office/drawing/2014/main" id="{79766147-EA2E-AC9B-3BB4-F17013D8D1D7}"/>
              </a:ext>
            </a:extLst>
          </p:cNvPr>
          <p:cNvSpPr>
            <a:spLocks noChangeArrowheads="1"/>
          </p:cNvSpPr>
          <p:nvPr/>
        </p:nvSpPr>
        <p:spPr bwMode="auto">
          <a:xfrm>
            <a:off x="1295400" y="2590800"/>
            <a:ext cx="3429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1509" name="Rectangle 4">
            <a:extLst>
              <a:ext uri="{FF2B5EF4-FFF2-40B4-BE49-F238E27FC236}">
                <a16:creationId xmlns:a16="http://schemas.microsoft.com/office/drawing/2014/main" id="{CC0FFC4B-C284-6779-2942-0D994AA49617}"/>
              </a:ext>
            </a:extLst>
          </p:cNvPr>
          <p:cNvSpPr>
            <a:spLocks noChangeArrowheads="1"/>
          </p:cNvSpPr>
          <p:nvPr/>
        </p:nvSpPr>
        <p:spPr bwMode="auto">
          <a:xfrm>
            <a:off x="4495800" y="1371600"/>
            <a:ext cx="4191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4950" indent="-2349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electrons are generated from the filament</a:t>
            </a:r>
          </a:p>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the electrons will collide and ionize the residual gas molecules</a:t>
            </a:r>
          </a:p>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the ions will be collected by the negatively biased ion collector</a:t>
            </a:r>
          </a:p>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for a higher pressure, more ions will be generated, leading to a higher detected current from the ion collector</a:t>
            </a:r>
          </a:p>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thus, the pressure can be revealed in term of the collector current</a:t>
            </a:r>
          </a:p>
        </p:txBody>
      </p:sp>
      <p:sp>
        <p:nvSpPr>
          <p:cNvPr id="21510" name="Rectangle 5">
            <a:extLst>
              <a:ext uri="{FF2B5EF4-FFF2-40B4-BE49-F238E27FC236}">
                <a16:creationId xmlns:a16="http://schemas.microsoft.com/office/drawing/2014/main" id="{3EA83DD0-59FB-CA23-A3BF-1D99E3CFB634}"/>
              </a:ext>
            </a:extLst>
          </p:cNvPr>
          <p:cNvSpPr>
            <a:spLocks noChangeArrowheads="1"/>
          </p:cNvSpPr>
          <p:nvPr/>
        </p:nvSpPr>
        <p:spPr bwMode="auto">
          <a:xfrm>
            <a:off x="4648200" y="4953000"/>
            <a:ext cx="41148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4950" indent="-2349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usually, a positively biased grid is added to increase the pathlength of electrons so that the ionization is enhanced;</a:t>
            </a:r>
          </a:p>
          <a:p>
            <a:pPr algn="just">
              <a:spcBef>
                <a:spcPct val="50000"/>
              </a:spcBef>
              <a:buFontTx/>
              <a:buChar char="•"/>
            </a:pPr>
            <a:r>
              <a:rPr lang="en-US" altLang="zh-TW" sz="1700">
                <a:latin typeface="Times New Roman" panose="02020603050405020304" pitchFamily="18" charset="0"/>
                <a:ea typeface="新細明體" panose="02020500000000000000" pitchFamily="18" charset="-120"/>
                <a:cs typeface="Arial" panose="020B0604020202020204" pitchFamily="34" charset="0"/>
              </a:rPr>
              <a:t>working pressure: &lt;10</a:t>
            </a:r>
            <a:r>
              <a:rPr lang="en-US" altLang="zh-TW" sz="1700" baseline="30000">
                <a:latin typeface="Times New Roman" panose="02020603050405020304" pitchFamily="18" charset="0"/>
                <a:ea typeface="新細明體" panose="02020500000000000000" pitchFamily="18" charset="-120"/>
                <a:cs typeface="Arial" panose="020B0604020202020204" pitchFamily="34" charset="0"/>
              </a:rPr>
              <a:t>-4</a:t>
            </a:r>
            <a:r>
              <a:rPr lang="en-US" altLang="zh-TW" sz="1700">
                <a:latin typeface="Times New Roman" panose="02020603050405020304" pitchFamily="18" charset="0"/>
                <a:ea typeface="新細明體" panose="02020500000000000000" pitchFamily="18" charset="-120"/>
                <a:cs typeface="Arial" panose="020B0604020202020204" pitchFamily="34" charset="0"/>
              </a:rPr>
              <a:t> Torr.</a:t>
            </a:r>
          </a:p>
        </p:txBody>
      </p:sp>
      <p:sp>
        <p:nvSpPr>
          <p:cNvPr id="21511" name="Rectangle 6">
            <a:extLst>
              <a:ext uri="{FF2B5EF4-FFF2-40B4-BE49-F238E27FC236}">
                <a16:creationId xmlns:a16="http://schemas.microsoft.com/office/drawing/2014/main" id="{FE0D7252-05B1-DC99-2CCB-0C70B4FBE699}"/>
              </a:ext>
            </a:extLst>
          </p:cNvPr>
          <p:cNvSpPr>
            <a:spLocks noChangeArrowheads="1"/>
          </p:cNvSpPr>
          <p:nvPr/>
        </p:nvSpPr>
        <p:spPr bwMode="auto">
          <a:xfrm>
            <a:off x="2425700" y="220662"/>
            <a:ext cx="5262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TW" sz="2800" dirty="0">
                <a:latin typeface="Times New Roman" panose="02020603050405020304" pitchFamily="18" charset="0"/>
                <a:ea typeface="新細明體" panose="02020500000000000000" pitchFamily="18" charset="-120"/>
                <a:cs typeface="Arial" panose="020B0604020202020204" pitchFamily="34" charset="0"/>
              </a:rPr>
              <a:t>Indirect gauge: Hot cathode gauges</a:t>
            </a:r>
          </a:p>
        </p:txBody>
      </p:sp>
      <p:pic>
        <p:nvPicPr>
          <p:cNvPr id="21512" name="Picture 7" descr="HCG2">
            <a:extLst>
              <a:ext uri="{FF2B5EF4-FFF2-40B4-BE49-F238E27FC236}">
                <a16:creationId xmlns:a16="http://schemas.microsoft.com/office/drawing/2014/main" id="{C8EB0580-7755-D446-6F6B-EB2368BC50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4114800"/>
            <a:ext cx="119538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506" name="Object 8">
            <a:extLst>
              <a:ext uri="{FF2B5EF4-FFF2-40B4-BE49-F238E27FC236}">
                <a16:creationId xmlns:a16="http://schemas.microsoft.com/office/drawing/2014/main" id="{A5B5B619-0217-D305-348B-A314E7585648}"/>
              </a:ext>
            </a:extLst>
          </p:cNvPr>
          <p:cNvGraphicFramePr>
            <a:graphicFrameLocks noChangeAspect="1"/>
          </p:cNvGraphicFramePr>
          <p:nvPr/>
        </p:nvGraphicFramePr>
        <p:xfrm>
          <a:off x="152400" y="1295400"/>
          <a:ext cx="1752600" cy="2274888"/>
        </p:xfrm>
        <a:graphic>
          <a:graphicData uri="http://schemas.openxmlformats.org/presentationml/2006/ole">
            <mc:AlternateContent xmlns:mc="http://schemas.openxmlformats.org/markup-compatibility/2006">
              <mc:Choice xmlns:v="urn:schemas-microsoft-com:vml" Requires="v">
                <p:oleObj name="CorelPhotoPaint.Image.8" r:id="rId4" imgW="2133424" imgH="3352523" progId="CorelPhotoPaint.Image.8">
                  <p:embed/>
                </p:oleObj>
              </mc:Choice>
              <mc:Fallback>
                <p:oleObj name="CorelPhotoPaint.Image.8" r:id="rId4" imgW="2133424" imgH="3352523" progId="CorelPhotoPaint.Image.8">
                  <p:embed/>
                  <p:pic>
                    <p:nvPicPr>
                      <p:cNvPr id="21506" name="Object 8">
                        <a:extLst>
                          <a:ext uri="{FF2B5EF4-FFF2-40B4-BE49-F238E27FC236}">
                            <a16:creationId xmlns:a16="http://schemas.microsoft.com/office/drawing/2014/main" id="{A5B5B619-0217-D305-348B-A314E75856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295400"/>
                        <a:ext cx="1752600" cy="227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1456</TotalTime>
  <Words>4434</Words>
  <Application>Microsoft Office PowerPoint</Application>
  <PresentationFormat>On-screen Show (4:3)</PresentationFormat>
  <Paragraphs>595</Paragraphs>
  <Slides>75</Slides>
  <Notes>6</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4</vt:i4>
      </vt:variant>
      <vt:variant>
        <vt:lpstr>Slide Titles</vt:lpstr>
      </vt:variant>
      <vt:variant>
        <vt:i4>75</vt:i4>
      </vt:variant>
    </vt:vector>
  </HeadingPairs>
  <TitlesOfParts>
    <vt:vector size="92" baseType="lpstr">
      <vt:lpstr>KaTeX_Main</vt:lpstr>
      <vt:lpstr>KaTeX_Math</vt:lpstr>
      <vt:lpstr>新細明體</vt:lpstr>
      <vt:lpstr>Arial</vt:lpstr>
      <vt:lpstr>Arial Black</vt:lpstr>
      <vt:lpstr>Calibri</vt:lpstr>
      <vt:lpstr>Cambria Math</vt:lpstr>
      <vt:lpstr>Georgia</vt:lpstr>
      <vt:lpstr>Impact</vt:lpstr>
      <vt:lpstr>Symbol</vt:lpstr>
      <vt:lpstr>Times New Roman</vt:lpstr>
      <vt:lpstr>Wingdings</vt:lpstr>
      <vt:lpstr>Pixel</vt:lpstr>
      <vt:lpstr>CorelPhotoPaint.Image.6</vt:lpstr>
      <vt:lpstr>Equation.3</vt:lpstr>
      <vt:lpstr>Equation</vt:lpstr>
      <vt:lpstr>CorelPhotoPaint.Image.8</vt:lpstr>
      <vt:lpstr>AMSC 5710 Advanced Materials Characterization</vt:lpstr>
      <vt:lpstr>Contents</vt:lpstr>
      <vt:lpstr>PowerPoint Presentation</vt:lpstr>
      <vt:lpstr>Sample preparation: An analytical perspective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requirements to study surfaces    --The need of vacuum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different pumps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Quan Li (PHY)</cp:lastModifiedBy>
  <cp:revision>40</cp:revision>
  <dcterms:created xsi:type="dcterms:W3CDTF">2015-01-09T01:03:11Z</dcterms:created>
  <dcterms:modified xsi:type="dcterms:W3CDTF">2026-09-01T11:19:20Z</dcterms:modified>
</cp:coreProperties>
</file>