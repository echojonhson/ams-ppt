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3"/>
  </p:notesMasterIdLst>
  <p:sldIdLst>
    <p:sldId id="256" r:id="rId2"/>
    <p:sldId id="264" r:id="rId3"/>
    <p:sldId id="258" r:id="rId4"/>
    <p:sldId id="269" r:id="rId5"/>
    <p:sldId id="267" r:id="rId6"/>
    <p:sldId id="265" r:id="rId7"/>
    <p:sldId id="259" r:id="rId8"/>
    <p:sldId id="266" r:id="rId9"/>
    <p:sldId id="261" r:id="rId10"/>
    <p:sldId id="263" r:id="rId11"/>
    <p:sldId id="268" r:id="rId12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69" autoAdjust="0"/>
    <p:restoredTop sz="93441" autoAdjust="0"/>
  </p:normalViewPr>
  <p:slideViewPr>
    <p:cSldViewPr>
      <p:cViewPr varScale="1">
        <p:scale>
          <a:sx n="130" d="100"/>
          <a:sy n="130" d="100"/>
        </p:scale>
        <p:origin x="2201" y="7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6C05D8-A6E8-4D72-8C91-6A1F4C4D9FC4}" type="datetimeFigureOut">
              <a:rPr lang="en-HK" smtClean="0"/>
              <a:t>1/9/2026</a:t>
            </a:fld>
            <a:endParaRPr lang="en-H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F17539-A7AC-46A1-B428-BB5797F9FE4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124947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HK" dirty="0"/>
              <a:t>The difference of probing sources</a:t>
            </a:r>
          </a:p>
          <a:p>
            <a:pPr marL="228600" indent="-228600">
              <a:buAutoNum type="arabicPeriod"/>
            </a:pPr>
            <a:r>
              <a:rPr lang="en-HK" dirty="0"/>
              <a:t>The difference of signal readout</a:t>
            </a:r>
          </a:p>
          <a:p>
            <a:pPr marL="228600" indent="-228600">
              <a:buAutoNum type="arabicPeriod"/>
            </a:pPr>
            <a:r>
              <a:rPr lang="en-HK" dirty="0"/>
              <a:t>Why signal contains information of materials?</a:t>
            </a:r>
          </a:p>
          <a:p>
            <a:pPr marL="228600" indent="-228600">
              <a:buAutoNum type="arabicPeriod"/>
            </a:pPr>
            <a:r>
              <a:rPr lang="en-HK" dirty="0"/>
              <a:t>Determined by the interaction between the probing source and the material</a:t>
            </a:r>
          </a:p>
          <a:p>
            <a:pPr marL="0" indent="0">
              <a:buNone/>
            </a:pPr>
            <a:r>
              <a:rPr lang="en-HK" dirty="0"/>
              <a:t>Example: Photoluminescence process</a:t>
            </a:r>
          </a:p>
          <a:p>
            <a:pPr marL="0" indent="0">
              <a:buNone/>
            </a:pPr>
            <a:endParaRPr lang="en-HK" dirty="0"/>
          </a:p>
          <a:p>
            <a:pPr marL="0" indent="0">
              <a:buNone/>
            </a:pPr>
            <a:r>
              <a:rPr lang="en-HK" dirty="0"/>
              <a:t>Overall the nature of interaction is elastic/inelastic scattering, while the former mainly give structural information, the later associated with various excitation/de-excitation process and is characteristic of material composition and electronic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F17539-A7AC-46A1-B428-BB5797F9FE41}" type="slidenum">
              <a:rPr lang="en-HK" smtClean="0"/>
              <a:t>6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54187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F17539-A7AC-46A1-B428-BB5797F9FE41}" type="slidenum">
              <a:rPr lang="en-HK" smtClean="0"/>
              <a:t>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958790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HK" dirty="0"/>
              <a:t>How to make surface characterization</a:t>
            </a:r>
          </a:p>
          <a:p>
            <a:pPr marL="228600" indent="-228600">
              <a:buAutoNum type="arabicPeriod"/>
            </a:pPr>
            <a:r>
              <a:rPr lang="en-HK" dirty="0"/>
              <a:t>Limit the probe to the surface</a:t>
            </a:r>
          </a:p>
          <a:p>
            <a:pPr marL="228600" indent="-228600">
              <a:buAutoNum type="arabicPeriod"/>
            </a:pPr>
            <a:r>
              <a:rPr lang="en-HK" dirty="0"/>
              <a:t>The signal is coming from the surface only</a:t>
            </a:r>
          </a:p>
          <a:p>
            <a:pPr marL="228600" indent="-228600">
              <a:buAutoNum type="arabicPeriod"/>
            </a:pPr>
            <a:endParaRPr lang="en-HK" dirty="0"/>
          </a:p>
          <a:p>
            <a:pPr marL="0" indent="0">
              <a:buNone/>
            </a:pPr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F17539-A7AC-46A1-B428-BB5797F9FE41}" type="slidenum">
              <a:rPr lang="en-HK" smtClean="0"/>
              <a:t>8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234177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530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22531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zh-TW" altLang="en-US" sz="2400">
                <a:latin typeface="Times New Roman" pitchFamily="18" charset="0"/>
                <a:ea typeface="新細明體" pitchFamily="18" charset="-120"/>
              </a:endParaRPr>
            </a:p>
          </p:txBody>
        </p:sp>
        <p:sp>
          <p:nvSpPr>
            <p:cNvPr id="22532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1" hangingPunct="1"/>
              <a:endParaRPr lang="zh-TW" altLang="en-US" sz="2400">
                <a:latin typeface="Times New Roman" pitchFamily="18" charset="0"/>
                <a:ea typeface="新細明體" pitchFamily="18" charset="-120"/>
              </a:endParaRPr>
            </a:p>
          </p:txBody>
        </p:sp>
        <p:grpSp>
          <p:nvGrpSpPr>
            <p:cNvPr id="22533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22534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eaLnBrk="1" hangingPunct="1"/>
                <a:endParaRPr lang="zh-TW" altLang="en-US" sz="2400">
                  <a:latin typeface="Times New Roman" pitchFamily="18" charset="0"/>
                  <a:ea typeface="新細明體" pitchFamily="18" charset="-120"/>
                </a:endParaRPr>
              </a:p>
            </p:txBody>
          </p:sp>
          <p:sp>
            <p:nvSpPr>
              <p:cNvPr id="22535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eaLnBrk="1" hangingPunct="1"/>
                <a:endParaRPr lang="zh-TW" altLang="en-US" sz="2400">
                  <a:latin typeface="Times New Roman" pitchFamily="18" charset="0"/>
                  <a:ea typeface="新細明體" pitchFamily="18" charset="-120"/>
                </a:endParaRPr>
              </a:p>
            </p:txBody>
          </p:sp>
          <p:sp>
            <p:nvSpPr>
              <p:cNvPr id="22536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eaLnBrk="1" hangingPunct="1"/>
                <a:endParaRPr lang="zh-TW" altLang="en-US" sz="2400">
                  <a:latin typeface="Times New Roman" pitchFamily="18" charset="0"/>
                  <a:ea typeface="新細明體" pitchFamily="18" charset="-120"/>
                </a:endParaRPr>
              </a:p>
            </p:txBody>
          </p:sp>
          <p:sp>
            <p:nvSpPr>
              <p:cNvPr id="22537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eaLnBrk="1" hangingPunct="1"/>
                <a:endParaRPr lang="zh-TW" altLang="en-US" sz="2400">
                  <a:latin typeface="Times New Roman" pitchFamily="18" charset="0"/>
                  <a:ea typeface="新細明體" pitchFamily="18" charset="-120"/>
                </a:endParaRPr>
              </a:p>
            </p:txBody>
          </p:sp>
          <p:sp>
            <p:nvSpPr>
              <p:cNvPr id="22538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eaLnBrk="1" hangingPunct="1"/>
                <a:endParaRPr lang="zh-TW" altLang="en-US" sz="2400">
                  <a:latin typeface="Times New Roman" pitchFamily="18" charset="0"/>
                  <a:ea typeface="新細明體" pitchFamily="18" charset="-120"/>
                </a:endParaRPr>
              </a:p>
            </p:txBody>
          </p:sp>
          <p:sp>
            <p:nvSpPr>
              <p:cNvPr id="22539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eaLnBrk="1" hangingPunct="1"/>
                <a:endParaRPr lang="zh-TW" altLang="en-US" sz="2400">
                  <a:latin typeface="Times New Roman" pitchFamily="18" charset="0"/>
                  <a:ea typeface="新細明體" pitchFamily="18" charset="-120"/>
                </a:endParaRPr>
              </a:p>
            </p:txBody>
          </p:sp>
          <p:sp>
            <p:nvSpPr>
              <p:cNvPr id="22540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eaLnBrk="1" hangingPunct="1"/>
                <a:endParaRPr lang="zh-TW" altLang="en-US" sz="2400">
                  <a:latin typeface="Times New Roman" pitchFamily="18" charset="0"/>
                  <a:ea typeface="新細明體" pitchFamily="18" charset="-120"/>
                </a:endParaRPr>
              </a:p>
            </p:txBody>
          </p:sp>
          <p:sp>
            <p:nvSpPr>
              <p:cNvPr id="22541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eaLnBrk="1" hangingPunct="1"/>
                <a:endParaRPr lang="zh-TW" altLang="en-US" sz="2400">
                  <a:latin typeface="Times New Roman" pitchFamily="18" charset="0"/>
                  <a:ea typeface="新細明體" pitchFamily="18" charset="-120"/>
                </a:endParaRPr>
              </a:p>
            </p:txBody>
          </p:sp>
          <p:sp>
            <p:nvSpPr>
              <p:cNvPr id="22542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eaLnBrk="1" hangingPunct="1"/>
                <a:endParaRPr lang="zh-TW" altLang="en-US" sz="2400">
                  <a:latin typeface="Times New Roman" pitchFamily="18" charset="0"/>
                  <a:ea typeface="新細明體" pitchFamily="18" charset="-120"/>
                </a:endParaRPr>
              </a:p>
            </p:txBody>
          </p:sp>
          <p:sp>
            <p:nvSpPr>
              <p:cNvPr id="22543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eaLnBrk="1" hangingPunct="1"/>
                <a:endParaRPr lang="zh-TW" altLang="en-US" sz="2400">
                  <a:latin typeface="Times New Roman" pitchFamily="18" charset="0"/>
                  <a:ea typeface="新細明體" pitchFamily="18" charset="-120"/>
                </a:endParaRPr>
              </a:p>
            </p:txBody>
          </p:sp>
        </p:grpSp>
      </p:grpSp>
      <p:sp>
        <p:nvSpPr>
          <p:cNvPr id="22544" name="Rectangle 16"/>
          <p:cNvSpPr>
            <a:spLocks noGrp="1" noChangeArrowheads="1"/>
          </p:cNvSpPr>
          <p:nvPr>
            <p:ph type="dt" sz="half" idx="2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22545" name="Rectangle 17"/>
          <p:cNvSpPr>
            <a:spLocks noGrp="1" noChangeArrowheads="1"/>
          </p:cNvSpPr>
          <p:nvPr>
            <p:ph type="ftr" sz="quarter" idx="3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22546" name="Rectangle 18"/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>
            <a:lvl1pPr>
              <a:defRPr/>
            </a:lvl1pPr>
          </a:lstStyle>
          <a:p>
            <a:fld id="{7AF3B3EA-F93D-4FF1-A2D0-030596D2B4CE}" type="slidenum">
              <a:rPr lang="zh-TW" altLang="en-US" smtClean="0"/>
              <a:pPr/>
              <a:t>‹#›</a:t>
            </a:fld>
            <a:endParaRPr lang="en-US" altLang="zh-TW"/>
          </a:p>
        </p:txBody>
      </p:sp>
      <p:sp>
        <p:nvSpPr>
          <p:cNvPr id="22547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altLang="zh-TW" noProof="0"/>
              <a:t>Click to edit Master title style</a:t>
            </a:r>
          </a:p>
        </p:txBody>
      </p:sp>
      <p:sp>
        <p:nvSpPr>
          <p:cNvPr id="22548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pPr lvl="0"/>
            <a:r>
              <a:rPr lang="en-US" altLang="zh-TW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604619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4095A552-C921-49CC-BBD4-B3AFD822C506}" type="slidenum">
              <a:rPr lang="zh-TW" altLang="en-US" smtClean="0"/>
              <a:pPr/>
              <a:t>‹#›</a:t>
            </a:fld>
            <a:endParaRPr lang="en-US" altLang="zh-TW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07136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C41FB4B0-5808-4C01-8D34-E712CBCD3DC0}" type="slidenum">
              <a:rPr lang="zh-TW" altLang="en-US" smtClean="0"/>
              <a:pPr/>
              <a:t>‹#›</a:t>
            </a:fld>
            <a:endParaRPr lang="en-US" altLang="zh-TW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2195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517D7FA-3861-4811-8284-1294D3AD4D9F}" type="slidenum">
              <a:rPr lang="zh-TW" altLang="en-US" smtClean="0"/>
              <a:pPr/>
              <a:t>‹#›</a:t>
            </a:fld>
            <a:endParaRPr lang="en-US" altLang="zh-TW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3149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E33C915-4B88-49DA-9E51-3B3E113E4C7C}" type="slidenum">
              <a:rPr lang="zh-TW" altLang="en-US" smtClean="0"/>
              <a:pPr/>
              <a:t>‹#›</a:t>
            </a:fld>
            <a:endParaRPr lang="en-US" altLang="zh-TW"/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89996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9D35C72-640C-4A58-9590-7D3D64AB1A41}" type="slidenum">
              <a:rPr lang="zh-TW" altLang="en-US" smtClean="0"/>
              <a:pPr/>
              <a:t>‹#›</a:t>
            </a:fld>
            <a:endParaRPr lang="en-US" altLang="zh-TW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88352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4781C7BD-A980-4C99-8719-F17BC7BACC40}" type="slidenum">
              <a:rPr lang="zh-TW" altLang="en-US" smtClean="0"/>
              <a:pPr/>
              <a:t>‹#›</a:t>
            </a:fld>
            <a:endParaRPr lang="en-US" altLang="zh-TW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39060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8513559-EA39-4D72-9918-69610F844C07}" type="slidenum">
              <a:rPr lang="zh-TW" altLang="en-US" smtClean="0"/>
              <a:pPr/>
              <a:t>‹#›</a:t>
            </a:fld>
            <a:endParaRPr lang="en-US" altLang="zh-TW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07052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5D7F3D66-E56E-4814-930B-CD1AA2F25122}" type="slidenum">
              <a:rPr lang="zh-TW" altLang="en-US" smtClean="0"/>
              <a:pPr/>
              <a:t>‹#›</a:t>
            </a:fld>
            <a:endParaRPr lang="en-US" altLang="zh-TW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52439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2200F55-4F83-4B52-A8F2-3B1BA6A0FFC2}" type="slidenum">
              <a:rPr lang="zh-TW" altLang="en-US" smtClean="0"/>
              <a:pPr/>
              <a:t>‹#›</a:t>
            </a:fld>
            <a:endParaRPr lang="en-US" altLang="zh-TW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861126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1F53387-F47E-4738-B37E-CBD80E4A8EA4}" type="slidenum">
              <a:rPr lang="zh-TW" altLang="en-US" smtClean="0"/>
              <a:pPr/>
              <a:t>‹#›</a:t>
            </a:fld>
            <a:endParaRPr lang="en-US" altLang="zh-TW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858792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457200" y="457200"/>
            <a:ext cx="8229600" cy="5410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6553200" y="6248400"/>
            <a:ext cx="2133600" cy="457200"/>
          </a:xfrm>
        </p:spPr>
        <p:txBody>
          <a:bodyPr/>
          <a:lstStyle>
            <a:lvl1pPr>
              <a:defRPr/>
            </a:lvl1pPr>
          </a:lstStyle>
          <a:p>
            <a:fld id="{4F176D05-4AD6-45A0-8E80-D28F076DD843}" type="slidenum">
              <a:rPr lang="zh-TW" altLang="en-US" smtClean="0"/>
              <a:pPr/>
              <a:t>‹#›</a:t>
            </a:fld>
            <a:endParaRPr lang="en-US" altLang="zh-TW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2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542749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6553200" y="6248400"/>
            <a:ext cx="2133600" cy="457200"/>
          </a:xfrm>
        </p:spPr>
        <p:txBody>
          <a:bodyPr/>
          <a:lstStyle>
            <a:lvl1pPr>
              <a:defRPr/>
            </a:lvl1pPr>
          </a:lstStyle>
          <a:p>
            <a:fld id="{77845C06-E94D-4F12-A50A-EFF2C46D3515}" type="slidenum">
              <a:rPr lang="zh-TW" altLang="en-US" smtClean="0"/>
              <a:pPr/>
              <a:t>‹#›</a:t>
            </a:fld>
            <a:endParaRPr lang="en-US" altLang="zh-TW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2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192132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4675" y="304800"/>
            <a:ext cx="8001000" cy="1216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566738" y="1752600"/>
            <a:ext cx="8001000" cy="42672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245225"/>
            <a:ext cx="19812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1981200" cy="476250"/>
          </a:xfrm>
        </p:spPr>
        <p:txBody>
          <a:bodyPr/>
          <a:lstStyle>
            <a:lvl1pPr>
              <a:defRPr/>
            </a:lvl1pPr>
          </a:lstStyle>
          <a:p>
            <a:fld id="{CFA094DA-1C83-4BF8-BFC6-5C579CFE5F47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86207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ea typeface="新細明體" pitchFamily="18" charset="-120"/>
              </a:defRPr>
            </a:lvl1pPr>
          </a:lstStyle>
          <a:p>
            <a:endParaRPr lang="en-US" altLang="zh-TW"/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 Black" pitchFamily="34" charset="0"/>
                <a:ea typeface="新細明體" pitchFamily="18" charset="-120"/>
              </a:defRPr>
            </a:lvl1pPr>
          </a:lstStyle>
          <a:p>
            <a:fld id="{4F176D05-4AD6-45A0-8E80-D28F076DD843}" type="slidenum">
              <a:rPr lang="zh-TW" altLang="en-US" smtClean="0"/>
              <a:pPr/>
              <a:t>‹#›</a:t>
            </a:fld>
            <a:endParaRPr lang="en-US" altLang="zh-TW"/>
          </a:p>
        </p:txBody>
      </p:sp>
      <p:grpSp>
        <p:nvGrpSpPr>
          <p:cNvPr id="21508" name="Group 4"/>
          <p:cNvGrpSpPr>
            <a:grpSpLocks/>
          </p:cNvGrpSpPr>
          <p:nvPr/>
        </p:nvGrpSpPr>
        <p:grpSpPr bwMode="auto">
          <a:xfrm>
            <a:off x="0" y="0"/>
            <a:ext cx="9144000" cy="914400"/>
            <a:chOff x="0" y="0"/>
            <a:chExt cx="5760" cy="344"/>
          </a:xfrm>
        </p:grpSpPr>
        <p:sp>
          <p:nvSpPr>
            <p:cNvPr id="21509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zh-TW" altLang="en-US" sz="2400">
                <a:latin typeface="Times New Roman" pitchFamily="18" charset="0"/>
                <a:ea typeface="新細明體" pitchFamily="18" charset="-120"/>
              </a:endParaRPr>
            </a:p>
          </p:txBody>
        </p:sp>
        <p:sp>
          <p:nvSpPr>
            <p:cNvPr id="21510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1" hangingPunct="1"/>
              <a:endParaRPr lang="zh-TW" altLang="en-US" sz="2400">
                <a:latin typeface="Times New Roman" pitchFamily="18" charset="0"/>
                <a:ea typeface="新細明體" pitchFamily="18" charset="-120"/>
              </a:endParaRPr>
            </a:p>
          </p:txBody>
        </p:sp>
        <p:sp>
          <p:nvSpPr>
            <p:cNvPr id="21511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1" hangingPunct="1"/>
              <a:endParaRPr lang="zh-TW" altLang="en-US">
                <a:solidFill>
                  <a:schemeClr val="hlink"/>
                </a:solidFill>
                <a:ea typeface="新細明體" pitchFamily="18" charset="-120"/>
              </a:endParaRPr>
            </a:p>
          </p:txBody>
        </p:sp>
        <p:sp>
          <p:nvSpPr>
            <p:cNvPr id="21512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1" hangingPunct="1"/>
              <a:endParaRPr lang="zh-TW" altLang="en-US">
                <a:solidFill>
                  <a:schemeClr val="hlink"/>
                </a:solidFill>
                <a:ea typeface="新細明體" pitchFamily="18" charset="-120"/>
              </a:endParaRPr>
            </a:p>
          </p:txBody>
        </p:sp>
        <p:sp>
          <p:nvSpPr>
            <p:cNvPr id="21513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1" hangingPunct="1"/>
              <a:endParaRPr lang="zh-TW" altLang="en-US">
                <a:solidFill>
                  <a:schemeClr val="accent2"/>
                </a:solidFill>
                <a:ea typeface="新細明體" pitchFamily="18" charset="-120"/>
              </a:endParaRPr>
            </a:p>
          </p:txBody>
        </p:sp>
        <p:sp>
          <p:nvSpPr>
            <p:cNvPr id="21514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1" hangingPunct="1"/>
              <a:endParaRPr lang="zh-TW" altLang="en-US">
                <a:solidFill>
                  <a:schemeClr val="hlink"/>
                </a:solidFill>
                <a:ea typeface="新細明體" pitchFamily="18" charset="-120"/>
              </a:endParaRPr>
            </a:p>
          </p:txBody>
        </p:sp>
        <p:sp>
          <p:nvSpPr>
            <p:cNvPr id="21515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1" hangingPunct="1"/>
              <a:endParaRPr lang="zh-TW" altLang="en-US" sz="2400">
                <a:latin typeface="Times New Roman" pitchFamily="18" charset="0"/>
                <a:ea typeface="新細明體" pitchFamily="18" charset="-120"/>
              </a:endParaRPr>
            </a:p>
          </p:txBody>
        </p:sp>
        <p:sp>
          <p:nvSpPr>
            <p:cNvPr id="21516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1" hangingPunct="1"/>
              <a:endParaRPr lang="zh-TW" altLang="en-US">
                <a:solidFill>
                  <a:schemeClr val="accent2"/>
                </a:solidFill>
                <a:ea typeface="新細明體" pitchFamily="18" charset="-120"/>
              </a:endParaRPr>
            </a:p>
          </p:txBody>
        </p:sp>
        <p:sp>
          <p:nvSpPr>
            <p:cNvPr id="21517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eaLnBrk="1" hangingPunct="1"/>
              <a:endParaRPr lang="zh-TW" altLang="en-US">
                <a:solidFill>
                  <a:schemeClr val="accent2"/>
                </a:solidFill>
                <a:ea typeface="新細明體" pitchFamily="18" charset="-120"/>
              </a:endParaRPr>
            </a:p>
          </p:txBody>
        </p:sp>
      </p:grpSp>
      <p:sp>
        <p:nvSpPr>
          <p:cNvPr id="21518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21519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21520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新細明體" pitchFamily="18" charset="-120"/>
              </a:defRPr>
            </a:lvl1pPr>
          </a:lstStyle>
          <a:p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41292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blackboard.cuhk.edu.hk/ultra/courses/_271953_1/outline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sz="4000" dirty="0">
                <a:solidFill>
                  <a:schemeClr val="bg1"/>
                </a:solidFill>
                <a:latin typeface="Georgia" panose="02040502050405020303" pitchFamily="18" charset="0"/>
              </a:rPr>
              <a:t>AMSC 5710</a:t>
            </a:r>
            <a:br>
              <a:rPr lang="en-US" altLang="zh-TW" sz="4000" dirty="0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zh-TW" sz="4000" dirty="0">
                <a:latin typeface="Georgia" panose="02040502050405020303" pitchFamily="18" charset="0"/>
              </a:rPr>
              <a:t>Advanced Materials Characterization</a:t>
            </a:r>
            <a:endParaRPr lang="en-US" altLang="zh-TW" sz="3000" dirty="0">
              <a:latin typeface="Georgia" panose="02040502050405020303" pitchFamily="18" charset="0"/>
            </a:endParaRP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>
                <a:latin typeface="Georgia" panose="02040502050405020303" pitchFamily="18" charset="0"/>
              </a:rPr>
              <a:t>Course introduction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Georgia" panose="02040502050405020303" pitchFamily="18" charset="0"/>
              </a:rPr>
              <a:t>Course Webpage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81000" y="1752600"/>
            <a:ext cx="8382000" cy="4419600"/>
          </a:xfrm>
        </p:spPr>
        <p:txBody>
          <a:bodyPr/>
          <a:lstStyle/>
          <a:p>
            <a:pPr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u="sng" dirty="0">
                <a:effectLst/>
                <a:latin typeface="Georgia" panose="02040502050405020303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Link to Blackboard Website:</a:t>
            </a:r>
          </a:p>
          <a:p>
            <a:pPr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400" dirty="0">
              <a:latin typeface="Georgia" panose="02040502050405020303" pitchFamily="18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latin typeface="Georgia" panose="02040502050405020303" pitchFamily="18" charset="0"/>
                <a:ea typeface="DengXian" panose="02010600030101010101" pitchFamily="2" charset="-122"/>
                <a:cs typeface="Times New Roman" panose="02020603050405020304" pitchFamily="18" charset="0"/>
                <a:hlinkClick r:id="rId2"/>
              </a:rPr>
              <a:t>https://blackboard.cuhk.edu.hk/ultra/courses/_271953_1/outline</a:t>
            </a:r>
            <a:endParaRPr lang="en-US" sz="2400" dirty="0">
              <a:latin typeface="Georgia" panose="02040502050405020303" pitchFamily="18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 indent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2400" dirty="0">
              <a:effectLst/>
              <a:latin typeface="Georgia" panose="02040502050405020303" pitchFamily="18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1163638" algn="l"/>
                <a:tab pos="2238375" algn="l"/>
              </a:tabLst>
            </a:pPr>
            <a:r>
              <a:rPr lang="en-US" altLang="zh-TW" sz="2400" u="sng" dirty="0">
                <a:latin typeface="Georgia" panose="02040502050405020303" pitchFamily="18" charset="0"/>
                <a:cs typeface="Times New Roman" pitchFamily="18" charset="0"/>
              </a:rPr>
              <a:t>Assignments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1163638" algn="l"/>
                <a:tab pos="2238375" algn="l"/>
              </a:tabLst>
            </a:pPr>
            <a:r>
              <a:rPr lang="en-US" altLang="zh-TW" sz="2400" dirty="0">
                <a:latin typeface="Georgia" panose="02040502050405020303" pitchFamily="18" charset="0"/>
                <a:cs typeface="Times New Roman" pitchFamily="18" charset="0"/>
              </a:rPr>
              <a:t>Assigned whenever appropriate (</a:t>
            </a:r>
            <a:r>
              <a:rPr lang="en-US" altLang="zh-CN" sz="2400" dirty="0">
                <a:latin typeface="Georgia" panose="02040502050405020303" pitchFamily="18" charset="0"/>
                <a:cs typeface="Times New Roman" pitchFamily="18" charset="0"/>
              </a:rPr>
              <a:t>4</a:t>
            </a:r>
            <a:r>
              <a:rPr lang="en-US" altLang="zh-TW" sz="2400" dirty="0">
                <a:latin typeface="Georgia" panose="02040502050405020303" pitchFamily="18" charset="0"/>
                <a:cs typeface="Times New Roman" pitchFamily="18" charset="0"/>
              </a:rPr>
              <a:t> assignments, 20% deduction for less than one-week-late homework)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1163638" algn="l"/>
                <a:tab pos="2238375" algn="l"/>
              </a:tabLst>
            </a:pPr>
            <a:r>
              <a:rPr lang="en-US" altLang="zh-TW" sz="2400" dirty="0">
                <a:latin typeface="Georgia" panose="02040502050405020303" pitchFamily="18" charset="0"/>
                <a:cs typeface="Times New Roman"/>
              </a:rPr>
              <a:t>Submit and Collect assignments through CU Blackboard</a:t>
            </a:r>
            <a:endParaRPr lang="en-US" altLang="zh-TW" sz="2400" dirty="0">
              <a:latin typeface="Georgia" panose="02040502050405020303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481106" y="373154"/>
            <a:ext cx="8229600" cy="1371600"/>
          </a:xfrm>
        </p:spPr>
        <p:txBody>
          <a:bodyPr/>
          <a:lstStyle/>
          <a:p>
            <a:r>
              <a:rPr lang="en-US" altLang="zh-TW" dirty="0">
                <a:latin typeface="Georgia" panose="02040502050405020303" pitchFamily="18" charset="0"/>
              </a:rPr>
              <a:t>Course Structure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37776" y="1524000"/>
            <a:ext cx="8458200" cy="4668837"/>
          </a:xfrm>
        </p:spPr>
        <p:txBody>
          <a:bodyPr/>
          <a:lstStyle/>
          <a:p>
            <a:r>
              <a:rPr lang="en-US" altLang="zh-TW" sz="2000" dirty="0">
                <a:latin typeface="Georgia" panose="02040502050405020303" pitchFamily="18" charset="0"/>
              </a:rPr>
              <a:t>Lecture:  Mon</a:t>
            </a:r>
            <a:r>
              <a:rPr lang="en-US" sz="2000" dirty="0">
                <a:latin typeface="Georgia" panose="02040502050405020303" pitchFamily="18" charset="0"/>
              </a:rPr>
              <a:t> (12:30P</a:t>
            </a:r>
            <a:r>
              <a:rPr lang="en-US" altLang="zh-CN" sz="2000" dirty="0">
                <a:latin typeface="Georgia" panose="02040502050405020303" pitchFamily="18" charset="0"/>
              </a:rPr>
              <a:t>M </a:t>
            </a:r>
            <a:r>
              <a:rPr lang="en-US" sz="2000" dirty="0">
                <a:latin typeface="Georgia" panose="02040502050405020303" pitchFamily="18" charset="0"/>
              </a:rPr>
              <a:t>- 15:15PM),	            </a:t>
            </a:r>
            <a:r>
              <a:rPr lang="en-HK" sz="2000" dirty="0">
                <a:latin typeface="Georgia" panose="02040502050405020303" pitchFamily="18" charset="0"/>
              </a:rPr>
              <a:t>Wen Lan Tang LG204</a:t>
            </a:r>
            <a:r>
              <a:rPr lang="en-US" altLang="zh-TW" sz="2000" dirty="0">
                <a:highlight>
                  <a:srgbClr val="FFFF00"/>
                </a:highlight>
                <a:latin typeface="Georgia" panose="02040502050405020303" pitchFamily="18" charset="0"/>
              </a:rPr>
              <a:t>	</a:t>
            </a:r>
            <a:endParaRPr lang="en-US" sz="2000" dirty="0">
              <a:highlight>
                <a:srgbClr val="FFFF00"/>
              </a:highlight>
              <a:latin typeface="Georgia" panose="02040502050405020303" pitchFamily="18" charset="0"/>
            </a:endParaRPr>
          </a:p>
          <a:p>
            <a:r>
              <a:rPr lang="en-US" altLang="zh-TW" sz="2000" dirty="0">
                <a:latin typeface="Georgia" panose="02040502050405020303" pitchFamily="18" charset="0"/>
              </a:rPr>
              <a:t>Presentation: (end of term)				Details TBA       </a:t>
            </a:r>
          </a:p>
          <a:p>
            <a:r>
              <a:rPr lang="en-US" altLang="zh-TW" sz="2000" dirty="0">
                <a:latin typeface="Georgia" panose="02040502050405020303" pitchFamily="18" charset="0"/>
              </a:rPr>
              <a:t>Course assessment:</a:t>
            </a:r>
          </a:p>
        </p:txBody>
      </p:sp>
      <p:graphicFrame>
        <p:nvGraphicFramePr>
          <p:cNvPr id="6" name="Group 2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7038693"/>
              </p:ext>
            </p:extLst>
          </p:nvPr>
        </p:nvGraphicFramePr>
        <p:xfrm>
          <a:off x="366806" y="3271620"/>
          <a:ext cx="8458199" cy="3059831"/>
        </p:xfrm>
        <a:graphic>
          <a:graphicData uri="http://schemas.openxmlformats.org/drawingml/2006/table">
            <a:tbl>
              <a:tblPr/>
              <a:tblGrid>
                <a:gridCol w="19191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9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32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3687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Task nature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Descriptions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Weight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187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Homework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Classwork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Presentation (incl. in-class interaction)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Quizzes (2)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Written assignments graded by TA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Cases or Short videos of characterization techniques and related questions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Choice of techniques not covered in the lectures. 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A: literature research 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B: Content, delivery and Q&amp;A participation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Testing on classroom learning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20%</a:t>
                      </a: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20%</a:t>
                      </a: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30%</a:t>
                      </a: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30% (10% +20%)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Group 21">
            <a:extLst>
              <a:ext uri="{FF2B5EF4-FFF2-40B4-BE49-F238E27FC236}">
                <a16:creationId xmlns:a16="http://schemas.microsoft.com/office/drawing/2014/main" id="{4442F3E1-E1CF-2AE3-F7A6-C089CBF7499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5370519"/>
              </p:ext>
            </p:extLst>
          </p:nvPr>
        </p:nvGraphicFramePr>
        <p:xfrm>
          <a:off x="342900" y="1371600"/>
          <a:ext cx="8458199" cy="3937655"/>
        </p:xfrm>
        <a:graphic>
          <a:graphicData uri="http://schemas.openxmlformats.org/drawingml/2006/table">
            <a:tbl>
              <a:tblPr/>
              <a:tblGrid>
                <a:gridCol w="19191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2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3687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Task nature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Rules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187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Homework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Classwork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Presentation (incl. in-class interaction)</a:t>
                      </a:r>
                      <a:endParaRPr kumimoji="0" lang="en-US" altLang="zh-TW" sz="16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  <a:cs typeface="+mn-cs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altLang="zh-TW" sz="16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  <a:cs typeface="+mn-cs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  <a:cs typeface="+mn-cs"/>
                        </a:rPr>
                        <a:t>Quizzes (2)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4 Assignments on Blackboard, due in one week after announcement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latin typeface="Georgia" panose="02040502050405020303" pitchFamily="18" charset="0"/>
                          <a:cs typeface="Times New Roman" pitchFamily="18" charset="0"/>
                        </a:rPr>
                        <a:t>20% deduction for less than one-week-late homework</a:t>
                      </a: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Written assignments graded by TAs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4 </a:t>
                      </a:r>
                      <a:r>
                        <a:rPr kumimoji="0" lang="en-US" altLang="zh-TW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Classworks</a:t>
                      </a: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 to be carried out during class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No makeup for absence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In person group presentation, all need to attend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Paper exam graded by teacher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No makeup for absence in principle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1451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9DF18-9ECD-4699-9B89-6B12487C7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1584" y="970688"/>
            <a:ext cx="5134528" cy="609600"/>
          </a:xfrm>
        </p:spPr>
        <p:txBody>
          <a:bodyPr/>
          <a:lstStyle/>
          <a:p>
            <a:r>
              <a:rPr lang="en-HK" sz="3600" dirty="0">
                <a:latin typeface="Georgia" panose="02040502050405020303" pitchFamily="18" charset="0"/>
              </a:rPr>
              <a:t>The materials paradigm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7C7CD5C-8FD5-21AF-615C-33C21D70002F}"/>
              </a:ext>
            </a:extLst>
          </p:cNvPr>
          <p:cNvGrpSpPr/>
          <p:nvPr/>
        </p:nvGrpSpPr>
        <p:grpSpPr>
          <a:xfrm>
            <a:off x="762000" y="2075359"/>
            <a:ext cx="7772400" cy="4325441"/>
            <a:chOff x="762000" y="1295400"/>
            <a:chExt cx="7772400" cy="4325441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140D873-0F30-496B-CE8E-89E98EA125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2000" y="1295400"/>
              <a:ext cx="6934200" cy="417195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27ED237-CD1B-C361-7338-3D5353DDA646}"/>
                </a:ext>
              </a:extLst>
            </p:cNvPr>
            <p:cNvSpPr txBox="1"/>
            <p:nvPr/>
          </p:nvSpPr>
          <p:spPr>
            <a:xfrm>
              <a:off x="4923872" y="1786234"/>
              <a:ext cx="26757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HK" sz="2400" dirty="0">
                  <a:solidFill>
                    <a:schemeClr val="bg2">
                      <a:lumMod val="60000"/>
                      <a:lumOff val="40000"/>
                    </a:schemeClr>
                  </a:solidFill>
                  <a:latin typeface="Georgia" panose="02040502050405020303" pitchFamily="18" charset="0"/>
                </a:rPr>
                <a:t>(Characterization)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CC7A092-A846-EBE9-846E-80A4EDCE61B4}"/>
                </a:ext>
              </a:extLst>
            </p:cNvPr>
            <p:cNvSpPr txBox="1"/>
            <p:nvPr/>
          </p:nvSpPr>
          <p:spPr>
            <a:xfrm>
              <a:off x="5867400" y="3733800"/>
              <a:ext cx="229742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HK" sz="2400" dirty="0">
                  <a:solidFill>
                    <a:schemeClr val="bg2">
                      <a:lumMod val="60000"/>
                      <a:lumOff val="40000"/>
                    </a:schemeClr>
                  </a:solidFill>
                  <a:latin typeface="Georgia" panose="02040502050405020303" pitchFamily="18" charset="0"/>
                </a:rPr>
                <a:t>(Measurement)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7E83866-7572-A902-E14C-10CE135F3F4D}"/>
                </a:ext>
              </a:extLst>
            </p:cNvPr>
            <p:cNvSpPr txBox="1"/>
            <p:nvPr/>
          </p:nvSpPr>
          <p:spPr>
            <a:xfrm>
              <a:off x="5562600" y="5159176"/>
              <a:ext cx="188705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HK" sz="2400" dirty="0">
                  <a:solidFill>
                    <a:schemeClr val="bg2">
                      <a:lumMod val="60000"/>
                      <a:lumOff val="40000"/>
                    </a:schemeClr>
                  </a:solidFill>
                  <a:latin typeface="Georgia" panose="02040502050405020303" pitchFamily="18" charset="0"/>
                </a:rPr>
                <a:t>(Evaluation)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25F9FC5-F64C-699F-9BDE-2EAF259AEA8D}"/>
                </a:ext>
              </a:extLst>
            </p:cNvPr>
            <p:cNvSpPr txBox="1"/>
            <p:nvPr/>
          </p:nvSpPr>
          <p:spPr>
            <a:xfrm>
              <a:off x="6076676" y="1462614"/>
              <a:ext cx="245772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HK" sz="2400" dirty="0">
                  <a:latin typeface="Georgia" panose="02040502050405020303" pitchFamily="18" charset="0"/>
                </a:rPr>
                <a:t>and composition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7099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045061" y="2720270"/>
            <a:ext cx="21162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Georgia" panose="02040502050405020303" pitchFamily="18" charset="0"/>
              </a:rPr>
              <a:t>Primary beam</a:t>
            </a:r>
          </a:p>
          <a:p>
            <a:pPr algn="ctr"/>
            <a:r>
              <a:rPr lang="en-US" sz="2400" dirty="0">
                <a:latin typeface="Georgia" panose="02040502050405020303" pitchFamily="18" charset="0"/>
              </a:rPr>
              <a:t>(source)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78770" y="2733135"/>
            <a:ext cx="24272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Georgia" panose="02040502050405020303" pitchFamily="18" charset="0"/>
              </a:rPr>
              <a:t>Secondary beam</a:t>
            </a:r>
          </a:p>
          <a:p>
            <a:pPr algn="ctr"/>
            <a:r>
              <a:rPr lang="en-US" sz="2400" dirty="0">
                <a:latin typeface="Georgia" panose="02040502050405020303" pitchFamily="18" charset="0"/>
              </a:rPr>
              <a:t>(result)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847" y="3977322"/>
            <a:ext cx="14750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eorgia" panose="02040502050405020303" pitchFamily="18" charset="0"/>
              </a:rPr>
              <a:t>Photons</a:t>
            </a:r>
          </a:p>
          <a:p>
            <a:r>
              <a:rPr lang="en-US" sz="2400" dirty="0">
                <a:solidFill>
                  <a:schemeClr val="tx2"/>
                </a:solidFill>
                <a:latin typeface="Georgia" panose="02040502050405020303" pitchFamily="18" charset="0"/>
              </a:rPr>
              <a:t>Electrons</a:t>
            </a:r>
          </a:p>
          <a:p>
            <a:r>
              <a:rPr lang="en-US" sz="2400" dirty="0">
                <a:latin typeface="Georgia" panose="02040502050405020303" pitchFamily="18" charset="0"/>
              </a:rPr>
              <a:t>Ion…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4862" y="3977321"/>
            <a:ext cx="14750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eorgia" panose="02040502050405020303" pitchFamily="18" charset="0"/>
              </a:rPr>
              <a:t>Photons</a:t>
            </a:r>
          </a:p>
          <a:p>
            <a:r>
              <a:rPr lang="en-US" sz="2400" dirty="0">
                <a:latin typeface="Georgia" panose="02040502050405020303" pitchFamily="18" charset="0"/>
              </a:rPr>
              <a:t>Electrons</a:t>
            </a:r>
          </a:p>
          <a:p>
            <a:r>
              <a:rPr lang="en-US" sz="2400" dirty="0">
                <a:latin typeface="Georgia" panose="02040502050405020303" pitchFamily="18" charset="0"/>
              </a:rPr>
              <a:t>…</a:t>
            </a:r>
          </a:p>
        </p:txBody>
      </p:sp>
      <p:sp>
        <p:nvSpPr>
          <p:cNvPr id="10" name="Right Arrow 9"/>
          <p:cNvSpPr/>
          <p:nvPr/>
        </p:nvSpPr>
        <p:spPr bwMode="auto">
          <a:xfrm>
            <a:off x="2731260" y="4374455"/>
            <a:ext cx="381000" cy="152572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11" name="Right Arrow 10"/>
          <p:cNvSpPr/>
          <p:nvPr/>
        </p:nvSpPr>
        <p:spPr bwMode="auto">
          <a:xfrm>
            <a:off x="5117358" y="4374283"/>
            <a:ext cx="381000" cy="152572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eorgia" panose="02040502050405020303" pitchFamily="18" charset="0"/>
            </a:endParaRPr>
          </a:p>
        </p:txBody>
      </p:sp>
      <p:pic>
        <p:nvPicPr>
          <p:cNvPr id="2" name="Picture 1" descr="A white rabbit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2FA913B1-5998-60BF-FF17-5F7B395C2D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7918" y="2914111"/>
            <a:ext cx="2311088" cy="2311088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8B19AFE-EC37-3151-38A6-E5FAA2688F74}"/>
              </a:ext>
            </a:extLst>
          </p:cNvPr>
          <p:cNvSpPr txBox="1">
            <a:spLocks/>
          </p:cNvSpPr>
          <p:nvPr/>
        </p:nvSpPr>
        <p:spPr>
          <a:xfrm>
            <a:off x="762000" y="874848"/>
            <a:ext cx="8229600" cy="2120276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HK" sz="3600" kern="0" dirty="0">
                <a:latin typeface="Georgia" panose="02040502050405020303" pitchFamily="18" charset="0"/>
              </a:rPr>
              <a:t>Focus of the course: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HK" sz="2800" kern="0" dirty="0">
                <a:latin typeface="Georgia" panose="02040502050405020303" pitchFamily="18" charset="0"/>
              </a:rPr>
              <a:t>Scattering by particles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HK" sz="2800" kern="0" dirty="0">
                <a:latin typeface="Georgia" panose="02040502050405020303" pitchFamily="18" charset="0"/>
              </a:rPr>
              <a:t>Composition and structure</a:t>
            </a:r>
          </a:p>
        </p:txBody>
      </p:sp>
    </p:spTree>
    <p:extLst>
      <p:ext uri="{BB962C8B-B14F-4D97-AF65-F5344CB8AC3E}">
        <p14:creationId xmlns:p14="http://schemas.microsoft.com/office/powerpoint/2010/main" val="233400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001000" cy="1216025"/>
          </a:xfrm>
        </p:spPr>
        <p:txBody>
          <a:bodyPr/>
          <a:lstStyle/>
          <a:p>
            <a:r>
              <a:rPr lang="en-US" altLang="zh-TW" dirty="0">
                <a:latin typeface="Georgia" panose="02040502050405020303" pitchFamily="18" charset="0"/>
              </a:rPr>
              <a:t>Course Content </a:t>
            </a:r>
          </a:p>
        </p:txBody>
      </p:sp>
      <p:graphicFrame>
        <p:nvGraphicFramePr>
          <p:cNvPr id="26677" name="Group 5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4031433510"/>
              </p:ext>
            </p:extLst>
          </p:nvPr>
        </p:nvGraphicFramePr>
        <p:xfrm>
          <a:off x="381000" y="1692679"/>
          <a:ext cx="8382000" cy="4672032"/>
        </p:xfrm>
        <a:graphic>
          <a:graphicData uri="http://schemas.openxmlformats.org/drawingml/2006/table">
            <a:tbl>
              <a:tblPr/>
              <a:tblGrid>
                <a:gridCol w="42302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17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2529">
                <a:tc>
                  <a:txBody>
                    <a:bodyPr/>
                    <a:lstStyle/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By sources: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5000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By Outputs: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9503">
                <a:tc>
                  <a:txBody>
                    <a:bodyPr/>
                    <a:lstStyle/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endParaRPr kumimoji="1" lang="en-US" altLang="zh-TW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Photon/electromagnetic sources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  <a:defRPr/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	X-ray photoelectron spectroscopy (video)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	Ultraviolet photoelectron spectroscopy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	Infrared spectroscopy (video)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  <a:defRPr/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     UV-vis spectroscopy (video)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Electron sources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	Scanning electron microscopy (video)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	Transmission electron microscopy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	Electron energy loss spectroscopy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	Auger electron spectroscopy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	Low energy electron diffraction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zh-TW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Photon/electromagnetic outputs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    Infrared spectroscopy (video)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    UV-vis spectroscopy (video)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Electron outputs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    X-ray photoelectron spectroscopy (video)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    Ultraviolet photoelectron spectroscopy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    Auger electron spectroscopy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    Low energy electron diffraction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    Scanning electron microscopy (video)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    Transmission electron microscopy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    Electron energy loss spectroscopy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571500" y="457200"/>
            <a:ext cx="8001000" cy="1216025"/>
          </a:xfrm>
        </p:spPr>
        <p:txBody>
          <a:bodyPr/>
          <a:lstStyle/>
          <a:p>
            <a:r>
              <a:rPr lang="en-US" altLang="zh-TW" dirty="0">
                <a:latin typeface="Georgia" panose="02040502050405020303" pitchFamily="18" charset="0"/>
              </a:rPr>
              <a:t>Course Content (Cont’d)</a:t>
            </a:r>
          </a:p>
        </p:txBody>
      </p:sp>
      <p:graphicFrame>
        <p:nvGraphicFramePr>
          <p:cNvPr id="26677" name="Group 5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3722995740"/>
              </p:ext>
            </p:extLst>
          </p:nvPr>
        </p:nvGraphicFramePr>
        <p:xfrm>
          <a:off x="761206" y="1860176"/>
          <a:ext cx="3846513" cy="3596640"/>
        </p:xfrm>
        <a:graphic>
          <a:graphicData uri="http://schemas.openxmlformats.org/drawingml/2006/table">
            <a:tbl>
              <a:tblPr/>
              <a:tblGrid>
                <a:gridCol w="3846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8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5000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Surface vs. bulk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9588">
                <a:tc>
                  <a:txBody>
                    <a:bodyPr/>
                    <a:lstStyle/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Surface characterizations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	X-ray photoelectron spectroscopy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	Photoemission spectroscopy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	Auger electron spectroscopy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	Low energy electron diffraction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endParaRPr kumimoji="1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Bulk characterization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	Electron microscopy (video)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r>
                        <a:rPr kumimoji="1" lang="en-US" altLang="zh-TW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eorgia" panose="02040502050405020303" pitchFamily="18" charset="0"/>
                          <a:ea typeface="新細明體" pitchFamily="18" charset="-120"/>
                        </a:rPr>
                        <a:t>•	Electron diffraction</a:t>
                      </a: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endParaRPr kumimoji="1" lang="en-US" altLang="zh-TW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  <a:p>
                      <a:pPr marL="341313" marR="0" lvl="0" indent="-341313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Tx/>
                        <a:buFont typeface="Wingdings" pitchFamily="2" charset="2"/>
                        <a:buNone/>
                        <a:tabLst>
                          <a:tab pos="341313" algn="l"/>
                        </a:tabLst>
                      </a:pPr>
                      <a:endParaRPr kumimoji="1" lang="en-US" altLang="zh-TW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eorgia" panose="02040502050405020303" pitchFamily="18" charset="0"/>
                        <a:ea typeface="新細明體" pitchFamily="18" charset="-12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5847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Georgia" panose="02040502050405020303" pitchFamily="18" charset="0"/>
              </a:rPr>
              <a:t>Learning Outcomes</a:t>
            </a:r>
          </a:p>
        </p:txBody>
      </p:sp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533400" y="1752600"/>
            <a:ext cx="8001000" cy="4768442"/>
          </a:xfrm>
        </p:spPr>
        <p:txBody>
          <a:bodyPr/>
          <a:lstStyle/>
          <a:p>
            <a:pPr algn="just">
              <a:lnSpc>
                <a:spcPct val="80000"/>
              </a:lnSpc>
              <a:buFont typeface="Wingdings" pitchFamily="2" charset="2"/>
              <a:buNone/>
              <a:tabLst>
                <a:tab pos="360363" algn="l"/>
              </a:tabLst>
            </a:pPr>
            <a:r>
              <a:rPr lang="en-US" altLang="zh-TW" sz="1800" dirty="0">
                <a:latin typeface="Georgia" panose="02040502050405020303" pitchFamily="18" charset="0"/>
              </a:rPr>
              <a:t>After the course, the students are expected to be able to</a:t>
            </a:r>
          </a:p>
          <a:p>
            <a:pPr algn="just">
              <a:lnSpc>
                <a:spcPct val="80000"/>
              </a:lnSpc>
              <a:buFont typeface="Wingdings" pitchFamily="2" charset="2"/>
              <a:buNone/>
              <a:tabLst>
                <a:tab pos="360363" algn="l"/>
              </a:tabLst>
            </a:pPr>
            <a:endParaRPr lang="en-US" altLang="zh-TW" sz="1800" dirty="0">
              <a:latin typeface="Georgia" panose="02040502050405020303" pitchFamily="18" charset="0"/>
            </a:endParaRPr>
          </a:p>
          <a:p>
            <a:pPr algn="just">
              <a:spcBef>
                <a:spcPct val="50000"/>
              </a:spcBef>
              <a:tabLst>
                <a:tab pos="360363" algn="l"/>
              </a:tabLst>
            </a:pPr>
            <a:r>
              <a:rPr lang="en-US" altLang="zh-TW" sz="1800" dirty="0">
                <a:latin typeface="Georgia" panose="02040502050405020303" pitchFamily="18" charset="0"/>
              </a:rPr>
              <a:t>Master the basic knowledge (both principle and operation) of commonly used materials characterization and analytical techniques</a:t>
            </a:r>
          </a:p>
          <a:p>
            <a:pPr algn="just">
              <a:spcBef>
                <a:spcPct val="50000"/>
              </a:spcBef>
              <a:tabLst>
                <a:tab pos="360363" algn="l"/>
              </a:tabLst>
            </a:pPr>
            <a:r>
              <a:rPr lang="en-US" altLang="zh-TW" sz="1800" dirty="0">
                <a:latin typeface="Georgia" panose="02040502050405020303" pitchFamily="18" charset="0"/>
              </a:rPr>
              <a:t>Interpret experimental results obtained by the materials characterization techniques covered in the course</a:t>
            </a:r>
          </a:p>
          <a:p>
            <a:pPr algn="just">
              <a:spcBef>
                <a:spcPct val="50000"/>
              </a:spcBef>
              <a:tabLst>
                <a:tab pos="360363" algn="l"/>
              </a:tabLst>
            </a:pPr>
            <a:r>
              <a:rPr lang="en-US" altLang="zh-TW" sz="1800" dirty="0">
                <a:latin typeface="Georgia" panose="02040502050405020303" pitchFamily="18" charset="0"/>
              </a:rPr>
              <a:t>Apply the concepts and methodology in materials characterization in realistic problems and cases</a:t>
            </a:r>
          </a:p>
          <a:p>
            <a:pPr algn="just">
              <a:spcBef>
                <a:spcPct val="50000"/>
              </a:spcBef>
              <a:tabLst>
                <a:tab pos="360363" algn="l"/>
              </a:tabLst>
            </a:pPr>
            <a:r>
              <a:rPr lang="en-US" altLang="zh-TW" sz="1800" dirty="0">
                <a:latin typeface="Georgia" panose="02040502050405020303" pitchFamily="18" charset="0"/>
              </a:rPr>
              <a:t>Analyze, judge and solve realistic problems and cases in relation to materials characterization</a:t>
            </a:r>
          </a:p>
          <a:p>
            <a:pPr algn="just">
              <a:spcBef>
                <a:spcPct val="50000"/>
              </a:spcBef>
              <a:tabLst>
                <a:tab pos="360363" algn="l"/>
              </a:tabLst>
            </a:pPr>
            <a:r>
              <a:rPr lang="en-US" altLang="zh-TW" sz="1800" dirty="0">
                <a:latin typeface="Georgia" panose="02040502050405020303" pitchFamily="18" charset="0"/>
              </a:rPr>
              <a:t>Develop an analytical mind towards materials characterization</a:t>
            </a:r>
          </a:p>
          <a:p>
            <a:pPr algn="just">
              <a:spcBef>
                <a:spcPct val="50000"/>
              </a:spcBef>
              <a:tabLst>
                <a:tab pos="360363" algn="l"/>
              </a:tabLst>
            </a:pPr>
            <a:r>
              <a:rPr lang="en-US" altLang="zh-TW" sz="1800" dirty="0">
                <a:latin typeface="Georgia" panose="02040502050405020303" pitchFamily="18" charset="0"/>
              </a:rPr>
              <a:t>Develop and establish methodology and experimental techniques for analyses of different properties of materials</a:t>
            </a:r>
            <a:endParaRPr lang="zh-TW" altLang="en-US" sz="1800" dirty="0"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6" name="Rectangle 4"/>
          <p:cNvSpPr>
            <a:spLocks noChangeArrowheads="1"/>
          </p:cNvSpPr>
          <p:nvPr/>
        </p:nvSpPr>
        <p:spPr bwMode="auto">
          <a:xfrm>
            <a:off x="457200" y="1826043"/>
            <a:ext cx="8156575" cy="42473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 lvl="0" eaLnBrk="0" hangingPunct="0">
              <a:buFontTx/>
              <a:buChar char="•"/>
              <a:tabLst>
                <a:tab pos="228600" algn="l"/>
              </a:tabLst>
            </a:pPr>
            <a:r>
              <a:rPr kumimoji="0" lang="en-GB" altLang="zh-TW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P. E. F. </a:t>
            </a:r>
            <a:r>
              <a:rPr kumimoji="0" lang="en-GB" altLang="zh-TW" dirty="0" err="1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Flewitt</a:t>
            </a:r>
            <a:r>
              <a:rPr kumimoji="0" lang="en-GB" altLang="zh-TW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 and R. K. Wild, “Physical Methods for Materials Characterization”, Institute of Physics (IOP) Publishing Ltd., 2</a:t>
            </a:r>
            <a:r>
              <a:rPr kumimoji="0" lang="en-GB" altLang="zh-TW" baseline="30000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nd</a:t>
            </a:r>
            <a:r>
              <a:rPr kumimoji="0" lang="en-GB" altLang="zh-TW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 ed. 2003 (TA410.F64 2003)</a:t>
            </a:r>
            <a:endParaRPr kumimoji="0" lang="en-US" altLang="zh-TW" dirty="0">
              <a:latin typeface="Georgia" panose="02040502050405020303" pitchFamily="18" charset="0"/>
            </a:endParaRPr>
          </a:p>
          <a:p>
            <a:pPr lvl="0" eaLnBrk="0" hangingPunct="0">
              <a:buFontTx/>
              <a:buChar char="•"/>
              <a:tabLst>
                <a:tab pos="228600" algn="l"/>
              </a:tabLst>
            </a:pPr>
            <a:r>
              <a:rPr kumimoji="0" lang="en-GB" altLang="zh-TW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C. R. </a:t>
            </a:r>
            <a:r>
              <a:rPr kumimoji="0" lang="en-GB" altLang="zh-TW" dirty="0" err="1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Brundle</a:t>
            </a:r>
            <a:r>
              <a:rPr kumimoji="0" lang="en-GB" altLang="zh-TW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, C. A. Evans Jr., and S. Wilson, “Encyclopaedia of Materials Characterization”, Butterworth-Heinemann &amp; Manning Publications Co., 1992, (TA418.7.E73)</a:t>
            </a:r>
            <a:endParaRPr kumimoji="0" lang="en-US" altLang="zh-TW" dirty="0">
              <a:latin typeface="Georgia" panose="02040502050405020303" pitchFamily="18" charset="0"/>
            </a:endParaRPr>
          </a:p>
          <a:p>
            <a:pPr lvl="0" eaLnBrk="0" hangingPunct="0">
              <a:buFontTx/>
              <a:buChar char="•"/>
              <a:tabLst>
                <a:tab pos="228600" algn="l"/>
              </a:tabLst>
            </a:pPr>
            <a:r>
              <a:rPr kumimoji="0" lang="en-US" altLang="zh-TW" dirty="0">
                <a:latin typeface="Georgia" panose="02040502050405020303" pitchFamily="18" charset="0"/>
                <a:ea typeface="宋体" pitchFamily="2" charset="-122"/>
                <a:cs typeface="Times New Roman" pitchFamily="18" charset="0"/>
              </a:rPr>
              <a:t>J. C. </a:t>
            </a:r>
            <a:r>
              <a:rPr kumimoji="0" lang="en-US" altLang="zh-TW" dirty="0" err="1">
                <a:latin typeface="Georgia" panose="02040502050405020303" pitchFamily="18" charset="0"/>
                <a:ea typeface="宋体" pitchFamily="2" charset="-122"/>
                <a:cs typeface="Times New Roman" pitchFamily="18" charset="0"/>
              </a:rPr>
              <a:t>Riviere</a:t>
            </a:r>
            <a:r>
              <a:rPr kumimoji="0" lang="en-US" altLang="zh-TW" dirty="0">
                <a:latin typeface="Georgia" panose="02040502050405020303" pitchFamily="18" charset="0"/>
                <a:ea typeface="宋体" pitchFamily="2" charset="-122"/>
                <a:cs typeface="Times New Roman" pitchFamily="18" charset="0"/>
              </a:rPr>
              <a:t>, “Surface Analytical Techniques”, Clarendon Press, Oxford, 1990 (QD506.R58)</a:t>
            </a:r>
            <a:endParaRPr kumimoji="0" lang="en-US" altLang="zh-TW" dirty="0">
              <a:latin typeface="Georgia" panose="02040502050405020303" pitchFamily="18" charset="0"/>
            </a:endParaRPr>
          </a:p>
          <a:p>
            <a:pPr lvl="0" eaLnBrk="0" hangingPunct="0">
              <a:buFontTx/>
              <a:buChar char="•"/>
              <a:tabLst>
                <a:tab pos="228600" algn="l"/>
              </a:tabLst>
            </a:pPr>
            <a:r>
              <a:rPr kumimoji="0" lang="en-US" altLang="zh-TW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D. A. </a:t>
            </a:r>
            <a:r>
              <a:rPr kumimoji="0" lang="en-US" altLang="zh-TW" dirty="0" err="1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Skoog</a:t>
            </a:r>
            <a:r>
              <a:rPr kumimoji="0" lang="en-US" altLang="zh-TW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,, F. J.  Holler, and T. A. </a:t>
            </a:r>
            <a:r>
              <a:rPr kumimoji="0" lang="en-US" altLang="zh-TW" dirty="0" err="1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Nieman</a:t>
            </a:r>
            <a:r>
              <a:rPr kumimoji="0" lang="en-GB" altLang="zh-TW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, “Principles of Instrumental Analysis”, 5th </a:t>
            </a:r>
            <a:r>
              <a:rPr kumimoji="0" lang="en-GB" altLang="zh-TW" dirty="0" err="1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ed.,Saunders</a:t>
            </a:r>
            <a:r>
              <a:rPr kumimoji="0" lang="en-GB" altLang="zh-TW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 College Publishing, 5</a:t>
            </a:r>
            <a:r>
              <a:rPr kumimoji="0" lang="en-GB" altLang="zh-TW" baseline="30000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th</a:t>
            </a:r>
            <a:r>
              <a:rPr kumimoji="0" lang="en-GB" altLang="zh-TW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 ed. 1998 (QD506.R58)</a:t>
            </a:r>
            <a:endParaRPr kumimoji="0" lang="en-US" altLang="zh-TW" dirty="0">
              <a:latin typeface="Georgia" panose="02040502050405020303" pitchFamily="18" charset="0"/>
            </a:endParaRPr>
          </a:p>
          <a:p>
            <a:pPr lvl="0" eaLnBrk="0" hangingPunct="0">
              <a:buFontTx/>
              <a:buChar char="•"/>
              <a:tabLst>
                <a:tab pos="228600" algn="l"/>
              </a:tabLst>
            </a:pPr>
            <a:r>
              <a:rPr kumimoji="0" lang="en-GB" altLang="zh-TW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P. B. Hirsch, H. </a:t>
            </a:r>
            <a:r>
              <a:rPr kumimoji="0" lang="en-GB" altLang="zh-TW" dirty="0" err="1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Howie</a:t>
            </a:r>
            <a:r>
              <a:rPr kumimoji="0" lang="en-GB" altLang="zh-TW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, R. B. Nicholson, D. W. </a:t>
            </a:r>
            <a:r>
              <a:rPr kumimoji="0" lang="en-GB" altLang="zh-TW" dirty="0" err="1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Pashley</a:t>
            </a:r>
            <a:r>
              <a:rPr kumimoji="0" lang="en-GB" altLang="zh-TW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, and M. J. Whelan, “Electron Microscopy of Thin Crystals”, </a:t>
            </a:r>
            <a:r>
              <a:rPr kumimoji="0" lang="en-GB" altLang="zh-TW" dirty="0" err="1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Butterworths</a:t>
            </a:r>
            <a:r>
              <a:rPr kumimoji="0" lang="en-GB" altLang="zh-TW" dirty="0">
                <a:latin typeface="Georgia" panose="02040502050405020303" pitchFamily="18" charset="0"/>
                <a:ea typeface="全真楷書" charset="-120"/>
                <a:cs typeface="Times New Roman" pitchFamily="18" charset="0"/>
              </a:rPr>
              <a:t>, 1965, (QD921 H55 1977)</a:t>
            </a:r>
            <a:endParaRPr kumimoji="0" lang="en-US" altLang="zh-TW" dirty="0">
              <a:latin typeface="Georgia" panose="02040502050405020303" pitchFamily="18" charset="0"/>
            </a:endParaRPr>
          </a:p>
          <a:p>
            <a:pPr lvl="0" eaLnBrk="0" hangingPunct="0">
              <a:buFontTx/>
              <a:buChar char="•"/>
              <a:tabLst>
                <a:tab pos="228600" algn="l"/>
              </a:tabLst>
            </a:pPr>
            <a:r>
              <a:rPr kumimoji="0" lang="en-AU" altLang="zh-TW" dirty="0">
                <a:latin typeface="Georgia" panose="02040502050405020303" pitchFamily="18" charset="0"/>
                <a:ea typeface="宋体" pitchFamily="2" charset="-122"/>
                <a:cs typeface="Times New Roman" pitchFamily="18" charset="0"/>
              </a:rPr>
              <a:t>W. </a:t>
            </a:r>
            <a:r>
              <a:rPr kumimoji="0" lang="en-AU" altLang="zh-TW" dirty="0" err="1">
                <a:latin typeface="Georgia" panose="02040502050405020303" pitchFamily="18" charset="0"/>
                <a:ea typeface="宋体" pitchFamily="2" charset="-122"/>
                <a:cs typeface="Times New Roman" pitchFamily="18" charset="0"/>
              </a:rPr>
              <a:t>Czanderna</a:t>
            </a:r>
            <a:r>
              <a:rPr kumimoji="0" lang="en-AU" altLang="zh-TW" dirty="0">
                <a:latin typeface="Georgia" panose="02040502050405020303" pitchFamily="18" charset="0"/>
                <a:ea typeface="宋体" pitchFamily="2" charset="-122"/>
                <a:cs typeface="Times New Roman" pitchFamily="18" charset="0"/>
              </a:rPr>
              <a:t>, T. E. </a:t>
            </a:r>
            <a:r>
              <a:rPr kumimoji="0" lang="en-AU" altLang="zh-TW" dirty="0" err="1">
                <a:latin typeface="Georgia" panose="02040502050405020303" pitchFamily="18" charset="0"/>
                <a:ea typeface="宋体" pitchFamily="2" charset="-122"/>
                <a:cs typeface="Times New Roman" pitchFamily="18" charset="0"/>
              </a:rPr>
              <a:t>Madey</a:t>
            </a:r>
            <a:r>
              <a:rPr kumimoji="0" lang="en-AU" altLang="zh-TW" dirty="0">
                <a:latin typeface="Georgia" panose="02040502050405020303" pitchFamily="18" charset="0"/>
                <a:ea typeface="宋体" pitchFamily="2" charset="-122"/>
                <a:cs typeface="Times New Roman" pitchFamily="18" charset="0"/>
              </a:rPr>
              <a:t>, and C. J. Powell, “Beam effects, surface topography and depth profiling in surface analysis, Kluwer Academic, New York, 2002.(TA418.7.B43 2002eb)</a:t>
            </a:r>
            <a:endParaRPr kumimoji="0" lang="en-AU" altLang="zh-TW" dirty="0">
              <a:latin typeface="Georgia" panose="02040502050405020303" pitchFamily="18" charset="0"/>
            </a:endParaRPr>
          </a:p>
        </p:txBody>
      </p:sp>
      <p:sp>
        <p:nvSpPr>
          <p:cNvPr id="33797" name="Rectangle 5"/>
          <p:cNvSpPr>
            <a:spLocks noChangeArrowheads="1"/>
          </p:cNvSpPr>
          <p:nvPr/>
        </p:nvSpPr>
        <p:spPr bwMode="auto">
          <a:xfrm>
            <a:off x="461682" y="230642"/>
            <a:ext cx="82296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r>
              <a:rPr lang="en-US" altLang="zh-TW" sz="3800" dirty="0">
                <a:solidFill>
                  <a:schemeClr val="tx2"/>
                </a:solidFill>
                <a:latin typeface="Georgia" panose="02040502050405020303" pitchFamily="18" charset="0"/>
              </a:rPr>
              <a:t>References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206174"/>
            <a:ext cx="1371600" cy="14024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439ED9-0DCA-2851-51EC-E2A41A2EEA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8532851"/>
              </p:ext>
            </p:extLst>
          </p:nvPr>
        </p:nvGraphicFramePr>
        <p:xfrm>
          <a:off x="152400" y="685800"/>
          <a:ext cx="8839200" cy="5654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1465794258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218737004"/>
                    </a:ext>
                  </a:extLst>
                </a:gridCol>
              </a:tblGrid>
              <a:tr h="557844">
                <a:tc>
                  <a:txBody>
                    <a:bodyPr/>
                    <a:lstStyle/>
                    <a:p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Week 1        (Sept 7</a:t>
                      </a:r>
                      <a:r>
                        <a:rPr lang="en-HK" sz="1600" b="0" baseline="30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th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Introduction/Sample prep (microstructure);  Sample prep (surface prep + basic vacuum principle)</a:t>
                      </a:r>
                      <a:endParaRPr lang="en-HK" sz="16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Georgia" panose="02040502050405020303" pitchFamily="18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35623"/>
                  </a:ext>
                </a:extLst>
              </a:tr>
              <a:tr h="557844">
                <a:tc>
                  <a:txBody>
                    <a:bodyPr/>
                    <a:lstStyle/>
                    <a:p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Week 2        (Sept 14</a:t>
                      </a:r>
                      <a:r>
                        <a:rPr lang="en-HK" sz="1600" b="0" baseline="30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th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Vacuum instrumentation/</a:t>
                      </a: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FFFFCC"/>
                          </a:highlight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Classwork: vacuum system</a:t>
                      </a: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; XPS (photoelectric effect/instrumentation)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299726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Week 3        (Sept 21</a:t>
                      </a:r>
                      <a:r>
                        <a:rPr lang="en-HK" sz="1600" b="0" baseline="30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th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XPS data interpretation (core excitation); depth/imaging/UPS</a:t>
                      </a:r>
                      <a:r>
                        <a:rPr lang="en-US" altLang="zh-CN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/</a:t>
                      </a:r>
                      <a:r>
                        <a:rPr lang="en-HK" altLang="zh-CN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AES/</a:t>
                      </a: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FFFFCC"/>
                          </a:highlight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Classwork: IR/UV-Vis</a:t>
                      </a:r>
                      <a:endParaRPr lang="en-HK" sz="16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Georgia" panose="02040502050405020303" pitchFamily="18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336088"/>
                  </a:ext>
                </a:extLst>
              </a:tr>
              <a:tr h="343139">
                <a:tc>
                  <a:txBody>
                    <a:bodyPr/>
                    <a:lstStyle/>
                    <a:p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Week 4        (Sept 28</a:t>
                      </a:r>
                      <a:r>
                        <a:rPr lang="en-HK" sz="1600" b="0" baseline="30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th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00FFFF"/>
                          </a:highlight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Tutorial XPS analysis</a:t>
                      </a: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FFFFCC"/>
                          </a:highlight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/Class work: XPS/UPS</a:t>
                      </a: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00FF00"/>
                          </a:highlight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/Quiz 1 (Vacuum, XPS, UPS, AES)</a:t>
                      </a:r>
                      <a:endParaRPr lang="en-HK" sz="16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Georgia" panose="02040502050405020303" pitchFamily="18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1178743"/>
                  </a:ext>
                </a:extLst>
              </a:tr>
              <a:tr h="343139">
                <a:tc>
                  <a:txBody>
                    <a:bodyPr/>
                    <a:lstStyle/>
                    <a:p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Week 5         (Oct 5</a:t>
                      </a:r>
                      <a:r>
                        <a:rPr lang="en-HK" sz="1600" b="0" baseline="30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th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EM intro; SEM/TEM intro/</a:t>
                      </a:r>
                      <a:endParaRPr lang="en-HK" sz="16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highlight>
                          <a:srgbClr val="00FF00"/>
                        </a:highlight>
                        <a:latin typeface="Georgia" panose="02040502050405020303" pitchFamily="18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6538220"/>
                  </a:ext>
                </a:extLst>
              </a:tr>
              <a:tr h="343139">
                <a:tc>
                  <a:txBody>
                    <a:bodyPr/>
                    <a:lstStyle/>
                    <a:p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Week 6         (Oct 12</a:t>
                      </a:r>
                      <a:r>
                        <a:rPr lang="en-HK" sz="1600" b="0" baseline="30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th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Symmetry/Real space and reciprocal lattice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FFFFCC"/>
                          </a:highlight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Classwork: SEM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892716"/>
                  </a:ext>
                </a:extLst>
              </a:tr>
              <a:tr h="3431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Week 7         (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FFCCFF"/>
                          </a:highlight>
                          <a:latin typeface="Georgia" panose="02040502050405020303" pitchFamily="18" charset="0"/>
                        </a:rPr>
                        <a:t>Oct 19</a:t>
                      </a:r>
                      <a:r>
                        <a:rPr lang="en-HK" sz="1600" b="0" baseline="3000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FFCCFF"/>
                          </a:highlight>
                          <a:latin typeface="Georgia" panose="02040502050405020303" pitchFamily="18" charset="0"/>
                        </a:rPr>
                        <a:t>th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FFCCFF"/>
                          </a:highlight>
                          <a:latin typeface="Georgia" panose="02040502050405020303" pitchFamily="18" charset="0"/>
                        </a:rPr>
                        <a:t> 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)</a:t>
                      </a:r>
                      <a:endParaRPr lang="en-HK" sz="1600" b="0" dirty="0">
                        <a:solidFill>
                          <a:schemeClr val="bg1">
                            <a:lumMod val="50000"/>
                          </a:schemeClr>
                        </a:solidFill>
                        <a:highlight>
                          <a:srgbClr val="FFCCFF"/>
                        </a:highlight>
                        <a:latin typeface="Georgia" panose="02040502050405020303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FFCCFF"/>
                          </a:highlight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Holiday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559661"/>
                  </a:ext>
                </a:extLst>
              </a:tr>
              <a:tr h="3431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Week 8         (Oct 26</a:t>
                      </a:r>
                      <a:r>
                        <a:rPr lang="en-HK" sz="1600" b="0" baseline="30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th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Diffraction condition/(</a:t>
                      </a: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00FFFF"/>
                          </a:highlight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Tutorial: Diffraction pattern indexing</a:t>
                      </a: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0339937"/>
                  </a:ext>
                </a:extLst>
              </a:tr>
              <a:tr h="3431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Week 9         (Nov 2</a:t>
                      </a:r>
                      <a:r>
                        <a:rPr lang="en-HK" sz="1600" b="0" baseline="30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th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LEED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060288"/>
                  </a:ext>
                </a:extLst>
              </a:tr>
              <a:tr h="3431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Week 10       (Nov 9</a:t>
                      </a:r>
                      <a:r>
                        <a:rPr lang="en-HK" sz="1600" b="0" baseline="30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th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TEM imaging/EDX/EELS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893774"/>
                  </a:ext>
                </a:extLst>
              </a:tr>
              <a:tr h="34122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Week 11        (Nov 16</a:t>
                      </a:r>
                      <a:r>
                        <a:rPr lang="en-HK" sz="1600" b="0" baseline="30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th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Project presentation (10 groups, 3-4 person/group, ~13 min each)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8228373"/>
                  </a:ext>
                </a:extLst>
              </a:tr>
              <a:tr h="3431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Week 12       (Nov 23</a:t>
                      </a:r>
                      <a:r>
                        <a:rPr lang="en-HK" sz="1600" b="0" baseline="30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th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Project </a:t>
                      </a:r>
                      <a:r>
                        <a:rPr lang="en-HK" sz="1600" b="0" kern="120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presentation (10 groups, 3-4 person/group, ~13 min each)</a:t>
                      </a:r>
                      <a:endParaRPr lang="en-HK" sz="1600" b="0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Georgia" panose="02040502050405020303" pitchFamily="18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0378683"/>
                  </a:ext>
                </a:extLst>
              </a:tr>
              <a:tr h="3431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Week 13       (Nov 30</a:t>
                      </a:r>
                      <a:r>
                        <a:rPr lang="en-HK" sz="1600" b="0" baseline="30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th</a:t>
                      </a:r>
                      <a:r>
                        <a:rPr lang="en-HK" sz="16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00FFFF"/>
                          </a:highlight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Tutorial(Homework Review)</a:t>
                      </a: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/</a:t>
                      </a:r>
                      <a:r>
                        <a:rPr lang="en-HK" sz="1600" b="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highlight>
                            <a:srgbClr val="00FF00"/>
                          </a:highlight>
                          <a:latin typeface="Georgia" panose="02040502050405020303" pitchFamily="18" charset="0"/>
                          <a:ea typeface="+mn-ea"/>
                          <a:cs typeface="+mn-cs"/>
                        </a:rPr>
                        <a:t>Quiz 2 (Integrated test)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651623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9E452897-5389-7755-7402-2E5C46DE5D76}"/>
              </a:ext>
            </a:extLst>
          </p:cNvPr>
          <p:cNvSpPr txBox="1">
            <a:spLocks noChangeArrowheads="1"/>
          </p:cNvSpPr>
          <p:nvPr/>
        </p:nvSpPr>
        <p:spPr>
          <a:xfrm>
            <a:off x="685800" y="152400"/>
            <a:ext cx="2514600" cy="457200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altLang="zh-TW" sz="2800" kern="0">
                <a:solidFill>
                  <a:schemeClr val="bg1"/>
                </a:solidFill>
                <a:latin typeface="Georgia" panose="02040502050405020303" pitchFamily="18" charset="0"/>
              </a:rPr>
              <a:t>Timetable</a:t>
            </a:r>
            <a:endParaRPr lang="en-US" altLang="zh-TW" sz="2800" kern="0" dirty="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8985478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1464</TotalTime>
  <Words>1088</Words>
  <Application>Microsoft Office PowerPoint</Application>
  <PresentationFormat>On-screen Show (4:3)</PresentationFormat>
  <Paragraphs>176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新細明體</vt:lpstr>
      <vt:lpstr>Aptos</vt:lpstr>
      <vt:lpstr>Arial</vt:lpstr>
      <vt:lpstr>Arial Black</vt:lpstr>
      <vt:lpstr>Georgia</vt:lpstr>
      <vt:lpstr>Times New Roman</vt:lpstr>
      <vt:lpstr>Wingdings</vt:lpstr>
      <vt:lpstr>Theme1</vt:lpstr>
      <vt:lpstr>AMSC 5710 Advanced Materials Characterization</vt:lpstr>
      <vt:lpstr>Course Webpage</vt:lpstr>
      <vt:lpstr>Course Structure</vt:lpstr>
      <vt:lpstr>PowerPoint Presentation</vt:lpstr>
      <vt:lpstr>The materials paradigm</vt:lpstr>
      <vt:lpstr>PowerPoint Presentation</vt:lpstr>
      <vt:lpstr>Course Content </vt:lpstr>
      <vt:lpstr>Course Content (Cont’d)</vt:lpstr>
      <vt:lpstr>Learning Outcomes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PHYS 5350 Techniques in Materials Characterization</dc:title>
  <dc:creator>Li Quan</dc:creator>
  <cp:lastModifiedBy>Quan Li (PHY)</cp:lastModifiedBy>
  <cp:revision>81</cp:revision>
  <dcterms:created xsi:type="dcterms:W3CDTF">2015-01-09T01:02:46Z</dcterms:created>
  <dcterms:modified xsi:type="dcterms:W3CDTF">2026-09-01T11:16:12Z</dcterms:modified>
</cp:coreProperties>
</file>