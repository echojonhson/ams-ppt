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5" r:id="rId1"/>
  </p:sldMasterIdLst>
  <p:notesMasterIdLst>
    <p:notesMasterId r:id="rId59"/>
  </p:notesMasterIdLst>
  <p:handoutMasterIdLst>
    <p:handoutMasterId r:id="rId60"/>
  </p:handoutMasterIdLst>
  <p:sldIdLst>
    <p:sldId id="256" r:id="rId2"/>
    <p:sldId id="317" r:id="rId3"/>
    <p:sldId id="257" r:id="rId4"/>
    <p:sldId id="259" r:id="rId5"/>
    <p:sldId id="318" r:id="rId6"/>
    <p:sldId id="262" r:id="rId7"/>
    <p:sldId id="310" r:id="rId8"/>
    <p:sldId id="311" r:id="rId9"/>
    <p:sldId id="312" r:id="rId10"/>
    <p:sldId id="258" r:id="rId11"/>
    <p:sldId id="319" r:id="rId12"/>
    <p:sldId id="261" r:id="rId13"/>
    <p:sldId id="280" r:id="rId14"/>
    <p:sldId id="281" r:id="rId15"/>
    <p:sldId id="263" r:id="rId16"/>
    <p:sldId id="283" r:id="rId17"/>
    <p:sldId id="264" r:id="rId18"/>
    <p:sldId id="282" r:id="rId19"/>
    <p:sldId id="320" r:id="rId20"/>
    <p:sldId id="265" r:id="rId21"/>
    <p:sldId id="287" r:id="rId22"/>
    <p:sldId id="286" r:id="rId23"/>
    <p:sldId id="325" r:id="rId24"/>
    <p:sldId id="326" r:id="rId25"/>
    <p:sldId id="288" r:id="rId26"/>
    <p:sldId id="290" r:id="rId27"/>
    <p:sldId id="291" r:id="rId28"/>
    <p:sldId id="294" r:id="rId29"/>
    <p:sldId id="296" r:id="rId30"/>
    <p:sldId id="266" r:id="rId31"/>
    <p:sldId id="295" r:id="rId32"/>
    <p:sldId id="313" r:id="rId33"/>
    <p:sldId id="314" r:id="rId34"/>
    <p:sldId id="267" r:id="rId35"/>
    <p:sldId id="321" r:id="rId36"/>
    <p:sldId id="322" r:id="rId37"/>
    <p:sldId id="270" r:id="rId38"/>
    <p:sldId id="271" r:id="rId39"/>
    <p:sldId id="272" r:id="rId40"/>
    <p:sldId id="273" r:id="rId41"/>
    <p:sldId id="297" r:id="rId42"/>
    <p:sldId id="323" r:id="rId43"/>
    <p:sldId id="268" r:id="rId44"/>
    <p:sldId id="304" r:id="rId45"/>
    <p:sldId id="324" r:id="rId46"/>
    <p:sldId id="276" r:id="rId47"/>
    <p:sldId id="277" r:id="rId48"/>
    <p:sldId id="275" r:id="rId49"/>
    <p:sldId id="302" r:id="rId50"/>
    <p:sldId id="278" r:id="rId51"/>
    <p:sldId id="305" r:id="rId52"/>
    <p:sldId id="279" r:id="rId53"/>
    <p:sldId id="308" r:id="rId54"/>
    <p:sldId id="306" r:id="rId55"/>
    <p:sldId id="307" r:id="rId56"/>
    <p:sldId id="274" r:id="rId57"/>
    <p:sldId id="327" r:id="rId58"/>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006666"/>
    <a:srgbClr val="FFCC66"/>
    <a:srgbClr val="FFCCFF"/>
    <a:srgbClr val="FFFFCC"/>
    <a:srgbClr val="CC3300"/>
    <a:srgbClr val="FF99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0" autoAdjust="0"/>
    <p:restoredTop sz="77513" autoAdjust="0"/>
  </p:normalViewPr>
  <p:slideViewPr>
    <p:cSldViewPr>
      <p:cViewPr varScale="1">
        <p:scale>
          <a:sx n="49" d="100"/>
          <a:sy n="49" d="100"/>
        </p:scale>
        <p:origin x="1490" y="2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1"/>
            <a:ext cx="3038049" cy="464315"/>
          </a:xfrm>
          <a:prstGeom prst="rect">
            <a:avLst/>
          </a:prstGeom>
          <a:noFill/>
          <a:ln w="9525">
            <a:noFill/>
            <a:miter lim="800000"/>
            <a:headEnd/>
            <a:tailEnd/>
          </a:ln>
          <a:effectLst/>
        </p:spPr>
        <p:txBody>
          <a:bodyPr vert="horz" wrap="square" lIns="92095" tIns="46048" rIns="92095" bIns="46048" numCol="1" anchor="t" anchorCtr="0" compatLnSpc="1">
            <a:prstTxWarp prst="textNoShape">
              <a:avLst/>
            </a:prstTxWarp>
          </a:bodyPr>
          <a:lstStyle>
            <a:lvl1pPr defTabSz="920600" eaLnBrk="1" hangingPunct="1">
              <a:defRPr sz="1300" smtClean="0"/>
            </a:lvl1pPr>
          </a:lstStyle>
          <a:p>
            <a:pPr>
              <a:defRPr/>
            </a:pPr>
            <a:endParaRPr lang="en-US" altLang="zh-TW"/>
          </a:p>
        </p:txBody>
      </p:sp>
      <p:sp>
        <p:nvSpPr>
          <p:cNvPr id="77827" name="Rectangle 3"/>
          <p:cNvSpPr>
            <a:spLocks noGrp="1" noChangeArrowheads="1"/>
          </p:cNvSpPr>
          <p:nvPr>
            <p:ph type="dt" sz="quarter" idx="1"/>
          </p:nvPr>
        </p:nvSpPr>
        <p:spPr bwMode="auto">
          <a:xfrm>
            <a:off x="3970784" y="1"/>
            <a:ext cx="3038049" cy="464315"/>
          </a:xfrm>
          <a:prstGeom prst="rect">
            <a:avLst/>
          </a:prstGeom>
          <a:noFill/>
          <a:ln w="9525">
            <a:noFill/>
            <a:miter lim="800000"/>
            <a:headEnd/>
            <a:tailEnd/>
          </a:ln>
          <a:effectLst/>
        </p:spPr>
        <p:txBody>
          <a:bodyPr vert="horz" wrap="square" lIns="92095" tIns="46048" rIns="92095" bIns="46048" numCol="1" anchor="t" anchorCtr="0" compatLnSpc="1">
            <a:prstTxWarp prst="textNoShape">
              <a:avLst/>
            </a:prstTxWarp>
          </a:bodyPr>
          <a:lstStyle>
            <a:lvl1pPr algn="r" defTabSz="920600" eaLnBrk="1" hangingPunct="1">
              <a:defRPr sz="1300" smtClean="0"/>
            </a:lvl1pPr>
          </a:lstStyle>
          <a:p>
            <a:pPr>
              <a:defRPr/>
            </a:pPr>
            <a:endParaRPr lang="en-US" altLang="zh-TW"/>
          </a:p>
        </p:txBody>
      </p:sp>
      <p:sp>
        <p:nvSpPr>
          <p:cNvPr id="77828" name="Rectangle 4"/>
          <p:cNvSpPr>
            <a:spLocks noGrp="1" noChangeArrowheads="1"/>
          </p:cNvSpPr>
          <p:nvPr>
            <p:ph type="ftr" sz="quarter" idx="2"/>
          </p:nvPr>
        </p:nvSpPr>
        <p:spPr bwMode="auto">
          <a:xfrm>
            <a:off x="0" y="8830643"/>
            <a:ext cx="3038049" cy="464315"/>
          </a:xfrm>
          <a:prstGeom prst="rect">
            <a:avLst/>
          </a:prstGeom>
          <a:noFill/>
          <a:ln w="9525">
            <a:noFill/>
            <a:miter lim="800000"/>
            <a:headEnd/>
            <a:tailEnd/>
          </a:ln>
          <a:effectLst/>
        </p:spPr>
        <p:txBody>
          <a:bodyPr vert="horz" wrap="square" lIns="92095" tIns="46048" rIns="92095" bIns="46048" numCol="1" anchor="b" anchorCtr="0" compatLnSpc="1">
            <a:prstTxWarp prst="textNoShape">
              <a:avLst/>
            </a:prstTxWarp>
          </a:bodyPr>
          <a:lstStyle>
            <a:lvl1pPr defTabSz="920600" eaLnBrk="1" hangingPunct="1">
              <a:defRPr sz="1300" smtClean="0"/>
            </a:lvl1pPr>
          </a:lstStyle>
          <a:p>
            <a:pPr>
              <a:defRPr/>
            </a:pPr>
            <a:endParaRPr lang="en-US" altLang="zh-TW"/>
          </a:p>
        </p:txBody>
      </p:sp>
      <p:sp>
        <p:nvSpPr>
          <p:cNvPr id="77829" name="Rectangle 5"/>
          <p:cNvSpPr>
            <a:spLocks noGrp="1" noChangeArrowheads="1"/>
          </p:cNvSpPr>
          <p:nvPr>
            <p:ph type="sldNum" sz="quarter" idx="3"/>
          </p:nvPr>
        </p:nvSpPr>
        <p:spPr bwMode="auto">
          <a:xfrm>
            <a:off x="3970784" y="8830643"/>
            <a:ext cx="3038049" cy="464315"/>
          </a:xfrm>
          <a:prstGeom prst="rect">
            <a:avLst/>
          </a:prstGeom>
          <a:noFill/>
          <a:ln w="9525">
            <a:noFill/>
            <a:miter lim="800000"/>
            <a:headEnd/>
            <a:tailEnd/>
          </a:ln>
          <a:effectLst/>
        </p:spPr>
        <p:txBody>
          <a:bodyPr vert="horz" wrap="square" lIns="92095" tIns="46048" rIns="92095" bIns="46048" numCol="1" anchor="b" anchorCtr="0" compatLnSpc="1">
            <a:prstTxWarp prst="textNoShape">
              <a:avLst/>
            </a:prstTxWarp>
          </a:bodyPr>
          <a:lstStyle>
            <a:lvl1pPr algn="r" defTabSz="920600" eaLnBrk="1" hangingPunct="1">
              <a:defRPr sz="1300" smtClean="0"/>
            </a:lvl1pPr>
          </a:lstStyle>
          <a:p>
            <a:pPr>
              <a:defRPr/>
            </a:pPr>
            <a:fld id="{C8913289-8F4F-4710-824C-FCD59A4C79F6}" type="slidenum">
              <a:rPr lang="zh-TW" altLang="en-US"/>
              <a:pPr>
                <a:defRPr/>
              </a:pPr>
              <a:t>‹#›</a:t>
            </a:fld>
            <a:endParaRPr lang="en-US" altLang="zh-TW"/>
          </a:p>
        </p:txBody>
      </p:sp>
    </p:spTree>
    <p:extLst>
      <p:ext uri="{BB962C8B-B14F-4D97-AF65-F5344CB8AC3E}">
        <p14:creationId xmlns:p14="http://schemas.microsoft.com/office/powerpoint/2010/main" val="1316964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049" cy="464315"/>
          </a:xfrm>
          <a:prstGeom prst="rect">
            <a:avLst/>
          </a:prstGeom>
        </p:spPr>
        <p:txBody>
          <a:bodyPr vert="horz" lIns="88230" tIns="44115" rIns="88230" bIns="44115" rtlCol="0"/>
          <a:lstStyle>
            <a:lvl1pPr algn="l">
              <a:defRPr sz="1200" smtClean="0"/>
            </a:lvl1pPr>
          </a:lstStyle>
          <a:p>
            <a:pPr>
              <a:defRPr/>
            </a:pPr>
            <a:endParaRPr lang="en-US"/>
          </a:p>
        </p:txBody>
      </p:sp>
      <p:sp>
        <p:nvSpPr>
          <p:cNvPr id="3" name="Date Placeholder 2"/>
          <p:cNvSpPr>
            <a:spLocks noGrp="1"/>
          </p:cNvSpPr>
          <p:nvPr>
            <p:ph type="dt" idx="1"/>
          </p:nvPr>
        </p:nvSpPr>
        <p:spPr>
          <a:xfrm>
            <a:off x="3970784" y="1"/>
            <a:ext cx="3038049" cy="464315"/>
          </a:xfrm>
          <a:prstGeom prst="rect">
            <a:avLst/>
          </a:prstGeom>
        </p:spPr>
        <p:txBody>
          <a:bodyPr vert="horz" lIns="88230" tIns="44115" rIns="88230" bIns="44115" rtlCol="0"/>
          <a:lstStyle>
            <a:lvl1pPr algn="r">
              <a:defRPr sz="1200" smtClean="0"/>
            </a:lvl1pPr>
          </a:lstStyle>
          <a:p>
            <a:pPr>
              <a:defRPr/>
            </a:pPr>
            <a:fld id="{D8FB8F5B-44AA-4B3B-AF12-CFC372467E54}" type="datetimeFigureOut">
              <a:rPr lang="en-US"/>
              <a:pPr>
                <a:defRPr/>
              </a:pPr>
              <a:t>9/16/2026</a:t>
            </a:fld>
            <a:endParaRPr lang="en-US"/>
          </a:p>
        </p:txBody>
      </p:sp>
      <p:sp>
        <p:nvSpPr>
          <p:cNvPr id="4" name="Slide Image Placeholder 3"/>
          <p:cNvSpPr>
            <a:spLocks noGrp="1" noRot="1" noChangeAspect="1"/>
          </p:cNvSpPr>
          <p:nvPr>
            <p:ph type="sldImg" idx="2"/>
          </p:nvPr>
        </p:nvSpPr>
        <p:spPr>
          <a:xfrm>
            <a:off x="1182688" y="698500"/>
            <a:ext cx="4645025" cy="3484563"/>
          </a:xfrm>
          <a:prstGeom prst="rect">
            <a:avLst/>
          </a:prstGeom>
          <a:noFill/>
          <a:ln w="12700">
            <a:solidFill>
              <a:prstClr val="black"/>
            </a:solidFill>
          </a:ln>
        </p:spPr>
        <p:txBody>
          <a:bodyPr vert="horz" lIns="88230" tIns="44115" rIns="88230" bIns="44115" rtlCol="0" anchor="ctr"/>
          <a:lstStyle/>
          <a:p>
            <a:pPr lvl="0"/>
            <a:endParaRPr lang="en-US" noProof="0"/>
          </a:p>
        </p:txBody>
      </p:sp>
      <p:sp>
        <p:nvSpPr>
          <p:cNvPr id="5" name="Notes Placeholder 4"/>
          <p:cNvSpPr>
            <a:spLocks noGrp="1"/>
          </p:cNvSpPr>
          <p:nvPr>
            <p:ph type="body" sz="quarter" idx="3"/>
          </p:nvPr>
        </p:nvSpPr>
        <p:spPr>
          <a:xfrm>
            <a:off x="700727" y="4415322"/>
            <a:ext cx="5608947" cy="4183164"/>
          </a:xfrm>
          <a:prstGeom prst="rect">
            <a:avLst/>
          </a:prstGeom>
        </p:spPr>
        <p:txBody>
          <a:bodyPr vert="horz" lIns="88230" tIns="44115" rIns="88230" bIns="44115"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0643"/>
            <a:ext cx="3038049" cy="464315"/>
          </a:xfrm>
          <a:prstGeom prst="rect">
            <a:avLst/>
          </a:prstGeom>
        </p:spPr>
        <p:txBody>
          <a:bodyPr vert="horz" lIns="88230" tIns="44115" rIns="88230" bIns="44115"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970784" y="8830643"/>
            <a:ext cx="3038049" cy="464315"/>
          </a:xfrm>
          <a:prstGeom prst="rect">
            <a:avLst/>
          </a:prstGeom>
        </p:spPr>
        <p:txBody>
          <a:bodyPr vert="horz" lIns="88230" tIns="44115" rIns="88230" bIns="44115" rtlCol="0" anchor="b"/>
          <a:lstStyle>
            <a:lvl1pPr algn="r">
              <a:defRPr sz="1200" smtClean="0"/>
            </a:lvl1pPr>
          </a:lstStyle>
          <a:p>
            <a:pPr>
              <a:defRPr/>
            </a:pPr>
            <a:fld id="{3B27332E-9AD9-45EA-8D94-712D44A35EAC}" type="slidenum">
              <a:rPr lang="en-US"/>
              <a:pPr>
                <a:defRPr/>
              </a:pPr>
              <a:t>‹#›</a:t>
            </a:fld>
            <a:endParaRPr lang="en-US"/>
          </a:p>
        </p:txBody>
      </p:sp>
    </p:spTree>
    <p:extLst>
      <p:ext uri="{BB962C8B-B14F-4D97-AF65-F5344CB8AC3E}">
        <p14:creationId xmlns:p14="http://schemas.microsoft.com/office/powerpoint/2010/main" val="323743608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HK" dirty="0"/>
              <a:t>Why XPS is not used for Auger analysis?</a:t>
            </a:r>
          </a:p>
          <a:p>
            <a:pPr marL="228600" indent="-228600">
              <a:buAutoNum type="arabicPeriod"/>
            </a:pPr>
            <a:r>
              <a:rPr lang="en-HK" dirty="0"/>
              <a:t>Why the AES beam energy 2-10keV is higher than that of XPS source?</a:t>
            </a:r>
          </a:p>
        </p:txBody>
      </p:sp>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5</a:t>
            </a:fld>
            <a:endParaRPr lang="en-US"/>
          </a:p>
        </p:txBody>
      </p:sp>
    </p:spTree>
    <p:extLst>
      <p:ext uri="{BB962C8B-B14F-4D97-AF65-F5344CB8AC3E}">
        <p14:creationId xmlns:p14="http://schemas.microsoft.com/office/powerpoint/2010/main" val="3052776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Mb/atom stands for </a:t>
                </a:r>
                <a:r>
                  <a:rPr lang="en-US" sz="1200" b="0" i="0" kern="1200" dirty="0" err="1">
                    <a:solidFill>
                      <a:schemeClr val="tx1"/>
                    </a:solidFill>
                    <a:effectLst/>
                    <a:latin typeface="+mn-lt"/>
                    <a:ea typeface="+mn-ea"/>
                    <a:cs typeface="+mn-cs"/>
                  </a:rPr>
                  <a:t>megabarn</a:t>
                </a:r>
                <a:r>
                  <a:rPr lang="en-US" sz="1200" b="0" i="0" kern="1200" dirty="0">
                    <a:solidFill>
                      <a:schemeClr val="tx1"/>
                    </a:solidFill>
                    <a:effectLst/>
                    <a:latin typeface="+mn-lt"/>
                    <a:ea typeface="+mn-ea"/>
                    <a:cs typeface="+mn-cs"/>
                  </a:rPr>
                  <a:t> per atom, a unit used in atomic and nuclear physics to express </a:t>
                </a:r>
                <a:r>
                  <a:rPr lang="en-US" sz="1200" b="0" i="0" kern="1200" dirty="0" err="1">
                    <a:solidFill>
                      <a:schemeClr val="tx1"/>
                    </a:solidFill>
                    <a:effectLst/>
                    <a:latin typeface="+mn-lt"/>
                    <a:ea typeface="+mn-ea"/>
                    <a:cs typeface="+mn-cs"/>
                  </a:rPr>
                  <a:t>photoabsorption</a:t>
                </a:r>
                <a:r>
                  <a:rPr lang="en-US" sz="1200" b="0" i="0" kern="1200" dirty="0">
                    <a:solidFill>
                      <a:schemeClr val="tx1"/>
                    </a:solidFill>
                    <a:effectLst/>
                    <a:latin typeface="+mn-lt"/>
                    <a:ea typeface="+mn-ea"/>
                    <a:cs typeface="+mn-cs"/>
                  </a:rPr>
                  <a:t> or photoionization cross sections on a per-atom basis.</a:t>
                </a:r>
              </a:p>
              <a:p>
                <a:r>
                  <a:rPr lang="en-HK" sz="1200" b="0" i="0" kern="1200" dirty="0">
                    <a:solidFill>
                      <a:schemeClr val="tx1"/>
                    </a:solidFill>
                    <a:effectLst/>
                    <a:latin typeface="+mn-lt"/>
                    <a:ea typeface="+mn-ea"/>
                    <a:cs typeface="+mn-cs"/>
                  </a:rPr>
                  <a:t>One barn (b) equals </a:t>
                </a:r>
                <a14:m>
                  <m:oMath xmlns:m="http://schemas.openxmlformats.org/officeDocument/2006/math">
                    <m:sSup>
                      <m:sSupPr>
                        <m:ctrlPr>
                          <a:rPr lang="ar-AE" sz="1200"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−28</m:t>
                        </m:r>
                      </m:sup>
                    </m:sSup>
                  </m:oMath>
                </a14:m>
                <a:r>
                  <a:rPr lang="ar-AE" sz="1200" b="0" i="0" kern="1200" dirty="0">
                    <a:solidFill>
                      <a:schemeClr val="tx1"/>
                    </a:solidFill>
                    <a:effectLst/>
                    <a:latin typeface="+mn-lt"/>
                    <a:ea typeface="+mn-ea"/>
                    <a:cs typeface="+mn-cs"/>
                  </a:rPr>
                  <a:t> </a:t>
                </a:r>
                <a:r>
                  <a:rPr lang="en-HK" sz="1200" b="0" i="0" kern="1200" dirty="0">
                    <a:solidFill>
                      <a:schemeClr val="tx1"/>
                    </a:solidFill>
                    <a:effectLst/>
                    <a:latin typeface="+mn-lt"/>
                    <a:ea typeface="+mn-ea"/>
                    <a:cs typeface="+mn-cs"/>
                  </a:rPr>
                  <a:t>m² or 100 fm², roughly the geometric cross-sectional area of a uranium nucleus, so 1 Mb = </a:t>
                </a:r>
                <a14:m>
                  <m:oMath xmlns:m="http://schemas.openxmlformats.org/officeDocument/2006/math">
                    <m:sSup>
                      <m:sSupPr>
                        <m:ctrlPr>
                          <a:rPr lang="ar-AE" sz="1200"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6</m:t>
                        </m:r>
                      </m:sup>
                    </m:sSup>
                  </m:oMath>
                </a14:m>
                <a:r>
                  <a:rPr lang="ar-AE" sz="1200" b="0" i="0" kern="1200" dirty="0">
                    <a:solidFill>
                      <a:schemeClr val="tx1"/>
                    </a:solidFill>
                    <a:effectLst/>
                    <a:latin typeface="+mn-lt"/>
                    <a:ea typeface="+mn-ea"/>
                    <a:cs typeface="+mn-cs"/>
                  </a:rPr>
                  <a:t> </a:t>
                </a:r>
                <a:r>
                  <a:rPr lang="en-HK" sz="1200" b="0" i="0" kern="1200" dirty="0">
                    <a:solidFill>
                      <a:schemeClr val="tx1"/>
                    </a:solidFill>
                    <a:effectLst/>
                    <a:latin typeface="+mn-lt"/>
                    <a:ea typeface="+mn-ea"/>
                    <a:cs typeface="+mn-cs"/>
                  </a:rPr>
                  <a:t>b = </a:t>
                </a:r>
                <a14:m>
                  <m:oMath xmlns:m="http://schemas.openxmlformats.org/officeDocument/2006/math">
                    <m:sSup>
                      <m:sSupPr>
                        <m:ctrlPr>
                          <a:rPr lang="ar-AE" sz="1200"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−22</m:t>
                        </m:r>
                      </m:sup>
                    </m:sSup>
                  </m:oMath>
                </a14:m>
                <a:r>
                  <a:rPr lang="ar-AE" sz="1200" b="0" i="0" kern="1200" dirty="0">
                    <a:solidFill>
                      <a:schemeClr val="tx1"/>
                    </a:solidFill>
                    <a:effectLst/>
                    <a:latin typeface="+mn-lt"/>
                    <a:ea typeface="+mn-ea"/>
                    <a:cs typeface="+mn-cs"/>
                  </a:rPr>
                  <a:t> </a:t>
                </a:r>
                <a:r>
                  <a:rPr lang="en-HK" sz="1200" b="0" i="0" kern="1200" dirty="0">
                    <a:solidFill>
                      <a:schemeClr val="tx1"/>
                    </a:solidFill>
                    <a:effectLst/>
                    <a:latin typeface="+mn-lt"/>
                    <a:ea typeface="+mn-ea"/>
                    <a:cs typeface="+mn-cs"/>
                  </a:rPr>
                  <a:t>m² </a:t>
                </a:r>
                <a:endParaRPr lang="en-HK"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Mb/atom stands for </a:t>
                </a:r>
                <a:r>
                  <a:rPr lang="en-US" sz="1200" b="0" i="0" kern="1200" dirty="0" err="1">
                    <a:solidFill>
                      <a:schemeClr val="tx1"/>
                    </a:solidFill>
                    <a:effectLst/>
                    <a:latin typeface="+mn-lt"/>
                    <a:ea typeface="+mn-ea"/>
                    <a:cs typeface="+mn-cs"/>
                  </a:rPr>
                  <a:t>megabarn</a:t>
                </a:r>
                <a:r>
                  <a:rPr lang="en-US" sz="1200" b="0" i="0" kern="1200" dirty="0">
                    <a:solidFill>
                      <a:schemeClr val="tx1"/>
                    </a:solidFill>
                    <a:effectLst/>
                    <a:latin typeface="+mn-lt"/>
                    <a:ea typeface="+mn-ea"/>
                    <a:cs typeface="+mn-cs"/>
                  </a:rPr>
                  <a:t> per atom, a unit used in atomic and nuclear physics to express </a:t>
                </a:r>
                <a:r>
                  <a:rPr lang="en-US" sz="1200" b="0" i="0" kern="1200" dirty="0" err="1">
                    <a:solidFill>
                      <a:schemeClr val="tx1"/>
                    </a:solidFill>
                    <a:effectLst/>
                    <a:latin typeface="+mn-lt"/>
                    <a:ea typeface="+mn-ea"/>
                    <a:cs typeface="+mn-cs"/>
                  </a:rPr>
                  <a:t>photoabsorption</a:t>
                </a:r>
                <a:r>
                  <a:rPr lang="en-US" sz="1200" b="0" i="0" kern="1200" dirty="0">
                    <a:solidFill>
                      <a:schemeClr val="tx1"/>
                    </a:solidFill>
                    <a:effectLst/>
                    <a:latin typeface="+mn-lt"/>
                    <a:ea typeface="+mn-ea"/>
                    <a:cs typeface="+mn-cs"/>
                  </a:rPr>
                  <a:t> or photoionization cross sections on a per-atom basis.</a:t>
                </a:r>
              </a:p>
              <a:p>
                <a:r>
                  <a:rPr lang="en-HK" sz="1200" b="0" i="0" kern="1200" dirty="0">
                    <a:solidFill>
                      <a:schemeClr val="tx1"/>
                    </a:solidFill>
                    <a:effectLst/>
                    <a:latin typeface="+mn-lt"/>
                    <a:ea typeface="+mn-ea"/>
                    <a:cs typeface="+mn-cs"/>
                  </a:rPr>
                  <a:t>One barn (b) equals </a:t>
                </a:r>
                <a:r>
                  <a:rPr lang="ar-AE" sz="1200" i="0" kern="1200">
                    <a:solidFill>
                      <a:schemeClr val="tx1"/>
                    </a:solidFill>
                    <a:latin typeface="+mn-lt"/>
                    <a:ea typeface="+mn-ea"/>
                    <a:cs typeface="+mn-cs"/>
                  </a:rPr>
                  <a:t>10^(−28)</a:t>
                </a:r>
                <a:r>
                  <a:rPr lang="ar-AE" sz="1200" b="0" i="0" kern="1200" dirty="0">
                    <a:solidFill>
                      <a:schemeClr val="tx1"/>
                    </a:solidFill>
                    <a:effectLst/>
                    <a:latin typeface="+mn-lt"/>
                    <a:ea typeface="+mn-ea"/>
                    <a:cs typeface="+mn-cs"/>
                  </a:rPr>
                  <a:t> </a:t>
                </a:r>
                <a:r>
                  <a:rPr lang="en-HK" sz="1200" b="0" i="0" kern="1200" dirty="0">
                    <a:solidFill>
                      <a:schemeClr val="tx1"/>
                    </a:solidFill>
                    <a:effectLst/>
                    <a:latin typeface="+mn-lt"/>
                    <a:ea typeface="+mn-ea"/>
                    <a:cs typeface="+mn-cs"/>
                  </a:rPr>
                  <a:t>m² or 100 fm², roughly the geometric cross-sectional area of a uranium nucleus, so 1 Mb = </a:t>
                </a:r>
                <a:r>
                  <a:rPr lang="ar-AE" sz="1200" i="0" kern="1200">
                    <a:solidFill>
                      <a:schemeClr val="tx1"/>
                    </a:solidFill>
                    <a:latin typeface="+mn-lt"/>
                    <a:ea typeface="+mn-ea"/>
                    <a:cs typeface="+mn-cs"/>
                  </a:rPr>
                  <a:t>10^6</a:t>
                </a:r>
                <a:r>
                  <a:rPr lang="ar-AE" sz="1200" b="0" i="0" kern="1200" dirty="0">
                    <a:solidFill>
                      <a:schemeClr val="tx1"/>
                    </a:solidFill>
                    <a:effectLst/>
                    <a:latin typeface="+mn-lt"/>
                    <a:ea typeface="+mn-ea"/>
                    <a:cs typeface="+mn-cs"/>
                  </a:rPr>
                  <a:t> </a:t>
                </a:r>
                <a:r>
                  <a:rPr lang="en-HK" sz="1200" b="0" i="0" kern="1200" dirty="0">
                    <a:solidFill>
                      <a:schemeClr val="tx1"/>
                    </a:solidFill>
                    <a:effectLst/>
                    <a:latin typeface="+mn-lt"/>
                    <a:ea typeface="+mn-ea"/>
                    <a:cs typeface="+mn-cs"/>
                  </a:rPr>
                  <a:t>b = </a:t>
                </a:r>
                <a:r>
                  <a:rPr lang="ar-AE" sz="1200" i="0" kern="1200">
                    <a:solidFill>
                      <a:schemeClr val="tx1"/>
                    </a:solidFill>
                    <a:latin typeface="+mn-lt"/>
                    <a:ea typeface="+mn-ea"/>
                    <a:cs typeface="+mn-cs"/>
                  </a:rPr>
                  <a:t>10^(−22)</a:t>
                </a:r>
                <a:r>
                  <a:rPr lang="ar-AE" sz="1200" b="0" i="0" kern="1200" dirty="0">
                    <a:solidFill>
                      <a:schemeClr val="tx1"/>
                    </a:solidFill>
                    <a:effectLst/>
                    <a:latin typeface="+mn-lt"/>
                    <a:ea typeface="+mn-ea"/>
                    <a:cs typeface="+mn-cs"/>
                  </a:rPr>
                  <a:t> </a:t>
                </a:r>
                <a:r>
                  <a:rPr lang="en-HK" sz="1200" b="0" i="0" kern="1200" dirty="0">
                    <a:solidFill>
                      <a:schemeClr val="tx1"/>
                    </a:solidFill>
                    <a:effectLst/>
                    <a:latin typeface="+mn-lt"/>
                    <a:ea typeface="+mn-ea"/>
                    <a:cs typeface="+mn-cs"/>
                  </a:rPr>
                  <a:t>m² </a:t>
                </a:r>
                <a:endParaRPr lang="en-HK" dirty="0"/>
              </a:p>
            </p:txBody>
          </p:sp>
        </mc:Fallback>
      </mc:AlternateContent>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8</a:t>
            </a:fld>
            <a:endParaRPr lang="en-US"/>
          </a:p>
        </p:txBody>
      </p:sp>
    </p:spTree>
    <p:extLst>
      <p:ext uri="{BB962C8B-B14F-4D97-AF65-F5344CB8AC3E}">
        <p14:creationId xmlns:p14="http://schemas.microsoft.com/office/powerpoint/2010/main" val="822982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208AC484-1BAA-4298-8158-7478E795AC28}" type="slidenum">
              <a:rPr lang="en-US" altLang="en-US" smtClean="0"/>
              <a:pPr/>
              <a:t>11</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B6459697-57B0-4E1B-9183-816B3B8D3F9C}" type="slidenum">
              <a:rPr lang="zh-CN" altLang="en-US"/>
              <a:pPr/>
              <a:t>13</a:t>
            </a:fld>
            <a:endParaRPr lang="en-US" altLang="zh-CN"/>
          </a:p>
        </p:txBody>
      </p:sp>
      <p:sp>
        <p:nvSpPr>
          <p:cNvPr id="55299"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5932AC19-44DB-4629-A7D2-49155C0F7C8D}" type="slidenum">
              <a:rPr lang="zh-CN" altLang="en-US"/>
              <a:pPr/>
              <a:t>14</a:t>
            </a:fld>
            <a:endParaRPr lang="en-US" altLang="zh-CN"/>
          </a:p>
        </p:txBody>
      </p:sp>
      <p:sp>
        <p:nvSpPr>
          <p:cNvPr id="56323"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48883BA5-C665-44DF-8725-25E83DB36878}" type="slidenum">
              <a:rPr lang="zh-CN" altLang="en-US"/>
              <a:pPr/>
              <a:t>16</a:t>
            </a:fld>
            <a:endParaRPr lang="en-US" altLang="zh-CN"/>
          </a:p>
        </p:txBody>
      </p:sp>
      <p:sp>
        <p:nvSpPr>
          <p:cNvPr id="57347"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1E329884-A662-4ECF-911B-6F3D8E7481A1}" type="slidenum">
              <a:rPr lang="zh-CN" altLang="en-US"/>
              <a:pPr/>
              <a:t>18</a:t>
            </a:fld>
            <a:endParaRPr lang="en-US" altLang="zh-CN"/>
          </a:p>
        </p:txBody>
      </p:sp>
      <p:sp>
        <p:nvSpPr>
          <p:cNvPr id="58371"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42700F1F-6F37-4C06-9A1E-421496031957}" type="slidenum">
              <a:rPr lang="zh-CN" altLang="en-US"/>
              <a:pPr/>
              <a:t>21</a:t>
            </a:fld>
            <a:endParaRPr lang="en-US" altLang="zh-CN"/>
          </a:p>
        </p:txBody>
      </p:sp>
      <p:sp>
        <p:nvSpPr>
          <p:cNvPr id="59395"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1E2FBCC5-84C3-4220-9779-008B1BD419A7}" type="slidenum">
              <a:rPr lang="zh-CN" altLang="en-US"/>
              <a:pPr/>
              <a:t>22</a:t>
            </a:fld>
            <a:endParaRPr lang="en-US" altLang="zh-CN"/>
          </a:p>
        </p:txBody>
      </p:sp>
      <p:sp>
        <p:nvSpPr>
          <p:cNvPr id="60419"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A9041DB5-A074-4AC2-B8F2-4AD34EF47D0E}" type="slidenum">
              <a:rPr lang="zh-CN" altLang="en-US"/>
              <a:pPr/>
              <a:t>25</a:t>
            </a:fld>
            <a:endParaRPr lang="en-US" altLang="zh-CN"/>
          </a:p>
        </p:txBody>
      </p:sp>
      <p:sp>
        <p:nvSpPr>
          <p:cNvPr id="61443"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16872" indent="-275720">
              <a:defRPr>
                <a:solidFill>
                  <a:schemeClr val="tx1"/>
                </a:solidFill>
                <a:latin typeface="Arial" charset="0"/>
              </a:defRPr>
            </a:lvl2pPr>
            <a:lvl3pPr marL="1102881" indent="-220576">
              <a:defRPr>
                <a:solidFill>
                  <a:schemeClr val="tx1"/>
                </a:solidFill>
                <a:latin typeface="Arial" charset="0"/>
              </a:defRPr>
            </a:lvl3pPr>
            <a:lvl4pPr marL="1544033" indent="-220576">
              <a:defRPr>
                <a:solidFill>
                  <a:schemeClr val="tx1"/>
                </a:solidFill>
                <a:latin typeface="Arial" charset="0"/>
              </a:defRPr>
            </a:lvl4pPr>
            <a:lvl5pPr marL="1985185" indent="-220576">
              <a:defRPr>
                <a:solidFill>
                  <a:schemeClr val="tx1"/>
                </a:solidFill>
                <a:latin typeface="Arial" charset="0"/>
              </a:defRPr>
            </a:lvl5pPr>
            <a:lvl6pPr marL="2426338" indent="-220576" eaLnBrk="0" fontAlgn="base" hangingPunct="0">
              <a:spcBef>
                <a:spcPct val="0"/>
              </a:spcBef>
              <a:spcAft>
                <a:spcPct val="0"/>
              </a:spcAft>
              <a:defRPr>
                <a:solidFill>
                  <a:schemeClr val="tx1"/>
                </a:solidFill>
                <a:latin typeface="Arial" charset="0"/>
              </a:defRPr>
            </a:lvl6pPr>
            <a:lvl7pPr marL="2867490" indent="-220576" eaLnBrk="0" fontAlgn="base" hangingPunct="0">
              <a:spcBef>
                <a:spcPct val="0"/>
              </a:spcBef>
              <a:spcAft>
                <a:spcPct val="0"/>
              </a:spcAft>
              <a:defRPr>
                <a:solidFill>
                  <a:schemeClr val="tx1"/>
                </a:solidFill>
                <a:latin typeface="Arial" charset="0"/>
              </a:defRPr>
            </a:lvl7pPr>
            <a:lvl8pPr marL="3308642" indent="-220576" eaLnBrk="0" fontAlgn="base" hangingPunct="0">
              <a:spcBef>
                <a:spcPct val="0"/>
              </a:spcBef>
              <a:spcAft>
                <a:spcPct val="0"/>
              </a:spcAft>
              <a:defRPr>
                <a:solidFill>
                  <a:schemeClr val="tx1"/>
                </a:solidFill>
                <a:latin typeface="Arial" charset="0"/>
              </a:defRPr>
            </a:lvl8pPr>
            <a:lvl9pPr marL="3749794" indent="-220576" eaLnBrk="0" fontAlgn="base" hangingPunct="0">
              <a:spcBef>
                <a:spcPct val="0"/>
              </a:spcBef>
              <a:spcAft>
                <a:spcPct val="0"/>
              </a:spcAft>
              <a:defRPr>
                <a:solidFill>
                  <a:schemeClr val="tx1"/>
                </a:solidFill>
                <a:latin typeface="Arial" charset="0"/>
              </a:defRPr>
            </a:lvl9pPr>
          </a:lstStyle>
          <a:p>
            <a:fld id="{6E5DAF8E-0035-4EDB-A49F-D310D1EBB040}" type="slidenum">
              <a:rPr lang="zh-CN" altLang="en-US"/>
              <a:pPr/>
              <a:t>26</a:t>
            </a:fld>
            <a:endParaRPr lang="en-US" altLang="zh-CN"/>
          </a:p>
        </p:txBody>
      </p:sp>
      <p:sp>
        <p:nvSpPr>
          <p:cNvPr id="62467" name="Rectangle 2"/>
          <p:cNvSpPr>
            <a:spLocks noGrp="1" noRot="1" noChangeAspect="1" noChangeArrowheads="1" noTextEdit="1"/>
          </p:cNvSpPr>
          <p:nvPr>
            <p:ph type="sldImg"/>
          </p:nvPr>
        </p:nvSpPr>
        <p:spPr bwMode="auto">
          <a:xfrm>
            <a:off x="1181100" y="696913"/>
            <a:ext cx="4649788"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xfrm>
            <a:off x="700727" y="4416764"/>
            <a:ext cx="5608947" cy="4183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HK" b="1" dirty="0"/>
                  <a:t>Modulation:</a:t>
                </a:r>
                <a:r>
                  <a:rPr lang="en-HK" dirty="0"/>
                  <a:t> A small AC modulation voltage is added to the DC ramp of the electron energy </a:t>
                </a:r>
                <a:r>
                  <a:rPr lang="en-HK" dirty="0" err="1"/>
                  <a:t>analyzer</a:t>
                </a:r>
                <a:r>
                  <a:rPr lang="en-HK" dirty="0"/>
                  <a:t>.</a:t>
                </a:r>
              </a:p>
              <a:p>
                <a:r>
                  <a:rPr lang="en-HK" b="1" dirty="0"/>
                  <a:t>Detection:</a:t>
                </a:r>
                <a:r>
                  <a:rPr lang="en-HK" dirty="0"/>
                  <a:t> The detector picks up a signal containing both the DC background and the AC response.</a:t>
                </a:r>
              </a:p>
              <a:p>
                <a:r>
                  <a:rPr lang="en-HK" b="1" dirty="0"/>
                  <a:t>Differentiation:</a:t>
                </a:r>
                <a:r>
                  <a:rPr lang="en-HK" dirty="0"/>
                  <a:t> The lock-in amplifier measures the amplitude of the signal at the modulation frequency. Mathematically, this amplitude is proportional to the first derivative of the energy distribution (</a:t>
                </a:r>
                <a14:m>
                  <m:oMath xmlns:m="http://schemas.openxmlformats.org/officeDocument/2006/math">
                    <m:r>
                      <a:rPr lang="en-HK" sz="1200" i="1" kern="1200">
                        <a:solidFill>
                          <a:schemeClr val="tx1"/>
                        </a:solidFill>
                        <a:latin typeface="Cambria Math" panose="02040503050406030204" pitchFamily="18" charset="0"/>
                        <a:ea typeface="+mn-ea"/>
                        <a:cs typeface="+mn-cs"/>
                      </a:rPr>
                      <m:t>𝑑𝑁</m:t>
                    </m:r>
                    <m:f>
                      <m:fPr>
                        <m:type m:val="lin"/>
                        <m:ctrlPr>
                          <a:rPr lang="ar-AE" sz="1200" i="1" kern="1200">
                            <a:solidFill>
                              <a:schemeClr val="tx1"/>
                            </a:solidFill>
                            <a:latin typeface="Cambria Math" panose="02040503050406030204" pitchFamily="18" charset="0"/>
                            <a:ea typeface="+mn-ea"/>
                            <a:cs typeface="+mn-cs"/>
                          </a:rPr>
                        </m:ctrlPr>
                      </m:fPr>
                      <m:num>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𝐸</m:t>
                            </m:r>
                          </m:e>
                        </m:d>
                      </m:num>
                      <m:den>
                        <m:r>
                          <a:rPr lang="ar-AE" sz="1200" i="1" kern="1200">
                            <a:solidFill>
                              <a:schemeClr val="tx1"/>
                            </a:solidFill>
                            <a:latin typeface="Cambria Math" panose="02040503050406030204" pitchFamily="18" charset="0"/>
                            <a:ea typeface="+mn-ea"/>
                            <a:cs typeface="+mn-cs"/>
                          </a:rPr>
                          <m:t>𝑑</m:t>
                        </m:r>
                      </m:den>
                    </m:f>
                    <m:r>
                      <a:rPr lang="en-HK" sz="1200" b="0" i="1" kern="1200" smtClean="0">
                        <a:solidFill>
                          <a:schemeClr val="tx1"/>
                        </a:solidFill>
                        <a:latin typeface="Cambria Math" panose="02040503050406030204" pitchFamily="18" charset="0"/>
                        <a:ea typeface="+mn-ea"/>
                        <a:cs typeface="+mn-cs"/>
                      </a:rPr>
                      <m:t>𝐸</m:t>
                    </m:r>
                  </m:oMath>
                </a14:m>
                <a:r>
                  <a:rPr lang="ar-AE" dirty="0">
                    <a:effectLst/>
                  </a:rPr>
                  <a:t>(</a:t>
                </a:r>
                <a:endParaRPr lang="en-HK" dirty="0">
                  <a:effectLst/>
                </a:endParaRPr>
              </a:p>
              <a:p>
                <a:pPr rtl="0"/>
                <a:endParaRPr lang="en-HK" dirty="0">
                  <a:effectLst/>
                </a:endParaRPr>
              </a:p>
              <a:p>
                <a:pPr rtl="0"/>
                <a:r>
                  <a:rPr lang="en-HK" dirty="0"/>
                  <a:t>While modern instruments often acquire direct intensities and differentiate them digitally using algorithms, the lock-in technique remains a fundamental method for direct </a:t>
                </a:r>
                <a:r>
                  <a:rPr lang="en-HK" dirty="0" err="1"/>
                  <a:t>analog</a:t>
                </a:r>
                <a:r>
                  <a:rPr lang="en-HK" dirty="0"/>
                  <a:t> differentiation with high signal-to-noise ratios.</a:t>
                </a:r>
              </a:p>
              <a:p>
                <a:endParaRPr lang="en-HK" dirty="0"/>
              </a:p>
            </p:txBody>
          </p:sp>
        </mc:Choice>
        <mc:Fallback xmlns="">
          <p:sp>
            <p:nvSpPr>
              <p:cNvPr id="3" name="Notes Placeholder 2"/>
              <p:cNvSpPr>
                <a:spLocks noGrp="1"/>
              </p:cNvSpPr>
              <p:nvPr>
                <p:ph type="body" idx="1"/>
              </p:nvPr>
            </p:nvSpPr>
            <p:spPr/>
            <p:txBody>
              <a:bodyPr/>
              <a:lstStyle/>
              <a:p>
                <a:r>
                  <a:rPr lang="en-HK" b="1" dirty="0"/>
                  <a:t>Modulation:</a:t>
                </a:r>
                <a:r>
                  <a:rPr lang="en-HK" dirty="0"/>
                  <a:t> A small AC modulation voltage is added to the DC ramp of the electron energy </a:t>
                </a:r>
                <a:r>
                  <a:rPr lang="en-HK" dirty="0" err="1"/>
                  <a:t>analyzer</a:t>
                </a:r>
                <a:r>
                  <a:rPr lang="en-HK" dirty="0"/>
                  <a:t>.</a:t>
                </a:r>
              </a:p>
              <a:p>
                <a:r>
                  <a:rPr lang="en-HK" b="1" dirty="0"/>
                  <a:t>Detection:</a:t>
                </a:r>
                <a:r>
                  <a:rPr lang="en-HK" dirty="0"/>
                  <a:t> The detector picks up a signal containing both the DC background and the AC response.</a:t>
                </a:r>
              </a:p>
              <a:p>
                <a:r>
                  <a:rPr lang="en-HK" b="1" dirty="0"/>
                  <a:t>Differentiation:</a:t>
                </a:r>
                <a:r>
                  <a:rPr lang="en-HK" dirty="0"/>
                  <a:t> The lock-in amplifier measures the amplitude of the signal at the modulation frequency. Mathematically, this amplitude is proportional to the first derivative of the energy distribution (</a:t>
                </a:r>
                <a:r>
                  <a:rPr lang="en-HK" sz="1200" i="0" kern="1200">
                    <a:solidFill>
                      <a:schemeClr val="tx1"/>
                    </a:solidFill>
                    <a:latin typeface="+mn-lt"/>
                    <a:ea typeface="+mn-ea"/>
                    <a:cs typeface="+mn-cs"/>
                  </a:rPr>
                  <a:t>𝑑𝑁</a:t>
                </a:r>
                <a:r>
                  <a:rPr lang="ar-AE" sz="1200" i="0" kern="1200">
                    <a:solidFill>
                      <a:schemeClr val="tx1"/>
                    </a:solidFill>
                    <a:latin typeface="+mn-lt"/>
                    <a:ea typeface="+mn-ea"/>
                    <a:cs typeface="+mn-cs"/>
                  </a:rPr>
                  <a:t> (𝐸)∕𝑑</a:t>
                </a:r>
                <a:r>
                  <a:rPr lang="en-HK" sz="1200" b="0" i="0" kern="1200">
                    <a:solidFill>
                      <a:schemeClr val="tx1"/>
                    </a:solidFill>
                    <a:latin typeface="Cambria Math" panose="02040503050406030204" pitchFamily="18" charset="0"/>
                    <a:ea typeface="+mn-ea"/>
                    <a:cs typeface="+mn-cs"/>
                  </a:rPr>
                  <a:t> 𝐸</a:t>
                </a:r>
                <a:r>
                  <a:rPr lang="ar-AE" dirty="0">
                    <a:effectLst/>
                  </a:rPr>
                  <a:t>(</a:t>
                </a:r>
                <a:endParaRPr lang="en-HK" dirty="0">
                  <a:effectLst/>
                </a:endParaRPr>
              </a:p>
              <a:p>
                <a:pPr rtl="0"/>
                <a:endParaRPr lang="en-HK" dirty="0">
                  <a:effectLst/>
                </a:endParaRPr>
              </a:p>
              <a:p>
                <a:pPr rtl="0"/>
                <a:r>
                  <a:rPr lang="en-HK" dirty="0"/>
                  <a:t>While modern instruments often acquire direct intensities and differentiate them digitally using algorithms, the lock-in technique remains a fundamental method for direct </a:t>
                </a:r>
                <a:r>
                  <a:rPr lang="en-HK" dirty="0" err="1"/>
                  <a:t>analog</a:t>
                </a:r>
                <a:r>
                  <a:rPr lang="en-HK" dirty="0"/>
                  <a:t> differentiation with high signal-to-noise ratios.</a:t>
                </a:r>
              </a:p>
              <a:p>
                <a:endParaRPr lang="en-HK" dirty="0"/>
              </a:p>
            </p:txBody>
          </p:sp>
        </mc:Fallback>
      </mc:AlternateContent>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29</a:t>
            </a:fld>
            <a:endParaRPr lang="en-US"/>
          </a:p>
        </p:txBody>
      </p:sp>
    </p:spTree>
    <p:extLst>
      <p:ext uri="{BB962C8B-B14F-4D97-AF65-F5344CB8AC3E}">
        <p14:creationId xmlns:p14="http://schemas.microsoft.com/office/powerpoint/2010/main" val="3326107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30</a:t>
            </a:fld>
            <a:endParaRPr lang="en-US"/>
          </a:p>
        </p:txBody>
      </p:sp>
    </p:spTree>
    <p:extLst>
      <p:ext uri="{BB962C8B-B14F-4D97-AF65-F5344CB8AC3E}">
        <p14:creationId xmlns:p14="http://schemas.microsoft.com/office/powerpoint/2010/main" val="343977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35</a:t>
            </a:fld>
            <a:endParaRPr lang="en-US"/>
          </a:p>
        </p:txBody>
      </p:sp>
    </p:spTree>
    <p:extLst>
      <p:ext uri="{BB962C8B-B14F-4D97-AF65-F5344CB8AC3E}">
        <p14:creationId xmlns:p14="http://schemas.microsoft.com/office/powerpoint/2010/main" val="3530837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F364D-43EC-7D9C-3D89-7A60C8325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CAEF2-33A3-0F3B-BE5A-8E6555C5E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23DF9-9DFA-0EBA-A886-8C46F6D7A2C9}"/>
              </a:ext>
            </a:extLst>
          </p:cNvPr>
          <p:cNvSpPr>
            <a:spLocks noGrp="1"/>
          </p:cNvSpPr>
          <p:nvPr>
            <p:ph type="body" idx="1"/>
          </p:nvPr>
        </p:nvSpPr>
        <p:spPr/>
        <p:txBody>
          <a:bodyPr/>
          <a:lstStyle/>
          <a:p>
            <a:r>
              <a:rPr lang="en-US" altLang="zh-TW" sz="1200" dirty="0">
                <a:latin typeface="Georgia" panose="02040502050405020303" pitchFamily="18" charset="0"/>
                <a:ea typeface="PMingLiU" pitchFamily="18" charset="-120"/>
              </a:rPr>
              <a:t>There are three possible KLL transitions</a:t>
            </a:r>
          </a:p>
          <a:p>
            <a:endParaRPr lang="en-US" altLang="zh-TW" sz="1200" dirty="0">
              <a:latin typeface="Georgia" panose="02040502050405020303" pitchFamily="18" charset="0"/>
              <a:ea typeface="PMingLiU" pitchFamily="18" charset="-120"/>
            </a:endParaRPr>
          </a:p>
          <a:p>
            <a:r>
              <a:rPr lang="en-US" altLang="zh-TW" sz="1200" dirty="0">
                <a:latin typeface="Georgia" panose="02040502050405020303" pitchFamily="18" charset="0"/>
                <a:ea typeface="PMingLiU" pitchFamily="18" charset="-120"/>
              </a:rPr>
              <a:t>KL1L1, KL1L23, KL23L23</a:t>
            </a:r>
          </a:p>
          <a:p>
            <a:endParaRPr lang="en-HK" dirty="0"/>
          </a:p>
        </p:txBody>
      </p:sp>
      <p:sp>
        <p:nvSpPr>
          <p:cNvPr id="4" name="Slide Number Placeholder 3">
            <a:extLst>
              <a:ext uri="{FF2B5EF4-FFF2-40B4-BE49-F238E27FC236}">
                <a16:creationId xmlns:a16="http://schemas.microsoft.com/office/drawing/2014/main" id="{AE183C2E-3542-17AE-EC88-1AC283A5017B}"/>
              </a:ext>
            </a:extLst>
          </p:cNvPr>
          <p:cNvSpPr>
            <a:spLocks noGrp="1"/>
          </p:cNvSpPr>
          <p:nvPr>
            <p:ph type="sldNum" sz="quarter" idx="5"/>
          </p:nvPr>
        </p:nvSpPr>
        <p:spPr/>
        <p:txBody>
          <a:bodyPr/>
          <a:lstStyle/>
          <a:p>
            <a:pPr>
              <a:defRPr/>
            </a:pPr>
            <a:fld id="{3B27332E-9AD9-45EA-8D94-712D44A35EAC}" type="slidenum">
              <a:rPr lang="en-US" smtClean="0"/>
              <a:pPr>
                <a:defRPr/>
              </a:pPr>
              <a:t>36</a:t>
            </a:fld>
            <a:endParaRPr lang="en-US"/>
          </a:p>
        </p:txBody>
      </p:sp>
    </p:spTree>
    <p:extLst>
      <p:ext uri="{BB962C8B-B14F-4D97-AF65-F5344CB8AC3E}">
        <p14:creationId xmlns:p14="http://schemas.microsoft.com/office/powerpoint/2010/main" val="3119268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Factor to consider not only include the core-hole effect, but also the final state relaxation</a:t>
            </a:r>
          </a:p>
        </p:txBody>
      </p:sp>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40</a:t>
            </a:fld>
            <a:endParaRPr lang="en-US"/>
          </a:p>
        </p:txBody>
      </p:sp>
    </p:spTree>
    <p:extLst>
      <p:ext uri="{BB962C8B-B14F-4D97-AF65-F5344CB8AC3E}">
        <p14:creationId xmlns:p14="http://schemas.microsoft.com/office/powerpoint/2010/main" val="685576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If possible, one wish to use not so large incident electron energy</a:t>
            </a:r>
          </a:p>
          <a:p>
            <a:endParaRPr lang="en-HK" dirty="0"/>
          </a:p>
          <a:p>
            <a:r>
              <a:rPr lang="en-HK" dirty="0"/>
              <a:t>We are interested in Auger transitions due to inner shell ionization of energy less than 1500eV, the primary electron energy is usually restricted to 5-10 KeV</a:t>
            </a:r>
          </a:p>
        </p:txBody>
      </p:sp>
      <p:sp>
        <p:nvSpPr>
          <p:cNvPr id="4" name="Slide Number Placeholder 3"/>
          <p:cNvSpPr>
            <a:spLocks noGrp="1"/>
          </p:cNvSpPr>
          <p:nvPr>
            <p:ph type="sldNum" sz="quarter" idx="5"/>
          </p:nvPr>
        </p:nvSpPr>
        <p:spPr/>
        <p:txBody>
          <a:bodyPr/>
          <a:lstStyle/>
          <a:p>
            <a:pPr>
              <a:defRPr/>
            </a:pPr>
            <a:fld id="{3B27332E-9AD9-45EA-8D94-712D44A35EAC}" type="slidenum">
              <a:rPr lang="en-US" smtClean="0"/>
              <a:pPr>
                <a:defRPr/>
              </a:pPr>
              <a:t>42</a:t>
            </a:fld>
            <a:endParaRPr lang="en-US"/>
          </a:p>
        </p:txBody>
      </p:sp>
    </p:spTree>
    <p:extLst>
      <p:ext uri="{BB962C8B-B14F-4D97-AF65-F5344CB8AC3E}">
        <p14:creationId xmlns:p14="http://schemas.microsoft.com/office/powerpoint/2010/main" val="2874249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zh-TW" altLang="en-US" sz="2400">
                <a:latin typeface="Times New Roman" pitchFamily="18" charset="0"/>
                <a:ea typeface="PMingLiU" pitchFamily="18" charset="-12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grpSp>
      </p:grpSp>
      <p:sp>
        <p:nvSpPr>
          <p:cNvPr id="2254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ltLang="zh-TW"/>
              <a:t>Click to edit Master title style</a:t>
            </a:r>
          </a:p>
        </p:txBody>
      </p:sp>
      <p:sp>
        <p:nvSpPr>
          <p:cNvPr id="2254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ltLang="zh-TW"/>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smtClean="0"/>
            </a:lvl1pPr>
          </a:lstStyle>
          <a:p>
            <a:pPr>
              <a:defRPr/>
            </a:pPr>
            <a:endParaRPr lang="en-US" altLang="zh-TW"/>
          </a:p>
        </p:txBody>
      </p:sp>
      <p:sp>
        <p:nvSpPr>
          <p:cNvPr id="19" name="Rectangle 17"/>
          <p:cNvSpPr>
            <a:spLocks noGrp="1" noChangeArrowheads="1"/>
          </p:cNvSpPr>
          <p:nvPr>
            <p:ph type="ftr" sz="quarter" idx="11"/>
          </p:nvPr>
        </p:nvSpPr>
        <p:spPr/>
        <p:txBody>
          <a:bodyPr/>
          <a:lstStyle>
            <a:lvl1pPr>
              <a:defRPr smtClean="0"/>
            </a:lvl1pPr>
          </a:lstStyle>
          <a:p>
            <a:pPr>
              <a:defRPr/>
            </a:pPr>
            <a:endParaRPr lang="en-US" altLang="zh-TW"/>
          </a:p>
        </p:txBody>
      </p:sp>
      <p:sp>
        <p:nvSpPr>
          <p:cNvPr id="20" name="Rectangle 18"/>
          <p:cNvSpPr>
            <a:spLocks noGrp="1" noChangeArrowheads="1"/>
          </p:cNvSpPr>
          <p:nvPr>
            <p:ph type="sldNum" sz="quarter" idx="12"/>
          </p:nvPr>
        </p:nvSpPr>
        <p:spPr/>
        <p:txBody>
          <a:bodyPr/>
          <a:lstStyle>
            <a:lvl1pPr>
              <a:defRPr smtClean="0"/>
            </a:lvl1pPr>
          </a:lstStyle>
          <a:p>
            <a:pPr>
              <a:defRPr/>
            </a:pPr>
            <a:fld id="{48EEE83B-BAB3-4BEC-936D-759BAF3E76A2}" type="slidenum">
              <a:rPr lang="zh-TW" altLang="en-US"/>
              <a:pPr>
                <a:defRPr/>
              </a:pPr>
              <a:t>‹#›</a:t>
            </a:fld>
            <a:endParaRPr lang="en-US" altLang="zh-TW"/>
          </a:p>
        </p:txBody>
      </p:sp>
    </p:spTree>
    <p:extLst>
      <p:ext uri="{BB962C8B-B14F-4D97-AF65-F5344CB8AC3E}">
        <p14:creationId xmlns:p14="http://schemas.microsoft.com/office/powerpoint/2010/main" val="208504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8CA4E1D9-CE51-44D2-9AA7-12A33D60B7A4}"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501362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02AA5150-1026-4BB6-84DF-35E586B01CFB}"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25198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39399E4C-0006-4C32-9EA5-3712E0923F10}"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988566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8" name="Rectangle 3"/>
          <p:cNvSpPr>
            <a:spLocks noGrp="1" noChangeArrowheads="1"/>
          </p:cNvSpPr>
          <p:nvPr>
            <p:ph type="sldNum" sz="quarter" idx="11"/>
          </p:nvPr>
        </p:nvSpPr>
        <p:spPr>
          <a:ln/>
        </p:spPr>
        <p:txBody>
          <a:bodyPr/>
          <a:lstStyle>
            <a:lvl1pPr>
              <a:defRPr/>
            </a:lvl1pPr>
          </a:lstStyle>
          <a:p>
            <a:pPr>
              <a:defRPr/>
            </a:pPr>
            <a:fld id="{CD5B3443-BF3B-4718-92A9-C5B211CED70A}" type="slidenum">
              <a:rPr lang="zh-TW" altLang="en-US"/>
              <a:pPr>
                <a:defRPr/>
              </a:pPr>
              <a:t>‹#›</a:t>
            </a:fld>
            <a:endParaRPr lang="en-US" altLang="zh-TW"/>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699169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4" name="Rectangle 3"/>
          <p:cNvSpPr>
            <a:spLocks noGrp="1" noChangeArrowheads="1"/>
          </p:cNvSpPr>
          <p:nvPr>
            <p:ph type="sldNum" sz="quarter" idx="11"/>
          </p:nvPr>
        </p:nvSpPr>
        <p:spPr>
          <a:ln/>
        </p:spPr>
        <p:txBody>
          <a:bodyPr/>
          <a:lstStyle>
            <a:lvl1pPr>
              <a:defRPr/>
            </a:lvl1pPr>
          </a:lstStyle>
          <a:p>
            <a:pPr>
              <a:defRPr/>
            </a:pPr>
            <a:fld id="{E2CAACE7-3E3C-4189-BA64-A089040D874E}" type="slidenum">
              <a:rPr lang="zh-TW" altLang="en-US"/>
              <a:pPr>
                <a:defRPr/>
              </a:pPr>
              <a:t>‹#›</a:t>
            </a:fld>
            <a:endParaRPr lang="en-US" altLang="zh-TW"/>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128561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3" name="Rectangle 3"/>
          <p:cNvSpPr>
            <a:spLocks noGrp="1" noChangeArrowheads="1"/>
          </p:cNvSpPr>
          <p:nvPr>
            <p:ph type="sldNum" sz="quarter" idx="11"/>
          </p:nvPr>
        </p:nvSpPr>
        <p:spPr>
          <a:ln/>
        </p:spPr>
        <p:txBody>
          <a:bodyPr/>
          <a:lstStyle>
            <a:lvl1pPr>
              <a:defRPr/>
            </a:lvl1pPr>
          </a:lstStyle>
          <a:p>
            <a:pPr>
              <a:defRPr/>
            </a:pPr>
            <a:fld id="{9A975D84-2197-4ABB-80EB-AE85607E50F0}" type="slidenum">
              <a:rPr lang="zh-TW" altLang="en-US"/>
              <a:pPr>
                <a:defRPr/>
              </a:pPr>
              <a:t>‹#›</a:t>
            </a:fld>
            <a:endParaRPr lang="en-US" altLang="zh-TW"/>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1976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82A54280-EBD8-4D35-ADF8-74020A5C5CA0}"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417194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p:cNvSpPr>
            <a:spLocks noGrp="1" noChangeArrowheads="1"/>
          </p:cNvSpPr>
          <p:nvPr>
            <p:ph type="sldNum" sz="quarter" idx="11"/>
          </p:nvPr>
        </p:nvSpPr>
        <p:spPr>
          <a:ln/>
        </p:spPr>
        <p:txBody>
          <a:bodyPr/>
          <a:lstStyle>
            <a:lvl1pPr>
              <a:defRPr/>
            </a:lvl1pPr>
          </a:lstStyle>
          <a:p>
            <a:pPr>
              <a:defRPr/>
            </a:pPr>
            <a:fld id="{8ABCCC19-B10A-452D-9F46-F71282DF3033}" type="slidenum">
              <a:rPr lang="zh-TW" altLang="en-US"/>
              <a:pPr>
                <a:defRPr/>
              </a:pPr>
              <a:t>‹#›</a:t>
            </a:fld>
            <a:endParaRPr lang="en-US" altLang="zh-TW"/>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4219236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4796F40C-F199-4C06-9D43-C7B7B21EA797}"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990476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p:cNvSpPr>
            <a:spLocks noGrp="1" noChangeArrowheads="1"/>
          </p:cNvSpPr>
          <p:nvPr>
            <p:ph type="sldNum" sz="quarter" idx="11"/>
          </p:nvPr>
        </p:nvSpPr>
        <p:spPr>
          <a:ln/>
        </p:spPr>
        <p:txBody>
          <a:bodyPr/>
          <a:lstStyle>
            <a:lvl1pPr>
              <a:defRPr/>
            </a:lvl1pPr>
          </a:lstStyle>
          <a:p>
            <a:pPr>
              <a:defRPr/>
            </a:pPr>
            <a:fld id="{5005D0F2-B1B9-427D-AE3E-5AAB28895411}" type="slidenum">
              <a:rPr lang="zh-TW" altLang="en-US"/>
              <a:pPr>
                <a:defRPr/>
              </a:pPr>
              <a:t>‹#›</a:t>
            </a:fld>
            <a:endParaRPr lang="en-US" altLang="zh-TW"/>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614108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smtClean="0">
                <a:ea typeface="PMingLiU" pitchFamily="18" charset="-120"/>
              </a:defRPr>
            </a:lvl1pPr>
          </a:lstStyle>
          <a:p>
            <a:pPr>
              <a:defRPr/>
            </a:pPr>
            <a:endParaRPr lang="en-US" altLang="zh-TW"/>
          </a:p>
        </p:txBody>
      </p:sp>
      <p:sp>
        <p:nvSpPr>
          <p:cNvPr id="2150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itchFamily="34" charset="0"/>
                <a:ea typeface="PMingLiU" pitchFamily="18" charset="-120"/>
              </a:defRPr>
            </a:lvl1pPr>
          </a:lstStyle>
          <a:p>
            <a:pPr>
              <a:defRPr/>
            </a:pPr>
            <a:fld id="{C78E28B0-EF90-4D92-AD84-E0B9FCF62893}" type="slidenum">
              <a:rPr lang="zh-TW" altLang="en-US"/>
              <a:pPr>
                <a:defRPr/>
              </a:pPr>
              <a:t>‹#›</a:t>
            </a:fld>
            <a:endParaRPr lang="en-US" altLang="zh-TW"/>
          </a:p>
        </p:txBody>
      </p:sp>
      <p:grpSp>
        <p:nvGrpSpPr>
          <p:cNvPr id="5124" name="Group 4"/>
          <p:cNvGrpSpPr>
            <a:grpSpLocks/>
          </p:cNvGrpSpPr>
          <p:nvPr/>
        </p:nvGrpSpPr>
        <p:grpSpPr bwMode="auto">
          <a:xfrm>
            <a:off x="0" y="0"/>
            <a:ext cx="9144000" cy="914400"/>
            <a:chOff x="0" y="0"/>
            <a:chExt cx="5760" cy="344"/>
          </a:xfrm>
        </p:grpSpPr>
        <p:sp>
          <p:nvSpPr>
            <p:cNvPr id="2150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zh-TW" altLang="en-US" sz="2400">
                <a:latin typeface="Times New Roman" pitchFamily="18" charset="0"/>
                <a:ea typeface="PMingLiU" pitchFamily="18" charset="-120"/>
              </a:endParaRPr>
            </a:p>
          </p:txBody>
        </p:sp>
        <p:sp>
          <p:nvSpPr>
            <p:cNvPr id="2151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21511"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PMingLiU" pitchFamily="18" charset="-120"/>
              </a:endParaRPr>
            </a:p>
          </p:txBody>
        </p:sp>
        <p:sp>
          <p:nvSpPr>
            <p:cNvPr id="21512"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PMingLiU" pitchFamily="18" charset="-120"/>
              </a:endParaRPr>
            </a:p>
          </p:txBody>
        </p:sp>
        <p:sp>
          <p:nvSpPr>
            <p:cNvPr id="21513"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PMingLiU" pitchFamily="18" charset="-120"/>
              </a:endParaRPr>
            </a:p>
          </p:txBody>
        </p:sp>
        <p:sp>
          <p:nvSpPr>
            <p:cNvPr id="21514"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eaLnBrk="1" hangingPunct="1">
                <a:defRPr/>
              </a:pPr>
              <a:endParaRPr lang="zh-TW" altLang="en-US">
                <a:solidFill>
                  <a:schemeClr val="hlink"/>
                </a:solidFill>
                <a:ea typeface="PMingLiU" pitchFamily="18" charset="-120"/>
              </a:endParaRPr>
            </a:p>
          </p:txBody>
        </p:sp>
        <p:sp>
          <p:nvSpPr>
            <p:cNvPr id="21515"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eaLnBrk="1" hangingPunct="1">
                <a:defRPr/>
              </a:pPr>
              <a:endParaRPr lang="zh-TW" altLang="en-US" sz="2400">
                <a:latin typeface="Times New Roman" pitchFamily="18" charset="0"/>
                <a:ea typeface="PMingLiU" pitchFamily="18" charset="-120"/>
              </a:endParaRPr>
            </a:p>
          </p:txBody>
        </p:sp>
        <p:sp>
          <p:nvSpPr>
            <p:cNvPr id="21516"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PMingLiU" pitchFamily="18" charset="-120"/>
              </a:endParaRPr>
            </a:p>
          </p:txBody>
        </p:sp>
        <p:sp>
          <p:nvSpPr>
            <p:cNvPr id="21517"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eaLnBrk="1" hangingPunct="1">
                <a:defRPr/>
              </a:pPr>
              <a:endParaRPr lang="zh-TW" altLang="en-US">
                <a:solidFill>
                  <a:schemeClr val="accent2"/>
                </a:solidFill>
                <a:ea typeface="PMingLiU" pitchFamily="18" charset="-120"/>
              </a:endParaRPr>
            </a:p>
          </p:txBody>
        </p:sp>
      </p:grpSp>
      <p:sp>
        <p:nvSpPr>
          <p:cNvPr id="5125"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TW"/>
              <a:t>Click to edit Master title style</a:t>
            </a:r>
          </a:p>
        </p:txBody>
      </p:sp>
      <p:sp>
        <p:nvSpPr>
          <p:cNvPr id="5126"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2152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smtClean="0">
                <a:ea typeface="PMingLiU" pitchFamily="18" charset="-120"/>
              </a:defRPr>
            </a:lvl1pPr>
          </a:lstStyle>
          <a:p>
            <a:pPr>
              <a:defRPr/>
            </a:pPr>
            <a:endParaRPr lang="en-US" altLang="zh-TW"/>
          </a:p>
        </p:txBody>
      </p:sp>
    </p:spTree>
  </p:cSld>
  <p:clrMap bg1="lt1" tx1="dk1" bg2="lt2" tx2="dk2" accent1="accent1" accent2="accent2" accent3="accent3" accent4="accent4" accent5="accent5" accent6="accent6" hlink="hlink" folHlink="folHlink"/>
  <p:sldLayoutIdLst>
    <p:sldLayoutId id="2147483700"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hyperlink" Target="http://physics.nist.gov/PhysRefData/Ionization/atom_index.html"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hyperlink" Target="http://www.sdsc.edu/ScienceWomen/credits.html#meitner" TargetMode="Externa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3.wmf"/></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5.png"/><Relationship Id="rId7"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3.bin"/><Relationship Id="rId7" Type="http://schemas.openxmlformats.org/officeDocument/2006/relationships/oleObject" Target="../embeddings/oleObject6.bin"/><Relationship Id="rId2" Type="http://schemas.openxmlformats.org/officeDocument/2006/relationships/image" Target="../media/image45.wmf"/><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46.wmf"/><Relationship Id="rId9" Type="http://schemas.openxmlformats.org/officeDocument/2006/relationships/oleObject" Target="../embeddings/oleObject8.bin"/></Relationships>
</file>

<file path=ppt/slides/_rels/slide3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hyperlink" Target="http://srdata.nist.gov/xps/main_search_menu.aspx" TargetMode="Externa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550.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slideLayout" Target="../slideLayouts/slideLayout7.xml"/><Relationship Id="rId4" Type="http://schemas.openxmlformats.org/officeDocument/2006/relationships/image" Target="../media/image62.wmf"/></Relationships>
</file>

<file path=ppt/slides/_rels/slide47.x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slideLayout" Target="../slideLayouts/slideLayout7.xml"/><Relationship Id="rId4" Type="http://schemas.openxmlformats.org/officeDocument/2006/relationships/image" Target="../media/image73.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2971800" y="1828800"/>
            <a:ext cx="6858000" cy="2209800"/>
          </a:xfrm>
        </p:spPr>
        <p:txBody>
          <a:bodyPr/>
          <a:lstStyle/>
          <a:p>
            <a:pPr eaLnBrk="1" hangingPunct="1"/>
            <a:r>
              <a:rPr lang="en-US" altLang="zh-TW" sz="4800" dirty="0">
                <a:solidFill>
                  <a:srgbClr val="FFFFCC"/>
                </a:solidFill>
                <a:latin typeface="Georgia" panose="02040502050405020303" pitchFamily="18" charset="0"/>
                <a:ea typeface="PMingLiU" pitchFamily="18" charset="-120"/>
              </a:rPr>
              <a:t>PHYS 5350</a:t>
            </a:r>
            <a:br>
              <a:rPr lang="en-US" altLang="zh-TW" sz="4800" dirty="0">
                <a:latin typeface="Georgia" panose="02040502050405020303" pitchFamily="18" charset="0"/>
                <a:ea typeface="PMingLiU" pitchFamily="18" charset="-120"/>
              </a:rPr>
            </a:br>
            <a:r>
              <a:rPr lang="en-US" altLang="zh-TW" sz="4000" dirty="0">
                <a:latin typeface="Georgia" panose="02040502050405020303" pitchFamily="18" charset="0"/>
                <a:ea typeface="PMingLiU" pitchFamily="18" charset="-120"/>
              </a:rPr>
              <a:t>techniques in</a:t>
            </a:r>
            <a:br>
              <a:rPr lang="en-US" altLang="zh-TW" sz="4000" dirty="0">
                <a:latin typeface="Georgia" panose="02040502050405020303" pitchFamily="18" charset="0"/>
                <a:ea typeface="PMingLiU" pitchFamily="18" charset="-120"/>
              </a:rPr>
            </a:br>
            <a:r>
              <a:rPr lang="en-US" altLang="zh-TW" sz="4000" dirty="0">
                <a:latin typeface="Georgia" panose="02040502050405020303" pitchFamily="18" charset="0"/>
                <a:ea typeface="PMingLiU" pitchFamily="18" charset="-120"/>
              </a:rPr>
              <a:t>materials characterization</a:t>
            </a:r>
          </a:p>
        </p:txBody>
      </p:sp>
      <p:sp>
        <p:nvSpPr>
          <p:cNvPr id="7171" name="Rectangle 3"/>
          <p:cNvSpPr>
            <a:spLocks noGrp="1" noChangeArrowheads="1"/>
          </p:cNvSpPr>
          <p:nvPr>
            <p:ph type="subTitle" idx="1"/>
          </p:nvPr>
        </p:nvSpPr>
        <p:spPr/>
        <p:txBody>
          <a:bodyPr/>
          <a:lstStyle/>
          <a:p>
            <a:pPr eaLnBrk="1" hangingPunct="1"/>
            <a:r>
              <a:rPr lang="en-US" altLang="zh-TW" dirty="0">
                <a:latin typeface="Georgia" panose="02040502050405020303" pitchFamily="18" charset="0"/>
                <a:ea typeface="PMingLiU" pitchFamily="18" charset="-120"/>
              </a:rPr>
              <a:t>Auger electron spectroscopy</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84344" y="1676400"/>
            <a:ext cx="1797287" cy="707886"/>
          </a:xfrm>
          <a:prstGeom prst="rect">
            <a:avLst/>
          </a:prstGeom>
          <a:noFill/>
        </p:spPr>
        <p:txBody>
          <a:bodyPr wrap="none" rtlCol="0">
            <a:spAutoFit/>
          </a:bodyPr>
          <a:lstStyle/>
          <a:p>
            <a:pPr algn="ctr"/>
            <a:r>
              <a:rPr lang="en-US" sz="2000" dirty="0">
                <a:latin typeface="Georgia" panose="02040502050405020303" pitchFamily="18" charset="0"/>
              </a:rPr>
              <a:t>Primary beam</a:t>
            </a:r>
          </a:p>
          <a:p>
            <a:pPr algn="ctr"/>
            <a:r>
              <a:rPr lang="en-US" sz="2000" dirty="0">
                <a:latin typeface="Georgia" panose="02040502050405020303" pitchFamily="18" charset="0"/>
              </a:rPr>
              <a:t>(source)</a:t>
            </a:r>
          </a:p>
        </p:txBody>
      </p:sp>
      <p:sp>
        <p:nvSpPr>
          <p:cNvPr id="6" name="TextBox 5"/>
          <p:cNvSpPr txBox="1"/>
          <p:nvPr/>
        </p:nvSpPr>
        <p:spPr>
          <a:xfrm>
            <a:off x="5819398" y="1676400"/>
            <a:ext cx="2055371" cy="707886"/>
          </a:xfrm>
          <a:prstGeom prst="rect">
            <a:avLst/>
          </a:prstGeom>
          <a:noFill/>
        </p:spPr>
        <p:txBody>
          <a:bodyPr wrap="none" rtlCol="0">
            <a:spAutoFit/>
          </a:bodyPr>
          <a:lstStyle/>
          <a:p>
            <a:pPr algn="ctr"/>
            <a:r>
              <a:rPr lang="en-US" sz="2000" dirty="0">
                <a:latin typeface="Georgia" panose="02040502050405020303" pitchFamily="18" charset="0"/>
              </a:rPr>
              <a:t>Secondary beam</a:t>
            </a:r>
          </a:p>
          <a:p>
            <a:pPr algn="ctr"/>
            <a:r>
              <a:rPr lang="en-US" sz="2000" dirty="0">
                <a:latin typeface="Georgia" panose="02040502050405020303" pitchFamily="18" charset="0"/>
              </a:rPr>
              <a:t>(result)</a:t>
            </a:r>
          </a:p>
        </p:txBody>
      </p:sp>
      <p:sp>
        <p:nvSpPr>
          <p:cNvPr id="7" name="TextBox 6"/>
          <p:cNvSpPr txBox="1"/>
          <p:nvPr/>
        </p:nvSpPr>
        <p:spPr>
          <a:xfrm>
            <a:off x="1409754" y="3606485"/>
            <a:ext cx="1446230" cy="1323439"/>
          </a:xfrm>
          <a:prstGeom prst="rect">
            <a:avLst/>
          </a:prstGeom>
          <a:noFill/>
        </p:spPr>
        <p:txBody>
          <a:bodyPr wrap="none" rtlCol="0">
            <a:spAutoFit/>
          </a:bodyPr>
          <a:lstStyle/>
          <a:p>
            <a:r>
              <a:rPr lang="en-US" sz="2000" dirty="0">
                <a:latin typeface="Georgia" panose="02040502050405020303" pitchFamily="18" charset="0"/>
              </a:rPr>
              <a:t>Photons</a:t>
            </a:r>
          </a:p>
          <a:p>
            <a:r>
              <a:rPr lang="en-US" sz="2000" b="1" dirty="0">
                <a:solidFill>
                  <a:srgbClr val="FF0000"/>
                </a:solidFill>
                <a:latin typeface="Georgia" panose="02040502050405020303" pitchFamily="18" charset="0"/>
              </a:rPr>
              <a:t>Electrons</a:t>
            </a:r>
          </a:p>
          <a:p>
            <a:r>
              <a:rPr lang="en-US" sz="2000" dirty="0">
                <a:latin typeface="Georgia" panose="02040502050405020303" pitchFamily="18" charset="0"/>
              </a:rPr>
              <a:t>Ions</a:t>
            </a:r>
          </a:p>
          <a:p>
            <a:r>
              <a:rPr lang="en-US" sz="2000" dirty="0">
                <a:latin typeface="Georgia" panose="02040502050405020303" pitchFamily="18" charset="0"/>
              </a:rPr>
              <a:t>…</a:t>
            </a:r>
          </a:p>
        </p:txBody>
      </p:sp>
      <p:sp>
        <p:nvSpPr>
          <p:cNvPr id="8" name="TextBox 7"/>
          <p:cNvSpPr txBox="1"/>
          <p:nvPr/>
        </p:nvSpPr>
        <p:spPr>
          <a:xfrm>
            <a:off x="6019800" y="3329486"/>
            <a:ext cx="1446230" cy="1631216"/>
          </a:xfrm>
          <a:prstGeom prst="rect">
            <a:avLst/>
          </a:prstGeom>
          <a:noFill/>
        </p:spPr>
        <p:txBody>
          <a:bodyPr wrap="none" rtlCol="0">
            <a:spAutoFit/>
          </a:bodyPr>
          <a:lstStyle/>
          <a:p>
            <a:r>
              <a:rPr lang="en-US" sz="2000" dirty="0">
                <a:latin typeface="Georgia" panose="02040502050405020303" pitchFamily="18" charset="0"/>
              </a:rPr>
              <a:t>Photons</a:t>
            </a:r>
          </a:p>
          <a:p>
            <a:r>
              <a:rPr lang="en-US" sz="2000" b="1" dirty="0">
                <a:solidFill>
                  <a:srgbClr val="FF0000"/>
                </a:solidFill>
                <a:latin typeface="Georgia" panose="02040502050405020303" pitchFamily="18" charset="0"/>
              </a:rPr>
              <a:t>Electrons</a:t>
            </a:r>
          </a:p>
          <a:p>
            <a:r>
              <a:rPr lang="en-US" sz="2000" dirty="0">
                <a:latin typeface="Georgia" panose="02040502050405020303" pitchFamily="18" charset="0"/>
              </a:rPr>
              <a:t>Ions</a:t>
            </a:r>
          </a:p>
          <a:p>
            <a:r>
              <a:rPr lang="en-US" sz="2000" dirty="0">
                <a:latin typeface="Georgia" panose="02040502050405020303" pitchFamily="18" charset="0"/>
              </a:rPr>
              <a:t>Phonons</a:t>
            </a:r>
          </a:p>
          <a:p>
            <a:r>
              <a:rPr lang="en-US" sz="2000" dirty="0">
                <a:latin typeface="Georgia" panose="02040502050405020303" pitchFamily="18" charset="0"/>
              </a:rPr>
              <a:t>…</a:t>
            </a:r>
          </a:p>
        </p:txBody>
      </p:sp>
      <p:sp>
        <p:nvSpPr>
          <p:cNvPr id="9" name="Right Arrow 8"/>
          <p:cNvSpPr/>
          <p:nvPr/>
        </p:nvSpPr>
        <p:spPr bwMode="auto">
          <a:xfrm>
            <a:off x="2725911" y="3911285"/>
            <a:ext cx="381000" cy="15257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Georgia" panose="02040502050405020303" pitchFamily="18" charset="0"/>
            </a:endParaRPr>
          </a:p>
        </p:txBody>
      </p:sp>
      <p:sp>
        <p:nvSpPr>
          <p:cNvPr id="10" name="Right Arrow 9"/>
          <p:cNvSpPr/>
          <p:nvPr/>
        </p:nvSpPr>
        <p:spPr bwMode="auto">
          <a:xfrm>
            <a:off x="5112009" y="3911113"/>
            <a:ext cx="381000" cy="15257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Georgia" panose="02040502050405020303" pitchFamily="18" charset="0"/>
            </a:endParaRPr>
          </a:p>
        </p:txBody>
      </p:sp>
      <p:sp>
        <p:nvSpPr>
          <p:cNvPr id="2" name="Slide Number Placeholder 1">
            <a:extLst>
              <a:ext uri="{FF2B5EF4-FFF2-40B4-BE49-F238E27FC236}">
                <a16:creationId xmlns:a16="http://schemas.microsoft.com/office/drawing/2014/main" id="{DE3C7F8E-903C-4278-B3FF-1214D9520A35}"/>
              </a:ext>
            </a:extLst>
          </p:cNvPr>
          <p:cNvSpPr>
            <a:spLocks noGrp="1"/>
          </p:cNvSpPr>
          <p:nvPr>
            <p:ph type="sldNum" sz="quarter" idx="11"/>
          </p:nvPr>
        </p:nvSpPr>
        <p:spPr/>
        <p:txBody>
          <a:bodyPr/>
          <a:lstStyle/>
          <a:p>
            <a:pPr>
              <a:defRPr/>
            </a:pPr>
            <a:fld id="{9A975D84-2197-4ABB-80EB-AE85607E50F0}" type="slidenum">
              <a:rPr lang="zh-TW" altLang="en-US" smtClean="0"/>
              <a:pPr>
                <a:defRPr/>
              </a:pPr>
              <a:t>2</a:t>
            </a:fld>
            <a:endParaRPr lang="en-US" altLang="zh-TW"/>
          </a:p>
        </p:txBody>
      </p:sp>
      <p:pic>
        <p:nvPicPr>
          <p:cNvPr id="3" name="Picture 2" descr="A white rabbit with a black background&#10;&#10;Description automatically generated with low confidence">
            <a:extLst>
              <a:ext uri="{FF2B5EF4-FFF2-40B4-BE49-F238E27FC236}">
                <a16:creationId xmlns:a16="http://schemas.microsoft.com/office/drawing/2014/main" id="{6081097D-12F0-3201-64C9-2EB0D65890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43137" y="2755569"/>
            <a:ext cx="2311088" cy="2311088"/>
          </a:xfrm>
          <a:prstGeom prst="rect">
            <a:avLst/>
          </a:prstGeom>
        </p:spPr>
      </p:pic>
    </p:spTree>
    <p:extLst>
      <p:ext uri="{BB962C8B-B14F-4D97-AF65-F5344CB8AC3E}">
        <p14:creationId xmlns:p14="http://schemas.microsoft.com/office/powerpoint/2010/main" val="892183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42900" y="548818"/>
            <a:ext cx="8229600" cy="940714"/>
          </a:xfrm>
        </p:spPr>
        <p:txBody>
          <a:bodyPr/>
          <a:lstStyle/>
          <a:p>
            <a:pPr eaLnBrk="1" hangingPunct="1"/>
            <a:r>
              <a:rPr lang="en-US" altLang="zh-TW" sz="2400" dirty="0">
                <a:latin typeface="Georgia" panose="02040502050405020303" pitchFamily="18" charset="0"/>
                <a:ea typeface="PMingLiU" pitchFamily="18" charset="-120"/>
              </a:rPr>
              <a:t>Content</a:t>
            </a:r>
          </a:p>
        </p:txBody>
      </p:sp>
      <p:sp>
        <p:nvSpPr>
          <p:cNvPr id="8195" name="Rectangle 3"/>
          <p:cNvSpPr>
            <a:spLocks noGrp="1" noChangeArrowheads="1"/>
          </p:cNvSpPr>
          <p:nvPr>
            <p:ph type="body" idx="1"/>
          </p:nvPr>
        </p:nvSpPr>
        <p:spPr>
          <a:xfrm>
            <a:off x="1981200" y="1006018"/>
            <a:ext cx="6096000" cy="5642432"/>
          </a:xfrm>
        </p:spPr>
        <p:txBody>
          <a:bodyPr/>
          <a:lstStyle/>
          <a:p>
            <a:pPr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Background</a:t>
            </a:r>
          </a:p>
          <a:p>
            <a:pPr lvl="1"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Electron beam interaction</a:t>
            </a:r>
          </a:p>
          <a:p>
            <a:pPr lvl="1"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Auger process</a:t>
            </a:r>
          </a:p>
          <a:p>
            <a:pPr lvl="1"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Nomenclature</a:t>
            </a:r>
          </a:p>
          <a:p>
            <a:pPr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Instrumentation</a:t>
            </a:r>
          </a:p>
          <a:p>
            <a:pPr lvl="1"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Electron beam</a:t>
            </a:r>
          </a:p>
          <a:p>
            <a:pPr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Spectral Interpretations</a:t>
            </a:r>
          </a:p>
          <a:p>
            <a:pPr lvl="1"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Qualitative analysis</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Energy of Auger transition</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Intensity of Auger electrons</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Element identification</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Chemical state information</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SEM and Auger images</a:t>
            </a:r>
          </a:p>
          <a:p>
            <a:pPr lvl="1"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Quantitative analysis</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Signal quantification</a:t>
            </a:r>
          </a:p>
          <a:p>
            <a:pPr lvl="2" algn="just" eaLnBrk="1" hangingPunct="1">
              <a:spcBef>
                <a:spcPts val="0"/>
              </a:spcBef>
              <a:spcAft>
                <a:spcPts val="300"/>
              </a:spcAft>
              <a:buClr>
                <a:schemeClr val="tx1"/>
              </a:buClr>
              <a:buSzPct val="120000"/>
              <a:buFont typeface="Arial" panose="020B0604020202020204" pitchFamily="34" charset="0"/>
              <a:buChar char="•"/>
            </a:pPr>
            <a:r>
              <a:rPr lang="en-US" altLang="zh-TW" sz="2000" dirty="0">
                <a:latin typeface="Georgia" panose="02040502050405020303" pitchFamily="18" charset="0"/>
                <a:ea typeface="PMingLiU" pitchFamily="18" charset="-120"/>
              </a:rPr>
              <a:t>Depth profile</a:t>
            </a:r>
          </a:p>
        </p:txBody>
      </p:sp>
      <p:sp>
        <p:nvSpPr>
          <p:cNvPr id="8196" name="Rectangle 4"/>
          <p:cNvSpPr>
            <a:spLocks noChangeArrowheads="1"/>
          </p:cNvSpPr>
          <p:nvPr/>
        </p:nvSpPr>
        <p:spPr bwMode="auto">
          <a:xfrm>
            <a:off x="676275" y="20955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Auger electron spectroscopy</a:t>
            </a:r>
          </a:p>
        </p:txBody>
      </p:sp>
      <p:sp>
        <p:nvSpPr>
          <p:cNvPr id="2" name="Slide Number Placeholder 1">
            <a:extLst>
              <a:ext uri="{FF2B5EF4-FFF2-40B4-BE49-F238E27FC236}">
                <a16:creationId xmlns:a16="http://schemas.microsoft.com/office/drawing/2014/main" id="{68FB896F-22E1-4BD7-ADDB-DF5EB4660A11}"/>
              </a:ext>
            </a:extLst>
          </p:cNvPr>
          <p:cNvSpPr>
            <a:spLocks noGrp="1"/>
          </p:cNvSpPr>
          <p:nvPr>
            <p:ph type="sldNum" sz="quarter" idx="11"/>
          </p:nvPr>
        </p:nvSpPr>
        <p:spPr/>
        <p:txBody>
          <a:bodyPr/>
          <a:lstStyle/>
          <a:p>
            <a:pPr>
              <a:defRPr/>
            </a:pPr>
            <a:fld id="{8CA4E1D9-CE51-44D2-9AA7-12A33D60B7A4}" type="slidenum">
              <a:rPr lang="zh-TW" altLang="en-US" smtClean="0"/>
              <a:pPr>
                <a:defRPr/>
              </a:pPr>
              <a:t>3</a:t>
            </a:fld>
            <a:endParaRPr lang="en-US" altLang="zh-TW"/>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6781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 Box 6"/>
          <p:cNvSpPr txBox="1">
            <a:spLocks noChangeArrowheads="1"/>
          </p:cNvSpPr>
          <p:nvPr/>
        </p:nvSpPr>
        <p:spPr bwMode="auto">
          <a:xfrm>
            <a:off x="228600" y="4617125"/>
            <a:ext cx="86868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r>
              <a:rPr lang="en-US" altLang="zh-TW" dirty="0">
                <a:latin typeface="Georgia" panose="02040502050405020303" pitchFamily="18" charset="0"/>
                <a:ea typeface="PMingLiU" pitchFamily="18" charset="-120"/>
              </a:rPr>
              <a:t>The basic Auger process starts with the removal of an inner shell electron, leaving a vacancy (hole). Several processes are capable of producing the hole, but bombardment with </a:t>
            </a:r>
            <a:r>
              <a:rPr lang="en-US" altLang="zh-TW" dirty="0">
                <a:solidFill>
                  <a:schemeClr val="bg2">
                    <a:lumMod val="60000"/>
                    <a:lumOff val="40000"/>
                  </a:schemeClr>
                </a:solidFill>
                <a:latin typeface="Georgia" panose="02040502050405020303" pitchFamily="18" charset="0"/>
                <a:ea typeface="PMingLiU" pitchFamily="18" charset="-120"/>
              </a:rPr>
              <a:t>an electron beam </a:t>
            </a:r>
            <a:r>
              <a:rPr lang="en-US" altLang="zh-TW" dirty="0">
                <a:latin typeface="Georgia" panose="02040502050405020303" pitchFamily="18" charset="0"/>
                <a:ea typeface="PMingLiU" pitchFamily="18" charset="-120"/>
              </a:rPr>
              <a:t>is the most common one. The hole is filled by a second electron from an outer shell, with excess energy simultaneously released. A third electron, the Auger electron, escapes carrying the excess energy in a </a:t>
            </a:r>
            <a:r>
              <a:rPr lang="en-US" altLang="zh-TW" dirty="0" err="1">
                <a:latin typeface="Georgia" panose="02040502050405020303" pitchFamily="18" charset="0"/>
                <a:ea typeface="PMingLiU" pitchFamily="18" charset="-120"/>
              </a:rPr>
              <a:t>radiationless</a:t>
            </a:r>
            <a:r>
              <a:rPr lang="en-US" altLang="zh-TW" dirty="0">
                <a:latin typeface="Georgia" panose="02040502050405020303" pitchFamily="18" charset="0"/>
                <a:ea typeface="PMingLiU" pitchFamily="18" charset="-120"/>
              </a:rPr>
              <a:t> process. Such a process of an excited atom decaying into a doubly charged ion by ejection of electrons is called the Auger process.</a:t>
            </a:r>
            <a:endParaRPr lang="zh-TW" altLang="en-US" dirty="0">
              <a:latin typeface="Georgia" panose="02040502050405020303" pitchFamily="18" charset="0"/>
              <a:ea typeface="PMingLiU" pitchFamily="18" charset="-120"/>
            </a:endParaRPr>
          </a:p>
        </p:txBody>
      </p:sp>
      <p:sp>
        <p:nvSpPr>
          <p:cNvPr id="9221" name="Text Box 7"/>
          <p:cNvSpPr txBox="1">
            <a:spLocks noChangeArrowheads="1"/>
          </p:cNvSpPr>
          <p:nvPr/>
        </p:nvSpPr>
        <p:spPr bwMode="auto">
          <a:xfrm>
            <a:off x="2971800" y="1011677"/>
            <a:ext cx="2098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latin typeface="Georgia" panose="02040502050405020303" pitchFamily="18" charset="0"/>
                <a:ea typeface="PMingLiU" pitchFamily="18" charset="-120"/>
              </a:rPr>
              <a:t>Auger process</a:t>
            </a:r>
          </a:p>
        </p:txBody>
      </p:sp>
      <p:sp>
        <p:nvSpPr>
          <p:cNvPr id="2" name="Slide Number Placeholder 1">
            <a:extLst>
              <a:ext uri="{FF2B5EF4-FFF2-40B4-BE49-F238E27FC236}">
                <a16:creationId xmlns:a16="http://schemas.microsoft.com/office/drawing/2014/main" id="{81AE5B02-2DCF-4290-8776-092E75CA7C15}"/>
              </a:ext>
            </a:extLst>
          </p:cNvPr>
          <p:cNvSpPr>
            <a:spLocks noGrp="1"/>
          </p:cNvSpPr>
          <p:nvPr>
            <p:ph type="sldNum" sz="quarter" idx="11"/>
          </p:nvPr>
        </p:nvSpPr>
        <p:spPr/>
        <p:txBody>
          <a:bodyPr/>
          <a:lstStyle/>
          <a:p>
            <a:pPr>
              <a:defRPr/>
            </a:pPr>
            <a:fld id="{9A975D84-2197-4ABB-80EB-AE85607E50F0}" type="slidenum">
              <a:rPr lang="zh-TW" altLang="en-US" smtClean="0"/>
              <a:pPr>
                <a:defRPr/>
              </a:pPr>
              <a:t>4</a:t>
            </a:fld>
            <a:endParaRPr lang="en-US" altLang="zh-TW"/>
          </a:p>
        </p:txBody>
      </p:sp>
      <p:sp>
        <p:nvSpPr>
          <p:cNvPr id="3" name="Rectangle 4">
            <a:extLst>
              <a:ext uri="{FF2B5EF4-FFF2-40B4-BE49-F238E27FC236}">
                <a16:creationId xmlns:a16="http://schemas.microsoft.com/office/drawing/2014/main" id="{3D09EE7A-0848-0533-ECE6-FD8B85867C11}"/>
              </a:ext>
            </a:extLst>
          </p:cNvPr>
          <p:cNvSpPr>
            <a:spLocks noChangeArrowheads="1"/>
          </p:cNvSpPr>
          <p:nvPr/>
        </p:nvSpPr>
        <p:spPr bwMode="auto">
          <a:xfrm>
            <a:off x="676275" y="20955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Auger electron spectroscopy: principle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685800" y="2830513"/>
            <a:ext cx="62199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a:latin typeface="Georgia" panose="02040502050405020303" pitchFamily="18" charset="0"/>
              </a:rPr>
              <a:t>Step 2: Relaxation : Auger emission or X-ray fluorescence   </a:t>
            </a:r>
          </a:p>
        </p:txBody>
      </p:sp>
      <p:sp>
        <p:nvSpPr>
          <p:cNvPr id="6147" name="TextBox 2"/>
          <p:cNvSpPr txBox="1">
            <a:spLocks noChangeArrowheads="1"/>
          </p:cNvSpPr>
          <p:nvPr/>
        </p:nvSpPr>
        <p:spPr bwMode="auto">
          <a:xfrm>
            <a:off x="685800" y="1001713"/>
            <a:ext cx="1966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a:latin typeface="Georgia" panose="02040502050405020303" pitchFamily="18" charset="0"/>
              </a:rPr>
              <a:t>Step 1: Ionization</a:t>
            </a:r>
          </a:p>
        </p:txBody>
      </p:sp>
      <p:sp>
        <p:nvSpPr>
          <p:cNvPr id="6148" name="TextBox 3"/>
          <p:cNvSpPr txBox="1">
            <a:spLocks noChangeArrowheads="1"/>
          </p:cNvSpPr>
          <p:nvPr/>
        </p:nvSpPr>
        <p:spPr bwMode="auto">
          <a:xfrm>
            <a:off x="679450" y="1390650"/>
            <a:ext cx="81534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latin typeface="Georgia" panose="02040502050405020303" pitchFamily="18" charset="0"/>
              </a:rPr>
              <a:t>In AES: a beam of high energy electrons (in the range </a:t>
            </a:r>
            <a:r>
              <a:rPr lang="en-US" altLang="en-US" dirty="0">
                <a:solidFill>
                  <a:srgbClr val="FF0000"/>
                </a:solidFill>
                <a:latin typeface="Georgia" panose="02040502050405020303" pitchFamily="18" charset="0"/>
              </a:rPr>
              <a:t>2 - 10 keV</a:t>
            </a:r>
            <a:r>
              <a:rPr lang="en-US" altLang="en-US" dirty="0">
                <a:latin typeface="Georgia" panose="02040502050405020303" pitchFamily="18" charset="0"/>
              </a:rPr>
              <a:t>). Such electrons have sufficient energy to ionize all levels of the lighter elements, and higher core levels of the heavier elements.  </a:t>
            </a:r>
          </a:p>
        </p:txBody>
      </p:sp>
      <p:sp>
        <p:nvSpPr>
          <p:cNvPr id="5" name="TextBox 4"/>
          <p:cNvSpPr txBox="1"/>
          <p:nvPr/>
        </p:nvSpPr>
        <p:spPr>
          <a:xfrm>
            <a:off x="679450" y="2276475"/>
            <a:ext cx="8153400" cy="369888"/>
          </a:xfrm>
          <a:prstGeom prst="rect">
            <a:avLst/>
          </a:prstGeom>
          <a:noFill/>
        </p:spPr>
        <p:txBody>
          <a:bodyPr>
            <a:spAutoFit/>
          </a:bodyPr>
          <a:lstStyle/>
          <a:p>
            <a:pPr>
              <a:defRPr/>
            </a:pPr>
            <a:r>
              <a:rPr lang="en-US" dirty="0">
                <a:latin typeface="Georgia" panose="02040502050405020303" pitchFamily="18" charset="0"/>
              </a:rPr>
              <a:t>In XPS: Soft X-rays </a:t>
            </a:r>
            <a:r>
              <a:rPr lang="en-US" altLang="en-US" dirty="0">
                <a:latin typeface="Georgia" panose="02040502050405020303" pitchFamily="18" charset="0"/>
              </a:rPr>
              <a:t>( h</a:t>
            </a:r>
            <a:r>
              <a:rPr lang="el-GR" altLang="en-US" dirty="0">
                <a:latin typeface="Georgia" panose="02040502050405020303" pitchFamily="18" charset="0"/>
              </a:rPr>
              <a:t>ν</a:t>
            </a:r>
            <a:r>
              <a:rPr lang="en-US" altLang="en-US" dirty="0">
                <a:latin typeface="Georgia" panose="02040502050405020303" pitchFamily="18" charset="0"/>
              </a:rPr>
              <a:t> = 1-2  </a:t>
            </a:r>
            <a:r>
              <a:rPr lang="en-US" altLang="en-US" dirty="0" err="1">
                <a:latin typeface="Georgia" panose="02040502050405020303" pitchFamily="18" charset="0"/>
              </a:rPr>
              <a:t>keV</a:t>
            </a:r>
            <a:r>
              <a:rPr lang="en-US" altLang="en-US" dirty="0">
                <a:latin typeface="Georgia" panose="02040502050405020303" pitchFamily="18" charset="0"/>
              </a:rPr>
              <a:t> )</a:t>
            </a:r>
            <a:r>
              <a:rPr lang="en-US" dirty="0">
                <a:latin typeface="Georgia" panose="02040502050405020303" pitchFamily="18" charset="0"/>
              </a:rPr>
              <a:t>. </a:t>
            </a:r>
          </a:p>
        </p:txBody>
      </p:sp>
      <p:sp>
        <p:nvSpPr>
          <p:cNvPr id="6151" name="Rectangle 6"/>
          <p:cNvSpPr>
            <a:spLocks noChangeArrowheads="1"/>
          </p:cNvSpPr>
          <p:nvPr/>
        </p:nvSpPr>
        <p:spPr bwMode="auto">
          <a:xfrm>
            <a:off x="2856706" y="4321135"/>
            <a:ext cx="55018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b="1" dirty="0">
                <a:latin typeface="Georgia" panose="02040502050405020303" pitchFamily="18" charset="0"/>
              </a:rPr>
              <a:t>KE = ( E</a:t>
            </a:r>
            <a:r>
              <a:rPr lang="en-US" altLang="en-US" b="1" baseline="-25000" dirty="0">
                <a:latin typeface="Georgia" panose="02040502050405020303" pitchFamily="18" charset="0"/>
              </a:rPr>
              <a:t>K</a:t>
            </a:r>
            <a:r>
              <a:rPr lang="en-US" altLang="en-US" b="1" dirty="0">
                <a:latin typeface="Georgia" panose="02040502050405020303" pitchFamily="18" charset="0"/>
              </a:rPr>
              <a:t> - E</a:t>
            </a:r>
            <a:r>
              <a:rPr lang="en-US" altLang="en-US" b="1" baseline="-25000" dirty="0">
                <a:latin typeface="Georgia" panose="02040502050405020303" pitchFamily="18" charset="0"/>
              </a:rPr>
              <a:t>L1 </a:t>
            </a:r>
            <a:r>
              <a:rPr lang="en-US" altLang="en-US" b="1" dirty="0">
                <a:latin typeface="Georgia" panose="02040502050405020303" pitchFamily="18" charset="0"/>
              </a:rPr>
              <a:t>) - E</a:t>
            </a:r>
            <a:r>
              <a:rPr lang="en-US" altLang="en-US" b="1" baseline="-25000" dirty="0">
                <a:latin typeface="Georgia" panose="02040502050405020303" pitchFamily="18" charset="0"/>
              </a:rPr>
              <a:t>L23</a:t>
            </a:r>
            <a:r>
              <a:rPr lang="en-US" altLang="en-US" b="1" dirty="0">
                <a:latin typeface="Georgia" panose="02040502050405020303" pitchFamily="18" charset="0"/>
              </a:rPr>
              <a:t> -</a:t>
            </a:r>
            <a:r>
              <a:rPr lang="en-US" altLang="en-US" dirty="0">
                <a:latin typeface="Georgia" panose="02040502050405020303" pitchFamily="18" charset="0"/>
              </a:rPr>
              <a:t> </a:t>
            </a:r>
            <a:r>
              <a:rPr lang="el-GR" altLang="en-US" dirty="0">
                <a:latin typeface="Georgia" panose="02040502050405020303" pitchFamily="18" charset="0"/>
              </a:rPr>
              <a:t>φ </a:t>
            </a:r>
            <a:r>
              <a:rPr lang="en-US" altLang="en-US" b="1" dirty="0">
                <a:latin typeface="Georgia" panose="02040502050405020303" pitchFamily="18" charset="0"/>
              </a:rPr>
              <a:t>= E</a:t>
            </a:r>
            <a:r>
              <a:rPr lang="en-US" altLang="en-US" b="1" baseline="-25000" dirty="0">
                <a:latin typeface="Georgia" panose="02040502050405020303" pitchFamily="18" charset="0"/>
              </a:rPr>
              <a:t>K</a:t>
            </a:r>
            <a:r>
              <a:rPr lang="en-US" altLang="en-US" b="1" dirty="0">
                <a:latin typeface="Georgia" panose="02040502050405020303" pitchFamily="18" charset="0"/>
              </a:rPr>
              <a:t> - ( E</a:t>
            </a:r>
            <a:r>
              <a:rPr lang="en-US" altLang="en-US" b="1" baseline="-25000" dirty="0">
                <a:latin typeface="Georgia" panose="02040502050405020303" pitchFamily="18" charset="0"/>
              </a:rPr>
              <a:t>L1</a:t>
            </a:r>
            <a:r>
              <a:rPr lang="en-US" altLang="en-US" b="1" dirty="0">
                <a:latin typeface="Georgia" panose="02040502050405020303" pitchFamily="18" charset="0"/>
              </a:rPr>
              <a:t> + E</a:t>
            </a:r>
            <a:r>
              <a:rPr lang="en-US" altLang="en-US" b="1" baseline="-25000" dirty="0">
                <a:latin typeface="Georgia" panose="02040502050405020303" pitchFamily="18" charset="0"/>
              </a:rPr>
              <a:t>L23</a:t>
            </a:r>
            <a:r>
              <a:rPr lang="en-US" altLang="en-US" b="1" dirty="0">
                <a:latin typeface="Georgia" panose="02040502050405020303" pitchFamily="18" charset="0"/>
              </a:rPr>
              <a:t> )</a:t>
            </a:r>
            <a:r>
              <a:rPr lang="en-US" altLang="en-US" dirty="0">
                <a:solidFill>
                  <a:schemeClr val="bg1">
                    <a:lumMod val="65000"/>
                  </a:schemeClr>
                </a:solidFill>
                <a:latin typeface="Georgia" panose="02040502050405020303" pitchFamily="18" charset="0"/>
              </a:rPr>
              <a:t> </a:t>
            </a:r>
            <a:r>
              <a:rPr lang="en-US" altLang="en-US" dirty="0">
                <a:latin typeface="Georgia" panose="02040502050405020303" pitchFamily="18" charset="0"/>
              </a:rPr>
              <a:t>-</a:t>
            </a:r>
            <a:r>
              <a:rPr lang="el-GR" altLang="en-US" dirty="0">
                <a:latin typeface="Georgia" panose="02040502050405020303" pitchFamily="18" charset="0"/>
              </a:rPr>
              <a:t>φ</a:t>
            </a:r>
            <a:endParaRPr lang="en-US" altLang="en-US" b="1" dirty="0">
              <a:latin typeface="Georgia" panose="02040502050405020303" pitchFamily="18" charset="0"/>
            </a:endParaRPr>
          </a:p>
        </p:txBody>
      </p:sp>
      <p:sp>
        <p:nvSpPr>
          <p:cNvPr id="6152" name="TextBox 7"/>
          <p:cNvSpPr txBox="1">
            <a:spLocks noChangeArrowheads="1"/>
          </p:cNvSpPr>
          <p:nvPr/>
        </p:nvSpPr>
        <p:spPr bwMode="auto">
          <a:xfrm>
            <a:off x="676275" y="3150374"/>
            <a:ext cx="78903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latin typeface="Georgia" panose="02040502050405020303" pitchFamily="18" charset="0"/>
              </a:rPr>
              <a:t>Measure kinetic energy of emitted low energy Auger electron (50eV-1.5keV)</a:t>
            </a:r>
          </a:p>
        </p:txBody>
      </p:sp>
      <p:pic>
        <p:nvPicPr>
          <p:cNvPr id="6153" name="Picture 7" descr="scat5_2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4" y="3737602"/>
            <a:ext cx="4322763"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 name="TextBox 9"/>
          <p:cNvSpPr txBox="1">
            <a:spLocks noChangeArrowheads="1"/>
          </p:cNvSpPr>
          <p:nvPr/>
        </p:nvSpPr>
        <p:spPr bwMode="auto">
          <a:xfrm>
            <a:off x="3161506" y="4713247"/>
            <a:ext cx="4038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latin typeface="Georgia" panose="02040502050405020303" pitchFamily="18" charset="0"/>
              </a:rPr>
              <a:t>-Three electron process, leaving </a:t>
            </a:r>
            <a:r>
              <a:rPr lang="en-US" altLang="en-US" i="1" dirty="0">
                <a:latin typeface="Georgia" panose="02040502050405020303" pitchFamily="18" charset="0"/>
              </a:rPr>
              <a:t>doubly ionized </a:t>
            </a:r>
            <a:r>
              <a:rPr lang="en-US" altLang="en-US" dirty="0">
                <a:latin typeface="Georgia" panose="02040502050405020303" pitchFamily="18" charset="0"/>
              </a:rPr>
              <a:t>state</a:t>
            </a:r>
          </a:p>
        </p:txBody>
      </p:sp>
      <p:sp>
        <p:nvSpPr>
          <p:cNvPr id="6155" name="TextBox 10"/>
          <p:cNvSpPr txBox="1">
            <a:spLocks noChangeArrowheads="1"/>
          </p:cNvSpPr>
          <p:nvPr/>
        </p:nvSpPr>
        <p:spPr bwMode="auto">
          <a:xfrm>
            <a:off x="2247106" y="5351422"/>
            <a:ext cx="66607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i="1">
                <a:solidFill>
                  <a:srgbClr val="FF0000"/>
                </a:solidFill>
                <a:latin typeface="Georgia" panose="02040502050405020303" pitchFamily="18" charset="0"/>
              </a:rPr>
              <a:t>Independent of the mechanism of initial core hole formation.</a:t>
            </a:r>
            <a:r>
              <a:rPr lang="en-US" altLang="en-US">
                <a:solidFill>
                  <a:srgbClr val="FF0000"/>
                </a:solidFill>
                <a:latin typeface="Georgia" panose="02040502050405020303" pitchFamily="18" charset="0"/>
              </a:rPr>
              <a:t> </a:t>
            </a:r>
            <a:endParaRPr lang="en-US" altLang="en-US" b="1">
              <a:solidFill>
                <a:srgbClr val="FF0000"/>
              </a:solidFill>
              <a:latin typeface="Georgia" panose="02040502050405020303" pitchFamily="18" charset="0"/>
            </a:endParaRPr>
          </a:p>
          <a:p>
            <a:r>
              <a:rPr lang="en-US" altLang="en-US">
                <a:latin typeface="Georgia" panose="02040502050405020303" pitchFamily="18" charset="0"/>
              </a:rPr>
              <a:t>In other words, independent of the energy of the incident beam.</a:t>
            </a:r>
          </a:p>
        </p:txBody>
      </p:sp>
      <p:sp>
        <p:nvSpPr>
          <p:cNvPr id="2" name="Slide Number Placeholder 1">
            <a:extLst>
              <a:ext uri="{FF2B5EF4-FFF2-40B4-BE49-F238E27FC236}">
                <a16:creationId xmlns:a16="http://schemas.microsoft.com/office/drawing/2014/main" id="{BDE61FF9-8B4F-4591-856E-925613174E66}"/>
              </a:ext>
            </a:extLst>
          </p:cNvPr>
          <p:cNvSpPr>
            <a:spLocks noGrp="1"/>
          </p:cNvSpPr>
          <p:nvPr>
            <p:ph type="sldNum" sz="quarter" idx="11"/>
          </p:nvPr>
        </p:nvSpPr>
        <p:spPr/>
        <p:txBody>
          <a:bodyPr/>
          <a:lstStyle/>
          <a:p>
            <a:pPr>
              <a:defRPr/>
            </a:pPr>
            <a:fld id="{9A975D84-2197-4ABB-80EB-AE85607E50F0}" type="slidenum">
              <a:rPr lang="zh-TW" altLang="en-US" smtClean="0"/>
              <a:pPr>
                <a:defRPr/>
              </a:pPr>
              <a:t>5</a:t>
            </a:fld>
            <a:endParaRPr lang="en-US" altLang="zh-TW"/>
          </a:p>
        </p:txBody>
      </p:sp>
      <p:sp>
        <p:nvSpPr>
          <p:cNvPr id="3" name="Rectangle 4">
            <a:extLst>
              <a:ext uri="{FF2B5EF4-FFF2-40B4-BE49-F238E27FC236}">
                <a16:creationId xmlns:a16="http://schemas.microsoft.com/office/drawing/2014/main" id="{03EA284C-C490-EB9A-7468-85F8F34C87E7}"/>
              </a:ext>
            </a:extLst>
          </p:cNvPr>
          <p:cNvSpPr>
            <a:spLocks noChangeArrowheads="1"/>
          </p:cNvSpPr>
          <p:nvPr/>
        </p:nvSpPr>
        <p:spPr bwMode="auto">
          <a:xfrm>
            <a:off x="676275" y="20955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Auger electron spectroscopy: principle</a:t>
            </a:r>
          </a:p>
        </p:txBody>
      </p:sp>
    </p:spTree>
    <p:extLst>
      <p:ext uri="{BB962C8B-B14F-4D97-AF65-F5344CB8AC3E}">
        <p14:creationId xmlns:p14="http://schemas.microsoft.com/office/powerpoint/2010/main" val="2738550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1524000"/>
            <a:ext cx="5029200"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 Box 6"/>
          <p:cNvSpPr txBox="1">
            <a:spLocks noChangeArrowheads="1"/>
          </p:cNvSpPr>
          <p:nvPr/>
        </p:nvSpPr>
        <p:spPr bwMode="auto">
          <a:xfrm>
            <a:off x="685800" y="5486400"/>
            <a:ext cx="6096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ct val="50000"/>
              </a:spcBef>
            </a:pPr>
            <a:r>
              <a:rPr lang="en-US" altLang="zh-TW" dirty="0">
                <a:latin typeface="Georgia" panose="02040502050405020303" pitchFamily="18" charset="0"/>
                <a:ea typeface="PMingLiU" pitchFamily="18" charset="-120"/>
              </a:rPr>
              <a:t>The three symbols in the transition label correspond to the three energy levels involved in the transition.</a:t>
            </a:r>
            <a:endParaRPr lang="zh-TW" altLang="en-US" dirty="0">
              <a:latin typeface="Georgia" panose="02040502050405020303" pitchFamily="18" charset="0"/>
              <a:ea typeface="PMingLiU" pitchFamily="18" charset="-120"/>
            </a:endParaRPr>
          </a:p>
        </p:txBody>
      </p:sp>
      <p:sp>
        <p:nvSpPr>
          <p:cNvPr id="15365" name="Text Box 7"/>
          <p:cNvSpPr txBox="1">
            <a:spLocks noChangeArrowheads="1"/>
          </p:cNvSpPr>
          <p:nvPr/>
        </p:nvSpPr>
        <p:spPr bwMode="auto">
          <a:xfrm>
            <a:off x="2338159" y="876458"/>
            <a:ext cx="24529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Nomenclature</a:t>
            </a:r>
          </a:p>
        </p:txBody>
      </p:sp>
      <p:graphicFrame>
        <p:nvGraphicFramePr>
          <p:cNvPr id="7" name="Table 6"/>
          <p:cNvGraphicFramePr>
            <a:graphicFrameLocks noGrp="1"/>
          </p:cNvGraphicFramePr>
          <p:nvPr>
            <p:extLst>
              <p:ext uri="{D42A27DB-BD31-4B8C-83A1-F6EECF244321}">
                <p14:modId xmlns:p14="http://schemas.microsoft.com/office/powerpoint/2010/main" val="1751700322"/>
              </p:ext>
            </p:extLst>
          </p:nvPr>
        </p:nvGraphicFramePr>
        <p:xfrm>
          <a:off x="6896100" y="276520"/>
          <a:ext cx="1447800" cy="630496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370880">
                <a:tc>
                  <a:txBody>
                    <a:bodyPr/>
                    <a:lstStyle/>
                    <a:p>
                      <a:r>
                        <a:rPr lang="en-US" sz="1800" dirty="0"/>
                        <a:t>V</a:t>
                      </a:r>
                    </a:p>
                  </a:txBody>
                  <a:tcPr marT="45725" marB="45725">
                    <a:solidFill>
                      <a:srgbClr val="FFFFCC"/>
                    </a:solidFill>
                  </a:tcPr>
                </a:tc>
                <a:tc>
                  <a:txBody>
                    <a:bodyPr/>
                    <a:lstStyle/>
                    <a:p>
                      <a:r>
                        <a:rPr lang="en-US" sz="1200" baseline="0" dirty="0"/>
                        <a:t>Valence</a:t>
                      </a:r>
                    </a:p>
                  </a:txBody>
                  <a:tcPr marT="45725" marB="45725" anchor="ctr">
                    <a:solidFill>
                      <a:srgbClr val="FFFFCC"/>
                    </a:solidFill>
                  </a:tcPr>
                </a:tc>
                <a:extLst>
                  <a:ext uri="{0D108BD9-81ED-4DB2-BD59-A6C34878D82A}">
                    <a16:rowId xmlns:a16="http://schemas.microsoft.com/office/drawing/2014/main" val="10000"/>
                  </a:ext>
                </a:extLst>
              </a:tr>
              <a:tr h="370880">
                <a:tc>
                  <a:txBody>
                    <a:bodyPr/>
                    <a:lstStyle/>
                    <a:p>
                      <a:r>
                        <a:rPr lang="en-US" sz="1800" dirty="0"/>
                        <a:t>N7</a:t>
                      </a:r>
                    </a:p>
                  </a:txBody>
                  <a:tcPr marT="45725" marB="45725">
                    <a:solidFill>
                      <a:srgbClr val="FFFFCC"/>
                    </a:solidFill>
                  </a:tcPr>
                </a:tc>
                <a:tc>
                  <a:txBody>
                    <a:bodyPr/>
                    <a:lstStyle/>
                    <a:p>
                      <a:r>
                        <a:rPr lang="en-US" sz="1800" dirty="0"/>
                        <a:t>4f</a:t>
                      </a:r>
                      <a:r>
                        <a:rPr lang="en-US" sz="1800" baseline="-25000" dirty="0"/>
                        <a:t>7/2</a:t>
                      </a:r>
                    </a:p>
                  </a:txBody>
                  <a:tcPr marT="45725" marB="45725">
                    <a:solidFill>
                      <a:srgbClr val="FFFFCC"/>
                    </a:solidFill>
                  </a:tcPr>
                </a:tc>
                <a:extLst>
                  <a:ext uri="{0D108BD9-81ED-4DB2-BD59-A6C34878D82A}">
                    <a16:rowId xmlns:a16="http://schemas.microsoft.com/office/drawing/2014/main" val="10001"/>
                  </a:ext>
                </a:extLst>
              </a:tr>
              <a:tr h="370880">
                <a:tc>
                  <a:txBody>
                    <a:bodyPr/>
                    <a:lstStyle/>
                    <a:p>
                      <a:r>
                        <a:rPr lang="en-US" sz="1800" dirty="0"/>
                        <a:t>N6</a:t>
                      </a:r>
                    </a:p>
                  </a:txBody>
                  <a:tcPr marT="45725" marB="45725">
                    <a:solidFill>
                      <a:srgbClr val="FFFFCC"/>
                    </a:solidFill>
                  </a:tcPr>
                </a:tc>
                <a:tc>
                  <a:txBody>
                    <a:bodyPr/>
                    <a:lstStyle/>
                    <a:p>
                      <a:r>
                        <a:rPr lang="en-US" sz="1800" dirty="0"/>
                        <a:t>4f</a:t>
                      </a:r>
                      <a:r>
                        <a:rPr lang="en-US" sz="1800" baseline="-25000" dirty="0"/>
                        <a:t>5/2</a:t>
                      </a:r>
                    </a:p>
                  </a:txBody>
                  <a:tcPr marT="45725" marB="45725">
                    <a:solidFill>
                      <a:srgbClr val="FFFFCC"/>
                    </a:solidFill>
                  </a:tcPr>
                </a:tc>
                <a:extLst>
                  <a:ext uri="{0D108BD9-81ED-4DB2-BD59-A6C34878D82A}">
                    <a16:rowId xmlns:a16="http://schemas.microsoft.com/office/drawing/2014/main" val="10002"/>
                  </a:ext>
                </a:extLst>
              </a:tr>
              <a:tr h="370880">
                <a:tc>
                  <a:txBody>
                    <a:bodyPr/>
                    <a:lstStyle/>
                    <a:p>
                      <a:r>
                        <a:rPr lang="en-US" sz="1800" dirty="0"/>
                        <a:t>N5</a:t>
                      </a:r>
                    </a:p>
                  </a:txBody>
                  <a:tcPr marT="45725" marB="45725">
                    <a:solidFill>
                      <a:srgbClr val="FFFFCC"/>
                    </a:solidFill>
                  </a:tcPr>
                </a:tc>
                <a:tc>
                  <a:txBody>
                    <a:bodyPr/>
                    <a:lstStyle/>
                    <a:p>
                      <a:r>
                        <a:rPr lang="en-US" sz="1800" dirty="0"/>
                        <a:t>4d</a:t>
                      </a:r>
                      <a:r>
                        <a:rPr lang="en-US" sz="1800" baseline="-25000" dirty="0"/>
                        <a:t>5/2</a:t>
                      </a:r>
                    </a:p>
                  </a:txBody>
                  <a:tcPr marT="45725" marB="45725">
                    <a:solidFill>
                      <a:srgbClr val="FFFFCC"/>
                    </a:solidFill>
                  </a:tcPr>
                </a:tc>
                <a:extLst>
                  <a:ext uri="{0D108BD9-81ED-4DB2-BD59-A6C34878D82A}">
                    <a16:rowId xmlns:a16="http://schemas.microsoft.com/office/drawing/2014/main" val="10003"/>
                  </a:ext>
                </a:extLst>
              </a:tr>
              <a:tr h="370880">
                <a:tc>
                  <a:txBody>
                    <a:bodyPr/>
                    <a:lstStyle/>
                    <a:p>
                      <a:r>
                        <a:rPr lang="en-US" sz="1800" dirty="0"/>
                        <a:t>N4</a:t>
                      </a:r>
                    </a:p>
                  </a:txBody>
                  <a:tcPr marT="45725" marB="45725">
                    <a:solidFill>
                      <a:srgbClr val="FFFFCC"/>
                    </a:solidFill>
                  </a:tcPr>
                </a:tc>
                <a:tc>
                  <a:txBody>
                    <a:bodyPr/>
                    <a:lstStyle/>
                    <a:p>
                      <a:r>
                        <a:rPr lang="en-US" sz="1800" dirty="0"/>
                        <a:t>4d</a:t>
                      </a:r>
                      <a:r>
                        <a:rPr lang="en-US" sz="1800" baseline="-25000" dirty="0"/>
                        <a:t>3/2</a:t>
                      </a:r>
                    </a:p>
                  </a:txBody>
                  <a:tcPr marT="45725" marB="45725">
                    <a:solidFill>
                      <a:srgbClr val="FFFFCC"/>
                    </a:solidFill>
                  </a:tcPr>
                </a:tc>
                <a:extLst>
                  <a:ext uri="{0D108BD9-81ED-4DB2-BD59-A6C34878D82A}">
                    <a16:rowId xmlns:a16="http://schemas.microsoft.com/office/drawing/2014/main" val="10004"/>
                  </a:ext>
                </a:extLst>
              </a:tr>
              <a:tr h="370880">
                <a:tc>
                  <a:txBody>
                    <a:bodyPr/>
                    <a:lstStyle/>
                    <a:p>
                      <a:r>
                        <a:rPr lang="en-US" sz="1800" dirty="0"/>
                        <a:t>N3</a:t>
                      </a:r>
                    </a:p>
                  </a:txBody>
                  <a:tcPr marT="45725" marB="45725">
                    <a:solidFill>
                      <a:srgbClr val="FFFFCC"/>
                    </a:solidFill>
                  </a:tcPr>
                </a:tc>
                <a:tc>
                  <a:txBody>
                    <a:bodyPr/>
                    <a:lstStyle/>
                    <a:p>
                      <a:r>
                        <a:rPr lang="en-US" sz="1800" dirty="0"/>
                        <a:t>4p</a:t>
                      </a:r>
                      <a:r>
                        <a:rPr lang="en-US" sz="1800" baseline="-25000" dirty="0"/>
                        <a:t>3/2</a:t>
                      </a:r>
                    </a:p>
                  </a:txBody>
                  <a:tcPr marT="45725" marB="45725">
                    <a:solidFill>
                      <a:srgbClr val="FFFFCC"/>
                    </a:solidFill>
                  </a:tcPr>
                </a:tc>
                <a:extLst>
                  <a:ext uri="{0D108BD9-81ED-4DB2-BD59-A6C34878D82A}">
                    <a16:rowId xmlns:a16="http://schemas.microsoft.com/office/drawing/2014/main" val="10005"/>
                  </a:ext>
                </a:extLst>
              </a:tr>
              <a:tr h="370880">
                <a:tc>
                  <a:txBody>
                    <a:bodyPr/>
                    <a:lstStyle/>
                    <a:p>
                      <a:r>
                        <a:rPr lang="en-US" sz="1800" dirty="0"/>
                        <a:t>N2</a:t>
                      </a:r>
                    </a:p>
                  </a:txBody>
                  <a:tcPr marT="45725" marB="45725">
                    <a:solidFill>
                      <a:srgbClr val="FFFFCC"/>
                    </a:solidFill>
                  </a:tcPr>
                </a:tc>
                <a:tc>
                  <a:txBody>
                    <a:bodyPr/>
                    <a:lstStyle/>
                    <a:p>
                      <a:r>
                        <a:rPr lang="en-US" sz="1800" dirty="0"/>
                        <a:t>4p</a:t>
                      </a:r>
                      <a:r>
                        <a:rPr lang="en-US" sz="1800" baseline="-25000" dirty="0"/>
                        <a:t>1/2</a:t>
                      </a:r>
                    </a:p>
                  </a:txBody>
                  <a:tcPr marT="45725" marB="45725">
                    <a:solidFill>
                      <a:srgbClr val="FFFFCC"/>
                    </a:solidFill>
                  </a:tcPr>
                </a:tc>
                <a:extLst>
                  <a:ext uri="{0D108BD9-81ED-4DB2-BD59-A6C34878D82A}">
                    <a16:rowId xmlns:a16="http://schemas.microsoft.com/office/drawing/2014/main" val="10006"/>
                  </a:ext>
                </a:extLst>
              </a:tr>
              <a:tr h="370880">
                <a:tc>
                  <a:txBody>
                    <a:bodyPr/>
                    <a:lstStyle/>
                    <a:p>
                      <a:r>
                        <a:rPr lang="en-US" sz="1800" dirty="0"/>
                        <a:t>N1</a:t>
                      </a:r>
                    </a:p>
                  </a:txBody>
                  <a:tcPr marT="45725" marB="45725">
                    <a:solidFill>
                      <a:srgbClr val="FFFFCC"/>
                    </a:solidFill>
                  </a:tcPr>
                </a:tc>
                <a:tc>
                  <a:txBody>
                    <a:bodyPr/>
                    <a:lstStyle/>
                    <a:p>
                      <a:r>
                        <a:rPr lang="en-US" sz="1800" dirty="0"/>
                        <a:t>4s</a:t>
                      </a:r>
                    </a:p>
                  </a:txBody>
                  <a:tcPr marT="45725" marB="45725">
                    <a:solidFill>
                      <a:srgbClr val="FFFFCC"/>
                    </a:solidFill>
                  </a:tcPr>
                </a:tc>
                <a:extLst>
                  <a:ext uri="{0D108BD9-81ED-4DB2-BD59-A6C34878D82A}">
                    <a16:rowId xmlns:a16="http://schemas.microsoft.com/office/drawing/2014/main" val="10007"/>
                  </a:ext>
                </a:extLst>
              </a:tr>
              <a:tr h="370880">
                <a:tc>
                  <a:txBody>
                    <a:bodyPr/>
                    <a:lstStyle/>
                    <a:p>
                      <a:r>
                        <a:rPr lang="en-US" sz="1800" dirty="0"/>
                        <a:t>M5</a:t>
                      </a:r>
                    </a:p>
                  </a:txBody>
                  <a:tcPr marT="45725" marB="45725">
                    <a:solidFill>
                      <a:srgbClr val="FFFFCC"/>
                    </a:solidFill>
                  </a:tcPr>
                </a:tc>
                <a:tc>
                  <a:txBody>
                    <a:bodyPr/>
                    <a:lstStyle/>
                    <a:p>
                      <a:r>
                        <a:rPr lang="en-US" sz="1800" dirty="0"/>
                        <a:t>3d</a:t>
                      </a:r>
                      <a:r>
                        <a:rPr lang="en-US" sz="1800" baseline="-25000" dirty="0"/>
                        <a:t>5/2</a:t>
                      </a:r>
                    </a:p>
                  </a:txBody>
                  <a:tcPr marT="45725" marB="45725">
                    <a:solidFill>
                      <a:srgbClr val="FFFFCC"/>
                    </a:solidFill>
                  </a:tcPr>
                </a:tc>
                <a:extLst>
                  <a:ext uri="{0D108BD9-81ED-4DB2-BD59-A6C34878D82A}">
                    <a16:rowId xmlns:a16="http://schemas.microsoft.com/office/drawing/2014/main" val="10008"/>
                  </a:ext>
                </a:extLst>
              </a:tr>
              <a:tr h="370880">
                <a:tc>
                  <a:txBody>
                    <a:bodyPr/>
                    <a:lstStyle/>
                    <a:p>
                      <a:r>
                        <a:rPr lang="en-US" sz="1800" dirty="0"/>
                        <a:t>M4</a:t>
                      </a:r>
                    </a:p>
                  </a:txBody>
                  <a:tcPr marT="45725" marB="45725">
                    <a:solidFill>
                      <a:srgbClr val="FFFFCC"/>
                    </a:solidFill>
                  </a:tcPr>
                </a:tc>
                <a:tc>
                  <a:txBody>
                    <a:bodyPr/>
                    <a:lstStyle/>
                    <a:p>
                      <a:r>
                        <a:rPr lang="en-US" sz="1800" dirty="0"/>
                        <a:t>3d</a:t>
                      </a:r>
                      <a:r>
                        <a:rPr lang="en-US" sz="1800" baseline="-25000" dirty="0"/>
                        <a:t>3/2</a:t>
                      </a:r>
                    </a:p>
                  </a:txBody>
                  <a:tcPr marT="45725" marB="45725">
                    <a:solidFill>
                      <a:srgbClr val="FFFFCC"/>
                    </a:solidFill>
                  </a:tcPr>
                </a:tc>
                <a:extLst>
                  <a:ext uri="{0D108BD9-81ED-4DB2-BD59-A6C34878D82A}">
                    <a16:rowId xmlns:a16="http://schemas.microsoft.com/office/drawing/2014/main" val="10009"/>
                  </a:ext>
                </a:extLst>
              </a:tr>
              <a:tr h="370880">
                <a:tc>
                  <a:txBody>
                    <a:bodyPr/>
                    <a:lstStyle/>
                    <a:p>
                      <a:r>
                        <a:rPr lang="en-US" sz="1800" dirty="0"/>
                        <a:t>M3</a:t>
                      </a:r>
                    </a:p>
                  </a:txBody>
                  <a:tcPr marT="45725" marB="45725">
                    <a:solidFill>
                      <a:srgbClr val="FFFFCC"/>
                    </a:solidFill>
                  </a:tcPr>
                </a:tc>
                <a:tc>
                  <a:txBody>
                    <a:bodyPr/>
                    <a:lstStyle/>
                    <a:p>
                      <a:r>
                        <a:rPr lang="en-US" sz="1800" dirty="0"/>
                        <a:t>3p</a:t>
                      </a:r>
                      <a:r>
                        <a:rPr lang="en-US" sz="1800" baseline="-25000" dirty="0"/>
                        <a:t>3/2</a:t>
                      </a:r>
                    </a:p>
                  </a:txBody>
                  <a:tcPr marT="45725" marB="45725">
                    <a:solidFill>
                      <a:srgbClr val="FFFFCC"/>
                    </a:solidFill>
                  </a:tcPr>
                </a:tc>
                <a:extLst>
                  <a:ext uri="{0D108BD9-81ED-4DB2-BD59-A6C34878D82A}">
                    <a16:rowId xmlns:a16="http://schemas.microsoft.com/office/drawing/2014/main" val="10010"/>
                  </a:ext>
                </a:extLst>
              </a:tr>
              <a:tr h="370880">
                <a:tc>
                  <a:txBody>
                    <a:bodyPr/>
                    <a:lstStyle/>
                    <a:p>
                      <a:r>
                        <a:rPr lang="en-US" sz="1800" dirty="0"/>
                        <a:t>M2</a:t>
                      </a:r>
                    </a:p>
                  </a:txBody>
                  <a:tcPr marT="45725" marB="45725">
                    <a:solidFill>
                      <a:srgbClr val="FFFFCC"/>
                    </a:solidFill>
                  </a:tcPr>
                </a:tc>
                <a:tc>
                  <a:txBody>
                    <a:bodyPr/>
                    <a:lstStyle/>
                    <a:p>
                      <a:r>
                        <a:rPr lang="en-US" sz="1800" dirty="0"/>
                        <a:t>3p</a:t>
                      </a:r>
                      <a:r>
                        <a:rPr lang="en-US" sz="1800" baseline="-25000" dirty="0"/>
                        <a:t>1/2</a:t>
                      </a:r>
                    </a:p>
                  </a:txBody>
                  <a:tcPr marT="45725" marB="45725">
                    <a:solidFill>
                      <a:srgbClr val="FFFFCC"/>
                    </a:solidFill>
                  </a:tcPr>
                </a:tc>
                <a:extLst>
                  <a:ext uri="{0D108BD9-81ED-4DB2-BD59-A6C34878D82A}">
                    <a16:rowId xmlns:a16="http://schemas.microsoft.com/office/drawing/2014/main" val="10011"/>
                  </a:ext>
                </a:extLst>
              </a:tr>
              <a:tr h="370880">
                <a:tc>
                  <a:txBody>
                    <a:bodyPr/>
                    <a:lstStyle/>
                    <a:p>
                      <a:r>
                        <a:rPr lang="en-US" sz="1800" dirty="0"/>
                        <a:t>M1</a:t>
                      </a:r>
                    </a:p>
                  </a:txBody>
                  <a:tcPr marT="45725" marB="45725">
                    <a:solidFill>
                      <a:srgbClr val="FFFFCC"/>
                    </a:solidFill>
                  </a:tcPr>
                </a:tc>
                <a:tc>
                  <a:txBody>
                    <a:bodyPr/>
                    <a:lstStyle/>
                    <a:p>
                      <a:r>
                        <a:rPr lang="en-US" sz="1800" dirty="0"/>
                        <a:t>3s</a:t>
                      </a:r>
                    </a:p>
                  </a:txBody>
                  <a:tcPr marT="45725" marB="45725">
                    <a:solidFill>
                      <a:srgbClr val="FFFFCC"/>
                    </a:solidFill>
                  </a:tcPr>
                </a:tc>
                <a:extLst>
                  <a:ext uri="{0D108BD9-81ED-4DB2-BD59-A6C34878D82A}">
                    <a16:rowId xmlns:a16="http://schemas.microsoft.com/office/drawing/2014/main" val="10012"/>
                  </a:ext>
                </a:extLst>
              </a:tr>
              <a:tr h="370880">
                <a:tc>
                  <a:txBody>
                    <a:bodyPr/>
                    <a:lstStyle/>
                    <a:p>
                      <a:r>
                        <a:rPr lang="en-US" sz="1800" dirty="0"/>
                        <a:t>L3</a:t>
                      </a:r>
                    </a:p>
                  </a:txBody>
                  <a:tcPr marT="45725" marB="45725">
                    <a:solidFill>
                      <a:srgbClr val="FFFFCC"/>
                    </a:solidFill>
                  </a:tcPr>
                </a:tc>
                <a:tc>
                  <a:txBody>
                    <a:bodyPr/>
                    <a:lstStyle/>
                    <a:p>
                      <a:r>
                        <a:rPr lang="en-US" sz="1800" dirty="0"/>
                        <a:t>2p</a:t>
                      </a:r>
                      <a:r>
                        <a:rPr lang="en-US" sz="1800" baseline="-25000" dirty="0"/>
                        <a:t>3/2</a:t>
                      </a:r>
                    </a:p>
                  </a:txBody>
                  <a:tcPr marT="45725" marB="45725">
                    <a:solidFill>
                      <a:srgbClr val="FFFFCC"/>
                    </a:solidFill>
                  </a:tcPr>
                </a:tc>
                <a:extLst>
                  <a:ext uri="{0D108BD9-81ED-4DB2-BD59-A6C34878D82A}">
                    <a16:rowId xmlns:a16="http://schemas.microsoft.com/office/drawing/2014/main" val="10013"/>
                  </a:ext>
                </a:extLst>
              </a:tr>
              <a:tr h="370880">
                <a:tc>
                  <a:txBody>
                    <a:bodyPr/>
                    <a:lstStyle/>
                    <a:p>
                      <a:r>
                        <a:rPr lang="en-US" sz="1800" dirty="0"/>
                        <a:t>L2</a:t>
                      </a:r>
                    </a:p>
                  </a:txBody>
                  <a:tcPr marT="45725" marB="45725">
                    <a:solidFill>
                      <a:srgbClr val="FFFFCC"/>
                    </a:solidFill>
                  </a:tcPr>
                </a:tc>
                <a:tc>
                  <a:txBody>
                    <a:bodyPr/>
                    <a:lstStyle/>
                    <a:p>
                      <a:r>
                        <a:rPr lang="en-US" sz="1800" dirty="0"/>
                        <a:t>2p</a:t>
                      </a:r>
                      <a:r>
                        <a:rPr lang="en-US" sz="1800" baseline="-25000" dirty="0"/>
                        <a:t>1/2</a:t>
                      </a:r>
                    </a:p>
                  </a:txBody>
                  <a:tcPr marT="45725" marB="45725">
                    <a:solidFill>
                      <a:srgbClr val="FFFFCC"/>
                    </a:solidFill>
                  </a:tcPr>
                </a:tc>
                <a:extLst>
                  <a:ext uri="{0D108BD9-81ED-4DB2-BD59-A6C34878D82A}">
                    <a16:rowId xmlns:a16="http://schemas.microsoft.com/office/drawing/2014/main" val="10014"/>
                  </a:ext>
                </a:extLst>
              </a:tr>
              <a:tr h="370880">
                <a:tc>
                  <a:txBody>
                    <a:bodyPr/>
                    <a:lstStyle/>
                    <a:p>
                      <a:r>
                        <a:rPr lang="en-US" sz="1800" dirty="0"/>
                        <a:t>L1</a:t>
                      </a:r>
                    </a:p>
                  </a:txBody>
                  <a:tcPr marT="45725" marB="45725">
                    <a:solidFill>
                      <a:srgbClr val="FFFFCC"/>
                    </a:solidFill>
                  </a:tcPr>
                </a:tc>
                <a:tc>
                  <a:txBody>
                    <a:bodyPr/>
                    <a:lstStyle/>
                    <a:p>
                      <a:r>
                        <a:rPr lang="en-US" sz="1800" dirty="0"/>
                        <a:t>2s</a:t>
                      </a:r>
                    </a:p>
                  </a:txBody>
                  <a:tcPr marT="45725" marB="45725">
                    <a:solidFill>
                      <a:srgbClr val="FFFFCC"/>
                    </a:solidFill>
                  </a:tcPr>
                </a:tc>
                <a:extLst>
                  <a:ext uri="{0D108BD9-81ED-4DB2-BD59-A6C34878D82A}">
                    <a16:rowId xmlns:a16="http://schemas.microsoft.com/office/drawing/2014/main" val="10015"/>
                  </a:ext>
                </a:extLst>
              </a:tr>
              <a:tr h="370880">
                <a:tc>
                  <a:txBody>
                    <a:bodyPr/>
                    <a:lstStyle/>
                    <a:p>
                      <a:r>
                        <a:rPr lang="en-US" sz="1800" dirty="0"/>
                        <a:t>K</a:t>
                      </a:r>
                    </a:p>
                  </a:txBody>
                  <a:tcPr marT="45725" marB="45725">
                    <a:solidFill>
                      <a:srgbClr val="FFFFCC"/>
                    </a:solidFill>
                  </a:tcPr>
                </a:tc>
                <a:tc>
                  <a:txBody>
                    <a:bodyPr/>
                    <a:lstStyle/>
                    <a:p>
                      <a:r>
                        <a:rPr lang="en-US" sz="1800" dirty="0"/>
                        <a:t>1s</a:t>
                      </a:r>
                    </a:p>
                  </a:txBody>
                  <a:tcPr marT="45725" marB="45725">
                    <a:solidFill>
                      <a:srgbClr val="FFFFCC"/>
                    </a:solidFill>
                  </a:tcPr>
                </a:tc>
                <a:extLst>
                  <a:ext uri="{0D108BD9-81ED-4DB2-BD59-A6C34878D82A}">
                    <a16:rowId xmlns:a16="http://schemas.microsoft.com/office/drawing/2014/main" val="10016"/>
                  </a:ext>
                </a:extLst>
              </a:tr>
            </a:tbl>
          </a:graphicData>
        </a:graphic>
      </p:graphicFrame>
      <p:sp>
        <p:nvSpPr>
          <p:cNvPr id="2" name="Slide Number Placeholder 1">
            <a:extLst>
              <a:ext uri="{FF2B5EF4-FFF2-40B4-BE49-F238E27FC236}">
                <a16:creationId xmlns:a16="http://schemas.microsoft.com/office/drawing/2014/main" id="{7218FEBF-A2BB-4EB5-8440-ECA76B520131}"/>
              </a:ext>
            </a:extLst>
          </p:cNvPr>
          <p:cNvSpPr>
            <a:spLocks noGrp="1"/>
          </p:cNvSpPr>
          <p:nvPr>
            <p:ph type="sldNum" sz="quarter" idx="11"/>
          </p:nvPr>
        </p:nvSpPr>
        <p:spPr/>
        <p:txBody>
          <a:bodyPr/>
          <a:lstStyle/>
          <a:p>
            <a:pPr>
              <a:defRPr/>
            </a:pPr>
            <a:fld id="{9A975D84-2197-4ABB-80EB-AE85607E50F0}" type="slidenum">
              <a:rPr lang="zh-TW" altLang="en-US" smtClean="0">
                <a:latin typeface="Georgia" panose="02040502050405020303" pitchFamily="18" charset="0"/>
              </a:rPr>
              <a:pPr>
                <a:defRPr/>
              </a:pPr>
              <a:t>6</a:t>
            </a:fld>
            <a:endParaRPr lang="en-US" altLang="zh-TW">
              <a:latin typeface="Georgia" panose="02040502050405020303" pitchFamily="18" charset="0"/>
            </a:endParaRPr>
          </a:p>
        </p:txBody>
      </p:sp>
      <p:sp>
        <p:nvSpPr>
          <p:cNvPr id="3" name="Rectangle 4">
            <a:extLst>
              <a:ext uri="{FF2B5EF4-FFF2-40B4-BE49-F238E27FC236}">
                <a16:creationId xmlns:a16="http://schemas.microsoft.com/office/drawing/2014/main" id="{79749FC2-8948-D9D1-585F-9B224C14A03D}"/>
              </a:ext>
            </a:extLst>
          </p:cNvPr>
          <p:cNvSpPr>
            <a:spLocks noChangeArrowheads="1"/>
          </p:cNvSpPr>
          <p:nvPr/>
        </p:nvSpPr>
        <p:spPr bwMode="auto">
          <a:xfrm>
            <a:off x="676275" y="20955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AES: Nomenclature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a:spLocks noChangeArrowheads="1"/>
          </p:cNvSpPr>
          <p:nvPr/>
        </p:nvSpPr>
        <p:spPr bwMode="auto">
          <a:xfrm>
            <a:off x="647700" y="1447800"/>
            <a:ext cx="7848600"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r>
              <a:rPr lang="en-US" altLang="zh-CN" sz="2400" dirty="0">
                <a:latin typeface="Georgia" panose="02040502050405020303" pitchFamily="18" charset="0"/>
                <a:ea typeface="宋体" pitchFamily="2" charset="-122"/>
              </a:rPr>
              <a:t>Why we use </a:t>
            </a:r>
            <a:r>
              <a:rPr lang="en-US" altLang="zh-CN" sz="2400" dirty="0">
                <a:solidFill>
                  <a:srgbClr val="0000FF"/>
                </a:solidFill>
                <a:latin typeface="Georgia" panose="02040502050405020303" pitchFamily="18" charset="0"/>
                <a:ea typeface="宋体" pitchFamily="2" charset="-122"/>
              </a:rPr>
              <a:t>high energy electron</a:t>
            </a:r>
            <a:r>
              <a:rPr lang="en-US" altLang="zh-CN" sz="2400" dirty="0">
                <a:latin typeface="Georgia" panose="02040502050405020303" pitchFamily="18" charset="0"/>
                <a:ea typeface="宋体" pitchFamily="2" charset="-122"/>
              </a:rPr>
              <a:t> source instead of </a:t>
            </a:r>
            <a:r>
              <a:rPr lang="en-US" altLang="zh-CN" sz="2400" dirty="0">
                <a:solidFill>
                  <a:srgbClr val="0000FF"/>
                </a:solidFill>
                <a:latin typeface="Georgia" panose="02040502050405020303" pitchFamily="18" charset="0"/>
                <a:ea typeface="宋体" pitchFamily="2" charset="-122"/>
              </a:rPr>
              <a:t>X-ray</a:t>
            </a:r>
            <a:r>
              <a:rPr lang="en-US" altLang="zh-CN" sz="2400" dirty="0">
                <a:latin typeface="Georgia" panose="02040502050405020303" pitchFamily="18" charset="0"/>
                <a:ea typeface="宋体" pitchFamily="2" charset="-122"/>
              </a:rPr>
              <a:t> </a:t>
            </a:r>
            <a:r>
              <a:rPr lang="en-US" altLang="zh-CN" sz="2400" dirty="0">
                <a:solidFill>
                  <a:schemeClr val="bg2">
                    <a:lumMod val="60000"/>
                    <a:lumOff val="40000"/>
                  </a:schemeClr>
                </a:solidFill>
                <a:latin typeface="Georgia" panose="02040502050405020303" pitchFamily="18" charset="0"/>
                <a:ea typeface="宋体" pitchFamily="2" charset="-122"/>
              </a:rPr>
              <a:t>source</a:t>
            </a:r>
            <a:r>
              <a:rPr lang="en-US" altLang="zh-CN" sz="2400" dirty="0">
                <a:latin typeface="Georgia" panose="02040502050405020303" pitchFamily="18" charset="0"/>
                <a:ea typeface="宋体" pitchFamily="2" charset="-122"/>
              </a:rPr>
              <a:t> to ionize atoms during the AES (Auger Electron Spectroscopy) experiments:</a:t>
            </a:r>
          </a:p>
          <a:p>
            <a:endParaRPr lang="en-US" altLang="zh-CN" sz="2000" dirty="0">
              <a:latin typeface="Georgia" panose="02040502050405020303" pitchFamily="18" charset="0"/>
              <a:ea typeface="宋体" pitchFamily="2" charset="-122"/>
            </a:endParaRPr>
          </a:p>
          <a:p>
            <a:pPr>
              <a:buFontTx/>
              <a:buAutoNum type="arabicPeriod"/>
            </a:pPr>
            <a:r>
              <a:rPr lang="en-US" altLang="zh-CN" sz="2000" dirty="0">
                <a:latin typeface="Georgia" panose="02040502050405020303" pitchFamily="18" charset="0"/>
                <a:ea typeface="宋体" pitchFamily="2" charset="-122"/>
              </a:rPr>
              <a:t>The reaction cross-section of electron with atoms are much higher than that of X-ray.</a:t>
            </a:r>
          </a:p>
          <a:p>
            <a:pPr>
              <a:buFontTx/>
              <a:buAutoNum type="arabicPeriod"/>
            </a:pPr>
            <a:r>
              <a:rPr lang="en-US" altLang="zh-CN" sz="2000" dirty="0">
                <a:latin typeface="Georgia" panose="02040502050405020303" pitchFamily="18" charset="0"/>
                <a:ea typeface="宋体" pitchFamily="2" charset="-122"/>
              </a:rPr>
              <a:t>Electron sources are cheap.</a:t>
            </a:r>
          </a:p>
          <a:p>
            <a:pPr>
              <a:buFontTx/>
              <a:buAutoNum type="arabicPeriod"/>
            </a:pPr>
            <a:r>
              <a:rPr lang="en-US" altLang="zh-CN" sz="2000" dirty="0">
                <a:latin typeface="Georgia" panose="02040502050405020303" pitchFamily="18" charset="0"/>
                <a:ea typeface="宋体" pitchFamily="2" charset="-122"/>
              </a:rPr>
              <a:t>Electron beam can be focused while X-ray cannot easily be focused. (better lateral resolution).</a:t>
            </a:r>
          </a:p>
          <a:p>
            <a:pPr>
              <a:buFontTx/>
              <a:buAutoNum type="arabicPeriod"/>
            </a:pPr>
            <a:r>
              <a:rPr lang="en-US" altLang="zh-CN" sz="2000" dirty="0">
                <a:latin typeface="Georgia" panose="02040502050405020303" pitchFamily="18" charset="0"/>
                <a:ea typeface="宋体" pitchFamily="2" charset="-122"/>
              </a:rPr>
              <a:t>Energy consumption of electron source is lower.</a:t>
            </a:r>
          </a:p>
          <a:p>
            <a:pPr>
              <a:buFontTx/>
              <a:buAutoNum type="arabicPeriod"/>
            </a:pPr>
            <a:r>
              <a:rPr lang="en-US" altLang="zh-CN" sz="2000" dirty="0">
                <a:latin typeface="Georgia" panose="02040502050405020303" pitchFamily="18" charset="0"/>
                <a:ea typeface="宋体" pitchFamily="2" charset="-122"/>
              </a:rPr>
              <a:t>X-ray radiation is much more hazardous than electron beam.</a:t>
            </a:r>
          </a:p>
        </p:txBody>
      </p:sp>
      <p:sp>
        <p:nvSpPr>
          <p:cNvPr id="2" name="Slide Number Placeholder 1">
            <a:extLst>
              <a:ext uri="{FF2B5EF4-FFF2-40B4-BE49-F238E27FC236}">
                <a16:creationId xmlns:a16="http://schemas.microsoft.com/office/drawing/2014/main" id="{60B78E64-127B-46C6-91E3-A39F88641EDE}"/>
              </a:ext>
            </a:extLst>
          </p:cNvPr>
          <p:cNvSpPr>
            <a:spLocks noGrp="1"/>
          </p:cNvSpPr>
          <p:nvPr>
            <p:ph type="sldNum" sz="quarter" idx="11"/>
          </p:nvPr>
        </p:nvSpPr>
        <p:spPr/>
        <p:txBody>
          <a:bodyPr/>
          <a:lstStyle/>
          <a:p>
            <a:pPr>
              <a:defRPr/>
            </a:pPr>
            <a:fld id="{9A975D84-2197-4ABB-80EB-AE85607E50F0}" type="slidenum">
              <a:rPr lang="zh-TW" altLang="en-US" smtClean="0"/>
              <a:pPr>
                <a:defRPr/>
              </a:pPr>
              <a:t>7</a:t>
            </a:fld>
            <a:endParaRPr lang="en-US" altLang="zh-TW"/>
          </a:p>
        </p:txBody>
      </p:sp>
      <p:sp>
        <p:nvSpPr>
          <p:cNvPr id="3" name="Rectangle 4">
            <a:extLst>
              <a:ext uri="{FF2B5EF4-FFF2-40B4-BE49-F238E27FC236}">
                <a16:creationId xmlns:a16="http://schemas.microsoft.com/office/drawing/2014/main" id="{C38211C1-81E1-316F-19CF-8344A95D2DA8}"/>
              </a:ext>
            </a:extLst>
          </p:cNvPr>
          <p:cNvSpPr>
            <a:spLocks noChangeArrowheads="1"/>
          </p:cNvSpPr>
          <p:nvPr/>
        </p:nvSpPr>
        <p:spPr bwMode="auto">
          <a:xfrm>
            <a:off x="53340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Auger electron spectroscopy: why electron source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DataBook_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143000"/>
            <a:ext cx="1890713"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
          <p:cNvSpPr>
            <a:spLocks noChangeArrowheads="1"/>
          </p:cNvSpPr>
          <p:nvPr/>
        </p:nvSpPr>
        <p:spPr bwMode="auto">
          <a:xfrm>
            <a:off x="914400" y="619780"/>
            <a:ext cx="27959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800" b="1" i="1" dirty="0">
                <a:latin typeface="Times New Roman" pitchFamily="18" charset="0"/>
                <a:ea typeface="宋体" pitchFamily="2" charset="-122"/>
                <a:cs typeface="Times New Roman" pitchFamily="18" charset="0"/>
              </a:rPr>
              <a:t>http://xdb.lbl.gov/</a:t>
            </a:r>
            <a:endParaRPr lang="zh-CN" altLang="en-US" sz="2800" b="1" i="1" dirty="0">
              <a:latin typeface="Times New Roman" pitchFamily="18" charset="0"/>
              <a:ea typeface="宋体" pitchFamily="2" charset="-122"/>
              <a:cs typeface="Times New Roman" pitchFamily="18" charset="0"/>
            </a:endParaRPr>
          </a:p>
        </p:txBody>
      </p:sp>
      <p:pic>
        <p:nvPicPr>
          <p:cNvPr id="102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52400"/>
            <a:ext cx="3571875"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 Box 5"/>
          <p:cNvSpPr txBox="1">
            <a:spLocks noChangeArrowheads="1"/>
          </p:cNvSpPr>
          <p:nvPr/>
        </p:nvSpPr>
        <p:spPr bwMode="auto">
          <a:xfrm>
            <a:off x="457200" y="4191000"/>
            <a:ext cx="42672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dirty="0">
                <a:latin typeface="Georgia" panose="02040502050405020303" pitchFamily="18" charset="0"/>
                <a:ea typeface="宋体" pitchFamily="2" charset="-122"/>
                <a:cs typeface="Times New Roman" pitchFamily="18" charset="0"/>
                <a:sym typeface="Symbol" pitchFamily="18" charset="2"/>
              </a:rPr>
              <a:t>Al </a:t>
            </a:r>
            <a:r>
              <a:rPr lang="en-US" altLang="zh-CN" baseline="-25000" dirty="0">
                <a:latin typeface="Georgia" panose="02040502050405020303" pitchFamily="18" charset="0"/>
                <a:ea typeface="宋体" pitchFamily="2" charset="-122"/>
                <a:cs typeface="Times New Roman" pitchFamily="18" charset="0"/>
                <a:sym typeface="Symbol" pitchFamily="18" charset="2"/>
              </a:rPr>
              <a:t>2s</a:t>
            </a:r>
            <a:r>
              <a:rPr lang="en-US" altLang="zh-CN" dirty="0">
                <a:latin typeface="Georgia" panose="02040502050405020303" pitchFamily="18" charset="0"/>
                <a:ea typeface="宋体" pitchFamily="2" charset="-122"/>
                <a:cs typeface="Times New Roman" pitchFamily="18" charset="0"/>
                <a:sym typeface="Symbol" pitchFamily="18" charset="2"/>
              </a:rPr>
              <a:t>=0.01Mb/atom; </a:t>
            </a:r>
            <a:r>
              <a:rPr lang="en-US" altLang="zh-CN" dirty="0">
                <a:latin typeface="Georgia" panose="02040502050405020303" pitchFamily="18" charset="0"/>
                <a:ea typeface="宋体" pitchFamily="2" charset="-122"/>
                <a:cs typeface="Times New Roman" pitchFamily="18" charset="0"/>
              </a:rPr>
              <a:t>Al: r=125pm</a:t>
            </a:r>
          </a:p>
          <a:p>
            <a:r>
              <a:rPr lang="en-US" altLang="zh-CN" dirty="0">
                <a:latin typeface="Georgia" panose="02040502050405020303" pitchFamily="18" charset="0"/>
                <a:ea typeface="宋体" pitchFamily="2" charset="-122"/>
                <a:cs typeface="Times New Roman" pitchFamily="18" charset="0"/>
              </a:rPr>
              <a:t>h</a:t>
            </a:r>
            <a:r>
              <a:rPr lang="en-US" altLang="zh-CN" dirty="0">
                <a:latin typeface="Georgia" panose="02040502050405020303" pitchFamily="18" charset="0"/>
                <a:ea typeface="宋体" pitchFamily="2" charset="-122"/>
                <a:cs typeface="Times New Roman" pitchFamily="18" charset="0"/>
                <a:sym typeface="Symbol" pitchFamily="18" charset="2"/>
              </a:rPr>
              <a:t>=1253.6eV (Mg K)</a:t>
            </a:r>
          </a:p>
          <a:p>
            <a:r>
              <a:rPr lang="en-US" altLang="zh-CN" dirty="0">
                <a:latin typeface="Georgia" panose="02040502050405020303" pitchFamily="18" charset="0"/>
                <a:ea typeface="宋体" pitchFamily="2" charset="-122"/>
                <a:cs typeface="Times New Roman" pitchFamily="18" charset="0"/>
                <a:sym typeface="Symbol" pitchFamily="18" charset="2"/>
              </a:rPr>
              <a:t>When one photon hit the atom,</a:t>
            </a:r>
          </a:p>
          <a:p>
            <a:r>
              <a:rPr lang="en-US" altLang="zh-CN" dirty="0">
                <a:latin typeface="Georgia" panose="02040502050405020303" pitchFamily="18" charset="0"/>
                <a:ea typeface="宋体" pitchFamily="2" charset="-122"/>
                <a:cs typeface="Times New Roman" pitchFamily="18" charset="0"/>
                <a:sym typeface="Symbol" pitchFamily="18" charset="2"/>
              </a:rPr>
              <a:t>the probability for one 2s electron being kicked out is:</a:t>
            </a:r>
          </a:p>
        </p:txBody>
      </p:sp>
      <mc:AlternateContent xmlns:mc="http://schemas.openxmlformats.org/markup-compatibility/2006" xmlns:a14="http://schemas.microsoft.com/office/drawing/2010/main">
        <mc:Choice Requires="a14">
          <p:sp>
            <p:nvSpPr>
              <p:cNvPr id="1026" name="Object 2"/>
              <p:cNvSpPr txBox="1"/>
              <p:nvPr/>
            </p:nvSpPr>
            <p:spPr bwMode="auto">
              <a:xfrm>
                <a:off x="609600" y="5791200"/>
                <a:ext cx="4097338" cy="839788"/>
              </a:xfrm>
              <a:prstGeom prst="rect">
                <a:avLst/>
              </a:prstGeom>
              <a:noFill/>
              <a:ln>
                <a:noFill/>
              </a:ln>
              <a:effectLst/>
            </p:spPr>
            <p:txBody>
              <a:bodyPr>
                <a:normAutofit/>
              </a:bodyPr>
              <a:lstStyle/>
              <a:p>
                <a:pPr/>
                <a14:m>
                  <m:oMathPara xmlns:m="http://schemas.openxmlformats.org/officeDocument/2006/math">
                    <m:oMathParaPr>
                      <m:jc m:val="left"/>
                    </m:oMathParaPr>
                    <m:oMath>
                      <m:f>
                        <m:fPr>
                          <m:ctrlPr>
                            <a:rPr lang="en-HK" i="1">
                              <a:solidFill>
                                <a:srgbClr val="000000"/>
                              </a:solidFill>
                              <a:latin typeface="Cambria Math" panose="02040503050406030204" pitchFamily="18" charset="0"/>
                            </a:rPr>
                          </m:ctrlPr>
                        </m:fPr>
                        <m:num>
                          <m:r>
                            <a:rPr lang="en-HK" i="1">
                              <a:solidFill>
                                <a:srgbClr val="000000"/>
                              </a:solidFill>
                              <a:latin typeface="Cambria Math" panose="02040503050406030204" pitchFamily="18" charset="0"/>
                            </a:rPr>
                            <m:t>0.01×1</m:t>
                          </m:r>
                          <m:sSup>
                            <m:sSupPr>
                              <m:ctrlPr>
                                <a:rPr lang="en-HK" i="1">
                                  <a:solidFill>
                                    <a:srgbClr val="000000"/>
                                  </a:solidFill>
                                  <a:latin typeface="Cambria Math" panose="02040503050406030204" pitchFamily="18" charset="0"/>
                                </a:rPr>
                              </m:ctrlPr>
                            </m:sSupPr>
                            <m:e>
                              <m:r>
                                <a:rPr lang="en-HK" i="1">
                                  <a:solidFill>
                                    <a:srgbClr val="000000"/>
                                  </a:solidFill>
                                  <a:latin typeface="Cambria Math" panose="02040503050406030204" pitchFamily="18" charset="0"/>
                                </a:rPr>
                                <m:t>0</m:t>
                              </m:r>
                            </m:e>
                            <m:sup>
                              <m:r>
                                <a:rPr lang="en-HK" i="1">
                                  <a:solidFill>
                                    <a:srgbClr val="000000"/>
                                  </a:solidFill>
                                  <a:latin typeface="Cambria Math" panose="02040503050406030204" pitchFamily="18" charset="0"/>
                                </a:rPr>
                                <m:t>6</m:t>
                              </m:r>
                            </m:sup>
                          </m:sSup>
                          <m:r>
                            <a:rPr lang="en-HK" i="1">
                              <a:solidFill>
                                <a:srgbClr val="000000"/>
                              </a:solidFill>
                              <a:latin typeface="Cambria Math" panose="02040503050406030204" pitchFamily="18" charset="0"/>
                            </a:rPr>
                            <m:t>×1</m:t>
                          </m:r>
                          <m:sSup>
                            <m:sSupPr>
                              <m:ctrlPr>
                                <a:rPr lang="en-HK" i="1">
                                  <a:solidFill>
                                    <a:srgbClr val="000000"/>
                                  </a:solidFill>
                                  <a:latin typeface="Cambria Math" panose="02040503050406030204" pitchFamily="18" charset="0"/>
                                </a:rPr>
                              </m:ctrlPr>
                            </m:sSupPr>
                            <m:e>
                              <m:r>
                                <a:rPr lang="en-HK" i="1">
                                  <a:solidFill>
                                    <a:srgbClr val="000000"/>
                                  </a:solidFill>
                                  <a:latin typeface="Cambria Math" panose="02040503050406030204" pitchFamily="18" charset="0"/>
                                </a:rPr>
                                <m:t>0</m:t>
                              </m:r>
                            </m:e>
                            <m:sup>
                              <m:r>
                                <a:rPr lang="en-HK" i="1">
                                  <a:solidFill>
                                    <a:srgbClr val="000000"/>
                                  </a:solidFill>
                                  <a:latin typeface="Cambria Math" panose="02040503050406030204" pitchFamily="18" charset="0"/>
                                </a:rPr>
                                <m:t>−28</m:t>
                              </m:r>
                            </m:sup>
                          </m:sSup>
                          <m:sSup>
                            <m:sSupPr>
                              <m:ctrlPr>
                                <a:rPr lang="en-HK" b="0" i="1" smtClean="0">
                                  <a:solidFill>
                                    <a:srgbClr val="000000"/>
                                  </a:solidFill>
                                  <a:latin typeface="Cambria Math" panose="02040503050406030204" pitchFamily="18" charset="0"/>
                                </a:rPr>
                              </m:ctrlPr>
                            </m:sSupPr>
                            <m:e>
                              <m:r>
                                <a:rPr lang="en-HK" b="0" i="1" smtClean="0">
                                  <a:solidFill>
                                    <a:srgbClr val="000000"/>
                                  </a:solidFill>
                                  <a:latin typeface="Cambria Math" panose="02040503050406030204" pitchFamily="18" charset="0"/>
                                </a:rPr>
                                <m:t>𝑚</m:t>
                              </m:r>
                            </m:e>
                            <m:sup>
                              <m:r>
                                <a:rPr lang="en-HK" i="1">
                                  <a:solidFill>
                                    <a:srgbClr val="000000"/>
                                  </a:solidFill>
                                  <a:latin typeface="Cambria Math" panose="02040503050406030204" pitchFamily="18" charset="0"/>
                                </a:rPr>
                                <m:t>2</m:t>
                              </m:r>
                            </m:sup>
                          </m:sSup>
                        </m:num>
                        <m:den>
                          <m:r>
                            <a:rPr lang="en-HK" i="1">
                              <a:solidFill>
                                <a:srgbClr val="000000"/>
                              </a:solidFill>
                              <a:latin typeface="Cambria Math" panose="02040503050406030204" pitchFamily="18" charset="0"/>
                            </a:rPr>
                            <m:t>𝜋</m:t>
                          </m:r>
                          <m:r>
                            <a:rPr lang="en-HK" i="1">
                              <a:solidFill>
                                <a:srgbClr val="000000"/>
                              </a:solidFill>
                              <a:latin typeface="Cambria Math" panose="02040503050406030204" pitchFamily="18" charset="0"/>
                            </a:rPr>
                            <m:t>×</m:t>
                          </m:r>
                          <m:sSup>
                            <m:sSupPr>
                              <m:ctrlPr>
                                <a:rPr lang="en-HK" i="1">
                                  <a:solidFill>
                                    <a:srgbClr val="000000"/>
                                  </a:solidFill>
                                  <a:latin typeface="Cambria Math" panose="02040503050406030204" pitchFamily="18" charset="0"/>
                                </a:rPr>
                              </m:ctrlPr>
                            </m:sSupPr>
                            <m:e>
                              <m:d>
                                <m:dPr>
                                  <m:ctrlPr>
                                    <a:rPr lang="en-HK" i="1">
                                      <a:solidFill>
                                        <a:srgbClr val="000000"/>
                                      </a:solidFill>
                                      <a:latin typeface="Cambria Math" panose="02040503050406030204" pitchFamily="18" charset="0"/>
                                    </a:rPr>
                                  </m:ctrlPr>
                                </m:dPr>
                                <m:e>
                                  <m:r>
                                    <a:rPr lang="en-HK" i="1">
                                      <a:solidFill>
                                        <a:srgbClr val="000000"/>
                                      </a:solidFill>
                                      <a:latin typeface="Cambria Math" panose="02040503050406030204" pitchFamily="18" charset="0"/>
                                    </a:rPr>
                                    <m:t>125×1</m:t>
                                  </m:r>
                                  <m:sSup>
                                    <m:sSupPr>
                                      <m:ctrlPr>
                                        <a:rPr lang="en-HK" i="1">
                                          <a:solidFill>
                                            <a:srgbClr val="000000"/>
                                          </a:solidFill>
                                          <a:latin typeface="Cambria Math" panose="02040503050406030204" pitchFamily="18" charset="0"/>
                                        </a:rPr>
                                      </m:ctrlPr>
                                    </m:sSupPr>
                                    <m:e>
                                      <m:r>
                                        <a:rPr lang="en-HK" i="1">
                                          <a:solidFill>
                                            <a:srgbClr val="000000"/>
                                          </a:solidFill>
                                          <a:latin typeface="Cambria Math" panose="02040503050406030204" pitchFamily="18" charset="0"/>
                                        </a:rPr>
                                        <m:t>0</m:t>
                                      </m:r>
                                    </m:e>
                                    <m:sup>
                                      <m:r>
                                        <a:rPr lang="en-HK" i="1">
                                          <a:solidFill>
                                            <a:srgbClr val="000000"/>
                                          </a:solidFill>
                                          <a:latin typeface="Cambria Math" panose="02040503050406030204" pitchFamily="18" charset="0"/>
                                        </a:rPr>
                                        <m:t>−12</m:t>
                                      </m:r>
                                    </m:sup>
                                  </m:sSup>
                                  <m:r>
                                    <a:rPr lang="en-HK" i="1">
                                      <a:solidFill>
                                        <a:srgbClr val="000000"/>
                                      </a:solidFill>
                                      <a:latin typeface="Cambria Math" panose="02040503050406030204" pitchFamily="18" charset="0"/>
                                    </a:rPr>
                                    <m:t>𝑚</m:t>
                                  </m:r>
                                </m:e>
                              </m:d>
                            </m:e>
                            <m:sup>
                              <m:r>
                                <a:rPr lang="en-HK" i="1">
                                  <a:solidFill>
                                    <a:srgbClr val="000000"/>
                                  </a:solidFill>
                                  <a:latin typeface="Cambria Math" panose="02040503050406030204" pitchFamily="18" charset="0"/>
                                </a:rPr>
                                <m:t>2</m:t>
                              </m:r>
                            </m:sup>
                          </m:sSup>
                        </m:den>
                      </m:f>
                      <m:r>
                        <a:rPr lang="en-HK" i="1">
                          <a:solidFill>
                            <a:srgbClr val="000000"/>
                          </a:solidFill>
                          <a:latin typeface="Cambria Math" panose="02040503050406030204" pitchFamily="18" charset="0"/>
                        </a:rPr>
                        <m:t>=2.04×1</m:t>
                      </m:r>
                      <m:sSup>
                        <m:sSupPr>
                          <m:ctrlPr>
                            <a:rPr lang="en-HK" i="1">
                              <a:solidFill>
                                <a:srgbClr val="000000"/>
                              </a:solidFill>
                              <a:latin typeface="Cambria Math" panose="02040503050406030204" pitchFamily="18" charset="0"/>
                            </a:rPr>
                          </m:ctrlPr>
                        </m:sSupPr>
                        <m:e>
                          <m:r>
                            <a:rPr lang="en-HK" i="1">
                              <a:solidFill>
                                <a:srgbClr val="000000"/>
                              </a:solidFill>
                              <a:latin typeface="Cambria Math" panose="02040503050406030204" pitchFamily="18" charset="0"/>
                            </a:rPr>
                            <m:t>0</m:t>
                          </m:r>
                        </m:e>
                        <m:sup>
                          <m:r>
                            <a:rPr lang="en-HK" i="1">
                              <a:solidFill>
                                <a:srgbClr val="000000"/>
                              </a:solidFill>
                              <a:latin typeface="Cambria Math" panose="02040503050406030204" pitchFamily="18" charset="0"/>
                            </a:rPr>
                            <m:t>−5</m:t>
                          </m:r>
                        </m:sup>
                      </m:sSup>
                    </m:oMath>
                  </m:oMathPara>
                </a14:m>
                <a:endParaRPr lang="en-HK" dirty="0"/>
              </a:p>
            </p:txBody>
          </p:sp>
        </mc:Choice>
        <mc:Fallback xmlns="">
          <p:sp>
            <p:nvSpPr>
              <p:cNvPr id="1026" name="Object 2"/>
              <p:cNvSpPr txBox="1">
                <a:spLocks noRot="1" noChangeAspect="1" noMove="1" noResize="1" noEditPoints="1" noAdjustHandles="1" noChangeArrowheads="1" noChangeShapeType="1" noTextEdit="1"/>
              </p:cNvSpPr>
              <p:nvPr/>
            </p:nvSpPr>
            <p:spPr bwMode="auto">
              <a:xfrm>
                <a:off x="609600" y="5791200"/>
                <a:ext cx="4097338" cy="839788"/>
              </a:xfrm>
              <a:prstGeom prst="rect">
                <a:avLst/>
              </a:prstGeom>
              <a:blipFill>
                <a:blip r:embed="rId5"/>
                <a:stretch>
                  <a:fillRect/>
                </a:stretch>
              </a:blipFill>
              <a:ln>
                <a:noFill/>
              </a:ln>
              <a:effectLst/>
            </p:spPr>
            <p:txBody>
              <a:bodyPr/>
              <a:lstStyle/>
              <a:p>
                <a:r>
                  <a:rPr lang="en-HK">
                    <a:noFill/>
                  </a:rPr>
                  <a:t> </a:t>
                </a:r>
              </a:p>
            </p:txBody>
          </p:sp>
        </mc:Fallback>
      </mc:AlternateContent>
      <p:sp>
        <p:nvSpPr>
          <p:cNvPr id="2" name="Slide Number Placeholder 1">
            <a:extLst>
              <a:ext uri="{FF2B5EF4-FFF2-40B4-BE49-F238E27FC236}">
                <a16:creationId xmlns:a16="http://schemas.microsoft.com/office/drawing/2014/main" id="{30F446FB-6D44-4FBB-B9FE-1288AD1EEB7C}"/>
              </a:ext>
            </a:extLst>
          </p:cNvPr>
          <p:cNvSpPr>
            <a:spLocks noGrp="1"/>
          </p:cNvSpPr>
          <p:nvPr>
            <p:ph type="sldNum" sz="quarter" idx="11"/>
          </p:nvPr>
        </p:nvSpPr>
        <p:spPr/>
        <p:txBody>
          <a:bodyPr/>
          <a:lstStyle/>
          <a:p>
            <a:pPr>
              <a:defRPr/>
            </a:pPr>
            <a:fld id="{9A975D84-2197-4ABB-80EB-AE85607E50F0}" type="slidenum">
              <a:rPr lang="zh-TW" altLang="en-US" smtClean="0"/>
              <a:pPr>
                <a:defRPr/>
              </a:pPr>
              <a:t>8</a:t>
            </a:fld>
            <a:endParaRPr lang="en-US" altLang="zh-TW"/>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533400" y="2333526"/>
            <a:ext cx="82974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sym typeface="Symbol" pitchFamily="18" charset="2"/>
              </a:rPr>
              <a:t>X-ray Mg K=1253.6eV: </a:t>
            </a:r>
            <a:r>
              <a:rPr lang="zh-CN" altLang="en-US" sz="2000" dirty="0">
                <a:latin typeface="Georgia" panose="02040502050405020303" pitchFamily="18" charset="0"/>
                <a:ea typeface="宋体" pitchFamily="2" charset="-122"/>
                <a:sym typeface="Symbol" pitchFamily="18" charset="2"/>
              </a:rPr>
              <a:t></a:t>
            </a:r>
            <a:r>
              <a:rPr lang="en-US" altLang="zh-CN" sz="2000" baseline="-25000" dirty="0">
                <a:latin typeface="Georgia" panose="02040502050405020303" pitchFamily="18" charset="0"/>
                <a:ea typeface="宋体" pitchFamily="2" charset="-122"/>
                <a:sym typeface="Symbol" pitchFamily="18" charset="2"/>
              </a:rPr>
              <a:t>Al,total</a:t>
            </a:r>
            <a:r>
              <a:rPr lang="en-US" altLang="zh-CN" sz="2000" dirty="0">
                <a:latin typeface="Georgia" panose="02040502050405020303" pitchFamily="18" charset="0"/>
                <a:ea typeface="宋体" pitchFamily="2" charset="-122"/>
                <a:sym typeface="Symbol" pitchFamily="18" charset="2"/>
              </a:rPr>
              <a:t>~10</a:t>
            </a:r>
            <a:r>
              <a:rPr lang="en-US" altLang="zh-CN" sz="2000" baseline="30000" dirty="0">
                <a:latin typeface="Georgia" panose="02040502050405020303" pitchFamily="18" charset="0"/>
                <a:ea typeface="宋体" pitchFamily="2" charset="-122"/>
                <a:sym typeface="Symbol" pitchFamily="18" charset="2"/>
              </a:rPr>
              <a:t>-20</a:t>
            </a:r>
            <a:r>
              <a:rPr lang="en-US" altLang="zh-CN" sz="2000" dirty="0">
                <a:latin typeface="Georgia" panose="02040502050405020303" pitchFamily="18" charset="0"/>
                <a:ea typeface="宋体" pitchFamily="2" charset="-122"/>
                <a:sym typeface="Symbol" pitchFamily="18" charset="2"/>
              </a:rPr>
              <a:t>cm</a:t>
            </a:r>
            <a:r>
              <a:rPr lang="en-US" altLang="zh-CN" sz="2000" baseline="30000" dirty="0">
                <a:latin typeface="Georgia" panose="02040502050405020303" pitchFamily="18" charset="0"/>
                <a:ea typeface="宋体" pitchFamily="2" charset="-122"/>
                <a:sym typeface="Symbol" pitchFamily="18" charset="2"/>
              </a:rPr>
              <a:t>2</a:t>
            </a:r>
            <a:r>
              <a:rPr lang="en-US" altLang="zh-CN" sz="2000" dirty="0">
                <a:latin typeface="Georgia" panose="02040502050405020303" pitchFamily="18" charset="0"/>
                <a:ea typeface="宋体" pitchFamily="2" charset="-122"/>
                <a:sym typeface="Symbol" pitchFamily="18" charset="2"/>
              </a:rPr>
              <a:t>/atom, reaction rate: ~0.001%</a:t>
            </a:r>
          </a:p>
        </p:txBody>
      </p:sp>
      <p:sp>
        <p:nvSpPr>
          <p:cNvPr id="11267" name="Text Box 4"/>
          <p:cNvSpPr txBox="1">
            <a:spLocks noChangeArrowheads="1"/>
          </p:cNvSpPr>
          <p:nvPr/>
        </p:nvSpPr>
        <p:spPr bwMode="auto">
          <a:xfrm>
            <a:off x="549275" y="3214588"/>
            <a:ext cx="68804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sym typeface="Symbol" pitchFamily="18" charset="2"/>
              </a:rPr>
              <a:t>2keV electron: </a:t>
            </a:r>
            <a:r>
              <a:rPr lang="zh-CN" altLang="en-US" sz="2000" dirty="0">
                <a:latin typeface="Georgia" panose="02040502050405020303" pitchFamily="18" charset="0"/>
                <a:ea typeface="宋体" pitchFamily="2" charset="-122"/>
                <a:sym typeface="Symbol" pitchFamily="18" charset="2"/>
              </a:rPr>
              <a:t></a:t>
            </a:r>
            <a:r>
              <a:rPr lang="en-US" altLang="zh-CN" sz="2000" baseline="-25000" dirty="0">
                <a:latin typeface="Georgia" panose="02040502050405020303" pitchFamily="18" charset="0"/>
                <a:ea typeface="宋体" pitchFamily="2" charset="-122"/>
                <a:sym typeface="Symbol" pitchFamily="18" charset="2"/>
              </a:rPr>
              <a:t>Al,total</a:t>
            </a:r>
            <a:r>
              <a:rPr lang="en-US" altLang="zh-CN" sz="2000" dirty="0">
                <a:latin typeface="Georgia" panose="02040502050405020303" pitchFamily="18" charset="0"/>
                <a:ea typeface="宋体" pitchFamily="2" charset="-122"/>
                <a:sym typeface="Symbol" pitchFamily="18" charset="2"/>
              </a:rPr>
              <a:t>~10</a:t>
            </a:r>
            <a:r>
              <a:rPr lang="en-US" altLang="zh-CN" sz="2000" baseline="30000" dirty="0">
                <a:latin typeface="Georgia" panose="02040502050405020303" pitchFamily="18" charset="0"/>
                <a:ea typeface="宋体" pitchFamily="2" charset="-122"/>
                <a:sym typeface="Symbol" pitchFamily="18" charset="2"/>
              </a:rPr>
              <a:t>-17</a:t>
            </a:r>
            <a:r>
              <a:rPr lang="en-US" altLang="zh-CN" sz="2000" dirty="0">
                <a:latin typeface="Georgia" panose="02040502050405020303" pitchFamily="18" charset="0"/>
                <a:ea typeface="宋体" pitchFamily="2" charset="-122"/>
                <a:sym typeface="Symbol" pitchFamily="18" charset="2"/>
              </a:rPr>
              <a:t> cm</a:t>
            </a:r>
            <a:r>
              <a:rPr lang="en-US" altLang="zh-CN" sz="2000" baseline="30000" dirty="0">
                <a:latin typeface="Georgia" panose="02040502050405020303" pitchFamily="18" charset="0"/>
                <a:ea typeface="宋体" pitchFamily="2" charset="-122"/>
                <a:sym typeface="Symbol" pitchFamily="18" charset="2"/>
              </a:rPr>
              <a:t>2</a:t>
            </a:r>
            <a:r>
              <a:rPr lang="en-US" altLang="zh-CN" sz="2000" dirty="0">
                <a:latin typeface="Georgia" panose="02040502050405020303" pitchFamily="18" charset="0"/>
                <a:ea typeface="宋体" pitchFamily="2" charset="-122"/>
                <a:sym typeface="Symbol" pitchFamily="18" charset="2"/>
              </a:rPr>
              <a:t>/atom, reaction rate: ~10% </a:t>
            </a:r>
          </a:p>
        </p:txBody>
      </p:sp>
      <p:pic>
        <p:nvPicPr>
          <p:cNvPr id="4" name="Picture 5" descr="Electron-Impact Cross Section Database - banner &amp; navig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343400"/>
            <a:ext cx="526732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
          <p:cNvSpPr txBox="1">
            <a:spLocks noChangeArrowheads="1"/>
          </p:cNvSpPr>
          <p:nvPr/>
        </p:nvSpPr>
        <p:spPr bwMode="auto">
          <a:xfrm>
            <a:off x="685800" y="5534401"/>
            <a:ext cx="6623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hlinkClick r:id="rId3"/>
              </a:rPr>
              <a:t>http://physics.nist.gov/PhysRefData/Ionization/atom_index.html</a:t>
            </a:r>
            <a:r>
              <a:rPr lang="en-US" altLang="en-US" dirty="0"/>
              <a:t> </a:t>
            </a:r>
          </a:p>
        </p:txBody>
      </p:sp>
      <p:sp>
        <p:nvSpPr>
          <p:cNvPr id="2" name="Slide Number Placeholder 1">
            <a:extLst>
              <a:ext uri="{FF2B5EF4-FFF2-40B4-BE49-F238E27FC236}">
                <a16:creationId xmlns:a16="http://schemas.microsoft.com/office/drawing/2014/main" id="{BD4F765E-F8CB-4045-9716-47301B1078B1}"/>
              </a:ext>
            </a:extLst>
          </p:cNvPr>
          <p:cNvSpPr>
            <a:spLocks noGrp="1"/>
          </p:cNvSpPr>
          <p:nvPr>
            <p:ph type="sldNum" sz="quarter" idx="11"/>
          </p:nvPr>
        </p:nvSpPr>
        <p:spPr/>
        <p:txBody>
          <a:bodyPr/>
          <a:lstStyle/>
          <a:p>
            <a:pPr>
              <a:defRPr/>
            </a:pPr>
            <a:fld id="{9A975D84-2197-4ABB-80EB-AE85607E50F0}" type="slidenum">
              <a:rPr lang="zh-TW" altLang="en-US" smtClean="0"/>
              <a:pPr>
                <a:defRPr/>
              </a:pPr>
              <a:t>9</a:t>
            </a:fld>
            <a:endParaRPr lang="en-US" altLang="zh-TW"/>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676275" y="20955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zh-TW">
              <a:solidFill>
                <a:schemeClr val="bg1"/>
              </a:solidFill>
              <a:ea typeface="PMingLiU" pitchFamily="18" charset="-120"/>
            </a:endParaRPr>
          </a:p>
        </p:txBody>
      </p:sp>
      <p:sp>
        <p:nvSpPr>
          <p:cNvPr id="12291" name="Text Box 6"/>
          <p:cNvSpPr txBox="1">
            <a:spLocks noChangeArrowheads="1"/>
          </p:cNvSpPr>
          <p:nvPr/>
        </p:nvSpPr>
        <p:spPr bwMode="auto">
          <a:xfrm>
            <a:off x="2438400" y="1066800"/>
            <a:ext cx="4318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a:latin typeface="Georgia" panose="02040502050405020303" pitchFamily="18" charset="0"/>
                <a:ea typeface="PMingLiU" pitchFamily="18" charset="-120"/>
              </a:rPr>
              <a:t>Electron beam interaction</a:t>
            </a:r>
          </a:p>
        </p:txBody>
      </p:sp>
      <p:pic>
        <p:nvPicPr>
          <p:cNvPr id="12293"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28800"/>
            <a:ext cx="7086600" cy="44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3"/>
          <p:cNvSpPr txBox="1">
            <a:spLocks noChangeArrowheads="1"/>
          </p:cNvSpPr>
          <p:nvPr/>
        </p:nvSpPr>
        <p:spPr bwMode="auto">
          <a:xfrm>
            <a:off x="2438400" y="2254250"/>
            <a:ext cx="7080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r>
              <a:rPr lang="en-US" altLang="en-US" sz="1600" dirty="0">
                <a:latin typeface="Georgia" panose="02040502050405020303" pitchFamily="18" charset="0"/>
              </a:rPr>
              <a:t>100 </a:t>
            </a:r>
            <a:r>
              <a:rPr lang="en-US" altLang="en-US" sz="1600" dirty="0">
                <a:latin typeface="Georgia" panose="02040502050405020303" pitchFamily="18" charset="0"/>
                <a:cs typeface="Vrinda" pitchFamily="34" charset="0"/>
              </a:rPr>
              <a:t>Å</a:t>
            </a:r>
            <a:endParaRPr lang="en-US" altLang="en-US" sz="1600" dirty="0">
              <a:latin typeface="Georgia" panose="02040502050405020303" pitchFamily="18" charset="0"/>
            </a:endParaRPr>
          </a:p>
        </p:txBody>
      </p:sp>
      <p:sp>
        <p:nvSpPr>
          <p:cNvPr id="3" name="Slide Number Placeholder 2">
            <a:extLst>
              <a:ext uri="{FF2B5EF4-FFF2-40B4-BE49-F238E27FC236}">
                <a16:creationId xmlns:a16="http://schemas.microsoft.com/office/drawing/2014/main" id="{3CBA6A15-FA54-4322-937F-B09668864655}"/>
              </a:ext>
            </a:extLst>
          </p:cNvPr>
          <p:cNvSpPr>
            <a:spLocks noGrp="1"/>
          </p:cNvSpPr>
          <p:nvPr>
            <p:ph type="sldNum" sz="quarter" idx="11"/>
          </p:nvPr>
        </p:nvSpPr>
        <p:spPr/>
        <p:txBody>
          <a:bodyPr/>
          <a:lstStyle/>
          <a:p>
            <a:pPr>
              <a:defRPr/>
            </a:pPr>
            <a:fld id="{9A975D84-2197-4ABB-80EB-AE85607E50F0}" type="slidenum">
              <a:rPr lang="zh-TW" altLang="en-US" smtClean="0"/>
              <a:pPr>
                <a:defRPr/>
              </a:pPr>
              <a:t>10</a:t>
            </a:fld>
            <a:endParaRPr lang="en-US" altLang="zh-TW"/>
          </a:p>
        </p:txBody>
      </p:sp>
      <p:sp>
        <p:nvSpPr>
          <p:cNvPr id="4" name="Rectangle 4">
            <a:extLst>
              <a:ext uri="{FF2B5EF4-FFF2-40B4-BE49-F238E27FC236}">
                <a16:creationId xmlns:a16="http://schemas.microsoft.com/office/drawing/2014/main" id="{D4B779B1-0FA9-ACC7-ECC1-D7BD9BE15625}"/>
              </a:ext>
            </a:extLst>
          </p:cNvPr>
          <p:cNvSpPr>
            <a:spLocks noChangeArrowheads="1"/>
          </p:cNvSpPr>
          <p:nvPr/>
        </p:nvSpPr>
        <p:spPr bwMode="auto">
          <a:xfrm>
            <a:off x="53340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Auger electron spectroscopy: Interaction volume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459" y="3660876"/>
            <a:ext cx="4267200" cy="3046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1250" y="944563"/>
            <a:ext cx="1500188"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6"/>
          <p:cNvSpPr txBox="1">
            <a:spLocks noChangeArrowheads="1"/>
          </p:cNvSpPr>
          <p:nvPr/>
        </p:nvSpPr>
        <p:spPr bwMode="auto">
          <a:xfrm>
            <a:off x="228600" y="914400"/>
            <a:ext cx="5865813"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lgn="just">
              <a:spcBef>
                <a:spcPct val="0"/>
              </a:spcBef>
              <a:buClrTx/>
              <a:buSzTx/>
              <a:buFontTx/>
              <a:buNone/>
            </a:pPr>
            <a:r>
              <a:rPr lang="en-US" altLang="zh-TW" sz="1600" dirty="0">
                <a:latin typeface="Georgia" panose="02040502050405020303" pitchFamily="18" charset="0"/>
                <a:ea typeface="PMingLiU" pitchFamily="18" charset="-120"/>
              </a:rPr>
              <a:t>In </a:t>
            </a:r>
            <a:r>
              <a:rPr lang="en-US" altLang="zh-TW" sz="1600" dirty="0">
                <a:solidFill>
                  <a:schemeClr val="bg2">
                    <a:lumMod val="60000"/>
                    <a:lumOff val="40000"/>
                  </a:schemeClr>
                </a:solidFill>
                <a:latin typeface="Georgia" panose="02040502050405020303" pitchFamily="18" charset="0"/>
                <a:ea typeface="PMingLiU" pitchFamily="18" charset="-120"/>
              </a:rPr>
              <a:t>1922,</a:t>
            </a:r>
            <a:r>
              <a:rPr lang="en-US" altLang="zh-TW" sz="1600" dirty="0">
                <a:latin typeface="Georgia" panose="02040502050405020303" pitchFamily="18" charset="0"/>
                <a:ea typeface="PMingLiU" pitchFamily="18" charset="-120"/>
              </a:rPr>
              <a:t> </a:t>
            </a:r>
            <a:r>
              <a:rPr lang="en-US" altLang="zh-TW" sz="1600" dirty="0" err="1">
                <a:solidFill>
                  <a:schemeClr val="bg2">
                    <a:lumMod val="60000"/>
                    <a:lumOff val="40000"/>
                  </a:schemeClr>
                </a:solidFill>
                <a:latin typeface="Georgia" panose="02040502050405020303" pitchFamily="18" charset="0"/>
                <a:ea typeface="PMingLiU" pitchFamily="18" charset="-120"/>
              </a:rPr>
              <a:t>Lise</a:t>
            </a:r>
            <a:r>
              <a:rPr lang="en-US" altLang="zh-TW" sz="1600" dirty="0">
                <a:solidFill>
                  <a:schemeClr val="bg2">
                    <a:lumMod val="60000"/>
                    <a:lumOff val="40000"/>
                  </a:schemeClr>
                </a:solidFill>
                <a:latin typeface="Georgia" panose="02040502050405020303" pitchFamily="18" charset="0"/>
                <a:ea typeface="PMingLiU" pitchFamily="18" charset="-120"/>
              </a:rPr>
              <a:t> Meitner </a:t>
            </a:r>
            <a:r>
              <a:rPr lang="en-US" altLang="zh-TW" sz="1600" dirty="0">
                <a:latin typeface="Georgia" panose="02040502050405020303" pitchFamily="18" charset="0"/>
                <a:ea typeface="PMingLiU" pitchFamily="18" charset="-120"/>
              </a:rPr>
              <a:t>discovered the cause of the emission of electrons from surfaces of atoms with 'signature' energies, known as the Auger effect. However, the effect is named </a:t>
            </a:r>
            <a:r>
              <a:rPr lang="en-US" altLang="zh-CN" sz="1600" dirty="0">
                <a:latin typeface="Georgia" panose="02040502050405020303" pitchFamily="18" charset="0"/>
                <a:ea typeface="PMingLiU" pitchFamily="18" charset="-120"/>
              </a:rPr>
              <a:t>after</a:t>
            </a:r>
            <a:r>
              <a:rPr lang="en-US" altLang="zh-TW" sz="1600" dirty="0">
                <a:latin typeface="Georgia" panose="02040502050405020303" pitchFamily="18" charset="0"/>
                <a:ea typeface="PMingLiU" pitchFamily="18" charset="-120"/>
              </a:rPr>
              <a:t> </a:t>
            </a:r>
            <a:r>
              <a:rPr lang="en-US" altLang="zh-TW" sz="1600" dirty="0">
                <a:solidFill>
                  <a:schemeClr val="bg2">
                    <a:lumMod val="60000"/>
                    <a:lumOff val="40000"/>
                  </a:schemeClr>
                </a:solidFill>
                <a:latin typeface="Georgia" panose="02040502050405020303" pitchFamily="18" charset="0"/>
                <a:ea typeface="PMingLiU" pitchFamily="18" charset="-120"/>
              </a:rPr>
              <a:t>Pierre Victor Auger</a:t>
            </a:r>
            <a:r>
              <a:rPr lang="en-US" altLang="zh-TW" sz="1600" dirty="0">
                <a:latin typeface="Georgia" panose="02040502050405020303" pitchFamily="18" charset="0"/>
                <a:ea typeface="PMingLiU" pitchFamily="18" charset="-120"/>
              </a:rPr>
              <a:t>, a French scientist who independently discovered the effect in </a:t>
            </a:r>
            <a:r>
              <a:rPr lang="en-US" altLang="zh-TW" sz="1600" dirty="0">
                <a:solidFill>
                  <a:schemeClr val="bg2">
                    <a:lumMod val="60000"/>
                    <a:lumOff val="40000"/>
                  </a:schemeClr>
                </a:solidFill>
                <a:latin typeface="Georgia" panose="02040502050405020303" pitchFamily="18" charset="0"/>
                <a:ea typeface="PMingLiU" pitchFamily="18" charset="-120"/>
              </a:rPr>
              <a:t>1923.</a:t>
            </a:r>
            <a:r>
              <a:rPr lang="en-US" altLang="zh-TW" sz="1600" dirty="0">
                <a:latin typeface="Georgia" panose="02040502050405020303" pitchFamily="18" charset="0"/>
                <a:ea typeface="PMingLiU" pitchFamily="18" charset="-120"/>
              </a:rPr>
              <a:t> Auger electrons are emitted at discrete energies that allow the atom of origin to be identified.  The idea of using electron-stimulated Auger signals for surface analysis was first suggested in </a:t>
            </a:r>
            <a:r>
              <a:rPr lang="en-US" altLang="zh-TW" sz="1600" dirty="0">
                <a:solidFill>
                  <a:schemeClr val="bg2">
                    <a:lumMod val="60000"/>
                    <a:lumOff val="40000"/>
                  </a:schemeClr>
                </a:solidFill>
                <a:latin typeface="Georgia" panose="02040502050405020303" pitchFamily="18" charset="0"/>
                <a:ea typeface="PMingLiU" pitchFamily="18" charset="-120"/>
              </a:rPr>
              <a:t>1953</a:t>
            </a:r>
            <a:r>
              <a:rPr lang="en-US" altLang="zh-TW" sz="1600" dirty="0">
                <a:latin typeface="Georgia" panose="02040502050405020303" pitchFamily="18" charset="0"/>
                <a:ea typeface="PMingLiU" pitchFamily="18" charset="-120"/>
              </a:rPr>
              <a:t> by </a:t>
            </a:r>
            <a:r>
              <a:rPr lang="en-US" altLang="zh-TW" sz="1600" dirty="0">
                <a:solidFill>
                  <a:schemeClr val="bg2">
                    <a:lumMod val="60000"/>
                    <a:lumOff val="40000"/>
                  </a:schemeClr>
                </a:solidFill>
                <a:latin typeface="Georgia" panose="02040502050405020303" pitchFamily="18" charset="0"/>
                <a:ea typeface="PMingLiU" pitchFamily="18" charset="-120"/>
              </a:rPr>
              <a:t>J. J. Lander</a:t>
            </a:r>
            <a:r>
              <a:rPr lang="en-US" altLang="zh-TW" sz="1600" dirty="0">
                <a:latin typeface="Georgia" panose="02040502050405020303" pitchFamily="18" charset="0"/>
                <a:ea typeface="PMingLiU" pitchFamily="18" charset="-120"/>
              </a:rPr>
              <a:t>.  However, the technique became practical for surface analysis after </a:t>
            </a:r>
            <a:r>
              <a:rPr lang="en-US" altLang="zh-TW" sz="1600" dirty="0">
                <a:solidFill>
                  <a:schemeClr val="bg2">
                    <a:lumMod val="60000"/>
                    <a:lumOff val="40000"/>
                  </a:schemeClr>
                </a:solidFill>
                <a:latin typeface="Georgia" panose="02040502050405020303" pitchFamily="18" charset="0"/>
                <a:ea typeface="PMingLiU" pitchFamily="18" charset="-120"/>
              </a:rPr>
              <a:t>Larry Harris</a:t>
            </a:r>
            <a:r>
              <a:rPr lang="en-US" altLang="zh-TW" sz="1600" dirty="0">
                <a:latin typeface="Georgia" panose="02040502050405020303" pitchFamily="18" charset="0"/>
                <a:ea typeface="PMingLiU" pitchFamily="18" charset="-120"/>
              </a:rPr>
              <a:t> in </a:t>
            </a:r>
            <a:r>
              <a:rPr lang="en-US" altLang="zh-TW" sz="1600" dirty="0">
                <a:solidFill>
                  <a:schemeClr val="bg2">
                    <a:lumMod val="60000"/>
                    <a:lumOff val="40000"/>
                  </a:schemeClr>
                </a:solidFill>
                <a:latin typeface="Georgia" panose="02040502050405020303" pitchFamily="18" charset="0"/>
                <a:ea typeface="PMingLiU" pitchFamily="18" charset="-120"/>
              </a:rPr>
              <a:t>1967</a:t>
            </a:r>
            <a:r>
              <a:rPr lang="en-US" altLang="zh-TW" sz="1600" dirty="0">
                <a:latin typeface="Georgia" panose="02040502050405020303" pitchFamily="18" charset="0"/>
                <a:ea typeface="PMingLiU" pitchFamily="18" charset="-120"/>
              </a:rPr>
              <a:t> demonstrated the use of differentiation for enhancing the Auger signals.</a:t>
            </a:r>
            <a:endParaRPr lang="zh-TW" altLang="en-US" sz="1600" dirty="0">
              <a:latin typeface="Georgia" panose="02040502050405020303" pitchFamily="18" charset="0"/>
              <a:ea typeface="PMingLiU" pitchFamily="18" charset="-120"/>
            </a:endParaRPr>
          </a:p>
        </p:txBody>
      </p:sp>
      <p:sp>
        <p:nvSpPr>
          <p:cNvPr id="11269" name="Text Box 7"/>
          <p:cNvSpPr txBox="1">
            <a:spLocks noChangeArrowheads="1"/>
          </p:cNvSpPr>
          <p:nvPr/>
        </p:nvSpPr>
        <p:spPr bwMode="auto">
          <a:xfrm>
            <a:off x="4903787" y="3915759"/>
            <a:ext cx="3886200"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lgn="just">
              <a:spcBef>
                <a:spcPct val="50000"/>
              </a:spcBef>
              <a:buClrTx/>
              <a:buSzTx/>
              <a:buFontTx/>
              <a:buNone/>
            </a:pPr>
            <a:r>
              <a:rPr lang="en-US" altLang="zh-TW" sz="1600" dirty="0">
                <a:latin typeface="Georgia" panose="02040502050405020303" pitchFamily="18" charset="0"/>
                <a:ea typeface="PMingLiU" pitchFamily="18" charset="-120"/>
              </a:rPr>
              <a:t>Today, Auger electron spectroscopy is the most frequent analytical method for surfaces, thin-films, and interface compositions. This utility arises from the combination of </a:t>
            </a:r>
            <a:r>
              <a:rPr lang="en-US" altLang="zh-TW" sz="1600" dirty="0">
                <a:solidFill>
                  <a:schemeClr val="bg2">
                    <a:lumMod val="60000"/>
                    <a:lumOff val="40000"/>
                  </a:schemeClr>
                </a:solidFill>
                <a:latin typeface="Georgia" panose="02040502050405020303" pitchFamily="18" charset="0"/>
                <a:ea typeface="PMingLiU" pitchFamily="18" charset="-120"/>
              </a:rPr>
              <a:t>surface specificity </a:t>
            </a:r>
            <a:r>
              <a:rPr lang="en-US" altLang="zh-TW" sz="1600" dirty="0">
                <a:latin typeface="Georgia" panose="02040502050405020303" pitchFamily="18" charset="0"/>
                <a:ea typeface="PMingLiU" pitchFamily="18" charset="-120"/>
              </a:rPr>
              <a:t>(0.5 to 10 nm), good </a:t>
            </a:r>
            <a:r>
              <a:rPr lang="en-US" altLang="zh-TW" sz="1600" dirty="0">
                <a:solidFill>
                  <a:schemeClr val="bg2">
                    <a:lumMod val="60000"/>
                    <a:lumOff val="40000"/>
                  </a:schemeClr>
                </a:solidFill>
                <a:latin typeface="Georgia" panose="02040502050405020303" pitchFamily="18" charset="0"/>
                <a:ea typeface="PMingLiU" pitchFamily="18" charset="-120"/>
              </a:rPr>
              <a:t>lateral surface resolution </a:t>
            </a:r>
            <a:r>
              <a:rPr lang="en-US" altLang="zh-TW" sz="1600" dirty="0">
                <a:latin typeface="Georgia" panose="02040502050405020303" pitchFamily="18" charset="0"/>
                <a:ea typeface="PMingLiU" pitchFamily="18" charset="-120"/>
              </a:rPr>
              <a:t>(as little as 10 nm), </a:t>
            </a:r>
            <a:r>
              <a:rPr lang="en-US" altLang="zh-TW" sz="1600" dirty="0">
                <a:solidFill>
                  <a:schemeClr val="bg2">
                    <a:lumMod val="60000"/>
                    <a:lumOff val="40000"/>
                  </a:schemeClr>
                </a:solidFill>
                <a:latin typeface="Georgia" panose="02040502050405020303" pitchFamily="18" charset="0"/>
                <a:ea typeface="PMingLiU" pitchFamily="18" charset="-120"/>
              </a:rPr>
              <a:t>periodic table coverage </a:t>
            </a:r>
            <a:r>
              <a:rPr lang="en-US" altLang="zh-TW" sz="1600" dirty="0">
                <a:latin typeface="Georgia" panose="02040502050405020303" pitchFamily="18" charset="0"/>
                <a:ea typeface="PMingLiU" pitchFamily="18" charset="-120"/>
              </a:rPr>
              <a:t>(except hydrogen and helium), and </a:t>
            </a:r>
            <a:r>
              <a:rPr lang="en-US" altLang="zh-TW" sz="1600" dirty="0">
                <a:solidFill>
                  <a:schemeClr val="bg2">
                    <a:lumMod val="60000"/>
                    <a:lumOff val="40000"/>
                  </a:schemeClr>
                </a:solidFill>
                <a:latin typeface="Georgia" panose="02040502050405020303" pitchFamily="18" charset="0"/>
                <a:ea typeface="PMingLiU" pitchFamily="18" charset="-120"/>
              </a:rPr>
              <a:t>reasonable sensitivity </a:t>
            </a:r>
            <a:r>
              <a:rPr lang="en-US" altLang="zh-TW" sz="1600" dirty="0">
                <a:latin typeface="Georgia" panose="02040502050405020303" pitchFamily="18" charset="0"/>
                <a:ea typeface="PMingLiU" pitchFamily="18" charset="-120"/>
              </a:rPr>
              <a:t>(100 ppm for most elements).</a:t>
            </a:r>
            <a:endParaRPr lang="zh-TW" altLang="en-US" sz="1600" dirty="0">
              <a:latin typeface="Georgia" panose="02040502050405020303" pitchFamily="18" charset="0"/>
              <a:ea typeface="PMingLiU" pitchFamily="18" charset="-120"/>
            </a:endParaRPr>
          </a:p>
        </p:txBody>
      </p:sp>
      <p:sp>
        <p:nvSpPr>
          <p:cNvPr id="11270" name="Rectangle 8"/>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AES-History</a:t>
            </a:r>
          </a:p>
        </p:txBody>
      </p:sp>
      <p:pic>
        <p:nvPicPr>
          <p:cNvPr id="11271" name="Picture 8" descr="Lise Meitner">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4413" y="1060450"/>
            <a:ext cx="1366837"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Rectangle 11"/>
          <p:cNvSpPr>
            <a:spLocks noChangeArrowheads="1"/>
          </p:cNvSpPr>
          <p:nvPr/>
        </p:nvSpPr>
        <p:spPr bwMode="auto">
          <a:xfrm>
            <a:off x="5967496" y="3009017"/>
            <a:ext cx="157927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dirty="0" err="1"/>
              <a:t>Lise</a:t>
            </a:r>
            <a:r>
              <a:rPr lang="en-US" altLang="en-US" sz="1400" b="1" dirty="0"/>
              <a:t> Meitner</a:t>
            </a:r>
          </a:p>
          <a:p>
            <a:pPr algn="ctr"/>
            <a:r>
              <a:rPr lang="en-US" altLang="en-US" sz="1400" b="1" dirty="0"/>
              <a:t>(1878-1968)</a:t>
            </a:r>
          </a:p>
          <a:p>
            <a:pPr algn="ctr"/>
            <a:r>
              <a:rPr lang="en-US" sz="1400" dirty="0"/>
              <a:t>Austrian-Swedish</a:t>
            </a:r>
            <a:endParaRPr lang="en-US" altLang="en-US" sz="1400" b="1" dirty="0"/>
          </a:p>
        </p:txBody>
      </p:sp>
      <p:sp>
        <p:nvSpPr>
          <p:cNvPr id="2" name="Rectangle 1">
            <a:extLst>
              <a:ext uri="{FF2B5EF4-FFF2-40B4-BE49-F238E27FC236}">
                <a16:creationId xmlns:a16="http://schemas.microsoft.com/office/drawing/2014/main" id="{8747F50D-FFF8-42B0-8FDD-4B31C4518ACA}"/>
              </a:ext>
            </a:extLst>
          </p:cNvPr>
          <p:cNvSpPr/>
          <p:nvPr/>
        </p:nvSpPr>
        <p:spPr>
          <a:xfrm>
            <a:off x="7632298" y="3230417"/>
            <a:ext cx="1157689" cy="523220"/>
          </a:xfrm>
          <a:prstGeom prst="rect">
            <a:avLst/>
          </a:prstGeom>
        </p:spPr>
        <p:txBody>
          <a:bodyPr wrap="none">
            <a:spAutoFit/>
          </a:bodyPr>
          <a:lstStyle/>
          <a:p>
            <a:pPr algn="ctr"/>
            <a:r>
              <a:rPr lang="en-US" altLang="en-US" sz="1400" dirty="0"/>
              <a:t>(1899-1993)</a:t>
            </a:r>
          </a:p>
          <a:p>
            <a:pPr algn="ctr"/>
            <a:r>
              <a:rPr lang="en-US" altLang="en-US" sz="1400" dirty="0"/>
              <a:t>French</a:t>
            </a:r>
          </a:p>
        </p:txBody>
      </p:sp>
      <p:sp>
        <p:nvSpPr>
          <p:cNvPr id="3" name="Slide Number Placeholder 2">
            <a:extLst>
              <a:ext uri="{FF2B5EF4-FFF2-40B4-BE49-F238E27FC236}">
                <a16:creationId xmlns:a16="http://schemas.microsoft.com/office/drawing/2014/main" id="{CAA2BC90-E2B0-4D69-82A8-FA53A6ECF597}"/>
              </a:ext>
            </a:extLst>
          </p:cNvPr>
          <p:cNvSpPr>
            <a:spLocks noGrp="1"/>
          </p:cNvSpPr>
          <p:nvPr>
            <p:ph type="sldNum" sz="quarter" idx="11"/>
          </p:nvPr>
        </p:nvSpPr>
        <p:spPr/>
        <p:txBody>
          <a:bodyPr/>
          <a:lstStyle/>
          <a:p>
            <a:pPr>
              <a:defRPr/>
            </a:pPr>
            <a:fld id="{9A975D84-2197-4ABB-80EB-AE85607E50F0}" type="slidenum">
              <a:rPr lang="zh-TW" altLang="en-US" smtClean="0"/>
              <a:pPr>
                <a:defRPr/>
              </a:pPr>
              <a:t>11</a:t>
            </a:fld>
            <a:endParaRPr lang="en-US" altLang="zh-TW"/>
          </a:p>
        </p:txBody>
      </p:sp>
    </p:spTree>
    <p:extLst>
      <p:ext uri="{BB962C8B-B14F-4D97-AF65-F5344CB8AC3E}">
        <p14:creationId xmlns:p14="http://schemas.microsoft.com/office/powerpoint/2010/main" val="4150817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4457700"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2743200"/>
            <a:ext cx="4438650" cy="311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Text Box 6"/>
          <p:cNvSpPr txBox="1">
            <a:spLocks noChangeArrowheads="1"/>
          </p:cNvSpPr>
          <p:nvPr/>
        </p:nvSpPr>
        <p:spPr bwMode="auto">
          <a:xfrm>
            <a:off x="343469" y="4724400"/>
            <a:ext cx="415233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r>
              <a:rPr lang="en-US" altLang="zh-TW" sz="2000" dirty="0">
                <a:latin typeface="Georgia" panose="02040502050405020303" pitchFamily="18" charset="0"/>
                <a:ea typeface="PMingLiU" pitchFamily="18" charset="-120"/>
              </a:rPr>
              <a:t>Instead of a </a:t>
            </a:r>
            <a:r>
              <a:rPr lang="en-US" altLang="zh-TW" sz="2000" i="1" dirty="0">
                <a:latin typeface="Georgia" panose="02040502050405020303" pitchFamily="18" charset="0"/>
                <a:ea typeface="PMingLiU" pitchFamily="18" charset="-120"/>
              </a:rPr>
              <a:t>N(E) vs E </a:t>
            </a:r>
            <a:r>
              <a:rPr lang="en-US" altLang="zh-TW" sz="2000" dirty="0">
                <a:latin typeface="Georgia" panose="02040502050405020303" pitchFamily="18" charset="0"/>
                <a:ea typeface="PMingLiU" pitchFamily="18" charset="-120"/>
              </a:rPr>
              <a:t>plot, we normally take the first differential spectrum, </a:t>
            </a:r>
            <a:r>
              <a:rPr lang="en-US" altLang="zh-TW" sz="2000" i="1" dirty="0">
                <a:latin typeface="Georgia" panose="02040502050405020303" pitchFamily="18" charset="0"/>
                <a:ea typeface="PMingLiU" pitchFamily="18" charset="-120"/>
              </a:rPr>
              <a:t>d[</a:t>
            </a:r>
            <a:r>
              <a:rPr lang="en-US" altLang="zh-TW" sz="2000" i="1" dirty="0" err="1">
                <a:latin typeface="Times New Roman" panose="02020603050405020304" pitchFamily="18" charset="0"/>
                <a:ea typeface="PMingLiU" pitchFamily="18" charset="-120"/>
                <a:cs typeface="Times New Roman" panose="02020603050405020304" pitchFamily="18" charset="0"/>
              </a:rPr>
              <a:t>E</a:t>
            </a:r>
            <a:r>
              <a:rPr lang="en-US" altLang="zh-TW" sz="2000" dirty="0" err="1">
                <a:latin typeface="Times New Roman" panose="02020603050405020304" pitchFamily="18" charset="0"/>
                <a:ea typeface="PMingLiU" pitchFamily="18" charset="-120"/>
                <a:cs typeface="Times New Roman" panose="02020603050405020304" pitchFamily="18" charset="0"/>
              </a:rPr>
              <a:t>x</a:t>
            </a:r>
            <a:r>
              <a:rPr lang="en-US" altLang="zh-TW" sz="2000" i="1" dirty="0" err="1">
                <a:latin typeface="Times New Roman" panose="02020603050405020304" pitchFamily="18" charset="0"/>
                <a:ea typeface="PMingLiU" pitchFamily="18" charset="-120"/>
                <a:cs typeface="Times New Roman" panose="02020603050405020304" pitchFamily="18" charset="0"/>
              </a:rPr>
              <a:t>N</a:t>
            </a:r>
            <a:r>
              <a:rPr lang="en-US" altLang="zh-TW" sz="2000" i="1" dirty="0">
                <a:latin typeface="Georgia" panose="02040502050405020303" pitchFamily="18" charset="0"/>
                <a:ea typeface="PMingLiU" pitchFamily="18" charset="-120"/>
              </a:rPr>
              <a:t>(E)]/</a:t>
            </a:r>
            <a:r>
              <a:rPr lang="en-US" altLang="zh-TW" sz="2000" i="1" dirty="0" err="1">
                <a:latin typeface="Georgia" panose="02040502050405020303" pitchFamily="18" charset="0"/>
                <a:ea typeface="PMingLiU" pitchFamily="18" charset="-120"/>
              </a:rPr>
              <a:t>dE</a:t>
            </a:r>
            <a:r>
              <a:rPr lang="en-US" altLang="zh-TW" sz="2000" i="1" dirty="0">
                <a:latin typeface="Georgia" panose="02040502050405020303" pitchFamily="18" charset="0"/>
                <a:ea typeface="PMingLiU" pitchFamily="18" charset="-120"/>
              </a:rPr>
              <a:t> vs E</a:t>
            </a:r>
            <a:r>
              <a:rPr lang="en-US" altLang="zh-TW" sz="2000" dirty="0">
                <a:latin typeface="Georgia" panose="02040502050405020303" pitchFamily="18" charset="0"/>
                <a:ea typeface="PMingLiU" pitchFamily="18" charset="-120"/>
              </a:rPr>
              <a:t> for analysis since it clarifies some of the spectral details.</a:t>
            </a:r>
            <a:endParaRPr lang="zh-TW" altLang="en-US" sz="2000" dirty="0">
              <a:latin typeface="Georgia" panose="02040502050405020303" pitchFamily="18" charset="0"/>
              <a:ea typeface="PMingLiU" pitchFamily="18" charset="-120"/>
            </a:endParaRPr>
          </a:p>
        </p:txBody>
      </p:sp>
      <p:sp>
        <p:nvSpPr>
          <p:cNvPr id="14341" name="Text Box 7"/>
          <p:cNvSpPr txBox="1">
            <a:spLocks noChangeArrowheads="1"/>
          </p:cNvSpPr>
          <p:nvPr/>
        </p:nvSpPr>
        <p:spPr bwMode="auto">
          <a:xfrm>
            <a:off x="4953000" y="1905000"/>
            <a:ext cx="4065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Auger electron spectrum</a:t>
            </a:r>
          </a:p>
        </p:txBody>
      </p:sp>
      <p:sp>
        <p:nvSpPr>
          <p:cNvPr id="2" name="Slide Number Placeholder 1">
            <a:extLst>
              <a:ext uri="{FF2B5EF4-FFF2-40B4-BE49-F238E27FC236}">
                <a16:creationId xmlns:a16="http://schemas.microsoft.com/office/drawing/2014/main" id="{166E212D-C580-4899-8181-EB5587AB3D8C}"/>
              </a:ext>
            </a:extLst>
          </p:cNvPr>
          <p:cNvSpPr>
            <a:spLocks noGrp="1"/>
          </p:cNvSpPr>
          <p:nvPr>
            <p:ph type="sldNum" sz="quarter" idx="11"/>
          </p:nvPr>
        </p:nvSpPr>
        <p:spPr/>
        <p:txBody>
          <a:bodyPr/>
          <a:lstStyle/>
          <a:p>
            <a:pPr>
              <a:defRPr/>
            </a:pPr>
            <a:fld id="{9A975D84-2197-4ABB-80EB-AE85607E50F0}" type="slidenum">
              <a:rPr lang="zh-TW" altLang="en-US" smtClean="0"/>
              <a:pPr>
                <a:defRPr/>
              </a:pPr>
              <a:t>12</a:t>
            </a:fld>
            <a:endParaRPr lang="en-US" altLang="zh-TW"/>
          </a:p>
        </p:txBody>
      </p:sp>
      <p:sp>
        <p:nvSpPr>
          <p:cNvPr id="3" name="Rectangle 8">
            <a:extLst>
              <a:ext uri="{FF2B5EF4-FFF2-40B4-BE49-F238E27FC236}">
                <a16:creationId xmlns:a16="http://schemas.microsoft.com/office/drawing/2014/main" id="{92B7C825-35EF-51AC-750C-DC31CB3B5138}"/>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AES-differential spectrum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3400" y="2286000"/>
            <a:ext cx="7448550" cy="654050"/>
          </a:xfrm>
        </p:spPr>
        <p:txBody>
          <a:bodyPr/>
          <a:lstStyle/>
          <a:p>
            <a:r>
              <a:rPr lang="en-US" altLang="zh-CN" sz="2400" b="1">
                <a:solidFill>
                  <a:srgbClr val="0000FF"/>
                </a:solidFill>
                <a:latin typeface="Georgia" panose="02040502050405020303" pitchFamily="18" charset="0"/>
                <a:ea typeface="宋体" pitchFamily="2" charset="-122"/>
              </a:rPr>
              <a:t>The physics of different electron sources</a:t>
            </a:r>
          </a:p>
        </p:txBody>
      </p:sp>
      <p:sp>
        <p:nvSpPr>
          <p:cNvPr id="16387" name="Rectangle 3"/>
          <p:cNvSpPr>
            <a:spLocks noGrp="1" noChangeArrowheads="1"/>
          </p:cNvSpPr>
          <p:nvPr>
            <p:ph type="body" idx="1"/>
          </p:nvPr>
        </p:nvSpPr>
        <p:spPr>
          <a:xfrm>
            <a:off x="685800" y="2971800"/>
            <a:ext cx="8135938" cy="2520950"/>
          </a:xfrm>
        </p:spPr>
        <p:txBody>
          <a:bodyPr/>
          <a:lstStyle/>
          <a:p>
            <a:r>
              <a:rPr lang="en-US" altLang="zh-CN" sz="2400" dirty="0">
                <a:latin typeface="Georgia" panose="02040502050405020303" pitchFamily="18" charset="0"/>
                <a:ea typeface="宋体" pitchFamily="2" charset="-122"/>
              </a:rPr>
              <a:t>First type: Thermionic source, produces electrons when heated </a:t>
            </a:r>
          </a:p>
          <a:p>
            <a:endParaRPr lang="en-US" altLang="zh-CN" sz="2400" dirty="0">
              <a:latin typeface="Georgia" panose="02040502050405020303" pitchFamily="18" charset="0"/>
              <a:ea typeface="宋体" pitchFamily="2" charset="-122"/>
            </a:endParaRPr>
          </a:p>
          <a:p>
            <a:endParaRPr lang="en-US" altLang="zh-CN" sz="2400" dirty="0">
              <a:latin typeface="Georgia" panose="02040502050405020303" pitchFamily="18" charset="0"/>
              <a:ea typeface="宋体" pitchFamily="2" charset="-122"/>
            </a:endParaRPr>
          </a:p>
          <a:p>
            <a:r>
              <a:rPr lang="en-US" altLang="zh-CN" sz="2400" dirty="0">
                <a:latin typeface="Georgia" panose="02040502050405020303" pitchFamily="18" charset="0"/>
                <a:ea typeface="宋体" pitchFamily="2" charset="-122"/>
              </a:rPr>
              <a:t>Second type: a field-emission source. Emits electrons under high electron field</a:t>
            </a:r>
          </a:p>
        </p:txBody>
      </p:sp>
      <p:sp>
        <p:nvSpPr>
          <p:cNvPr id="16389" name="Text Box 5"/>
          <p:cNvSpPr txBox="1">
            <a:spLocks noChangeArrowheads="1"/>
          </p:cNvSpPr>
          <p:nvPr/>
        </p:nvSpPr>
        <p:spPr bwMode="auto">
          <a:xfrm>
            <a:off x="993159" y="1186265"/>
            <a:ext cx="6645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b="1" i="1" dirty="0">
                <a:latin typeface="Georgia" panose="02040502050405020303" pitchFamily="18" charset="0"/>
                <a:ea typeface="宋体" pitchFamily="2" charset="-122"/>
                <a:cs typeface="Times New Roman" pitchFamily="18" charset="0"/>
              </a:rPr>
              <a:t>In order to get the best signal out of our sample we have to put the best signal in.</a:t>
            </a:r>
          </a:p>
        </p:txBody>
      </p:sp>
      <p:sp>
        <p:nvSpPr>
          <p:cNvPr id="185350" name="Rectangle 6"/>
          <p:cNvSpPr>
            <a:spLocks noChangeArrowheads="1"/>
          </p:cNvSpPr>
          <p:nvPr/>
        </p:nvSpPr>
        <p:spPr bwMode="auto">
          <a:xfrm>
            <a:off x="1981200" y="3810000"/>
            <a:ext cx="2762250" cy="366713"/>
          </a:xfrm>
          <a:prstGeom prst="rect">
            <a:avLst/>
          </a:prstGeom>
          <a:noFill/>
          <a:ln w="9525">
            <a:noFill/>
            <a:miter lim="800000"/>
            <a:headEnd/>
            <a:tailEnd/>
          </a:ln>
          <a:effectLst/>
        </p:spPr>
        <p:txBody>
          <a:bodyPr wrap="none">
            <a:spAutoFit/>
          </a:bodyPr>
          <a:lstStyle/>
          <a:p>
            <a:pPr>
              <a:defRPr/>
            </a:pPr>
            <a:r>
              <a:rPr lang="en-US" altLang="zh-TW" dirty="0">
                <a:solidFill>
                  <a:srgbClr val="008000"/>
                </a:solidFill>
                <a:effectLst>
                  <a:outerShdw blurRad="38100" dist="38100" dir="2700000" algn="tl">
                    <a:srgbClr val="C0C0C0"/>
                  </a:outerShdw>
                </a:effectLst>
                <a:latin typeface="Georgia" panose="02040502050405020303" pitchFamily="18" charset="0"/>
                <a:ea typeface="PMingLiU" pitchFamily="18" charset="-120"/>
              </a:rPr>
              <a:t>Tungsten cathode source</a:t>
            </a:r>
            <a:endParaRPr lang="zh-CN" altLang="en-US" dirty="0">
              <a:solidFill>
                <a:srgbClr val="008000"/>
              </a:solidFill>
              <a:effectLst>
                <a:outerShdw blurRad="38100" dist="38100" dir="2700000" algn="tl">
                  <a:srgbClr val="C0C0C0"/>
                </a:outerShdw>
              </a:effectLst>
              <a:latin typeface="Georgia" panose="02040502050405020303" pitchFamily="18" charset="0"/>
              <a:ea typeface="宋体" pitchFamily="2" charset="-122"/>
            </a:endParaRPr>
          </a:p>
        </p:txBody>
      </p:sp>
      <p:sp>
        <p:nvSpPr>
          <p:cNvPr id="185351" name="Rectangle 7"/>
          <p:cNvSpPr>
            <a:spLocks noChangeArrowheads="1"/>
          </p:cNvSpPr>
          <p:nvPr/>
        </p:nvSpPr>
        <p:spPr bwMode="auto">
          <a:xfrm>
            <a:off x="1981200" y="4191000"/>
            <a:ext cx="4895850" cy="366713"/>
          </a:xfrm>
          <a:prstGeom prst="rect">
            <a:avLst/>
          </a:prstGeom>
          <a:noFill/>
          <a:ln w="9525">
            <a:noFill/>
            <a:miter lim="800000"/>
            <a:headEnd/>
            <a:tailEnd/>
          </a:ln>
          <a:effectLst/>
        </p:spPr>
        <p:txBody>
          <a:bodyPr wrap="none">
            <a:spAutoFit/>
          </a:bodyPr>
          <a:lstStyle/>
          <a:p>
            <a:pPr>
              <a:defRPr/>
            </a:pPr>
            <a:r>
              <a:rPr lang="en-US" altLang="zh-TW" dirty="0">
                <a:solidFill>
                  <a:srgbClr val="008000"/>
                </a:solidFill>
                <a:effectLst>
                  <a:outerShdw blurRad="38100" dist="38100" dir="2700000" algn="tl">
                    <a:srgbClr val="C0C0C0"/>
                  </a:outerShdw>
                </a:effectLst>
                <a:latin typeface="Georgia" panose="02040502050405020303" pitchFamily="18" charset="0"/>
                <a:ea typeface="PMingLiU" pitchFamily="18" charset="-120"/>
              </a:rPr>
              <a:t>Lanthanum hexaboride (LaB6) cathode source</a:t>
            </a:r>
            <a:endParaRPr lang="zh-CN" altLang="en-US" dirty="0">
              <a:solidFill>
                <a:srgbClr val="008000"/>
              </a:solidFill>
              <a:effectLst>
                <a:outerShdw blurRad="38100" dist="38100" dir="2700000" algn="tl">
                  <a:srgbClr val="C0C0C0"/>
                </a:outerShdw>
              </a:effectLst>
              <a:latin typeface="Georgia" panose="02040502050405020303" pitchFamily="18" charset="0"/>
              <a:ea typeface="宋体" pitchFamily="2" charset="-122"/>
            </a:endParaRPr>
          </a:p>
        </p:txBody>
      </p:sp>
      <p:sp>
        <p:nvSpPr>
          <p:cNvPr id="2" name="Slide Number Placeholder 1">
            <a:extLst>
              <a:ext uri="{FF2B5EF4-FFF2-40B4-BE49-F238E27FC236}">
                <a16:creationId xmlns:a16="http://schemas.microsoft.com/office/drawing/2014/main" id="{6A6DAF3E-0E87-40E7-A61A-7C909A5F320F}"/>
              </a:ext>
            </a:extLst>
          </p:cNvPr>
          <p:cNvSpPr>
            <a:spLocks noGrp="1"/>
          </p:cNvSpPr>
          <p:nvPr>
            <p:ph type="sldNum" sz="quarter" idx="11"/>
          </p:nvPr>
        </p:nvSpPr>
        <p:spPr/>
        <p:txBody>
          <a:bodyPr/>
          <a:lstStyle/>
          <a:p>
            <a:pPr>
              <a:defRPr/>
            </a:pPr>
            <a:fld id="{8CA4E1D9-CE51-44D2-9AA7-12A33D60B7A4}" type="slidenum">
              <a:rPr lang="zh-TW" altLang="en-US" smtClean="0"/>
              <a:pPr>
                <a:defRPr/>
              </a:pPr>
              <a:t>13</a:t>
            </a:fld>
            <a:endParaRPr lang="en-US" altLang="zh-TW"/>
          </a:p>
        </p:txBody>
      </p:sp>
      <p:sp>
        <p:nvSpPr>
          <p:cNvPr id="3" name="Rectangle 8">
            <a:extLst>
              <a:ext uri="{FF2B5EF4-FFF2-40B4-BE49-F238E27FC236}">
                <a16:creationId xmlns:a16="http://schemas.microsoft.com/office/drawing/2014/main" id="{71BBFC7E-1A83-814F-8F54-1DEB853A08B9}"/>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AES-Electron source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a:xfrm>
            <a:off x="381000" y="1524000"/>
            <a:ext cx="8496300" cy="4038600"/>
          </a:xfrm>
        </p:spPr>
        <p:txBody>
          <a:bodyPr/>
          <a:lstStyle/>
          <a:p>
            <a:r>
              <a:rPr lang="en-US" altLang="zh-CN" sz="2000" dirty="0">
                <a:latin typeface="Georgia" panose="02040502050405020303" pitchFamily="18" charset="0"/>
                <a:ea typeface="宋体" pitchFamily="2" charset="-122"/>
                <a:sym typeface="Symbol" pitchFamily="18" charset="2"/>
              </a:rPr>
              <a:t>Heating any material to a high enough temperature, electrons got sufficient energy to overcome the natural barrier (</a:t>
            </a:r>
            <a:r>
              <a:rPr lang="en-US" altLang="zh-CN" sz="2000" dirty="0">
                <a:latin typeface="Georgia" panose="02040502050405020303" pitchFamily="18" charset="0"/>
                <a:ea typeface="宋体" pitchFamily="2" charset="-122"/>
              </a:rPr>
              <a:t>Work function </a:t>
            </a:r>
            <a:r>
              <a:rPr lang="en-US" altLang="zh-CN" sz="2000" dirty="0">
                <a:latin typeface="Georgia" panose="02040502050405020303" pitchFamily="18" charset="0"/>
                <a:ea typeface="宋体" pitchFamily="2" charset="-122"/>
                <a:sym typeface="Symbol" pitchFamily="18" charset="2"/>
              </a:rPr>
              <a:t>) that prevents them from leaking out. </a:t>
            </a:r>
          </a:p>
          <a:p>
            <a:endParaRPr lang="en-US" altLang="zh-CN" sz="2000" dirty="0">
              <a:latin typeface="Georgia" panose="02040502050405020303" pitchFamily="18" charset="0"/>
              <a:ea typeface="宋体" pitchFamily="2" charset="-122"/>
              <a:sym typeface="Symbol" pitchFamily="18" charset="2"/>
            </a:endParaRPr>
          </a:p>
          <a:p>
            <a:r>
              <a:rPr lang="en-US" altLang="zh-CN" sz="2000" dirty="0">
                <a:latin typeface="Georgia" panose="02040502050405020303" pitchFamily="18" charset="0"/>
                <a:ea typeface="宋体" pitchFamily="2" charset="-122"/>
                <a:sym typeface="Symbol" pitchFamily="18" charset="2"/>
              </a:rPr>
              <a:t>Richardson’s Law, </a:t>
            </a:r>
            <a:r>
              <a:rPr lang="en-US" altLang="zh-CN" sz="2000" dirty="0">
                <a:solidFill>
                  <a:srgbClr val="0000FF"/>
                </a:solidFill>
                <a:latin typeface="Georgia" panose="02040502050405020303" pitchFamily="18" charset="0"/>
                <a:ea typeface="宋体" pitchFamily="2" charset="-122"/>
                <a:sym typeface="Symbol" pitchFamily="18" charset="2"/>
              </a:rPr>
              <a:t>J=AT</a:t>
            </a:r>
            <a:r>
              <a:rPr lang="en-US" altLang="zh-CN" sz="2000" baseline="30000" dirty="0">
                <a:solidFill>
                  <a:srgbClr val="0000FF"/>
                </a:solidFill>
                <a:latin typeface="Georgia" panose="02040502050405020303" pitchFamily="18" charset="0"/>
                <a:ea typeface="宋体" pitchFamily="2" charset="-122"/>
                <a:sym typeface="Symbol" pitchFamily="18" charset="2"/>
              </a:rPr>
              <a:t>2</a:t>
            </a:r>
            <a:r>
              <a:rPr lang="en-US" altLang="zh-CN" sz="2000" dirty="0">
                <a:solidFill>
                  <a:srgbClr val="0000FF"/>
                </a:solidFill>
                <a:latin typeface="Georgia" panose="02040502050405020303" pitchFamily="18" charset="0"/>
                <a:ea typeface="宋体" pitchFamily="2" charset="-122"/>
                <a:sym typeface="Symbol" pitchFamily="18" charset="2"/>
              </a:rPr>
              <a:t>e</a:t>
            </a:r>
            <a:r>
              <a:rPr lang="en-US" altLang="zh-CN" sz="2000" baseline="30000" dirty="0">
                <a:solidFill>
                  <a:srgbClr val="0000FF"/>
                </a:solidFill>
                <a:latin typeface="Georgia" panose="02040502050405020303" pitchFamily="18" charset="0"/>
                <a:ea typeface="宋体" pitchFamily="2" charset="-122"/>
                <a:sym typeface="Symbol" pitchFamily="18" charset="2"/>
              </a:rPr>
              <a:t>-/KT</a:t>
            </a:r>
            <a:r>
              <a:rPr lang="en-US" altLang="zh-CN" sz="2000" baseline="30000" dirty="0">
                <a:latin typeface="Georgia" panose="02040502050405020303" pitchFamily="18" charset="0"/>
                <a:ea typeface="宋体" pitchFamily="2" charset="-122"/>
                <a:sym typeface="Symbol" pitchFamily="18" charset="2"/>
              </a:rPr>
              <a:t> </a:t>
            </a:r>
            <a:r>
              <a:rPr lang="en-US" altLang="zh-CN" sz="2000" dirty="0">
                <a:latin typeface="Georgia" panose="02040502050405020303" pitchFamily="18" charset="0"/>
                <a:ea typeface="宋体" pitchFamily="2" charset="-122"/>
                <a:sym typeface="Symbol" pitchFamily="18" charset="2"/>
              </a:rPr>
              <a:t>. J is current density, A is Richardson’s constant, which depends on the source materials,  K is Boltzmann constant</a:t>
            </a:r>
          </a:p>
          <a:p>
            <a:endParaRPr lang="en-US" altLang="zh-CN" sz="2000" dirty="0">
              <a:latin typeface="Georgia" panose="02040502050405020303" pitchFamily="18" charset="0"/>
              <a:ea typeface="宋体" pitchFamily="2" charset="-122"/>
              <a:sym typeface="Symbol" pitchFamily="18" charset="2"/>
            </a:endParaRPr>
          </a:p>
          <a:p>
            <a:r>
              <a:rPr lang="en-US" altLang="zh-CN" sz="2000" dirty="0">
                <a:latin typeface="Georgia" panose="02040502050405020303" pitchFamily="18" charset="0"/>
                <a:ea typeface="宋体" pitchFamily="2" charset="-122"/>
                <a:sym typeface="Symbol" pitchFamily="18" charset="2"/>
              </a:rPr>
              <a:t>Refractory materials (W) and those (LaB</a:t>
            </a:r>
            <a:r>
              <a:rPr lang="en-US" altLang="zh-CN" sz="2000" baseline="-25000" dirty="0">
                <a:latin typeface="Georgia" panose="02040502050405020303" pitchFamily="18" charset="0"/>
                <a:ea typeface="宋体" pitchFamily="2" charset="-122"/>
                <a:sym typeface="Symbol" pitchFamily="18" charset="2"/>
              </a:rPr>
              <a:t>6</a:t>
            </a:r>
            <a:r>
              <a:rPr lang="en-US" altLang="zh-CN" sz="2000" dirty="0">
                <a:latin typeface="Georgia" panose="02040502050405020303" pitchFamily="18" charset="0"/>
                <a:ea typeface="宋体" pitchFamily="2" charset="-122"/>
                <a:sym typeface="Symbol" pitchFamily="18" charset="2"/>
              </a:rPr>
              <a:t>) with an exceptionally low work function is good for filament. </a:t>
            </a:r>
          </a:p>
          <a:p>
            <a:endParaRPr lang="en-US" altLang="zh-CN" sz="2000" dirty="0">
              <a:latin typeface="Georgia" panose="02040502050405020303" pitchFamily="18" charset="0"/>
              <a:ea typeface="宋体" pitchFamily="2" charset="-122"/>
              <a:sym typeface="Symbol" pitchFamily="18" charset="2"/>
            </a:endParaRPr>
          </a:p>
          <a:p>
            <a:r>
              <a:rPr lang="en-US" altLang="zh-CN" sz="2000" dirty="0">
                <a:latin typeface="Georgia" panose="02040502050405020303" pitchFamily="18" charset="0"/>
                <a:ea typeface="宋体" pitchFamily="2" charset="-122"/>
                <a:sym typeface="Symbol" pitchFamily="18" charset="2"/>
              </a:rPr>
              <a:t>Thermionic sources: W hairpin, LaB</a:t>
            </a:r>
            <a:r>
              <a:rPr lang="en-US" altLang="zh-CN" sz="2000" baseline="-25000" dirty="0">
                <a:latin typeface="Georgia" panose="02040502050405020303" pitchFamily="18" charset="0"/>
                <a:ea typeface="宋体" pitchFamily="2" charset="-122"/>
                <a:sym typeface="Symbol" pitchFamily="18" charset="2"/>
              </a:rPr>
              <a:t>6</a:t>
            </a:r>
            <a:r>
              <a:rPr lang="en-US" altLang="zh-CN" sz="2000" dirty="0">
                <a:latin typeface="Georgia" panose="02040502050405020303" pitchFamily="18" charset="0"/>
                <a:ea typeface="宋体" pitchFamily="2" charset="-122"/>
                <a:sym typeface="Symbol" pitchFamily="18" charset="2"/>
              </a:rPr>
              <a:t> and other low- materials.</a:t>
            </a:r>
          </a:p>
          <a:p>
            <a:endParaRPr lang="zh-CN" altLang="en-US" sz="2000" dirty="0">
              <a:latin typeface="Times New Roman" pitchFamily="18" charset="0"/>
              <a:ea typeface="宋体" pitchFamily="2" charset="-122"/>
              <a:sym typeface="Symbol" pitchFamily="18" charset="2"/>
            </a:endParaRPr>
          </a:p>
        </p:txBody>
      </p:sp>
      <p:sp>
        <p:nvSpPr>
          <p:cNvPr id="2" name="Slide Number Placeholder 1">
            <a:extLst>
              <a:ext uri="{FF2B5EF4-FFF2-40B4-BE49-F238E27FC236}">
                <a16:creationId xmlns:a16="http://schemas.microsoft.com/office/drawing/2014/main" id="{335C9789-AC4A-464F-A6F5-F6701D2C3EED}"/>
              </a:ext>
            </a:extLst>
          </p:cNvPr>
          <p:cNvSpPr>
            <a:spLocks noGrp="1"/>
          </p:cNvSpPr>
          <p:nvPr>
            <p:ph type="sldNum" sz="quarter" idx="11"/>
          </p:nvPr>
        </p:nvSpPr>
        <p:spPr/>
        <p:txBody>
          <a:bodyPr/>
          <a:lstStyle/>
          <a:p>
            <a:pPr>
              <a:defRPr/>
            </a:pPr>
            <a:fld id="{8CA4E1D9-CE51-44D2-9AA7-12A33D60B7A4}" type="slidenum">
              <a:rPr lang="zh-TW" altLang="en-US" smtClean="0"/>
              <a:pPr>
                <a:defRPr/>
              </a:pPr>
              <a:t>14</a:t>
            </a:fld>
            <a:endParaRPr lang="en-US" altLang="zh-TW"/>
          </a:p>
        </p:txBody>
      </p:sp>
      <p:sp>
        <p:nvSpPr>
          <p:cNvPr id="3" name="Rectangle 8">
            <a:extLst>
              <a:ext uri="{FF2B5EF4-FFF2-40B4-BE49-F238E27FC236}">
                <a16:creationId xmlns:a16="http://schemas.microsoft.com/office/drawing/2014/main" id="{8F9AF5E3-E082-D82E-A338-1C1AC9839360}"/>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AES-Electron source: thermionic emission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F4D039-D556-4D96-AAEB-3A76675041DB}"/>
              </a:ext>
            </a:extLst>
          </p:cNvPr>
          <p:cNvSpPr>
            <a:spLocks noGrp="1"/>
          </p:cNvSpPr>
          <p:nvPr>
            <p:ph type="sldNum" sz="quarter" idx="11"/>
          </p:nvPr>
        </p:nvSpPr>
        <p:spPr/>
        <p:txBody>
          <a:bodyPr/>
          <a:lstStyle/>
          <a:p>
            <a:pPr>
              <a:defRPr/>
            </a:pPr>
            <a:fld id="{9A975D84-2197-4ABB-80EB-AE85607E50F0}" type="slidenum">
              <a:rPr lang="zh-TW" altLang="en-US" smtClean="0"/>
              <a:pPr>
                <a:defRPr/>
              </a:pPr>
              <a:t>15</a:t>
            </a:fld>
            <a:endParaRPr lang="en-US" altLang="zh-TW"/>
          </a:p>
        </p:txBody>
      </p:sp>
      <p:sp>
        <p:nvSpPr>
          <p:cNvPr id="3" name="Rectangle 8">
            <a:extLst>
              <a:ext uri="{FF2B5EF4-FFF2-40B4-BE49-F238E27FC236}">
                <a16:creationId xmlns:a16="http://schemas.microsoft.com/office/drawing/2014/main" id="{78B3FEEB-7333-0D7F-175C-6245AFF543A0}"/>
              </a:ext>
            </a:extLst>
          </p:cNvPr>
          <p:cNvSpPr>
            <a:spLocks noChangeArrowheads="1"/>
          </p:cNvSpPr>
          <p:nvPr/>
        </p:nvSpPr>
        <p:spPr bwMode="auto">
          <a:xfrm>
            <a:off x="685800" y="223974"/>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AES-thermionic electron source setup</a:t>
            </a:r>
          </a:p>
        </p:txBody>
      </p:sp>
      <p:pic>
        <p:nvPicPr>
          <p:cNvPr id="1028" name="Picture 4" descr="What is the true electric potential at the terminals of a battery? -  Physics Stack Exchange">
            <a:extLst>
              <a:ext uri="{FF2B5EF4-FFF2-40B4-BE49-F238E27FC236}">
                <a16:creationId xmlns:a16="http://schemas.microsoft.com/office/drawing/2014/main" id="{B2255BB5-7943-041C-21F8-C53C11E60D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3609163" cy="3962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hematic of cathode filament with Wehnelt Cylinder is shown. The autobias resistor controls the emission current [3], [5]. ">
            <a:extLst>
              <a:ext uri="{FF2B5EF4-FFF2-40B4-BE49-F238E27FC236}">
                <a16:creationId xmlns:a16="http://schemas.microsoft.com/office/drawing/2014/main" id="{4E90FC6D-B96A-C6BC-DBC5-F7A012F16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775" y="1981200"/>
            <a:ext cx="4619625" cy="2819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38213" y="5091112"/>
            <a:ext cx="7086600" cy="1614488"/>
          </a:xfrm>
        </p:spPr>
        <p:txBody>
          <a:bodyPr/>
          <a:lstStyle/>
          <a:p>
            <a:r>
              <a:rPr lang="en-US" altLang="zh-CN" sz="2000" dirty="0">
                <a:latin typeface="Georgia" panose="02040502050405020303" pitchFamily="18" charset="0"/>
                <a:ea typeface="宋体" pitchFamily="2" charset="-122"/>
                <a:cs typeface="Times New Roman" pitchFamily="18" charset="0"/>
              </a:rPr>
              <a:t>(A) The tip of a W hairpin filament and the distribution of electrons when the filament is (B) under-saturated and misaligned (C) under-saturated and aligned (D) saturated.</a:t>
            </a:r>
          </a:p>
        </p:txBody>
      </p:sp>
      <p:grpSp>
        <p:nvGrpSpPr>
          <p:cNvPr id="19459" name="Group 3"/>
          <p:cNvGrpSpPr>
            <a:grpSpLocks/>
          </p:cNvGrpSpPr>
          <p:nvPr/>
        </p:nvGrpSpPr>
        <p:grpSpPr bwMode="auto">
          <a:xfrm>
            <a:off x="457200" y="2286000"/>
            <a:ext cx="8153400" cy="3009900"/>
            <a:chOff x="288" y="1632"/>
            <a:chExt cx="5136" cy="1896"/>
          </a:xfrm>
        </p:grpSpPr>
        <p:pic>
          <p:nvPicPr>
            <p:cNvPr id="19461" name="Picture 4" descr="Scan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 y="1632"/>
              <a:ext cx="2585" cy="1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5" descr="Scan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3" y="1902"/>
              <a:ext cx="2601" cy="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1494" name="Rectangle 6"/>
          <p:cNvSpPr>
            <a:spLocks noChangeArrowheads="1"/>
          </p:cNvSpPr>
          <p:nvPr/>
        </p:nvSpPr>
        <p:spPr bwMode="auto">
          <a:xfrm>
            <a:off x="381000" y="914400"/>
            <a:ext cx="8382000" cy="1323439"/>
          </a:xfrm>
          <a:prstGeom prst="rect">
            <a:avLst/>
          </a:prstGeom>
          <a:noFill/>
          <a:ln w="9525">
            <a:noFill/>
            <a:miter lim="800000"/>
            <a:headEnd/>
            <a:tailEnd/>
          </a:ln>
          <a:effectLst/>
        </p:spPr>
        <p:txBody>
          <a:bodyPr>
            <a:spAutoFit/>
          </a:bodyPr>
          <a:lstStyle/>
          <a:p>
            <a:pPr algn="just">
              <a:defRPr/>
            </a:pPr>
            <a:r>
              <a:rPr lang="en-US" altLang="zh-TW" sz="2000" dirty="0">
                <a:latin typeface="Georgia" panose="02040502050405020303" pitchFamily="18" charset="0"/>
                <a:ea typeface="PMingLiU" pitchFamily="18" charset="-120"/>
              </a:rPr>
              <a:t>A </a:t>
            </a:r>
            <a:r>
              <a:rPr lang="en-US" altLang="zh-TW" sz="2000" dirty="0">
                <a:solidFill>
                  <a:srgbClr val="008000"/>
                </a:solidFill>
                <a:effectLst>
                  <a:outerShdw blurRad="38100" dist="38100" dir="2700000" algn="tl">
                    <a:srgbClr val="C0C0C0"/>
                  </a:outerShdw>
                </a:effectLst>
                <a:latin typeface="Georgia" panose="02040502050405020303" pitchFamily="18" charset="0"/>
                <a:ea typeface="PMingLiU" pitchFamily="18" charset="-120"/>
              </a:rPr>
              <a:t>tungsten cathode source</a:t>
            </a:r>
            <a:r>
              <a:rPr lang="en-US" altLang="zh-TW" sz="2000" dirty="0">
                <a:latin typeface="Georgia" panose="02040502050405020303" pitchFamily="18" charset="0"/>
                <a:ea typeface="PMingLiU" pitchFamily="18" charset="-120"/>
              </a:rPr>
              <a:t> consists of a wire filament bent in the shape of a hairpin. The filament operates at ~2700 K by resistive heating. The tungsten cathodes are widely used because they are both reliable and inexpensive. Current densities are only about 1.75 A/cm</a:t>
            </a:r>
            <a:r>
              <a:rPr lang="en-US" altLang="zh-TW" sz="2000" baseline="30000" dirty="0">
                <a:latin typeface="Georgia" panose="02040502050405020303" pitchFamily="18" charset="0"/>
                <a:ea typeface="PMingLiU" pitchFamily="18" charset="-120"/>
              </a:rPr>
              <a:t>2</a:t>
            </a:r>
            <a:r>
              <a:rPr lang="en-US" altLang="zh-TW" sz="2000" dirty="0">
                <a:latin typeface="Georgia" panose="02040502050405020303" pitchFamily="18" charset="0"/>
                <a:ea typeface="PMingLiU" pitchFamily="18" charset="-120"/>
              </a:rPr>
              <a:t>. </a:t>
            </a:r>
            <a:endParaRPr lang="zh-TW" altLang="en-US" sz="2000" dirty="0">
              <a:latin typeface="Georgia" panose="02040502050405020303" pitchFamily="18" charset="0"/>
              <a:ea typeface="PMingLiU" pitchFamily="18" charset="-120"/>
            </a:endParaRPr>
          </a:p>
        </p:txBody>
      </p:sp>
      <p:sp>
        <p:nvSpPr>
          <p:cNvPr id="2" name="Slide Number Placeholder 1">
            <a:extLst>
              <a:ext uri="{FF2B5EF4-FFF2-40B4-BE49-F238E27FC236}">
                <a16:creationId xmlns:a16="http://schemas.microsoft.com/office/drawing/2014/main" id="{5E6DB851-12F3-4085-AA6D-3F0E8C841C85}"/>
              </a:ext>
            </a:extLst>
          </p:cNvPr>
          <p:cNvSpPr>
            <a:spLocks noGrp="1"/>
          </p:cNvSpPr>
          <p:nvPr>
            <p:ph type="sldNum" sz="quarter" idx="11"/>
          </p:nvPr>
        </p:nvSpPr>
        <p:spPr/>
        <p:txBody>
          <a:bodyPr/>
          <a:lstStyle/>
          <a:p>
            <a:pPr>
              <a:defRPr/>
            </a:pPr>
            <a:fld id="{8CA4E1D9-CE51-44D2-9AA7-12A33D60B7A4}" type="slidenum">
              <a:rPr lang="zh-TW" altLang="en-US" smtClean="0"/>
              <a:pPr>
                <a:defRPr/>
              </a:pPr>
              <a:t>16</a:t>
            </a:fld>
            <a:endParaRPr lang="en-US" altLang="zh-TW"/>
          </a:p>
        </p:txBody>
      </p:sp>
      <p:sp>
        <p:nvSpPr>
          <p:cNvPr id="3" name="Rectangle 8">
            <a:extLst>
              <a:ext uri="{FF2B5EF4-FFF2-40B4-BE49-F238E27FC236}">
                <a16:creationId xmlns:a16="http://schemas.microsoft.com/office/drawing/2014/main" id="{92E3D3F9-CED6-DC13-4A99-FD719FAB2CF8}"/>
              </a:ext>
            </a:extLst>
          </p:cNvPr>
          <p:cNvSpPr>
            <a:spLocks noChangeArrowheads="1"/>
          </p:cNvSpPr>
          <p:nvPr/>
        </p:nvSpPr>
        <p:spPr bwMode="auto">
          <a:xfrm>
            <a:off x="685800" y="223974"/>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AES-thermionic electron source: W filament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4"/>
          <p:cNvSpPr>
            <a:spLocks noChangeArrowheads="1"/>
          </p:cNvSpPr>
          <p:nvPr/>
        </p:nvSpPr>
        <p:spPr bwMode="auto">
          <a:xfrm>
            <a:off x="4191000" y="2057400"/>
            <a:ext cx="3962400" cy="3477875"/>
          </a:xfrm>
          <a:prstGeom prst="rect">
            <a:avLst/>
          </a:prstGeom>
          <a:noFill/>
          <a:ln w="9525">
            <a:noFill/>
            <a:miter lim="800000"/>
            <a:headEnd/>
            <a:tailEnd/>
          </a:ln>
          <a:effectLst/>
        </p:spPr>
        <p:txBody>
          <a:bodyPr>
            <a:spAutoFit/>
          </a:bodyPr>
          <a:lstStyle/>
          <a:p>
            <a:pPr algn="just">
              <a:defRPr/>
            </a:pPr>
            <a:r>
              <a:rPr lang="en-US" altLang="zh-TW" sz="2000" dirty="0">
                <a:solidFill>
                  <a:srgbClr val="008000"/>
                </a:solidFill>
                <a:effectLst>
                  <a:outerShdw blurRad="38100" dist="38100" dir="2700000" algn="tl">
                    <a:srgbClr val="C0C0C0"/>
                  </a:outerShdw>
                </a:effectLst>
                <a:latin typeface="Georgia" panose="02040502050405020303" pitchFamily="18" charset="0"/>
                <a:ea typeface="新細明體" pitchFamily="18" charset="-120"/>
              </a:rPr>
              <a:t>Lanthanum hexaboride (LaB</a:t>
            </a:r>
            <a:r>
              <a:rPr lang="en-US" altLang="zh-TW" sz="2000" baseline="-25000" dirty="0">
                <a:solidFill>
                  <a:srgbClr val="008000"/>
                </a:solidFill>
                <a:effectLst>
                  <a:outerShdw blurRad="38100" dist="38100" dir="2700000" algn="tl">
                    <a:srgbClr val="C0C0C0"/>
                  </a:outerShdw>
                </a:effectLst>
                <a:latin typeface="Georgia" panose="02040502050405020303" pitchFamily="18" charset="0"/>
                <a:ea typeface="新細明體" pitchFamily="18" charset="-120"/>
              </a:rPr>
              <a:t>6</a:t>
            </a:r>
            <a:r>
              <a:rPr lang="en-US" altLang="zh-TW" sz="2000" dirty="0">
                <a:solidFill>
                  <a:srgbClr val="008000"/>
                </a:solidFill>
                <a:effectLst>
                  <a:outerShdw blurRad="38100" dist="38100" dir="2700000" algn="tl">
                    <a:srgbClr val="C0C0C0"/>
                  </a:outerShdw>
                </a:effectLst>
                <a:latin typeface="Georgia" panose="02040502050405020303" pitchFamily="18" charset="0"/>
                <a:ea typeface="新細明體" pitchFamily="18" charset="-120"/>
              </a:rPr>
              <a:t>) cathodes</a:t>
            </a:r>
            <a:r>
              <a:rPr lang="en-US" altLang="zh-TW" sz="2000" dirty="0">
                <a:latin typeface="Georgia" panose="02040502050405020303" pitchFamily="18" charset="0"/>
                <a:ea typeface="新細明體" pitchFamily="18" charset="-120"/>
              </a:rPr>
              <a:t> provide higher current densities (brightness) because LaB</a:t>
            </a:r>
            <a:r>
              <a:rPr lang="en-US" altLang="zh-TW" sz="2000" baseline="-25000" dirty="0">
                <a:latin typeface="Georgia" panose="02040502050405020303" pitchFamily="18" charset="0"/>
                <a:ea typeface="新細明體" pitchFamily="18" charset="-120"/>
              </a:rPr>
              <a:t>6</a:t>
            </a:r>
            <a:r>
              <a:rPr lang="en-US" altLang="zh-TW" sz="2000" dirty="0">
                <a:latin typeface="Georgia" panose="02040502050405020303" pitchFamily="18" charset="0"/>
                <a:ea typeface="新細明體" pitchFamily="18" charset="-120"/>
              </a:rPr>
              <a:t> has a lower work function and greater emissivity than tungsten. At 2000 K, current densities of ~100 A/cm</a:t>
            </a:r>
            <a:r>
              <a:rPr lang="en-US" altLang="zh-TW" sz="2000" baseline="30000" dirty="0">
                <a:latin typeface="Georgia" panose="02040502050405020303" pitchFamily="18" charset="0"/>
                <a:ea typeface="新細明體" pitchFamily="18" charset="-120"/>
              </a:rPr>
              <a:t>2</a:t>
            </a:r>
            <a:r>
              <a:rPr lang="en-US" altLang="zh-TW" sz="2000" dirty="0">
                <a:latin typeface="Georgia" panose="02040502050405020303" pitchFamily="18" charset="0"/>
                <a:ea typeface="新細明體" pitchFamily="18" charset="-120"/>
              </a:rPr>
              <a:t> are available. Higher current densities provide narrower electron beams useful for analyzing smaller features. </a:t>
            </a:r>
          </a:p>
        </p:txBody>
      </p:sp>
      <p:pic>
        <p:nvPicPr>
          <p:cNvPr id="20485" name="Picture 7" descr="lab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47800"/>
            <a:ext cx="31115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6F74A6B-1E64-4FF5-9C5C-5927B4390240}"/>
              </a:ext>
            </a:extLst>
          </p:cNvPr>
          <p:cNvSpPr>
            <a:spLocks noGrp="1"/>
          </p:cNvSpPr>
          <p:nvPr>
            <p:ph type="sldNum" sz="quarter" idx="11"/>
          </p:nvPr>
        </p:nvSpPr>
        <p:spPr/>
        <p:txBody>
          <a:bodyPr/>
          <a:lstStyle/>
          <a:p>
            <a:pPr>
              <a:defRPr/>
            </a:pPr>
            <a:fld id="{9A975D84-2197-4ABB-80EB-AE85607E50F0}" type="slidenum">
              <a:rPr lang="zh-TW" altLang="en-US" smtClean="0"/>
              <a:pPr>
                <a:defRPr/>
              </a:pPr>
              <a:t>17</a:t>
            </a:fld>
            <a:endParaRPr lang="en-US" altLang="zh-TW"/>
          </a:p>
        </p:txBody>
      </p:sp>
      <p:sp>
        <p:nvSpPr>
          <p:cNvPr id="3" name="Rectangle 8">
            <a:extLst>
              <a:ext uri="{FF2B5EF4-FFF2-40B4-BE49-F238E27FC236}">
                <a16:creationId xmlns:a16="http://schemas.microsoft.com/office/drawing/2014/main" id="{25A797D8-B0E5-8AA8-580F-221A7D3754CF}"/>
              </a:ext>
            </a:extLst>
          </p:cNvPr>
          <p:cNvSpPr>
            <a:spLocks noChangeArrowheads="1"/>
          </p:cNvSpPr>
          <p:nvPr/>
        </p:nvSpPr>
        <p:spPr bwMode="auto">
          <a:xfrm>
            <a:off x="685800" y="223974"/>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AES-thermionic electron source: LaB6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Untitled-2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365100"/>
            <a:ext cx="5943600" cy="3664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 Box 3"/>
          <p:cNvSpPr txBox="1">
            <a:spLocks noChangeArrowheads="1"/>
          </p:cNvSpPr>
          <p:nvPr/>
        </p:nvSpPr>
        <p:spPr bwMode="auto">
          <a:xfrm>
            <a:off x="838200" y="838200"/>
            <a:ext cx="7543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buFont typeface="Arial" panose="020B0604020202020204" pitchFamily="34" charset="0"/>
              <a:buChar char="•"/>
            </a:pPr>
            <a:r>
              <a:rPr lang="en-US" altLang="zh-CN" sz="2000" dirty="0">
                <a:latin typeface="Georgia" panose="02040502050405020303" pitchFamily="18" charset="0"/>
                <a:ea typeface="宋体" pitchFamily="2" charset="-122"/>
                <a:cs typeface="Times New Roman" pitchFamily="18" charset="0"/>
              </a:rPr>
              <a:t>Electron emission current increases with the filament heating current</a:t>
            </a:r>
          </a:p>
          <a:p>
            <a:pPr marL="342900" indent="-342900">
              <a:buFont typeface="Arial" panose="020B0604020202020204" pitchFamily="34" charset="0"/>
              <a:buChar char="•"/>
            </a:pPr>
            <a:r>
              <a:rPr lang="en-US" altLang="zh-CN" sz="2000" dirty="0">
                <a:latin typeface="Georgia" panose="02040502050405020303" pitchFamily="18" charset="0"/>
                <a:ea typeface="宋体" pitchFamily="2" charset="-122"/>
                <a:cs typeface="Times New Roman" pitchFamily="18" charset="0"/>
              </a:rPr>
              <a:t>A maximum emission current termed saturation is reached when the heating current is high enough</a:t>
            </a:r>
          </a:p>
        </p:txBody>
      </p:sp>
      <p:sp>
        <p:nvSpPr>
          <p:cNvPr id="21508" name="Text Box 4"/>
          <p:cNvSpPr txBox="1">
            <a:spLocks noChangeArrowheads="1"/>
          </p:cNvSpPr>
          <p:nvPr/>
        </p:nvSpPr>
        <p:spPr bwMode="auto">
          <a:xfrm>
            <a:off x="685800" y="6096000"/>
            <a:ext cx="72763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dirty="0">
                <a:latin typeface="Georgia" panose="02040502050405020303" pitchFamily="18" charset="0"/>
                <a:ea typeface="宋体" pitchFamily="2" charset="-122"/>
                <a:cs typeface="Times New Roman" pitchFamily="18" charset="0"/>
              </a:rPr>
              <a:t>All thermionic sources should be operated at or just below saturation.</a:t>
            </a:r>
          </a:p>
        </p:txBody>
      </p:sp>
      <p:sp>
        <p:nvSpPr>
          <p:cNvPr id="2" name="Slide Number Placeholder 1">
            <a:extLst>
              <a:ext uri="{FF2B5EF4-FFF2-40B4-BE49-F238E27FC236}">
                <a16:creationId xmlns:a16="http://schemas.microsoft.com/office/drawing/2014/main" id="{34CDC777-8E1B-4213-AD43-1821714DC6F0}"/>
              </a:ext>
            </a:extLst>
          </p:cNvPr>
          <p:cNvSpPr>
            <a:spLocks noGrp="1"/>
          </p:cNvSpPr>
          <p:nvPr>
            <p:ph type="sldNum" sz="quarter" idx="11"/>
          </p:nvPr>
        </p:nvSpPr>
        <p:spPr/>
        <p:txBody>
          <a:bodyPr/>
          <a:lstStyle/>
          <a:p>
            <a:pPr>
              <a:defRPr/>
            </a:pPr>
            <a:fld id="{9A975D84-2197-4ABB-80EB-AE85607E50F0}" type="slidenum">
              <a:rPr lang="zh-TW" altLang="en-US" smtClean="0"/>
              <a:pPr>
                <a:defRPr/>
              </a:pPr>
              <a:t>18</a:t>
            </a:fld>
            <a:endParaRPr lang="en-US" altLang="zh-TW"/>
          </a:p>
        </p:txBody>
      </p:sp>
      <p:sp>
        <p:nvSpPr>
          <p:cNvPr id="3" name="Rectangle 8">
            <a:extLst>
              <a:ext uri="{FF2B5EF4-FFF2-40B4-BE49-F238E27FC236}">
                <a16:creationId xmlns:a16="http://schemas.microsoft.com/office/drawing/2014/main" id="{2AFAD764-A8ED-33D2-D469-309A9598D791}"/>
              </a:ext>
            </a:extLst>
          </p:cNvPr>
          <p:cNvSpPr>
            <a:spLocks noChangeArrowheads="1"/>
          </p:cNvSpPr>
          <p:nvPr/>
        </p:nvSpPr>
        <p:spPr bwMode="auto">
          <a:xfrm>
            <a:off x="685800" y="223974"/>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AES-thermionic source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2FCE8-92E8-695F-71D6-4BEA20184D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C5B814-9F11-619B-250A-D8150CB55B88}"/>
              </a:ext>
            </a:extLst>
          </p:cNvPr>
          <p:cNvSpPr>
            <a:spLocks noGrp="1"/>
          </p:cNvSpPr>
          <p:nvPr>
            <p:ph type="sldNum" sz="quarter" idx="11"/>
          </p:nvPr>
        </p:nvSpPr>
        <p:spPr/>
        <p:txBody>
          <a:bodyPr/>
          <a:lstStyle/>
          <a:p>
            <a:pPr>
              <a:defRPr/>
            </a:pPr>
            <a:fld id="{9A975D84-2197-4ABB-80EB-AE85607E50F0}" type="slidenum">
              <a:rPr lang="zh-TW" altLang="en-US" smtClean="0"/>
              <a:pPr>
                <a:defRPr/>
              </a:pPr>
              <a:t>19</a:t>
            </a:fld>
            <a:endParaRPr lang="en-US" altLang="zh-TW"/>
          </a:p>
        </p:txBody>
      </p:sp>
      <p:sp>
        <p:nvSpPr>
          <p:cNvPr id="3" name="Rectangle 8">
            <a:extLst>
              <a:ext uri="{FF2B5EF4-FFF2-40B4-BE49-F238E27FC236}">
                <a16:creationId xmlns:a16="http://schemas.microsoft.com/office/drawing/2014/main" id="{587BEF6D-6E45-0D98-416E-4ACD8C948F4D}"/>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AES-Electron source: Field emission </a:t>
            </a:r>
            <a:r>
              <a:rPr lang="en-US" altLang="zh-TW" sz="2400" dirty="0">
                <a:solidFill>
                  <a:schemeClr val="bg2">
                    <a:lumMod val="20000"/>
                    <a:lumOff val="80000"/>
                  </a:schemeClr>
                </a:solidFill>
                <a:latin typeface="Georgia" panose="02040502050405020303" pitchFamily="18" charset="0"/>
                <a:ea typeface="PMingLiU" pitchFamily="18" charset="-120"/>
              </a:rPr>
              <a:t>principle</a:t>
            </a:r>
          </a:p>
        </p:txBody>
      </p:sp>
      <p:sp>
        <p:nvSpPr>
          <p:cNvPr id="5" name="TextBox 4">
            <a:extLst>
              <a:ext uri="{FF2B5EF4-FFF2-40B4-BE49-F238E27FC236}">
                <a16:creationId xmlns:a16="http://schemas.microsoft.com/office/drawing/2014/main" id="{C5E83A32-655B-6250-31E1-417482DDB747}"/>
              </a:ext>
            </a:extLst>
          </p:cNvPr>
          <p:cNvSpPr txBox="1"/>
          <p:nvPr/>
        </p:nvSpPr>
        <p:spPr>
          <a:xfrm>
            <a:off x="457200" y="914400"/>
            <a:ext cx="7924800" cy="5509200"/>
          </a:xfrm>
          <a:prstGeom prst="rect">
            <a:avLst/>
          </a:prstGeom>
          <a:noFill/>
        </p:spPr>
        <p:txBody>
          <a:bodyPr wrap="square">
            <a:spAutoFit/>
          </a:bodyPr>
          <a:lstStyle/>
          <a:p>
            <a:r>
              <a:rPr lang="en-US" b="0" dirty="0">
                <a:effectLst/>
                <a:latin typeface="Georgia" panose="02040502050405020303" pitchFamily="18" charset="0"/>
              </a:rPr>
              <a:t>Field emission is </a:t>
            </a:r>
            <a:r>
              <a:rPr lang="en-US" dirty="0">
                <a:latin typeface="Georgia" panose="02040502050405020303" pitchFamily="18" charset="0"/>
              </a:rPr>
              <a:t>the process where electrons escape from a material's surface into a vacuum when a very strong external electric field is applied, causing the energy barrier to become thin enough for electrons to "tunnel" through it quantum mechanically, rather than needing heat to overcome it</a:t>
            </a:r>
            <a:r>
              <a:rPr lang="en-US" b="0" dirty="0">
                <a:effectLst/>
                <a:latin typeface="Georgia" panose="02040502050405020303" pitchFamily="18" charset="0"/>
              </a:rPr>
              <a:t>.</a:t>
            </a:r>
          </a:p>
          <a:p>
            <a:endParaRPr lang="en-US" sz="1000" dirty="0">
              <a:latin typeface="Georgia" panose="02040502050405020303" pitchFamily="18" charset="0"/>
            </a:endParaRPr>
          </a:p>
          <a:p>
            <a:r>
              <a:rPr lang="en-HK" dirty="0">
                <a:latin typeface="Georgia" panose="02040502050405020303" pitchFamily="18" charset="0"/>
              </a:rPr>
              <a:t>The field electron emission is commonly described by the Fowler-Nordheim (FN) equation.</a:t>
            </a:r>
          </a:p>
          <a:p>
            <a:endParaRPr lang="en-HK" dirty="0">
              <a:latin typeface="Georgia" panose="02040502050405020303" pitchFamily="18" charset="0"/>
            </a:endParaRPr>
          </a:p>
          <a:p>
            <a:endParaRPr lang="en-HK" dirty="0">
              <a:latin typeface="Georgia" panose="02040502050405020303" pitchFamily="18" charset="0"/>
            </a:endParaRPr>
          </a:p>
          <a:p>
            <a:endParaRPr lang="en-HK" dirty="0">
              <a:latin typeface="Georgia" panose="02040502050405020303" pitchFamily="18" charset="0"/>
            </a:endParaRPr>
          </a:p>
          <a:p>
            <a:endParaRPr lang="en-HK" dirty="0">
              <a:latin typeface="Georgia" panose="02040502050405020303" pitchFamily="18" charset="0"/>
            </a:endParaRPr>
          </a:p>
          <a:p>
            <a:endParaRPr lang="en-HK" dirty="0">
              <a:latin typeface="Georgia" panose="02040502050405020303" pitchFamily="18" charset="0"/>
            </a:endParaRPr>
          </a:p>
          <a:p>
            <a:endParaRPr lang="en-HK" dirty="0">
              <a:latin typeface="Georgia" panose="02040502050405020303" pitchFamily="18" charset="0"/>
            </a:endParaRPr>
          </a:p>
          <a:p>
            <a:endParaRPr lang="en-HK" dirty="0">
              <a:latin typeface="Georgia" panose="02040502050405020303" pitchFamily="18" charset="0"/>
            </a:endParaRPr>
          </a:p>
          <a:p>
            <a:endParaRPr lang="en-HK" dirty="0">
              <a:latin typeface="Georgia" panose="02040502050405020303" pitchFamily="18" charset="0"/>
            </a:endParaRPr>
          </a:p>
          <a:p>
            <a:r>
              <a:rPr lang="en-HK" dirty="0">
                <a:latin typeface="Georgia" panose="02040502050405020303" pitchFamily="18" charset="0"/>
              </a:rPr>
              <a:t>J is the current density (A/m2)</a:t>
            </a:r>
          </a:p>
          <a:p>
            <a:r>
              <a:rPr lang="en-HK" dirty="0">
                <a:latin typeface="Georgia" panose="02040502050405020303" pitchFamily="18" charset="0"/>
              </a:rPr>
              <a:t>F is the local electric field (V/m)</a:t>
            </a:r>
          </a:p>
          <a:p>
            <a:pPr marL="285750" indent="-285750">
              <a:buFont typeface="Symbol" panose="05050102010706020507" pitchFamily="18" charset="2"/>
              <a:buChar char="F"/>
            </a:pPr>
            <a:r>
              <a:rPr lang="en-HK" dirty="0">
                <a:latin typeface="Georgia" panose="02040502050405020303" pitchFamily="18" charset="0"/>
              </a:rPr>
              <a:t>is the work function (eV)</a:t>
            </a:r>
          </a:p>
          <a:p>
            <a:r>
              <a:rPr lang="en-HK" dirty="0">
                <a:latin typeface="Georgia" panose="02040502050405020303" pitchFamily="18" charset="0"/>
              </a:rPr>
              <a:t>A, B are constants related to fundamental physical constants and material properties</a:t>
            </a:r>
            <a:endParaRPr lang="en-HK"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1E19C3-DAC0-7710-2B41-A5C712914643}"/>
                  </a:ext>
                </a:extLst>
              </p:cNvPr>
              <p:cNvSpPr txBox="1"/>
              <p:nvPr/>
            </p:nvSpPr>
            <p:spPr>
              <a:xfrm>
                <a:off x="762000" y="3736242"/>
                <a:ext cx="2361416" cy="565155"/>
              </a:xfrm>
              <a:prstGeom prst="rect">
                <a:avLst/>
              </a:prstGeom>
              <a:noFill/>
            </p:spPr>
            <p:txBody>
              <a:bodyPr wrap="none" lIns="0" tIns="0" rIns="0" bIns="0" rtlCol="0">
                <a:spAutoFit/>
              </a:bodyPr>
              <a:lstStyle/>
              <a:p>
                <a:pPr/>
                <a14:m>
                  <m:oMathPara xmlns:m="http://schemas.openxmlformats.org/officeDocument/2006/math">
                    <m:oMath>
                      <m:r>
                        <a:rPr lang="en-HK" b="0" i="1" smtClean="0">
                          <a:latin typeface="Cambria Math" panose="02040503050406030204" pitchFamily="18" charset="0"/>
                        </a:rPr>
                        <m:t>𝐽</m:t>
                      </m:r>
                      <m:r>
                        <a:rPr lang="en-HK" b="0" i="1" smtClean="0">
                          <a:latin typeface="Cambria Math" panose="02040503050406030204" pitchFamily="18" charset="0"/>
                          <a:ea typeface="Cambria Math" panose="02040503050406030204" pitchFamily="18" charset="0"/>
                        </a:rPr>
                        <m:t>∝</m:t>
                      </m:r>
                      <m:r>
                        <a:rPr lang="en-HK" b="0" i="1" smtClean="0">
                          <a:latin typeface="Cambria Math" panose="02040503050406030204" pitchFamily="18" charset="0"/>
                        </a:rPr>
                        <m:t> </m:t>
                      </m:r>
                      <m:r>
                        <a:rPr lang="en-HK" b="0" i="1" smtClean="0">
                          <a:latin typeface="Cambria Math" panose="02040503050406030204" pitchFamily="18" charset="0"/>
                        </a:rPr>
                        <m:t>𝐴</m:t>
                      </m:r>
                      <m:r>
                        <a:rPr lang="en-HK" b="0" i="1" smtClean="0">
                          <a:latin typeface="Cambria Math" panose="02040503050406030204" pitchFamily="18" charset="0"/>
                        </a:rPr>
                        <m:t> </m:t>
                      </m:r>
                      <m:sSup>
                        <m:sSupPr>
                          <m:ctrlPr>
                            <a:rPr lang="en-HK" b="0" i="1" smtClean="0">
                              <a:latin typeface="Cambria Math" panose="02040503050406030204" pitchFamily="18" charset="0"/>
                            </a:rPr>
                          </m:ctrlPr>
                        </m:sSupPr>
                        <m:e>
                          <m:r>
                            <a:rPr lang="en-HK" b="0" i="1" smtClean="0">
                              <a:latin typeface="Cambria Math" panose="02040503050406030204" pitchFamily="18" charset="0"/>
                            </a:rPr>
                            <m:t>𝐹</m:t>
                          </m:r>
                        </m:e>
                        <m:sup>
                          <m:r>
                            <a:rPr lang="en-HK" b="0" i="1" smtClean="0">
                              <a:latin typeface="Cambria Math" panose="02040503050406030204" pitchFamily="18" charset="0"/>
                            </a:rPr>
                            <m:t>2</m:t>
                          </m:r>
                        </m:sup>
                      </m:sSup>
                      <m:func>
                        <m:funcPr>
                          <m:ctrlPr>
                            <a:rPr lang="en-HK" b="0" i="0" smtClean="0">
                              <a:latin typeface="Cambria Math" panose="02040503050406030204" pitchFamily="18" charset="0"/>
                            </a:rPr>
                          </m:ctrlPr>
                        </m:funcPr>
                        <m:fName>
                          <m:r>
                            <m:rPr>
                              <m:sty m:val="p"/>
                            </m:rPr>
                            <a:rPr lang="en-HK" b="0" i="0" smtClean="0">
                              <a:latin typeface="Cambria Math" panose="02040503050406030204" pitchFamily="18" charset="0"/>
                            </a:rPr>
                            <m:t>exp</m:t>
                          </m:r>
                        </m:fName>
                        <m:e>
                          <m:r>
                            <a:rPr lang="en-HK" b="0" i="1" smtClean="0">
                              <a:latin typeface="Cambria Math" panose="02040503050406030204" pitchFamily="18" charset="0"/>
                            </a:rPr>
                            <m:t>(−</m:t>
                          </m:r>
                          <m:f>
                            <m:fPr>
                              <m:ctrlPr>
                                <a:rPr lang="en-HK" b="0" i="1" smtClean="0">
                                  <a:latin typeface="Cambria Math" panose="02040503050406030204" pitchFamily="18" charset="0"/>
                                </a:rPr>
                              </m:ctrlPr>
                            </m:fPr>
                            <m:num>
                              <m:r>
                                <a:rPr lang="en-HK" b="0" i="1" smtClean="0">
                                  <a:latin typeface="Cambria Math" panose="02040503050406030204" pitchFamily="18" charset="0"/>
                                </a:rPr>
                                <m:t>𝐵</m:t>
                              </m:r>
                              <m:sSup>
                                <m:sSupPr>
                                  <m:ctrlPr>
                                    <a:rPr lang="en-HK" i="1">
                                      <a:latin typeface="Cambria Math" panose="02040503050406030204" pitchFamily="18" charset="0"/>
                                      <a:ea typeface="Cambria Math" panose="02040503050406030204" pitchFamily="18" charset="0"/>
                                    </a:rPr>
                                  </m:ctrlPr>
                                </m:sSupPr>
                                <m:e>
                                  <m:r>
                                    <a:rPr lang="en-HK" i="1">
                                      <a:latin typeface="Cambria Math" panose="02040503050406030204" pitchFamily="18" charset="0"/>
                                      <a:ea typeface="Cambria Math" panose="02040503050406030204" pitchFamily="18" charset="0"/>
                                    </a:rPr>
                                    <m:t>𝜑</m:t>
                                  </m:r>
                                </m:e>
                                <m:sup>
                                  <m:r>
                                    <a:rPr lang="en-HK" b="0" i="1" smtClean="0">
                                      <a:latin typeface="Cambria Math" panose="02040503050406030204" pitchFamily="18" charset="0"/>
                                    </a:rPr>
                                    <m:t>3/2</m:t>
                                  </m:r>
                                </m:sup>
                              </m:sSup>
                            </m:num>
                            <m:den>
                              <m:r>
                                <a:rPr lang="en-HK" b="0" i="1" smtClean="0">
                                  <a:latin typeface="Cambria Math" panose="02040503050406030204" pitchFamily="18" charset="0"/>
                                </a:rPr>
                                <m:t>𝐹</m:t>
                              </m:r>
                            </m:den>
                          </m:f>
                          <m:r>
                            <a:rPr lang="en-HK" b="0" i="1" smtClean="0">
                              <a:latin typeface="Cambria Math" panose="02040503050406030204" pitchFamily="18" charset="0"/>
                            </a:rPr>
                            <m:t>)</m:t>
                          </m:r>
                        </m:e>
                      </m:func>
                    </m:oMath>
                  </m:oMathPara>
                </a14:m>
                <a:endParaRPr lang="en-HK" dirty="0"/>
              </a:p>
            </p:txBody>
          </p:sp>
        </mc:Choice>
        <mc:Fallback xmlns="">
          <p:sp>
            <p:nvSpPr>
              <p:cNvPr id="11" name="TextBox 10">
                <a:extLst>
                  <a:ext uri="{FF2B5EF4-FFF2-40B4-BE49-F238E27FC236}">
                    <a16:creationId xmlns:a16="http://schemas.microsoft.com/office/drawing/2014/main" id="{051E19C3-DAC0-7710-2B41-A5C712914643}"/>
                  </a:ext>
                </a:extLst>
              </p:cNvPr>
              <p:cNvSpPr txBox="1">
                <a:spLocks noRot="1" noChangeAspect="1" noMove="1" noResize="1" noEditPoints="1" noAdjustHandles="1" noChangeArrowheads="1" noChangeShapeType="1" noTextEdit="1"/>
              </p:cNvSpPr>
              <p:nvPr/>
            </p:nvSpPr>
            <p:spPr>
              <a:xfrm>
                <a:off x="762000" y="3736242"/>
                <a:ext cx="2361416" cy="565155"/>
              </a:xfrm>
              <a:prstGeom prst="rect">
                <a:avLst/>
              </a:prstGeom>
              <a:blipFill>
                <a:blip r:embed="rId2"/>
                <a:stretch>
                  <a:fillRect/>
                </a:stretch>
              </a:blipFill>
            </p:spPr>
            <p:txBody>
              <a:bodyPr/>
              <a:lstStyle/>
              <a:p>
                <a:r>
                  <a:rPr lang="en-HK">
                    <a:noFill/>
                  </a:rPr>
                  <a:t> </a:t>
                </a:r>
              </a:p>
            </p:txBody>
          </p:sp>
        </mc:Fallback>
      </mc:AlternateContent>
      <p:pic>
        <p:nvPicPr>
          <p:cNvPr id="2072" name="Picture 24" descr="FN plots corresponding to five different polycrystalline W tips. A... |  Download Scientific Diagram">
            <a:extLst>
              <a:ext uri="{FF2B5EF4-FFF2-40B4-BE49-F238E27FC236}">
                <a16:creationId xmlns:a16="http://schemas.microsoft.com/office/drawing/2014/main" id="{DDE6ED35-FFD4-9F4E-632E-607FB00D1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743200"/>
            <a:ext cx="4192431" cy="2851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790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p:cNvSpPr>
            <a:spLocks noChangeArrowheads="1"/>
          </p:cNvSpPr>
          <p:nvPr/>
        </p:nvSpPr>
        <p:spPr bwMode="auto">
          <a:xfrm>
            <a:off x="381000" y="4876800"/>
            <a:ext cx="8458200" cy="1631216"/>
          </a:xfrm>
          <a:prstGeom prst="rect">
            <a:avLst/>
          </a:prstGeom>
          <a:noFill/>
          <a:ln w="9525">
            <a:noFill/>
            <a:miter lim="800000"/>
            <a:headEnd/>
            <a:tailEnd/>
          </a:ln>
          <a:effectLst/>
        </p:spPr>
        <p:txBody>
          <a:bodyPr>
            <a:spAutoFit/>
          </a:bodyPr>
          <a:lstStyle/>
          <a:p>
            <a:pPr algn="just">
              <a:defRPr/>
            </a:pPr>
            <a:r>
              <a:rPr lang="en-US" altLang="zh-TW" sz="2000" dirty="0">
                <a:solidFill>
                  <a:srgbClr val="008000"/>
                </a:solidFill>
                <a:effectLst>
                  <a:outerShdw blurRad="38100" dist="38100" dir="2700000" algn="tl">
                    <a:srgbClr val="C0C0C0"/>
                  </a:outerShdw>
                </a:effectLst>
                <a:latin typeface="Georgia" panose="02040502050405020303" pitchFamily="18" charset="0"/>
                <a:ea typeface="新細明體" pitchFamily="18" charset="-120"/>
              </a:rPr>
              <a:t>Field emission electron sources</a:t>
            </a:r>
            <a:r>
              <a:rPr lang="en-US" altLang="zh-TW" sz="2000" dirty="0">
                <a:latin typeface="Georgia" panose="02040502050405020303" pitchFamily="18" charset="0"/>
                <a:ea typeface="新細明體" pitchFamily="18" charset="-120"/>
              </a:rPr>
              <a:t> consist of very sharp tungsten points at which electrical fields can be &gt;10</a:t>
            </a:r>
            <a:r>
              <a:rPr lang="en-US" altLang="zh-TW" sz="2000" baseline="30000" dirty="0">
                <a:latin typeface="Georgia" panose="02040502050405020303" pitchFamily="18" charset="0"/>
                <a:ea typeface="新細明體" pitchFamily="18" charset="-120"/>
              </a:rPr>
              <a:t>7</a:t>
            </a:r>
            <a:r>
              <a:rPr lang="en-US" altLang="zh-TW" sz="2000" dirty="0">
                <a:latin typeface="Georgia" panose="02040502050405020303" pitchFamily="18" charset="0"/>
                <a:ea typeface="新細明體" pitchFamily="18" charset="-120"/>
              </a:rPr>
              <a:t> V/cm.  At these fields, electrons tunnel directly through the barrier and leave the emitter. Field emission guns provide the brightest beams (10</a:t>
            </a:r>
            <a:r>
              <a:rPr lang="en-US" altLang="zh-TW" sz="2000" baseline="30000" dirty="0">
                <a:latin typeface="Georgia" panose="02040502050405020303" pitchFamily="18" charset="0"/>
                <a:ea typeface="新細明體" pitchFamily="18" charset="-120"/>
              </a:rPr>
              <a:t>3</a:t>
            </a:r>
            <a:r>
              <a:rPr lang="en-US" altLang="zh-TW" sz="2000" dirty="0">
                <a:latin typeface="Georgia" panose="02040502050405020303" pitchFamily="18" charset="0"/>
                <a:ea typeface="新細明體" pitchFamily="18" charset="-120"/>
              </a:rPr>
              <a:t> to 10</a:t>
            </a:r>
            <a:r>
              <a:rPr lang="en-US" altLang="zh-TW" sz="2000" baseline="30000" dirty="0">
                <a:latin typeface="Georgia" panose="02040502050405020303" pitchFamily="18" charset="0"/>
                <a:ea typeface="新細明體" pitchFamily="18" charset="-120"/>
              </a:rPr>
              <a:t>6</a:t>
            </a:r>
            <a:r>
              <a:rPr lang="en-US" altLang="zh-TW" sz="2000" dirty="0">
                <a:latin typeface="Georgia" panose="02040502050405020303" pitchFamily="18" charset="0"/>
                <a:ea typeface="新細明體" pitchFamily="18" charset="-120"/>
              </a:rPr>
              <a:t> A/cm</a:t>
            </a:r>
            <a:r>
              <a:rPr lang="en-US" altLang="zh-TW" sz="2000" baseline="30000" dirty="0">
                <a:latin typeface="Georgia" panose="02040502050405020303" pitchFamily="18" charset="0"/>
                <a:ea typeface="新細明體" pitchFamily="18" charset="-120"/>
              </a:rPr>
              <a:t>2</a:t>
            </a:r>
            <a:r>
              <a:rPr lang="en-US" altLang="zh-TW" sz="2000" dirty="0">
                <a:latin typeface="Georgia" panose="02040502050405020303" pitchFamily="18" charset="0"/>
                <a:ea typeface="新細明體" pitchFamily="18" charset="-120"/>
              </a:rPr>
              <a:t>). Electron beams as narrow as 10 nm provide Auger analysis of small features. </a:t>
            </a:r>
          </a:p>
        </p:txBody>
      </p:sp>
      <p:sp>
        <p:nvSpPr>
          <p:cNvPr id="2" name="Slide Number Placeholder 1">
            <a:extLst>
              <a:ext uri="{FF2B5EF4-FFF2-40B4-BE49-F238E27FC236}">
                <a16:creationId xmlns:a16="http://schemas.microsoft.com/office/drawing/2014/main" id="{4093F8B9-01BB-4949-8AC3-AE5FF69601A5}"/>
              </a:ext>
            </a:extLst>
          </p:cNvPr>
          <p:cNvSpPr>
            <a:spLocks noGrp="1"/>
          </p:cNvSpPr>
          <p:nvPr>
            <p:ph type="sldNum" sz="quarter" idx="11"/>
          </p:nvPr>
        </p:nvSpPr>
        <p:spPr/>
        <p:txBody>
          <a:bodyPr/>
          <a:lstStyle/>
          <a:p>
            <a:pPr>
              <a:defRPr/>
            </a:pPr>
            <a:fld id="{9A975D84-2197-4ABB-80EB-AE85607E50F0}" type="slidenum">
              <a:rPr lang="zh-TW" altLang="en-US" smtClean="0"/>
              <a:pPr>
                <a:defRPr/>
              </a:pPr>
              <a:t>20</a:t>
            </a:fld>
            <a:endParaRPr lang="en-US" altLang="zh-TW"/>
          </a:p>
        </p:txBody>
      </p:sp>
      <p:sp>
        <p:nvSpPr>
          <p:cNvPr id="3" name="Rectangle 8">
            <a:extLst>
              <a:ext uri="{FF2B5EF4-FFF2-40B4-BE49-F238E27FC236}">
                <a16:creationId xmlns:a16="http://schemas.microsoft.com/office/drawing/2014/main" id="{CF059271-369B-858D-703C-D56287ED9D84}"/>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AES-Electron source: Field emission source</a:t>
            </a:r>
          </a:p>
        </p:txBody>
      </p:sp>
      <p:pic>
        <p:nvPicPr>
          <p:cNvPr id="4098" name="Picture 2" descr="field-emission electron gun, FE electron gun | Glossary | JEOL Ltd.">
            <a:extLst>
              <a:ext uri="{FF2B5EF4-FFF2-40B4-BE49-F238E27FC236}">
                <a16:creationId xmlns:a16="http://schemas.microsoft.com/office/drawing/2014/main" id="{33C1548C-8158-3C85-4F79-BA4294FDF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6361771" cy="38930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133600"/>
            <a:ext cx="3986213"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Line 3"/>
          <p:cNvSpPr>
            <a:spLocks noChangeShapeType="1"/>
          </p:cNvSpPr>
          <p:nvPr/>
        </p:nvSpPr>
        <p:spPr bwMode="auto">
          <a:xfrm>
            <a:off x="1143000" y="5791200"/>
            <a:ext cx="3581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Georgia" panose="02040502050405020303" pitchFamily="18" charset="0"/>
            </a:endParaRPr>
          </a:p>
        </p:txBody>
      </p:sp>
      <p:sp>
        <p:nvSpPr>
          <p:cNvPr id="23556" name="Text Box 4"/>
          <p:cNvSpPr txBox="1">
            <a:spLocks noChangeArrowheads="1"/>
          </p:cNvSpPr>
          <p:nvPr/>
        </p:nvSpPr>
        <p:spPr bwMode="auto">
          <a:xfrm>
            <a:off x="2438400" y="5768975"/>
            <a:ext cx="9941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a:latin typeface="Georgia" panose="02040502050405020303" pitchFamily="18" charset="0"/>
                <a:ea typeface="宋体" pitchFamily="2" charset="-122"/>
                <a:cs typeface="Times New Roman" pitchFamily="18" charset="0"/>
              </a:rPr>
              <a:t>250um</a:t>
            </a:r>
          </a:p>
        </p:txBody>
      </p:sp>
      <p:sp>
        <p:nvSpPr>
          <p:cNvPr id="23557" name="Text Box 5"/>
          <p:cNvSpPr txBox="1">
            <a:spLocks noChangeArrowheads="1"/>
          </p:cNvSpPr>
          <p:nvPr/>
        </p:nvSpPr>
        <p:spPr bwMode="auto">
          <a:xfrm>
            <a:off x="5105400" y="3886200"/>
            <a:ext cx="26955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400" dirty="0">
                <a:latin typeface="Georgia" panose="02040502050405020303" pitchFamily="18" charset="0"/>
                <a:ea typeface="宋体" pitchFamily="2" charset="-122"/>
                <a:cs typeface="Times New Roman" pitchFamily="18" charset="0"/>
              </a:rPr>
              <a:t>The radius of the tip apex is usually smaller than 100nm</a:t>
            </a:r>
          </a:p>
        </p:txBody>
      </p:sp>
      <p:sp>
        <p:nvSpPr>
          <p:cNvPr id="23558" name="Text Box 6"/>
          <p:cNvSpPr txBox="1">
            <a:spLocks noChangeArrowheads="1"/>
          </p:cNvSpPr>
          <p:nvPr/>
        </p:nvSpPr>
        <p:spPr bwMode="auto">
          <a:xfrm>
            <a:off x="1524000" y="6237027"/>
            <a:ext cx="30283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cs typeface="Times New Roman" pitchFamily="18" charset="0"/>
              </a:rPr>
              <a:t>An SEM image of a W tip</a:t>
            </a:r>
          </a:p>
        </p:txBody>
      </p:sp>
      <p:sp>
        <p:nvSpPr>
          <p:cNvPr id="23559" name="Rectangle 7"/>
          <p:cNvSpPr>
            <a:spLocks noChangeArrowheads="1"/>
          </p:cNvSpPr>
          <p:nvPr/>
        </p:nvSpPr>
        <p:spPr bwMode="auto">
          <a:xfrm>
            <a:off x="685800" y="780767"/>
            <a:ext cx="6629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400" dirty="0">
                <a:latin typeface="Georgia" panose="02040502050405020303" pitchFamily="18" charset="0"/>
                <a:ea typeface="宋体" pitchFamily="2" charset="-122"/>
                <a:cs typeface="Times New Roman" pitchFamily="18" charset="0"/>
              </a:rPr>
              <a:t>However, the high electric field impose severe stress on the tip and materials should be strong.</a:t>
            </a:r>
          </a:p>
          <a:p>
            <a:r>
              <a:rPr lang="en-US" altLang="zh-CN" sz="2400" dirty="0">
                <a:solidFill>
                  <a:srgbClr val="0000FF"/>
                </a:solidFill>
                <a:latin typeface="Georgia" panose="02040502050405020303" pitchFamily="18" charset="0"/>
                <a:ea typeface="宋体" pitchFamily="2" charset="-122"/>
                <a:cs typeface="Times New Roman" pitchFamily="18" charset="0"/>
              </a:rPr>
              <a:t>Usually a sharp W tip was used.</a:t>
            </a:r>
          </a:p>
        </p:txBody>
      </p:sp>
      <p:sp>
        <p:nvSpPr>
          <p:cNvPr id="23560" name="Rectangle 8"/>
          <p:cNvSpPr>
            <a:spLocks noChangeArrowheads="1"/>
          </p:cNvSpPr>
          <p:nvPr/>
        </p:nvSpPr>
        <p:spPr bwMode="auto">
          <a:xfrm>
            <a:off x="5029200" y="2362200"/>
            <a:ext cx="34829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400" dirty="0">
                <a:latin typeface="Georgia" panose="02040502050405020303" pitchFamily="18" charset="0"/>
                <a:ea typeface="宋体" pitchFamily="2" charset="-122"/>
                <a:cs typeface="Times New Roman" pitchFamily="18" charset="0"/>
              </a:rPr>
              <a:t>A W tip, showing the extraordinarily fine W needle.</a:t>
            </a:r>
          </a:p>
        </p:txBody>
      </p:sp>
      <p:sp>
        <p:nvSpPr>
          <p:cNvPr id="2" name="Slide Number Placeholder 1">
            <a:extLst>
              <a:ext uri="{FF2B5EF4-FFF2-40B4-BE49-F238E27FC236}">
                <a16:creationId xmlns:a16="http://schemas.microsoft.com/office/drawing/2014/main" id="{7A7FFF0D-5D19-4F0F-B947-8EA75785C28C}"/>
              </a:ext>
            </a:extLst>
          </p:cNvPr>
          <p:cNvSpPr>
            <a:spLocks noGrp="1"/>
          </p:cNvSpPr>
          <p:nvPr>
            <p:ph type="sldNum" sz="quarter" idx="11"/>
          </p:nvPr>
        </p:nvSpPr>
        <p:spPr/>
        <p:txBody>
          <a:bodyPr/>
          <a:lstStyle/>
          <a:p>
            <a:pPr>
              <a:defRPr/>
            </a:pPr>
            <a:fld id="{9A975D84-2197-4ABB-80EB-AE85607E50F0}" type="slidenum">
              <a:rPr lang="zh-TW" altLang="en-US" smtClean="0"/>
              <a:pPr>
                <a:defRPr/>
              </a:pPr>
              <a:t>21</a:t>
            </a:fld>
            <a:endParaRPr lang="en-US" altLang="zh-TW"/>
          </a:p>
        </p:txBody>
      </p:sp>
      <p:sp>
        <p:nvSpPr>
          <p:cNvPr id="3" name="Rectangle 8">
            <a:extLst>
              <a:ext uri="{FF2B5EF4-FFF2-40B4-BE49-F238E27FC236}">
                <a16:creationId xmlns:a16="http://schemas.microsoft.com/office/drawing/2014/main" id="{34C5CFA5-EE7D-B162-64C0-79DE357279BA}"/>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AES-Electron source: Field emission source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body" idx="4294967295"/>
          </p:nvPr>
        </p:nvSpPr>
        <p:spPr>
          <a:xfrm>
            <a:off x="457200" y="1219200"/>
            <a:ext cx="8153400" cy="4267200"/>
          </a:xfrm>
        </p:spPr>
        <p:txBody>
          <a:bodyPr/>
          <a:lstStyle/>
          <a:p>
            <a:r>
              <a:rPr lang="en-US" altLang="zh-CN" sz="2000" dirty="0">
                <a:latin typeface="Georgia" panose="02040502050405020303" pitchFamily="18" charset="0"/>
                <a:ea typeface="宋体" pitchFamily="2" charset="-122"/>
              </a:rPr>
              <a:t>Strength of an electric field E is related to the voltage V applied to the (spherical) point of radius r as </a:t>
            </a:r>
            <a:r>
              <a:rPr lang="en-US" altLang="zh-CN" sz="2000" dirty="0">
                <a:solidFill>
                  <a:srgbClr val="0000FF"/>
                </a:solidFill>
                <a:latin typeface="Georgia" panose="02040502050405020303" pitchFamily="18" charset="0"/>
                <a:ea typeface="宋体" pitchFamily="2" charset="-122"/>
              </a:rPr>
              <a:t>E=V/r</a:t>
            </a:r>
          </a:p>
          <a:p>
            <a:endParaRPr lang="en-US" altLang="zh-CN" sz="2000" dirty="0">
              <a:solidFill>
                <a:srgbClr val="0000FF"/>
              </a:solidFill>
              <a:latin typeface="Georgia" panose="02040502050405020303" pitchFamily="18" charset="0"/>
              <a:ea typeface="宋体" pitchFamily="2" charset="-122"/>
            </a:endParaRPr>
          </a:p>
          <a:p>
            <a:endParaRPr lang="en-US" altLang="zh-CN" sz="2000" dirty="0">
              <a:latin typeface="Georgia" panose="02040502050405020303" pitchFamily="18" charset="0"/>
              <a:ea typeface="宋体" pitchFamily="2" charset="-122"/>
            </a:endParaRPr>
          </a:p>
          <a:p>
            <a:endParaRPr lang="en-US" altLang="zh-CN" sz="2000" dirty="0">
              <a:latin typeface="Georgia" panose="02040502050405020303" pitchFamily="18" charset="0"/>
              <a:ea typeface="宋体" pitchFamily="2" charset="-122"/>
            </a:endParaRPr>
          </a:p>
          <a:p>
            <a:r>
              <a:rPr lang="en-US" altLang="zh-CN" sz="2000" dirty="0">
                <a:latin typeface="Georgia" panose="02040502050405020303" pitchFamily="18" charset="0"/>
                <a:ea typeface="宋体" pitchFamily="2" charset="-122"/>
              </a:rPr>
              <a:t>High electric field lowers the work function barrier sufficiently for electrons to tunnel out of the material. </a:t>
            </a:r>
          </a:p>
          <a:p>
            <a:endParaRPr lang="en-US" altLang="zh-CN" sz="2000" dirty="0">
              <a:latin typeface="Georgia" panose="02040502050405020303" pitchFamily="18" charset="0"/>
              <a:ea typeface="宋体" pitchFamily="2" charset="-122"/>
            </a:endParaRPr>
          </a:p>
          <a:p>
            <a:endParaRPr lang="zh-CN" altLang="en-US" sz="2000" dirty="0">
              <a:latin typeface="Georgia" panose="02040502050405020303" pitchFamily="18" charset="0"/>
              <a:ea typeface="宋体" pitchFamily="2" charset="-122"/>
            </a:endParaRPr>
          </a:p>
        </p:txBody>
      </p:sp>
      <p:sp>
        <p:nvSpPr>
          <p:cNvPr id="2053" name="Text Box 4"/>
          <p:cNvSpPr txBox="1">
            <a:spLocks noChangeArrowheads="1"/>
          </p:cNvSpPr>
          <p:nvPr/>
        </p:nvSpPr>
        <p:spPr bwMode="auto">
          <a:xfrm>
            <a:off x="1836761" y="2045494"/>
            <a:ext cx="5732660" cy="40011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cs typeface="Times New Roman" pitchFamily="18" charset="0"/>
              </a:rPr>
              <a:t>For a W tip, r&lt;100nm, 1kV potential: E&gt;10</a:t>
            </a:r>
            <a:r>
              <a:rPr lang="en-US" altLang="zh-CN" sz="2000" baseline="30000" dirty="0">
                <a:latin typeface="Georgia" panose="02040502050405020303" pitchFamily="18" charset="0"/>
                <a:ea typeface="宋体" pitchFamily="2" charset="-122"/>
                <a:cs typeface="Times New Roman" pitchFamily="18" charset="0"/>
              </a:rPr>
              <a:t>10</a:t>
            </a:r>
            <a:r>
              <a:rPr lang="en-US" altLang="zh-CN" sz="2000" dirty="0">
                <a:latin typeface="Georgia" panose="02040502050405020303" pitchFamily="18" charset="0"/>
                <a:ea typeface="宋体" pitchFamily="2" charset="-122"/>
                <a:cs typeface="Times New Roman" pitchFamily="18" charset="0"/>
              </a:rPr>
              <a:t>V/m</a:t>
            </a:r>
          </a:p>
        </p:txBody>
      </p:sp>
      <p:graphicFrame>
        <p:nvGraphicFramePr>
          <p:cNvPr id="2050" name="Object 2"/>
          <p:cNvGraphicFramePr>
            <a:graphicFrameLocks noChangeAspect="1"/>
          </p:cNvGraphicFramePr>
          <p:nvPr>
            <p:extLst>
              <p:ext uri="{D42A27DB-BD31-4B8C-83A1-F6EECF244321}">
                <p14:modId xmlns:p14="http://schemas.microsoft.com/office/powerpoint/2010/main" val="3190662171"/>
              </p:ext>
            </p:extLst>
          </p:nvPr>
        </p:nvGraphicFramePr>
        <p:xfrm>
          <a:off x="1981200" y="3704197"/>
          <a:ext cx="4431032" cy="1078778"/>
        </p:xfrm>
        <a:graphic>
          <a:graphicData uri="http://schemas.openxmlformats.org/presentationml/2006/ole">
            <mc:AlternateContent xmlns:mc="http://schemas.openxmlformats.org/markup-compatibility/2006">
              <mc:Choice xmlns:v="urn:schemas-microsoft-com:vml" Requires="v">
                <p:oleObj name="Equation" r:id="rId3" imgW="1663560" imgH="507960" progId="Equation.3">
                  <p:embed/>
                </p:oleObj>
              </mc:Choice>
              <mc:Fallback>
                <p:oleObj name="Equation" r:id="rId3" imgW="1663560" imgH="5079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704197"/>
                        <a:ext cx="4431032" cy="1078778"/>
                      </a:xfrm>
                      <a:prstGeom prst="rect">
                        <a:avLst/>
                      </a:prstGeom>
                      <a:noFill/>
                      <a:ln>
                        <a:noFill/>
                      </a:ln>
                      <a:effectLst/>
                    </p:spPr>
                  </p:pic>
                </p:oleObj>
              </mc:Fallback>
            </mc:AlternateContent>
          </a:graphicData>
        </a:graphic>
      </p:graphicFrame>
      <p:sp>
        <p:nvSpPr>
          <p:cNvPr id="2" name="Slide Number Placeholder 1">
            <a:extLst>
              <a:ext uri="{FF2B5EF4-FFF2-40B4-BE49-F238E27FC236}">
                <a16:creationId xmlns:a16="http://schemas.microsoft.com/office/drawing/2014/main" id="{92D43857-9BDD-4AC0-ACD1-C28BB5DAFE4C}"/>
              </a:ext>
            </a:extLst>
          </p:cNvPr>
          <p:cNvSpPr>
            <a:spLocks noGrp="1"/>
          </p:cNvSpPr>
          <p:nvPr>
            <p:ph type="sldNum" sz="quarter" idx="11"/>
          </p:nvPr>
        </p:nvSpPr>
        <p:spPr>
          <a:xfrm>
            <a:off x="6858000" y="6248400"/>
            <a:ext cx="2133600" cy="457200"/>
          </a:xfrm>
        </p:spPr>
        <p:txBody>
          <a:bodyPr/>
          <a:lstStyle/>
          <a:p>
            <a:pPr>
              <a:defRPr/>
            </a:pPr>
            <a:fld id="{9A975D84-2197-4ABB-80EB-AE85607E50F0}" type="slidenum">
              <a:rPr lang="zh-TW" altLang="en-US" smtClean="0"/>
              <a:pPr>
                <a:defRPr/>
              </a:pPr>
              <a:t>22</a:t>
            </a:fld>
            <a:endParaRPr lang="en-US" altLang="zh-TW" dirty="0"/>
          </a:p>
        </p:txBody>
      </p:sp>
      <p:sp>
        <p:nvSpPr>
          <p:cNvPr id="3" name="Rectangle 8">
            <a:extLst>
              <a:ext uri="{FF2B5EF4-FFF2-40B4-BE49-F238E27FC236}">
                <a16:creationId xmlns:a16="http://schemas.microsoft.com/office/drawing/2014/main" id="{DC3E2C75-6763-E694-382E-F3B4EB97E8F5}"/>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r>
              <a:rPr lang="en-US" altLang="zh-TW" sz="2400" dirty="0">
                <a:solidFill>
                  <a:schemeClr val="bg1"/>
                </a:solidFill>
                <a:latin typeface="Georgia" panose="02040502050405020303" pitchFamily="18" charset="0"/>
                <a:ea typeface="PMingLiU" pitchFamily="18" charset="-120"/>
              </a:rPr>
              <a:t>AES-Electron source: Field emission source</a:t>
            </a:r>
          </a:p>
        </p:txBody>
      </p:sp>
      <p:sp>
        <p:nvSpPr>
          <p:cNvPr id="4" name="TextBox 3">
            <a:extLst>
              <a:ext uri="{FF2B5EF4-FFF2-40B4-BE49-F238E27FC236}">
                <a16:creationId xmlns:a16="http://schemas.microsoft.com/office/drawing/2014/main" id="{C4D06211-BD63-E9AE-F868-A12DDE2E74E1}"/>
              </a:ext>
            </a:extLst>
          </p:cNvPr>
          <p:cNvSpPr txBox="1"/>
          <p:nvPr/>
        </p:nvSpPr>
        <p:spPr>
          <a:xfrm>
            <a:off x="457200" y="5105400"/>
            <a:ext cx="8534400" cy="1323439"/>
          </a:xfrm>
          <a:prstGeom prst="rect">
            <a:avLst/>
          </a:prstGeom>
          <a:noFill/>
        </p:spPr>
        <p:txBody>
          <a:bodyPr wrap="square">
            <a:spAutoFit/>
          </a:bodyPr>
          <a:lstStyle/>
          <a:p>
            <a:r>
              <a:rPr lang="en-US" sz="2000" b="0" i="0" dirty="0" err="1">
                <a:effectLst/>
                <a:latin typeface="Georgia" panose="02040502050405020303" pitchFamily="18" charset="0"/>
              </a:rPr>
              <a:t>Δφ</a:t>
            </a:r>
            <a:r>
              <a:rPr lang="en-US" sz="2000" b="0" i="0" dirty="0">
                <a:effectLst/>
                <a:latin typeface="Georgia" panose="02040502050405020303" pitchFamily="18" charset="0"/>
              </a:rPr>
              <a:t> (image-force barrier lowering) arises from the classical electrostatic attraction between the emitted electron and its induced image charge in the metal surface, which rounds off the top of the triangular barrier and reduces the effective barrier height.</a:t>
            </a:r>
            <a:endParaRPr lang="en-HK" sz="2000" dirty="0">
              <a:latin typeface="Georgia" panose="02040502050405020303"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463B7C-4D67-EA84-FA6A-F09C7D609EB3}"/>
              </a:ext>
            </a:extLst>
          </p:cNvPr>
          <p:cNvSpPr>
            <a:spLocks noGrp="1"/>
          </p:cNvSpPr>
          <p:nvPr>
            <p:ph type="sldNum" sz="quarter" idx="11"/>
          </p:nvPr>
        </p:nvSpPr>
        <p:spPr/>
        <p:txBody>
          <a:bodyPr/>
          <a:lstStyle/>
          <a:p>
            <a:pPr>
              <a:defRPr/>
            </a:pPr>
            <a:fld id="{9A975D84-2197-4ABB-80EB-AE85607E50F0}" type="slidenum">
              <a:rPr lang="zh-TW" altLang="en-US" smtClean="0"/>
              <a:pPr>
                <a:defRPr/>
              </a:pPr>
              <a:t>23</a:t>
            </a:fld>
            <a:endParaRPr lang="en-US" altLang="zh-TW"/>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2415A9E-BA09-9054-10F4-76BE558BCE09}"/>
                  </a:ext>
                </a:extLst>
              </p:cNvPr>
              <p:cNvSpPr txBox="1"/>
              <p:nvPr/>
            </p:nvSpPr>
            <p:spPr>
              <a:xfrm>
                <a:off x="571500" y="2144424"/>
                <a:ext cx="7239000" cy="835550"/>
              </a:xfrm>
              <a:prstGeom prst="rect">
                <a:avLst/>
              </a:prstGeom>
              <a:noFill/>
            </p:spPr>
            <p:txBody>
              <a:bodyPr wrap="square">
                <a:spAutoFit/>
              </a:bodyPr>
              <a:lstStyle/>
              <a:p>
                <a:r>
                  <a:rPr lang="en-HK" b="0" i="0" dirty="0">
                    <a:effectLst/>
                    <a:latin typeface="Georgia" panose="02040502050405020303" pitchFamily="18" charset="0"/>
                  </a:rPr>
                  <a:t>Total Barrier: Under applied field E, the total potential barrier is  </a:t>
                </a:r>
                <a:endParaRPr lang="en-HK" b="0" i="0" dirty="0">
                  <a:latin typeface="Georgia" panose="02040502050405020303" pitchFamily="18" charset="0"/>
                </a:endParaRPr>
              </a:p>
              <a:p>
                <a14:m>
                  <m:oMath xmlns:m="http://schemas.openxmlformats.org/officeDocument/2006/math">
                    <m:r>
                      <a:rPr lang="en-HK" b="0" i="0" smtClean="0">
                        <a:latin typeface="Cambria Math" panose="02040503050406030204" pitchFamily="18" charset="0"/>
                      </a:rPr>
                      <m:t>  </m:t>
                    </m:r>
                    <m:r>
                      <a:rPr lang="en-HK" i="1">
                        <a:latin typeface="Cambria Math" panose="02040503050406030204" pitchFamily="18" charset="0"/>
                      </a:rPr>
                      <m:t>𝑉</m:t>
                    </m:r>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r>
                      <a:rPr lang="ar-AE" i="1">
                        <a:latin typeface="Cambria Math" panose="02040503050406030204" pitchFamily="18" charset="0"/>
                      </a:rPr>
                      <m:t>𝜙</m:t>
                    </m:r>
                    <m:r>
                      <a:rPr lang="ar-AE" i="0">
                        <a:latin typeface="Cambria Math" panose="02040503050406030204" pitchFamily="18" charset="0"/>
                      </a:rPr>
                      <m:t>−</m:t>
                    </m:r>
                    <m:r>
                      <a:rPr lang="ar-AE" i="1">
                        <a:latin typeface="Cambria Math" panose="02040503050406030204" pitchFamily="18" charset="0"/>
                      </a:rPr>
                      <m:t>𝑒𝐸𝑥</m:t>
                    </m:r>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HK" b="0" i="1">
                            <a:latin typeface="Georgia" panose="02040502050405020303" pitchFamily="18" charset="0"/>
                          </a:rPr>
                          <m:t>image</m:t>
                        </m:r>
                      </m:sub>
                    </m:sSub>
                    <m:d>
                      <m:dPr>
                        <m:ctrlPr>
                          <a:rPr lang="ar-AE" b="0" i="1">
                            <a:latin typeface="Cambria Math" panose="02040503050406030204" pitchFamily="18" charset="0"/>
                          </a:rPr>
                        </m:ctrlPr>
                      </m:dPr>
                      <m:e>
                        <m:r>
                          <a:rPr lang="ar-AE" b="0" i="1">
                            <a:latin typeface="Cambria Math" panose="02040503050406030204" pitchFamily="18" charset="0"/>
                          </a:rPr>
                          <m:t>𝑥</m:t>
                        </m:r>
                      </m:e>
                    </m:d>
                    <m:r>
                      <a:rPr lang="ar-AE" b="0" i="0">
                        <a:latin typeface="Cambria Math" panose="02040503050406030204" pitchFamily="18" charset="0"/>
                      </a:rPr>
                      <m:t>=</m:t>
                    </m:r>
                    <m:r>
                      <a:rPr lang="ar-AE" b="0" i="1">
                        <a:latin typeface="Cambria Math" panose="02040503050406030204" pitchFamily="18" charset="0"/>
                      </a:rPr>
                      <m:t>𝜙</m:t>
                    </m:r>
                    <m:r>
                      <a:rPr lang="ar-AE" b="0" i="0">
                        <a:latin typeface="Cambria Math" panose="02040503050406030204" pitchFamily="18" charset="0"/>
                      </a:rPr>
                      <m:t>−</m:t>
                    </m:r>
                    <m:r>
                      <a:rPr lang="ar-AE" b="0" i="1">
                        <a:latin typeface="Cambria Math" panose="02040503050406030204" pitchFamily="18" charset="0"/>
                      </a:rPr>
                      <m:t>𝑒𝐸𝑥</m:t>
                    </m:r>
                    <m:r>
                      <a:rPr lang="ar-AE" b="0" i="0">
                        <a:latin typeface="Cambria Math" panose="02040503050406030204" pitchFamily="18" charset="0"/>
                      </a:rPr>
                      <m:t>−</m:t>
                    </m:r>
                    <m:f>
                      <m:fPr>
                        <m:ctrlPr>
                          <a:rPr lang="ar-AE" b="0" i="1">
                            <a:latin typeface="Cambria Math" panose="02040503050406030204" pitchFamily="18" charset="0"/>
                          </a:rPr>
                        </m:ctrlPr>
                      </m:fPr>
                      <m:num>
                        <m:sSup>
                          <m:sSupPr>
                            <m:ctrlPr>
                              <a:rPr lang="ar-AE" b="0" i="1">
                                <a:latin typeface="Cambria Math" panose="02040503050406030204" pitchFamily="18" charset="0"/>
                              </a:rPr>
                            </m:ctrlPr>
                          </m:sSupPr>
                          <m:e>
                            <m:r>
                              <a:rPr lang="ar-AE" b="0" i="1">
                                <a:latin typeface="Cambria Math" panose="02040503050406030204" pitchFamily="18" charset="0"/>
                              </a:rPr>
                              <m:t>𝑒</m:t>
                            </m:r>
                          </m:e>
                          <m:sup>
                            <m:r>
                              <a:rPr lang="ar-AE" b="0" i="0">
                                <a:latin typeface="Cambria Math" panose="02040503050406030204" pitchFamily="18" charset="0"/>
                              </a:rPr>
                              <m:t>2</m:t>
                            </m:r>
                          </m:sup>
                        </m:sSup>
                      </m:num>
                      <m:den>
                        <m:r>
                          <a:rPr lang="ar-AE" b="0" i="0">
                            <a:latin typeface="Cambria Math" panose="02040503050406030204" pitchFamily="18" charset="0"/>
                          </a:rPr>
                          <m:t>16</m:t>
                        </m:r>
                        <m:r>
                          <a:rPr lang="ar-AE" b="0" i="1">
                            <a:latin typeface="Cambria Math" panose="02040503050406030204" pitchFamily="18" charset="0"/>
                          </a:rPr>
                          <m:t>𝜋</m:t>
                        </m:r>
                        <m:sSub>
                          <m:sSubPr>
                            <m:ctrlPr>
                              <a:rPr lang="ar-AE" b="0" i="1">
                                <a:latin typeface="Cambria Math" panose="02040503050406030204" pitchFamily="18" charset="0"/>
                              </a:rPr>
                            </m:ctrlPr>
                          </m:sSubPr>
                          <m:e>
                            <m:r>
                              <a:rPr lang="ar-AE" b="0" i="1">
                                <a:latin typeface="Cambria Math" panose="02040503050406030204" pitchFamily="18" charset="0"/>
                              </a:rPr>
                              <m:t>𝜖</m:t>
                            </m:r>
                          </m:e>
                          <m:sub>
                            <m:r>
                              <a:rPr lang="ar-AE" b="0" i="0">
                                <a:latin typeface="Cambria Math" panose="02040503050406030204" pitchFamily="18" charset="0"/>
                              </a:rPr>
                              <m:t>0</m:t>
                            </m:r>
                          </m:sub>
                        </m:sSub>
                        <m:r>
                          <a:rPr lang="ar-AE" b="0" i="1">
                            <a:latin typeface="Cambria Math" panose="02040503050406030204" pitchFamily="18" charset="0"/>
                          </a:rPr>
                          <m:t>𝑥</m:t>
                        </m:r>
                      </m:den>
                    </m:f>
                  </m:oMath>
                </a14:m>
                <a:r>
                  <a:rPr lang="ar-AE" b="0" i="0" dirty="0">
                    <a:effectLst/>
                    <a:latin typeface="Georgia" panose="02040502050405020303" pitchFamily="18" charset="0"/>
                  </a:rPr>
                  <a:t>.</a:t>
                </a:r>
                <a:endParaRPr lang="en-HK" dirty="0">
                  <a:latin typeface="Georgia" panose="02040502050405020303" pitchFamily="18" charset="0"/>
                </a:endParaRPr>
              </a:p>
            </p:txBody>
          </p:sp>
        </mc:Choice>
        <mc:Fallback xmlns="">
          <p:sp>
            <p:nvSpPr>
              <p:cNvPr id="6" name="TextBox 5">
                <a:extLst>
                  <a:ext uri="{FF2B5EF4-FFF2-40B4-BE49-F238E27FC236}">
                    <a16:creationId xmlns:a16="http://schemas.microsoft.com/office/drawing/2014/main" id="{C2415A9E-BA09-9054-10F4-76BE558BCE09}"/>
                  </a:ext>
                </a:extLst>
              </p:cNvPr>
              <p:cNvSpPr txBox="1">
                <a:spLocks noRot="1" noChangeAspect="1" noMove="1" noResize="1" noEditPoints="1" noAdjustHandles="1" noChangeArrowheads="1" noChangeShapeType="1" noTextEdit="1"/>
              </p:cNvSpPr>
              <p:nvPr/>
            </p:nvSpPr>
            <p:spPr>
              <a:xfrm>
                <a:off x="571500" y="2144424"/>
                <a:ext cx="7239000" cy="835550"/>
              </a:xfrm>
              <a:prstGeom prst="rect">
                <a:avLst/>
              </a:prstGeom>
              <a:blipFill>
                <a:blip r:embed="rId2"/>
                <a:stretch>
                  <a:fillRect l="-758" t="-4380"/>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E2C054-7D01-5E27-8466-1E6B1C81AA46}"/>
                  </a:ext>
                </a:extLst>
              </p:cNvPr>
              <p:cNvSpPr txBox="1"/>
              <p:nvPr/>
            </p:nvSpPr>
            <p:spPr>
              <a:xfrm>
                <a:off x="609600" y="2979974"/>
                <a:ext cx="8610600" cy="1554849"/>
              </a:xfrm>
              <a:prstGeom prst="rect">
                <a:avLst/>
              </a:prstGeom>
              <a:noFill/>
            </p:spPr>
            <p:txBody>
              <a:bodyPr wrap="square">
                <a:spAutoFit/>
              </a:bodyPr>
              <a:lstStyle/>
              <a:p>
                <a14:m>
                  <m:oMath xmlns:m="http://schemas.openxmlformats.org/officeDocument/2006/math">
                    <m:r>
                      <a:rPr lang="ar-AE" i="1">
                        <a:latin typeface="Cambria Math" panose="02040503050406030204" pitchFamily="18" charset="0"/>
                      </a:rPr>
                      <m:t>𝑒𝐸𝑥</m:t>
                    </m:r>
                    <m:r>
                      <a:rPr lang="ar-AE" i="1">
                        <a:latin typeface="Cambria Math" panose="02040503050406030204" pitchFamily="18" charset="0"/>
                      </a:rPr>
                      <m:t> </m:t>
                    </m:r>
                  </m:oMath>
                </a14:m>
                <a:r>
                  <a:rPr lang="en-US" b="0" i="0" dirty="0">
                    <a:effectLst/>
                    <a:latin typeface="Georgia" panose="02040502050405020303" pitchFamily="18" charset="0"/>
                  </a:rPr>
                  <a:t>represents </a:t>
                </a:r>
                <a:r>
                  <a:rPr lang="en-US" dirty="0">
                    <a:latin typeface="Georgia" panose="02040502050405020303" pitchFamily="18" charset="0"/>
                  </a:rPr>
                  <a:t>the electrostatic potential energy drop due to the applied electric field E. </a:t>
                </a:r>
              </a:p>
              <a:p>
                <a:r>
                  <a:rPr lang="en-HK" dirty="0">
                    <a:latin typeface="Georgia" panose="02040502050405020303" pitchFamily="18" charset="0"/>
                  </a:rPr>
                  <a:t>This term dominates far from the surface; close in, the image potential </a:t>
                </a:r>
                <a14:m>
                  <m:oMath xmlns:m="http://schemas.openxmlformats.org/officeDocument/2006/math">
                    <m:sSub>
                      <m:sSubPr>
                        <m:ctrlPr>
                          <a:rPr lang="ar-AE">
                            <a:latin typeface="Cambria Math" panose="02040503050406030204" pitchFamily="18" charset="0"/>
                          </a:rPr>
                        </m:ctrlPr>
                      </m:sSubPr>
                      <m:e>
                        <m:r>
                          <a:rPr lang="ar-AE">
                            <a:latin typeface="Cambria Math" panose="02040503050406030204" pitchFamily="18" charset="0"/>
                          </a:rPr>
                          <m:t>𝑉</m:t>
                        </m:r>
                      </m:e>
                      <m:sub>
                        <m:r>
                          <m:rPr>
                            <m:nor/>
                          </m:rPr>
                          <a:rPr lang="en-HK" i="0">
                            <a:latin typeface="Georgia" panose="02040502050405020303" pitchFamily="18" charset="0"/>
                          </a:rPr>
                          <m:t>image</m:t>
                        </m:r>
                      </m:sub>
                    </m:sSub>
                  </m:oMath>
                </a14:m>
                <a:r>
                  <a:rPr lang="ar-AE" dirty="0">
                    <a:latin typeface="Georgia" panose="02040502050405020303" pitchFamily="18" charset="0"/>
                  </a:rPr>
                  <a:t> </a:t>
                </a:r>
                <a:r>
                  <a:rPr lang="en-HK" dirty="0">
                    <a:latin typeface="Georgia" panose="02040502050405020303" pitchFamily="18" charset="0"/>
                  </a:rPr>
                  <a:t>becomes significant, lowering the barrier top by </a:t>
                </a:r>
                <a:r>
                  <a:rPr lang="el-GR" dirty="0">
                    <a:latin typeface="Georgia" panose="02040502050405020303" pitchFamily="18" charset="0"/>
                  </a:rPr>
                  <a:t>Δφ.</a:t>
                </a:r>
                <a:endParaRPr lang="en-US" dirty="0">
                  <a:latin typeface="Georgia" panose="02040502050405020303" pitchFamily="18" charset="0"/>
                </a:endParaRPr>
              </a:p>
              <a:p>
                <a:endParaRPr lang="en-HK" dirty="0">
                  <a:latin typeface="Georgia" panose="02040502050405020303" pitchFamily="18" charset="0"/>
                </a:endParaRPr>
              </a:p>
            </p:txBody>
          </p:sp>
        </mc:Choice>
        <mc:Fallback xmlns="">
          <p:sp>
            <p:nvSpPr>
              <p:cNvPr id="8" name="TextBox 7">
                <a:extLst>
                  <a:ext uri="{FF2B5EF4-FFF2-40B4-BE49-F238E27FC236}">
                    <a16:creationId xmlns:a16="http://schemas.microsoft.com/office/drawing/2014/main" id="{4EE2C054-7D01-5E27-8466-1E6B1C81AA46}"/>
                  </a:ext>
                </a:extLst>
              </p:cNvPr>
              <p:cNvSpPr txBox="1">
                <a:spLocks noRot="1" noChangeAspect="1" noMove="1" noResize="1" noEditPoints="1" noAdjustHandles="1" noChangeArrowheads="1" noChangeShapeType="1" noTextEdit="1"/>
              </p:cNvSpPr>
              <p:nvPr/>
            </p:nvSpPr>
            <p:spPr>
              <a:xfrm>
                <a:off x="609600" y="2979974"/>
                <a:ext cx="8610600" cy="1554849"/>
              </a:xfrm>
              <a:prstGeom prst="rect">
                <a:avLst/>
              </a:prstGeom>
              <a:blipFill>
                <a:blip r:embed="rId3"/>
                <a:stretch>
                  <a:fillRect l="-566" t="-2353"/>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799A86F-F5CB-07A2-370F-623D7726B617}"/>
                  </a:ext>
                </a:extLst>
              </p:cNvPr>
              <p:cNvSpPr txBox="1"/>
              <p:nvPr/>
            </p:nvSpPr>
            <p:spPr>
              <a:xfrm>
                <a:off x="609600" y="802260"/>
                <a:ext cx="8305800" cy="1112549"/>
              </a:xfrm>
              <a:prstGeom prst="rect">
                <a:avLst/>
              </a:prstGeom>
              <a:noFill/>
            </p:spPr>
            <p:txBody>
              <a:bodyPr wrap="square">
                <a:spAutoFit/>
              </a:bodyPr>
              <a:lstStyle/>
              <a:p>
                <a:pPr algn="l"/>
                <a:r>
                  <a:rPr lang="en-HK" b="0" i="0" dirty="0">
                    <a:effectLst/>
                    <a:latin typeface="Georgia" panose="02040502050405020303" pitchFamily="18" charset="0"/>
                  </a:rPr>
                  <a:t>Image Potential: For an electron (charge -e) at distance x &gt; 0 from the metal surface, it induces an image charge +e at x = -x. The image potential energy is </a:t>
                </a:r>
              </a:p>
              <a:p>
                <a:pPr algn="l"/>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HK" b="0" i="1">
                            <a:latin typeface="Georgia" panose="02040502050405020303" pitchFamily="18" charset="0"/>
                          </a:rPr>
                          <m:t>image</m:t>
                        </m:r>
                      </m:sub>
                    </m:sSub>
                    <m:d>
                      <m:dPr>
                        <m:ctrlPr>
                          <a:rPr lang="ar-AE" b="0" i="1">
                            <a:latin typeface="Cambria Math" panose="02040503050406030204" pitchFamily="18" charset="0"/>
                          </a:rPr>
                        </m:ctrlPr>
                      </m:dPr>
                      <m:e>
                        <m:r>
                          <a:rPr lang="ar-AE" b="0" i="1">
                            <a:latin typeface="Cambria Math" panose="02040503050406030204" pitchFamily="18" charset="0"/>
                          </a:rPr>
                          <m:t>𝑥</m:t>
                        </m:r>
                      </m:e>
                    </m:d>
                    <m:r>
                      <a:rPr lang="ar-AE" b="0" i="0">
                        <a:latin typeface="Cambria Math" panose="02040503050406030204" pitchFamily="18" charset="0"/>
                      </a:rPr>
                      <m:t>=−</m:t>
                    </m:r>
                    <m:f>
                      <m:fPr>
                        <m:ctrlPr>
                          <a:rPr lang="ar-AE" b="0" i="0">
                            <a:latin typeface="Cambria Math" panose="02040503050406030204" pitchFamily="18" charset="0"/>
                          </a:rPr>
                        </m:ctrlPr>
                      </m:fPr>
                      <m:num>
                        <m:r>
                          <a:rPr lang="ar-AE" b="0" i="0">
                            <a:latin typeface="Cambria Math" panose="02040503050406030204" pitchFamily="18" charset="0"/>
                          </a:rPr>
                          <m:t>1</m:t>
                        </m:r>
                      </m:num>
                      <m:den>
                        <m:r>
                          <a:rPr lang="ar-AE" b="0" i="0">
                            <a:latin typeface="Cambria Math" panose="02040503050406030204" pitchFamily="18" charset="0"/>
                          </a:rPr>
                          <m:t>4</m:t>
                        </m:r>
                        <m:r>
                          <a:rPr lang="ar-AE" b="0" i="1">
                            <a:latin typeface="Cambria Math" panose="02040503050406030204" pitchFamily="18" charset="0"/>
                          </a:rPr>
                          <m:t>𝜋</m:t>
                        </m:r>
                        <m:sSub>
                          <m:sSubPr>
                            <m:ctrlPr>
                              <a:rPr lang="ar-AE" b="0" i="1">
                                <a:latin typeface="Cambria Math" panose="02040503050406030204" pitchFamily="18" charset="0"/>
                              </a:rPr>
                            </m:ctrlPr>
                          </m:sSubPr>
                          <m:e>
                            <m:r>
                              <a:rPr lang="ar-AE" b="0" i="1">
                                <a:latin typeface="Cambria Math" panose="02040503050406030204" pitchFamily="18" charset="0"/>
                              </a:rPr>
                              <m:t>𝜖</m:t>
                            </m:r>
                          </m:e>
                          <m:sub>
                            <m:r>
                              <a:rPr lang="ar-AE" b="0" i="0">
                                <a:latin typeface="Cambria Math" panose="02040503050406030204" pitchFamily="18" charset="0"/>
                              </a:rPr>
                              <m:t>0</m:t>
                            </m:r>
                          </m:sub>
                        </m:sSub>
                      </m:den>
                    </m:f>
                    <m:f>
                      <m:fPr>
                        <m:ctrlPr>
                          <a:rPr lang="ar-AE" b="0" i="1">
                            <a:latin typeface="Cambria Math" panose="02040503050406030204" pitchFamily="18" charset="0"/>
                          </a:rPr>
                        </m:ctrlPr>
                      </m:fPr>
                      <m:num>
                        <m:sSup>
                          <m:sSupPr>
                            <m:ctrlPr>
                              <a:rPr lang="ar-AE" b="0" i="1">
                                <a:latin typeface="Cambria Math" panose="02040503050406030204" pitchFamily="18" charset="0"/>
                              </a:rPr>
                            </m:ctrlPr>
                          </m:sSupPr>
                          <m:e>
                            <m:r>
                              <a:rPr lang="ar-AE" b="0" i="1">
                                <a:latin typeface="Cambria Math" panose="02040503050406030204" pitchFamily="18" charset="0"/>
                              </a:rPr>
                              <m:t>𝑒</m:t>
                            </m:r>
                          </m:e>
                          <m:sup>
                            <m:r>
                              <a:rPr lang="ar-AE" b="0" i="0">
                                <a:latin typeface="Cambria Math" panose="02040503050406030204" pitchFamily="18" charset="0"/>
                              </a:rPr>
                              <m:t>2</m:t>
                            </m:r>
                          </m:sup>
                        </m:sSup>
                      </m:num>
                      <m:den>
                        <m:r>
                          <a:rPr lang="ar-AE" b="0" i="0">
                            <a:latin typeface="Cambria Math" panose="02040503050406030204" pitchFamily="18" charset="0"/>
                          </a:rPr>
                          <m:t>4</m:t>
                        </m:r>
                        <m:r>
                          <a:rPr lang="ar-AE" b="0" i="1">
                            <a:latin typeface="Cambria Math" panose="02040503050406030204" pitchFamily="18" charset="0"/>
                          </a:rPr>
                          <m:t>𝑥</m:t>
                        </m:r>
                      </m:den>
                    </m:f>
                  </m:oMath>
                </a14:m>
                <a:r>
                  <a:rPr lang="ar-AE" b="0" i="0" dirty="0">
                    <a:effectLst/>
                    <a:latin typeface="Georgia" panose="02040502050405020303" pitchFamily="18" charset="0"/>
                  </a:rPr>
                  <a:t>.</a:t>
                </a:r>
              </a:p>
            </p:txBody>
          </p:sp>
        </mc:Choice>
        <mc:Fallback xmlns="">
          <p:sp>
            <p:nvSpPr>
              <p:cNvPr id="10" name="TextBox 9">
                <a:extLst>
                  <a:ext uri="{FF2B5EF4-FFF2-40B4-BE49-F238E27FC236}">
                    <a16:creationId xmlns:a16="http://schemas.microsoft.com/office/drawing/2014/main" id="{2799A86F-F5CB-07A2-370F-623D7726B617}"/>
                  </a:ext>
                </a:extLst>
              </p:cNvPr>
              <p:cNvSpPr txBox="1">
                <a:spLocks noRot="1" noChangeAspect="1" noMove="1" noResize="1" noEditPoints="1" noAdjustHandles="1" noChangeArrowheads="1" noChangeShapeType="1" noTextEdit="1"/>
              </p:cNvSpPr>
              <p:nvPr/>
            </p:nvSpPr>
            <p:spPr>
              <a:xfrm>
                <a:off x="609600" y="802260"/>
                <a:ext cx="8305800" cy="1112549"/>
              </a:xfrm>
              <a:prstGeom prst="rect">
                <a:avLst/>
              </a:prstGeom>
              <a:blipFill>
                <a:blip r:embed="rId4"/>
                <a:stretch>
                  <a:fillRect l="-587" t="-3297"/>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1B2CCD-1E2E-9F76-E73F-6B232353A166}"/>
                  </a:ext>
                </a:extLst>
              </p:cNvPr>
              <p:cNvSpPr txBox="1"/>
              <p:nvPr/>
            </p:nvSpPr>
            <p:spPr>
              <a:xfrm>
                <a:off x="571500" y="4450310"/>
                <a:ext cx="6781800" cy="656013"/>
              </a:xfrm>
              <a:prstGeom prst="rect">
                <a:avLst/>
              </a:prstGeom>
              <a:noFill/>
            </p:spPr>
            <p:txBody>
              <a:bodyPr wrap="square">
                <a:spAutoFit/>
              </a:bodyPr>
              <a:lstStyle/>
              <a:p>
                <a:r>
                  <a:rPr lang="en-HK" b="0" i="0" dirty="0">
                    <a:effectLst/>
                    <a:latin typeface="Georgia" panose="02040502050405020303" pitchFamily="18" charset="0"/>
                  </a:rPr>
                  <a:t>Barrier Maximum: Set </a:t>
                </a:r>
                <a14:m>
                  <m:oMath xmlns:m="http://schemas.openxmlformats.org/officeDocument/2006/math">
                    <m:f>
                      <m:fPr>
                        <m:ctrlPr>
                          <a:rPr lang="ar-AE" i="1">
                            <a:latin typeface="Cambria Math" panose="02040503050406030204" pitchFamily="18" charset="0"/>
                          </a:rPr>
                        </m:ctrlPr>
                      </m:fPr>
                      <m:num>
                        <m:r>
                          <a:rPr lang="ar-AE" i="1">
                            <a:latin typeface="Cambria Math" panose="02040503050406030204" pitchFamily="18" charset="0"/>
                          </a:rPr>
                          <m:t>𝑑𝑉</m:t>
                        </m:r>
                      </m:num>
                      <m:den>
                        <m:r>
                          <a:rPr lang="ar-AE" i="1">
                            <a:latin typeface="Cambria Math" panose="02040503050406030204" pitchFamily="18" charset="0"/>
                          </a:rPr>
                          <m:t>𝑑𝑥</m:t>
                        </m:r>
                      </m:den>
                    </m:f>
                    <m:r>
                      <a:rPr lang="ar-AE" i="0">
                        <a:latin typeface="Cambria Math" panose="02040503050406030204" pitchFamily="18" charset="0"/>
                      </a:rPr>
                      <m:t>=0</m:t>
                    </m:r>
                  </m:oMath>
                </a14:m>
                <a:r>
                  <a:rPr lang="ar-AE" b="0" i="0" dirty="0">
                    <a:effectLst/>
                    <a:latin typeface="Georgia" panose="02040502050405020303" pitchFamily="18" charset="0"/>
                  </a:rPr>
                  <a:t> </a:t>
                </a:r>
                <a:r>
                  <a:rPr lang="en-HK" b="0" i="0" dirty="0">
                    <a:effectLst/>
                    <a:latin typeface="Georgia" panose="02040502050405020303" pitchFamily="18" charset="0"/>
                  </a:rPr>
                  <a:t>to find the peak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0">
                            <a:latin typeface="Cambria Math" panose="02040503050406030204" pitchFamily="18" charset="0"/>
                          </a:rPr>
                          <m:t>0</m:t>
                        </m:r>
                      </m:sub>
                    </m:sSub>
                    <m:r>
                      <a:rPr lang="ar-AE" i="0">
                        <a:latin typeface="Cambria Math" panose="02040503050406030204" pitchFamily="18" charset="0"/>
                      </a:rPr>
                      <m:t>=</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i="1">
                                <a:latin typeface="Cambria Math" panose="02040503050406030204" pitchFamily="18" charset="0"/>
                              </a:rPr>
                              <m:t>𝑒</m:t>
                            </m:r>
                          </m:num>
                          <m:den>
                            <m:r>
                              <a:rPr lang="ar-AE" i="0">
                                <a:latin typeface="Cambria Math" panose="02040503050406030204" pitchFamily="18" charset="0"/>
                              </a:rPr>
                              <m:t>16</m:t>
                            </m:r>
                            <m:r>
                              <a:rPr lang="ar-AE" i="1">
                                <a:latin typeface="Cambria Math" panose="02040503050406030204" pitchFamily="18" charset="0"/>
                              </a:rPr>
                              <m:t>𝜋</m:t>
                            </m:r>
                            <m:sSub>
                              <m:sSubPr>
                                <m:ctrlPr>
                                  <a:rPr lang="ar-AE" i="1">
                                    <a:latin typeface="Cambria Math" panose="02040503050406030204" pitchFamily="18" charset="0"/>
                                  </a:rPr>
                                </m:ctrlPr>
                              </m:sSubPr>
                              <m:e>
                                <m:r>
                                  <a:rPr lang="ar-AE" i="1">
                                    <a:latin typeface="Cambria Math" panose="02040503050406030204" pitchFamily="18" charset="0"/>
                                  </a:rPr>
                                  <m:t>𝜖</m:t>
                                </m:r>
                              </m:e>
                              <m:sub>
                                <m:r>
                                  <a:rPr lang="ar-AE" i="0">
                                    <a:latin typeface="Cambria Math" panose="02040503050406030204" pitchFamily="18" charset="0"/>
                                  </a:rPr>
                                  <m:t>0</m:t>
                                </m:r>
                              </m:sub>
                            </m:sSub>
                            <m:r>
                              <a:rPr lang="ar-AE" i="1">
                                <a:latin typeface="Cambria Math" panose="02040503050406030204" pitchFamily="18" charset="0"/>
                              </a:rPr>
                              <m:t>𝐸</m:t>
                            </m:r>
                          </m:den>
                        </m:f>
                      </m:e>
                    </m:rad>
                  </m:oMath>
                </a14:m>
                <a:r>
                  <a:rPr lang="ar-AE" b="0" i="0" dirty="0">
                    <a:effectLst/>
                    <a:latin typeface="Georgia" panose="02040502050405020303" pitchFamily="18" charset="0"/>
                  </a:rPr>
                  <a:t>.</a:t>
                </a:r>
                <a:endParaRPr lang="en-HK" dirty="0">
                  <a:latin typeface="Georgia" panose="02040502050405020303" pitchFamily="18" charset="0"/>
                </a:endParaRPr>
              </a:p>
            </p:txBody>
          </p:sp>
        </mc:Choice>
        <mc:Fallback xmlns="">
          <p:sp>
            <p:nvSpPr>
              <p:cNvPr id="12" name="TextBox 11">
                <a:extLst>
                  <a:ext uri="{FF2B5EF4-FFF2-40B4-BE49-F238E27FC236}">
                    <a16:creationId xmlns:a16="http://schemas.microsoft.com/office/drawing/2014/main" id="{751B2CCD-1E2E-9F76-E73F-6B232353A166}"/>
                  </a:ext>
                </a:extLst>
              </p:cNvPr>
              <p:cNvSpPr txBox="1">
                <a:spLocks noRot="1" noChangeAspect="1" noMove="1" noResize="1" noEditPoints="1" noAdjustHandles="1" noChangeArrowheads="1" noChangeShapeType="1" noTextEdit="1"/>
              </p:cNvSpPr>
              <p:nvPr/>
            </p:nvSpPr>
            <p:spPr>
              <a:xfrm>
                <a:off x="571500" y="4450310"/>
                <a:ext cx="6781800" cy="656013"/>
              </a:xfrm>
              <a:prstGeom prst="rect">
                <a:avLst/>
              </a:prstGeom>
              <a:blipFill>
                <a:blip r:embed="rId5"/>
                <a:stretch>
                  <a:fillRect l="-809"/>
                </a:stretch>
              </a:blipFill>
            </p:spPr>
            <p:txBody>
              <a:bodyPr/>
              <a:lstStyle/>
              <a:p>
                <a:r>
                  <a:rPr lang="en-HK">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3AAB9E5-85A4-19B0-A989-D4A94181A9FF}"/>
                  </a:ext>
                </a:extLst>
              </p:cNvPr>
              <p:cNvSpPr txBox="1"/>
              <p:nvPr/>
            </p:nvSpPr>
            <p:spPr>
              <a:xfrm>
                <a:off x="571500" y="5181600"/>
                <a:ext cx="6858000" cy="656013"/>
              </a:xfrm>
              <a:prstGeom prst="rect">
                <a:avLst/>
              </a:prstGeom>
              <a:noFill/>
            </p:spPr>
            <p:txBody>
              <a:bodyPr wrap="square">
                <a:spAutoFit/>
              </a:bodyPr>
              <a:lstStyle/>
              <a:p>
                <a:r>
                  <a:rPr lang="en-HK" b="0" i="0" dirty="0">
                    <a:effectLst/>
                    <a:latin typeface="Georgia" panose="02040502050405020303" pitchFamily="18" charset="0"/>
                  </a:rPr>
                  <a:t>Substitute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0">
                            <a:latin typeface="Cambria Math" panose="02040503050406030204" pitchFamily="18" charset="0"/>
                          </a:rPr>
                          <m:t>0</m:t>
                        </m:r>
                      </m:sub>
                    </m:sSub>
                  </m:oMath>
                </a14:m>
                <a:r>
                  <a:rPr lang="ar-AE" b="0" i="0" dirty="0">
                    <a:effectLst/>
                    <a:latin typeface="Georgia" panose="02040502050405020303" pitchFamily="18" charset="0"/>
                  </a:rPr>
                  <a:t> </a:t>
                </a:r>
                <a:r>
                  <a:rPr lang="en-HK" b="0" i="0" dirty="0">
                    <a:effectLst/>
                    <a:latin typeface="Georgia" panose="02040502050405020303" pitchFamily="18" charset="0"/>
                  </a:rPr>
                  <a:t>into </a:t>
                </a:r>
                <a:r>
                  <a:rPr lang="en-HK" i="1" dirty="0">
                    <a:latin typeface="Georgia" panose="02040502050405020303" pitchFamily="18" charset="0"/>
                  </a:rPr>
                  <a:t>V</a:t>
                </a:r>
                <a:r>
                  <a:rPr lang="en-HK" dirty="0">
                    <a:latin typeface="Georgia" panose="02040502050405020303" pitchFamily="18" charset="0"/>
                  </a:rPr>
                  <a:t>(</a:t>
                </a:r>
                <a:r>
                  <a:rPr lang="en-HK" i="1" dirty="0">
                    <a:latin typeface="Georgia" panose="02040502050405020303" pitchFamily="18" charset="0"/>
                  </a:rPr>
                  <a:t>x</a:t>
                </a:r>
                <a:r>
                  <a:rPr lang="en-HK" baseline="-25000" dirty="0">
                    <a:latin typeface="Georgia" panose="02040502050405020303" pitchFamily="18" charset="0"/>
                  </a:rPr>
                  <a:t>0</a:t>
                </a:r>
                <a:r>
                  <a:rPr lang="en-HK" dirty="0">
                    <a:latin typeface="Georgia" panose="02040502050405020303" pitchFamily="18" charset="0"/>
                  </a:rPr>
                  <a:t>)</a:t>
                </a:r>
                <a:r>
                  <a:rPr lang="en-HK" b="0" i="0" dirty="0">
                    <a:effectLst/>
                    <a:latin typeface="Georgia" panose="02040502050405020303" pitchFamily="18" charset="0"/>
                  </a:rPr>
                  <a:t>, yielding </a:t>
                </a:r>
                <a14:m>
                  <m:oMath xmlns:m="http://schemas.openxmlformats.org/officeDocument/2006/math">
                    <m:r>
                      <m:rPr>
                        <m:sty m:val="p"/>
                      </m:rPr>
                      <a:rPr lang="el-GR">
                        <a:latin typeface="Cambria Math" panose="02040503050406030204" pitchFamily="18" charset="0"/>
                      </a:rPr>
                      <m:t>Δ</m:t>
                    </m:r>
                    <m:r>
                      <a:rPr lang="el-GR" i="1">
                        <a:latin typeface="Cambria Math" panose="02040503050406030204" pitchFamily="18" charset="0"/>
                      </a:rPr>
                      <m:t>𝜙</m:t>
                    </m:r>
                    <m:r>
                      <a:rPr lang="el-GR" i="0">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i="0">
                                <a:latin typeface="Cambria Math" panose="02040503050406030204" pitchFamily="18" charset="0"/>
                              </a:rPr>
                              <m:t>2</m:t>
                            </m:r>
                          </m:sup>
                        </m:sSup>
                      </m:num>
                      <m:den>
                        <m:r>
                          <a:rPr lang="ar-AE" i="0">
                            <a:latin typeface="Cambria Math" panose="02040503050406030204" pitchFamily="18" charset="0"/>
                          </a:rPr>
                          <m:t>16</m:t>
                        </m:r>
                        <m:r>
                          <a:rPr lang="ar-AE" i="1">
                            <a:latin typeface="Cambria Math" panose="02040503050406030204" pitchFamily="18" charset="0"/>
                          </a:rPr>
                          <m:t>𝜋</m:t>
                        </m:r>
                        <m:sSub>
                          <m:sSubPr>
                            <m:ctrlPr>
                              <a:rPr lang="ar-AE" i="1">
                                <a:latin typeface="Cambria Math" panose="02040503050406030204" pitchFamily="18" charset="0"/>
                              </a:rPr>
                            </m:ctrlPr>
                          </m:sSubPr>
                          <m:e>
                            <m:r>
                              <a:rPr lang="ar-AE" i="1">
                                <a:latin typeface="Cambria Math" panose="02040503050406030204" pitchFamily="18" charset="0"/>
                              </a:rPr>
                              <m:t>𝜖</m:t>
                            </m:r>
                          </m:e>
                          <m:sub>
                            <m:r>
                              <a:rPr lang="ar-AE" i="0">
                                <a:latin typeface="Cambria Math" panose="02040503050406030204" pitchFamily="18" charset="0"/>
                              </a:rPr>
                              <m:t>0</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0">
                                <a:latin typeface="Cambria Math" panose="02040503050406030204" pitchFamily="18" charset="0"/>
                              </a:rPr>
                              <m:t>0</m:t>
                            </m:r>
                          </m:sub>
                        </m:sSub>
                      </m:den>
                    </m:f>
                    <m:r>
                      <a:rPr lang="ar-AE" i="0">
                        <a:latin typeface="Cambria Math" panose="02040503050406030204" pitchFamily="18" charset="0"/>
                      </a:rPr>
                      <m:t>=</m:t>
                    </m:r>
                    <m:r>
                      <a:rPr lang="ar-AE" i="1">
                        <a:latin typeface="Cambria Math" panose="02040503050406030204" pitchFamily="18" charset="0"/>
                      </a:rPr>
                      <m:t>𝑒</m:t>
                    </m:r>
                    <m:rad>
                      <m:radPr>
                        <m:degHide m:val="on"/>
                        <m:ctrlPr>
                          <a:rPr lang="ar-AE" i="1">
                            <a:latin typeface="Cambria Math" panose="02040503050406030204" pitchFamily="18" charset="0"/>
                          </a:rPr>
                        </m:ctrlPr>
                      </m:radPr>
                      <m:deg/>
                      <m:e>
                        <m:f>
                          <m:fPr>
                            <m:ctrlPr>
                              <a:rPr lang="ar-AE" i="0">
                                <a:latin typeface="Cambria Math" panose="02040503050406030204" pitchFamily="18" charset="0"/>
                              </a:rPr>
                            </m:ctrlPr>
                          </m:fPr>
                          <m:num>
                            <m:r>
                              <a:rPr lang="ar-AE" i="0">
                                <a:latin typeface="Cambria Math" panose="02040503050406030204" pitchFamily="18" charset="0"/>
                              </a:rPr>
                              <m:t>∣</m:t>
                            </m:r>
                            <m:r>
                              <a:rPr lang="ar-AE" i="1">
                                <a:latin typeface="Cambria Math" panose="02040503050406030204" pitchFamily="18" charset="0"/>
                              </a:rPr>
                              <m:t>𝐸</m:t>
                            </m:r>
                            <m:r>
                              <a:rPr lang="ar-AE" i="0">
                                <a:latin typeface="Cambria Math" panose="02040503050406030204" pitchFamily="18" charset="0"/>
                              </a:rPr>
                              <m:t>∣</m:t>
                            </m:r>
                          </m:num>
                          <m:den>
                            <m:r>
                              <a:rPr lang="ar-AE" i="0">
                                <a:latin typeface="Cambria Math" panose="02040503050406030204" pitchFamily="18" charset="0"/>
                              </a:rPr>
                              <m:t>4</m:t>
                            </m:r>
                            <m:r>
                              <a:rPr lang="ar-AE" i="1">
                                <a:latin typeface="Cambria Math" panose="02040503050406030204" pitchFamily="18" charset="0"/>
                              </a:rPr>
                              <m:t>𝜋</m:t>
                            </m:r>
                            <m:sSub>
                              <m:sSubPr>
                                <m:ctrlPr>
                                  <a:rPr lang="ar-AE" i="1">
                                    <a:latin typeface="Cambria Math" panose="02040503050406030204" pitchFamily="18" charset="0"/>
                                  </a:rPr>
                                </m:ctrlPr>
                              </m:sSubPr>
                              <m:e>
                                <m:r>
                                  <a:rPr lang="ar-AE" i="1">
                                    <a:latin typeface="Cambria Math" panose="02040503050406030204" pitchFamily="18" charset="0"/>
                                  </a:rPr>
                                  <m:t>𝜖</m:t>
                                </m:r>
                              </m:e>
                              <m:sub>
                                <m:r>
                                  <a:rPr lang="ar-AE" i="0">
                                    <a:latin typeface="Cambria Math" panose="02040503050406030204" pitchFamily="18" charset="0"/>
                                  </a:rPr>
                                  <m:t>0</m:t>
                                </m:r>
                              </m:sub>
                            </m:sSub>
                          </m:den>
                        </m:f>
                      </m:e>
                    </m:rad>
                  </m:oMath>
                </a14:m>
                <a:r>
                  <a:rPr lang="ar-AE" b="0" i="0" dirty="0">
                    <a:effectLst/>
                    <a:latin typeface="Georgia" panose="02040502050405020303" pitchFamily="18" charset="0"/>
                  </a:rPr>
                  <a:t>.</a:t>
                </a:r>
                <a:endParaRPr lang="en-HK" dirty="0">
                  <a:latin typeface="Georgia" panose="02040502050405020303" pitchFamily="18" charset="0"/>
                </a:endParaRPr>
              </a:p>
            </p:txBody>
          </p:sp>
        </mc:Choice>
        <mc:Fallback xmlns="">
          <p:sp>
            <p:nvSpPr>
              <p:cNvPr id="14" name="TextBox 13">
                <a:extLst>
                  <a:ext uri="{FF2B5EF4-FFF2-40B4-BE49-F238E27FC236}">
                    <a16:creationId xmlns:a16="http://schemas.microsoft.com/office/drawing/2014/main" id="{F3AAB9E5-85A4-19B0-A989-D4A94181A9FF}"/>
                  </a:ext>
                </a:extLst>
              </p:cNvPr>
              <p:cNvSpPr txBox="1">
                <a:spLocks noRot="1" noChangeAspect="1" noMove="1" noResize="1" noEditPoints="1" noAdjustHandles="1" noChangeArrowheads="1" noChangeShapeType="1" noTextEdit="1"/>
              </p:cNvSpPr>
              <p:nvPr/>
            </p:nvSpPr>
            <p:spPr>
              <a:xfrm>
                <a:off x="571500" y="5181600"/>
                <a:ext cx="6858000" cy="656013"/>
              </a:xfrm>
              <a:prstGeom prst="rect">
                <a:avLst/>
              </a:prstGeom>
              <a:blipFill>
                <a:blip r:embed="rId6"/>
                <a:stretch>
                  <a:fillRect l="-800"/>
                </a:stretch>
              </a:blipFill>
            </p:spPr>
            <p:txBody>
              <a:bodyPr/>
              <a:lstStyle/>
              <a:p>
                <a:r>
                  <a:rPr lang="en-HK">
                    <a:noFill/>
                  </a:rPr>
                  <a:t> </a:t>
                </a:r>
              </a:p>
            </p:txBody>
          </p:sp>
        </mc:Fallback>
      </mc:AlternateContent>
    </p:spTree>
    <p:extLst>
      <p:ext uri="{BB962C8B-B14F-4D97-AF65-F5344CB8AC3E}">
        <p14:creationId xmlns:p14="http://schemas.microsoft.com/office/powerpoint/2010/main" val="951544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5A999D-55CF-2D04-19DC-DC461D140CA5}"/>
              </a:ext>
            </a:extLst>
          </p:cNvPr>
          <p:cNvSpPr>
            <a:spLocks noGrp="1"/>
          </p:cNvSpPr>
          <p:nvPr>
            <p:ph type="sldNum" sz="quarter" idx="11"/>
          </p:nvPr>
        </p:nvSpPr>
        <p:spPr/>
        <p:txBody>
          <a:bodyPr/>
          <a:lstStyle/>
          <a:p>
            <a:pPr>
              <a:defRPr/>
            </a:pPr>
            <a:fld id="{9A975D84-2197-4ABB-80EB-AE85607E50F0}" type="slidenum">
              <a:rPr lang="zh-TW" altLang="en-US" smtClean="0"/>
              <a:pPr>
                <a:defRPr/>
              </a:pPr>
              <a:t>24</a:t>
            </a:fld>
            <a:endParaRPr lang="en-US" altLang="zh-TW"/>
          </a:p>
        </p:txBody>
      </p:sp>
      <p:pic>
        <p:nvPicPr>
          <p:cNvPr id="3" name="Picture 2">
            <a:extLst>
              <a:ext uri="{FF2B5EF4-FFF2-40B4-BE49-F238E27FC236}">
                <a16:creationId xmlns:a16="http://schemas.microsoft.com/office/drawing/2014/main" id="{BFD4E213-096E-A0D6-2B37-C2AACE7089DF}"/>
              </a:ext>
            </a:extLst>
          </p:cNvPr>
          <p:cNvPicPr>
            <a:picLocks noChangeAspect="1"/>
          </p:cNvPicPr>
          <p:nvPr/>
        </p:nvPicPr>
        <p:blipFill>
          <a:blip r:embed="rId2"/>
          <a:stretch>
            <a:fillRect/>
          </a:stretch>
        </p:blipFill>
        <p:spPr>
          <a:xfrm>
            <a:off x="685800" y="1600200"/>
            <a:ext cx="7629236" cy="3733800"/>
          </a:xfrm>
          <a:prstGeom prst="rect">
            <a:avLst/>
          </a:prstGeom>
        </p:spPr>
      </p:pic>
    </p:spTree>
    <p:extLst>
      <p:ext uri="{BB962C8B-B14F-4D97-AF65-F5344CB8AC3E}">
        <p14:creationId xmlns:p14="http://schemas.microsoft.com/office/powerpoint/2010/main" val="1168623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p:cNvSpPr txBox="1">
            <a:spLocks noChangeArrowheads="1"/>
          </p:cNvSpPr>
          <p:nvPr/>
        </p:nvSpPr>
        <p:spPr bwMode="auto">
          <a:xfrm>
            <a:off x="838200" y="192877"/>
            <a:ext cx="35558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400" dirty="0">
                <a:solidFill>
                  <a:schemeClr val="bg1"/>
                </a:solidFill>
                <a:latin typeface="Times New Roman" pitchFamily="18" charset="0"/>
                <a:ea typeface="宋体" pitchFamily="2" charset="-122"/>
                <a:cs typeface="Times New Roman" pitchFamily="18" charset="0"/>
              </a:rPr>
              <a:t>How to make a sharp W tip</a:t>
            </a:r>
          </a:p>
        </p:txBody>
      </p:sp>
      <p:sp>
        <p:nvSpPr>
          <p:cNvPr id="24580" name="Text Box 4"/>
          <p:cNvSpPr txBox="1">
            <a:spLocks noChangeArrowheads="1"/>
          </p:cNvSpPr>
          <p:nvPr/>
        </p:nvSpPr>
        <p:spPr bwMode="auto">
          <a:xfrm>
            <a:off x="1127684" y="1323821"/>
            <a:ext cx="7086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400" dirty="0">
                <a:latin typeface="Georgia" panose="02040502050405020303" pitchFamily="18" charset="0"/>
                <a:ea typeface="宋体" pitchFamily="2" charset="-122"/>
                <a:cs typeface="Times New Roman" pitchFamily="18" charset="0"/>
              </a:rPr>
              <a:t>Chemical etching method for making sharp W tips</a:t>
            </a:r>
          </a:p>
        </p:txBody>
      </p:sp>
      <p:sp>
        <p:nvSpPr>
          <p:cNvPr id="2" name="Slide Number Placeholder 1">
            <a:extLst>
              <a:ext uri="{FF2B5EF4-FFF2-40B4-BE49-F238E27FC236}">
                <a16:creationId xmlns:a16="http://schemas.microsoft.com/office/drawing/2014/main" id="{DB3DD04D-4654-472C-A29A-5BC6F89B66D8}"/>
              </a:ext>
            </a:extLst>
          </p:cNvPr>
          <p:cNvSpPr>
            <a:spLocks noGrp="1"/>
          </p:cNvSpPr>
          <p:nvPr>
            <p:ph type="sldNum" sz="quarter" idx="11"/>
          </p:nvPr>
        </p:nvSpPr>
        <p:spPr/>
        <p:txBody>
          <a:bodyPr/>
          <a:lstStyle/>
          <a:p>
            <a:pPr>
              <a:defRPr/>
            </a:pPr>
            <a:fld id="{9A975D84-2197-4ABB-80EB-AE85607E50F0}" type="slidenum">
              <a:rPr lang="zh-TW" altLang="en-US" smtClean="0"/>
              <a:pPr>
                <a:defRPr/>
              </a:pPr>
              <a:t>25</a:t>
            </a:fld>
            <a:endParaRPr lang="en-US" altLang="zh-TW"/>
          </a:p>
        </p:txBody>
      </p:sp>
      <p:pic>
        <p:nvPicPr>
          <p:cNvPr id="3" name="Picture 2">
            <a:extLst>
              <a:ext uri="{FF2B5EF4-FFF2-40B4-BE49-F238E27FC236}">
                <a16:creationId xmlns:a16="http://schemas.microsoft.com/office/drawing/2014/main" id="{CAA88849-535A-B142-F154-556EF4464554}"/>
              </a:ext>
            </a:extLst>
          </p:cNvPr>
          <p:cNvPicPr>
            <a:picLocks noChangeAspect="1"/>
          </p:cNvPicPr>
          <p:nvPr/>
        </p:nvPicPr>
        <p:blipFill>
          <a:blip r:embed="rId3"/>
          <a:srcRect l="59986"/>
          <a:stretch>
            <a:fillRect/>
          </a:stretch>
        </p:blipFill>
        <p:spPr>
          <a:xfrm>
            <a:off x="152400" y="2362200"/>
            <a:ext cx="3200400" cy="3186684"/>
          </a:xfrm>
          <a:prstGeom prst="rect">
            <a:avLst/>
          </a:prstGeom>
        </p:spPr>
      </p:pic>
      <p:pic>
        <p:nvPicPr>
          <p:cNvPr id="4" name="Picture 3">
            <a:extLst>
              <a:ext uri="{FF2B5EF4-FFF2-40B4-BE49-F238E27FC236}">
                <a16:creationId xmlns:a16="http://schemas.microsoft.com/office/drawing/2014/main" id="{719B4F34-7C38-2E1A-F75A-4C5D1707AE2E}"/>
              </a:ext>
            </a:extLst>
          </p:cNvPr>
          <p:cNvPicPr>
            <a:picLocks noChangeAspect="1"/>
          </p:cNvPicPr>
          <p:nvPr/>
        </p:nvPicPr>
        <p:blipFill>
          <a:blip r:embed="rId4"/>
          <a:srcRect b="15209"/>
          <a:stretch>
            <a:fillRect/>
          </a:stretch>
        </p:blipFill>
        <p:spPr>
          <a:xfrm>
            <a:off x="3733800" y="2927866"/>
            <a:ext cx="4876800" cy="2245233"/>
          </a:xfrm>
          <a:prstGeom prst="rect">
            <a:avLst/>
          </a:prstGeom>
        </p:spPr>
      </p:pic>
      <p:sp>
        <p:nvSpPr>
          <p:cNvPr id="5" name="TextBox 4">
            <a:extLst>
              <a:ext uri="{FF2B5EF4-FFF2-40B4-BE49-F238E27FC236}">
                <a16:creationId xmlns:a16="http://schemas.microsoft.com/office/drawing/2014/main" id="{314C607C-C54F-25C7-D953-6F066CF49F11}"/>
              </a:ext>
            </a:extLst>
          </p:cNvPr>
          <p:cNvSpPr txBox="1"/>
          <p:nvPr/>
        </p:nvSpPr>
        <p:spPr>
          <a:xfrm>
            <a:off x="3374796" y="2743200"/>
            <a:ext cx="2592376" cy="369332"/>
          </a:xfrm>
          <a:prstGeom prst="rect">
            <a:avLst/>
          </a:prstGeom>
          <a:noFill/>
        </p:spPr>
        <p:txBody>
          <a:bodyPr wrap="none" rtlCol="0">
            <a:spAutoFit/>
          </a:bodyPr>
          <a:lstStyle/>
          <a:p>
            <a:r>
              <a:rPr lang="en-HK" dirty="0">
                <a:latin typeface="Georgia" panose="02040502050405020303" pitchFamily="18" charset="0"/>
              </a:rPr>
              <a:t>Highest current density</a:t>
            </a:r>
          </a:p>
        </p:txBody>
      </p:sp>
      <p:cxnSp>
        <p:nvCxnSpPr>
          <p:cNvPr id="7" name="Straight Arrow Connector 6">
            <a:extLst>
              <a:ext uri="{FF2B5EF4-FFF2-40B4-BE49-F238E27FC236}">
                <a16:creationId xmlns:a16="http://schemas.microsoft.com/office/drawing/2014/main" id="{D8C9B734-3BF7-7048-A60A-C37D2E808B4D}"/>
              </a:ext>
            </a:extLst>
          </p:cNvPr>
          <p:cNvCxnSpPr/>
          <p:nvPr/>
        </p:nvCxnSpPr>
        <p:spPr bwMode="auto">
          <a:xfrm>
            <a:off x="4038600" y="3276600"/>
            <a:ext cx="355445" cy="1066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 name="TextBox 7">
            <a:extLst>
              <a:ext uri="{FF2B5EF4-FFF2-40B4-BE49-F238E27FC236}">
                <a16:creationId xmlns:a16="http://schemas.microsoft.com/office/drawing/2014/main" id="{7B0363AD-91FD-2A76-827D-EB1116BD050F}"/>
              </a:ext>
            </a:extLst>
          </p:cNvPr>
          <p:cNvSpPr txBox="1"/>
          <p:nvPr/>
        </p:nvSpPr>
        <p:spPr>
          <a:xfrm>
            <a:off x="4779988" y="5105400"/>
            <a:ext cx="2374368" cy="369332"/>
          </a:xfrm>
          <a:prstGeom prst="rect">
            <a:avLst/>
          </a:prstGeom>
          <a:noFill/>
        </p:spPr>
        <p:txBody>
          <a:bodyPr wrap="none" rtlCol="0">
            <a:spAutoFit/>
          </a:bodyPr>
          <a:lstStyle/>
          <a:p>
            <a:r>
              <a:rPr lang="en-HK" dirty="0">
                <a:latin typeface="Georgia" panose="02040502050405020303" pitchFamily="18" charset="0"/>
              </a:rPr>
              <a:t>Flow of tungsten ions</a:t>
            </a:r>
          </a:p>
        </p:txBody>
      </p:sp>
      <p:sp>
        <p:nvSpPr>
          <p:cNvPr id="9" name="TextBox 8">
            <a:extLst>
              <a:ext uri="{FF2B5EF4-FFF2-40B4-BE49-F238E27FC236}">
                <a16:creationId xmlns:a16="http://schemas.microsoft.com/office/drawing/2014/main" id="{9FD47FE1-3D62-9B5E-311B-FF407BCC596F}"/>
              </a:ext>
            </a:extLst>
          </p:cNvPr>
          <p:cNvSpPr txBox="1"/>
          <p:nvPr/>
        </p:nvSpPr>
        <p:spPr>
          <a:xfrm>
            <a:off x="7772400" y="4343400"/>
            <a:ext cx="1021433" cy="369332"/>
          </a:xfrm>
          <a:prstGeom prst="rect">
            <a:avLst/>
          </a:prstGeom>
          <a:noFill/>
        </p:spPr>
        <p:txBody>
          <a:bodyPr wrap="none" rtlCol="0">
            <a:spAutoFit/>
          </a:bodyPr>
          <a:lstStyle/>
          <a:p>
            <a:r>
              <a:rPr lang="en-HK" dirty="0">
                <a:latin typeface="Georgia" panose="02040502050405020303" pitchFamily="18" charset="0"/>
              </a:rPr>
              <a:t>Necking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table"/>
          <p:cNvPicPr>
            <a:picLocks noChangeAspect="1" noChangeArrowheads="1"/>
          </p:cNvPicPr>
          <p:nvPr/>
        </p:nvPicPr>
        <p:blipFill>
          <a:blip r:embed="rId3">
            <a:lum bright="-18000" contrast="36000"/>
            <a:extLst>
              <a:ext uri="{28A0092B-C50C-407E-A947-70E740481C1C}">
                <a14:useLocalDpi xmlns:a14="http://schemas.microsoft.com/office/drawing/2010/main" val="0"/>
              </a:ext>
            </a:extLst>
          </a:blip>
          <a:srcRect/>
          <a:stretch>
            <a:fillRect/>
          </a:stretch>
        </p:blipFill>
        <p:spPr bwMode="auto">
          <a:xfrm>
            <a:off x="228600" y="2057400"/>
            <a:ext cx="85344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3" name="Rectangle 3"/>
          <p:cNvSpPr>
            <a:spLocks noChangeArrowheads="1"/>
          </p:cNvSpPr>
          <p:nvPr/>
        </p:nvSpPr>
        <p:spPr bwMode="auto">
          <a:xfrm>
            <a:off x="609600" y="-76200"/>
            <a:ext cx="7772400" cy="750888"/>
          </a:xfrm>
          <a:prstGeom prst="rect">
            <a:avLst/>
          </a:prstGeom>
          <a:noFill/>
          <a:ln w="9525">
            <a:noFill/>
            <a:miter lim="800000"/>
            <a:headEnd/>
            <a:tailEnd/>
          </a:ln>
          <a:effectLst/>
        </p:spPr>
        <p:txBody>
          <a:bodyPr anchor="b"/>
          <a:lstStyle/>
          <a:p>
            <a:pPr eaLnBrk="1" hangingPunct="1">
              <a:defRPr/>
            </a:pPr>
            <a:r>
              <a:rPr lang="en-US" altLang="zh-CN" sz="2400" dirty="0">
                <a:solidFill>
                  <a:schemeClr val="bg1"/>
                </a:solidFill>
                <a:latin typeface="Georgia" panose="02040502050405020303" pitchFamily="18" charset="0"/>
                <a:ea typeface="宋体" pitchFamily="2" charset="-122"/>
                <a:cs typeface="Times New Roman" pitchFamily="18" charset="0"/>
              </a:rPr>
              <a:t>AES-Comparison of e-guns</a:t>
            </a:r>
          </a:p>
        </p:txBody>
      </p:sp>
      <p:sp>
        <p:nvSpPr>
          <p:cNvPr id="25604" name="Rectangle 4"/>
          <p:cNvSpPr>
            <a:spLocks noChangeArrowheads="1"/>
          </p:cNvSpPr>
          <p:nvPr/>
        </p:nvSpPr>
        <p:spPr bwMode="auto">
          <a:xfrm>
            <a:off x="762000" y="1348528"/>
            <a:ext cx="77171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cs typeface="Times New Roman" pitchFamily="18" charset="0"/>
              </a:rPr>
              <a:t>Characteristics of the three principal sources operating at 100 keV.</a:t>
            </a:r>
          </a:p>
        </p:txBody>
      </p:sp>
      <p:sp>
        <p:nvSpPr>
          <p:cNvPr id="2" name="Slide Number Placeholder 1">
            <a:extLst>
              <a:ext uri="{FF2B5EF4-FFF2-40B4-BE49-F238E27FC236}">
                <a16:creationId xmlns:a16="http://schemas.microsoft.com/office/drawing/2014/main" id="{29F892A1-1C37-43D9-8FA0-8613EB5857AA}"/>
              </a:ext>
            </a:extLst>
          </p:cNvPr>
          <p:cNvSpPr>
            <a:spLocks noGrp="1"/>
          </p:cNvSpPr>
          <p:nvPr>
            <p:ph type="sldNum" sz="quarter" idx="11"/>
          </p:nvPr>
        </p:nvSpPr>
        <p:spPr/>
        <p:txBody>
          <a:bodyPr/>
          <a:lstStyle/>
          <a:p>
            <a:pPr>
              <a:defRPr/>
            </a:pPr>
            <a:fld id="{8CA4E1D9-CE51-44D2-9AA7-12A33D60B7A4}" type="slidenum">
              <a:rPr lang="zh-TW" altLang="en-US" smtClean="0"/>
              <a:pPr>
                <a:defRPr/>
              </a:pPr>
              <a:t>26</a:t>
            </a:fld>
            <a:endParaRPr lang="en-US" altLang="zh-TW"/>
          </a:p>
        </p:txBody>
      </p:sp>
      <p:sp>
        <p:nvSpPr>
          <p:cNvPr id="3" name="Rectangle 2">
            <a:extLst>
              <a:ext uri="{FF2B5EF4-FFF2-40B4-BE49-F238E27FC236}">
                <a16:creationId xmlns:a16="http://schemas.microsoft.com/office/drawing/2014/main" id="{FD2BEE10-16EB-F28D-43D3-35003921081E}"/>
              </a:ext>
            </a:extLst>
          </p:cNvPr>
          <p:cNvSpPr/>
          <p:nvPr/>
        </p:nvSpPr>
        <p:spPr bwMode="auto">
          <a:xfrm>
            <a:off x="228599" y="3505200"/>
            <a:ext cx="8250577" cy="15240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solidFill>
                <a:schemeClr val="tx1"/>
              </a:solidFill>
              <a:effectLst/>
              <a:latin typeface="Arial" charset="0"/>
            </a:endParaRPr>
          </a:p>
        </p:txBody>
      </p:sp>
      <p:sp>
        <p:nvSpPr>
          <p:cNvPr id="4" name="Rectangle 3">
            <a:extLst>
              <a:ext uri="{FF2B5EF4-FFF2-40B4-BE49-F238E27FC236}">
                <a16:creationId xmlns:a16="http://schemas.microsoft.com/office/drawing/2014/main" id="{AA9DFB2A-5B9C-4929-71CD-B98934BA7AA1}"/>
              </a:ext>
            </a:extLst>
          </p:cNvPr>
          <p:cNvSpPr/>
          <p:nvPr/>
        </p:nvSpPr>
        <p:spPr bwMode="auto">
          <a:xfrm>
            <a:off x="204786" y="4038600"/>
            <a:ext cx="8250577" cy="15240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solidFill>
                <a:schemeClr val="tx1"/>
              </a:solidFill>
              <a:effectLst/>
              <a:latin typeface="Arial" charset="0"/>
            </a:endParaRPr>
          </a:p>
        </p:txBody>
      </p:sp>
      <p:sp>
        <p:nvSpPr>
          <p:cNvPr id="5" name="Rectangle 4">
            <a:extLst>
              <a:ext uri="{FF2B5EF4-FFF2-40B4-BE49-F238E27FC236}">
                <a16:creationId xmlns:a16="http://schemas.microsoft.com/office/drawing/2014/main" id="{BE466800-17C2-BD51-D4B6-F5B4EC0FC641}"/>
              </a:ext>
            </a:extLst>
          </p:cNvPr>
          <p:cNvSpPr/>
          <p:nvPr/>
        </p:nvSpPr>
        <p:spPr bwMode="auto">
          <a:xfrm>
            <a:off x="209549" y="4347362"/>
            <a:ext cx="8250577" cy="15240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solidFill>
                <a:schemeClr val="tx1"/>
              </a:solidFill>
              <a:effectLst/>
              <a:latin typeface="Arial" charset="0"/>
            </a:endParaRPr>
          </a:p>
        </p:txBody>
      </p:sp>
      <p:sp>
        <p:nvSpPr>
          <p:cNvPr id="6" name="Rectangle 5">
            <a:extLst>
              <a:ext uri="{FF2B5EF4-FFF2-40B4-BE49-F238E27FC236}">
                <a16:creationId xmlns:a16="http://schemas.microsoft.com/office/drawing/2014/main" id="{BF2D91C5-9624-05D7-EE6F-8E7CDD4946AB}"/>
              </a:ext>
            </a:extLst>
          </p:cNvPr>
          <p:cNvSpPr/>
          <p:nvPr/>
        </p:nvSpPr>
        <p:spPr bwMode="auto">
          <a:xfrm>
            <a:off x="182899" y="4864493"/>
            <a:ext cx="8250577" cy="152400"/>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solidFill>
                <a:schemeClr val="tx1"/>
              </a:solidFill>
              <a:effectLst/>
              <a:latin typeface="Arial"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ChangeArrowheads="1"/>
          </p:cNvSpPr>
          <p:nvPr/>
        </p:nvSpPr>
        <p:spPr bwMode="auto">
          <a:xfrm>
            <a:off x="3806825" y="5045335"/>
            <a:ext cx="51054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dirty="0">
                <a:latin typeface="Georgia" panose="02040502050405020303" pitchFamily="18" charset="0"/>
                <a:ea typeface="宋体" pitchFamily="2" charset="-122"/>
              </a:rPr>
              <a:t>Auger electron spectrometers use electron multipliers similar to those used in XPS. The AES electron multipliers usually operate in pulse counting mode which records every electron as it arrives at the detector. </a:t>
            </a:r>
          </a:p>
        </p:txBody>
      </p:sp>
      <p:sp>
        <p:nvSpPr>
          <p:cNvPr id="26628" name="Rectangle 4"/>
          <p:cNvSpPr>
            <a:spLocks noChangeArrowheads="1"/>
          </p:cNvSpPr>
          <p:nvPr/>
        </p:nvSpPr>
        <p:spPr bwMode="auto">
          <a:xfrm>
            <a:off x="4572000" y="762000"/>
            <a:ext cx="37449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dirty="0">
                <a:latin typeface="Georgia" panose="02040502050405020303" pitchFamily="18" charset="0"/>
                <a:ea typeface="PMingLiU" pitchFamily="18" charset="-120"/>
              </a:rPr>
              <a:t>Cylindrical Mirror Analyzer (CMA)</a:t>
            </a:r>
          </a:p>
        </p:txBody>
      </p:sp>
      <p:sp>
        <p:nvSpPr>
          <p:cNvPr id="26629" name="Text Box 5"/>
          <p:cNvSpPr txBox="1">
            <a:spLocks noChangeArrowheads="1"/>
          </p:cNvSpPr>
          <p:nvPr/>
        </p:nvSpPr>
        <p:spPr bwMode="auto">
          <a:xfrm>
            <a:off x="609600" y="1136674"/>
            <a:ext cx="234315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buFontTx/>
              <a:buAutoNum type="arabicPeriod"/>
            </a:pPr>
            <a:r>
              <a:rPr lang="en-US" altLang="zh-CN" dirty="0">
                <a:solidFill>
                  <a:srgbClr val="0000FF"/>
                </a:solidFill>
                <a:ea typeface="宋体" pitchFamily="2" charset="-122"/>
              </a:rPr>
              <a:t>Electron source</a:t>
            </a:r>
          </a:p>
          <a:p>
            <a:pPr>
              <a:buFontTx/>
              <a:buAutoNum type="arabicPeriod"/>
            </a:pPr>
            <a:endParaRPr lang="en-US" altLang="zh-CN" dirty="0">
              <a:solidFill>
                <a:srgbClr val="0000FF"/>
              </a:solidFill>
              <a:ea typeface="宋体" pitchFamily="2" charset="-122"/>
            </a:endParaRPr>
          </a:p>
          <a:p>
            <a:pPr>
              <a:buFontTx/>
              <a:buAutoNum type="arabicPeriod"/>
            </a:pPr>
            <a:r>
              <a:rPr lang="en-US" altLang="zh-CN" dirty="0">
                <a:solidFill>
                  <a:srgbClr val="0000FF"/>
                </a:solidFill>
                <a:ea typeface="宋体" pitchFamily="2" charset="-122"/>
              </a:rPr>
              <a:t>Electron analyzer</a:t>
            </a:r>
          </a:p>
          <a:p>
            <a:pPr>
              <a:buFontTx/>
              <a:buAutoNum type="arabicPeriod"/>
            </a:pPr>
            <a:endParaRPr lang="en-US" altLang="zh-CN" dirty="0">
              <a:solidFill>
                <a:srgbClr val="0000FF"/>
              </a:solidFill>
              <a:ea typeface="宋体" pitchFamily="2" charset="-122"/>
            </a:endParaRPr>
          </a:p>
          <a:p>
            <a:pPr>
              <a:buFontTx/>
              <a:buAutoNum type="arabicPeriod"/>
            </a:pPr>
            <a:r>
              <a:rPr lang="en-US" altLang="zh-CN" dirty="0">
                <a:solidFill>
                  <a:srgbClr val="0000FF"/>
                </a:solidFill>
                <a:ea typeface="宋体" pitchFamily="2" charset="-122"/>
              </a:rPr>
              <a:t>Electron Multiplier</a:t>
            </a:r>
          </a:p>
          <a:p>
            <a:pPr>
              <a:buFontTx/>
              <a:buAutoNum type="arabicPeriod"/>
            </a:pPr>
            <a:endParaRPr lang="en-US" altLang="zh-CN" dirty="0">
              <a:solidFill>
                <a:srgbClr val="0000FF"/>
              </a:solidFill>
              <a:ea typeface="宋体" pitchFamily="2" charset="-122"/>
            </a:endParaRPr>
          </a:p>
          <a:p>
            <a:pPr>
              <a:buFontTx/>
              <a:buAutoNum type="arabicPeriod"/>
            </a:pPr>
            <a:r>
              <a:rPr lang="en-US" altLang="zh-CN" i="1" dirty="0">
                <a:solidFill>
                  <a:srgbClr val="0000FF"/>
                </a:solidFill>
                <a:ea typeface="宋体" pitchFamily="2" charset="-122"/>
              </a:rPr>
              <a:t>Lock-in amplifier</a:t>
            </a:r>
          </a:p>
        </p:txBody>
      </p:sp>
      <p:pic>
        <p:nvPicPr>
          <p:cNvPr id="26630" name="Picture 6" descr="aes6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295400"/>
            <a:ext cx="386715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657600"/>
            <a:ext cx="3126131"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4AAF47D-FB74-4369-AFD4-542A7BD913E3}"/>
              </a:ext>
            </a:extLst>
          </p:cNvPr>
          <p:cNvSpPr>
            <a:spLocks noGrp="1"/>
          </p:cNvSpPr>
          <p:nvPr>
            <p:ph type="sldNum" sz="quarter" idx="11"/>
          </p:nvPr>
        </p:nvSpPr>
        <p:spPr/>
        <p:txBody>
          <a:bodyPr/>
          <a:lstStyle/>
          <a:p>
            <a:pPr>
              <a:defRPr/>
            </a:pPr>
            <a:fld id="{9A975D84-2197-4ABB-80EB-AE85607E50F0}" type="slidenum">
              <a:rPr lang="zh-TW" altLang="en-US" smtClean="0"/>
              <a:pPr>
                <a:defRPr/>
              </a:pPr>
              <a:t>27</a:t>
            </a:fld>
            <a:endParaRPr lang="en-US" altLang="zh-TW"/>
          </a:p>
        </p:txBody>
      </p:sp>
      <p:sp>
        <p:nvSpPr>
          <p:cNvPr id="3" name="Rectangle 3">
            <a:extLst>
              <a:ext uri="{FF2B5EF4-FFF2-40B4-BE49-F238E27FC236}">
                <a16:creationId xmlns:a16="http://schemas.microsoft.com/office/drawing/2014/main" id="{2D6194A9-CD48-EF3F-EE76-5D68F3A9EF5B}"/>
              </a:ext>
            </a:extLst>
          </p:cNvPr>
          <p:cNvSpPr>
            <a:spLocks noChangeArrowheads="1"/>
          </p:cNvSpPr>
          <p:nvPr/>
        </p:nvSpPr>
        <p:spPr bwMode="auto">
          <a:xfrm>
            <a:off x="609600" y="-76200"/>
            <a:ext cx="7772400" cy="750888"/>
          </a:xfrm>
          <a:prstGeom prst="rect">
            <a:avLst/>
          </a:prstGeom>
          <a:noFill/>
          <a:ln w="9525">
            <a:noFill/>
            <a:miter lim="800000"/>
            <a:headEnd/>
            <a:tailEnd/>
          </a:ln>
          <a:effectLst/>
        </p:spPr>
        <p:txBody>
          <a:bodyPr anchor="b"/>
          <a:lstStyle/>
          <a:p>
            <a:pPr eaLnBrk="1" hangingPunct="1">
              <a:defRPr/>
            </a:pPr>
            <a:r>
              <a:rPr lang="en-US" altLang="zh-CN" sz="2400" dirty="0">
                <a:solidFill>
                  <a:schemeClr val="bg1"/>
                </a:solidFill>
                <a:latin typeface="Georgia" panose="02040502050405020303" pitchFamily="18" charset="0"/>
                <a:ea typeface="宋体" pitchFamily="2" charset="-122"/>
                <a:cs typeface="Times New Roman" pitchFamily="18" charset="0"/>
              </a:rPr>
              <a:t>AES-Instrumentation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450936" y="794153"/>
            <a:ext cx="83058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sz="2000" dirty="0">
                <a:latin typeface="Georgia" panose="02040502050405020303" pitchFamily="18" charset="0"/>
                <a:ea typeface="宋体" pitchFamily="2" charset="-122"/>
              </a:rPr>
              <a:t>Strong interfering signals (background) accompany the Auger electrons in all regions of the Auger spectrum. </a:t>
            </a:r>
          </a:p>
          <a:p>
            <a:pPr eaLnBrk="1" hangingPunct="1"/>
            <a:endParaRPr lang="en-US" altLang="zh-CN" sz="2000" dirty="0">
              <a:latin typeface="Georgia" panose="02040502050405020303" pitchFamily="18" charset="0"/>
              <a:ea typeface="宋体" pitchFamily="2" charset="-122"/>
            </a:endParaRPr>
          </a:p>
          <a:p>
            <a:pPr eaLnBrk="1" hangingPunct="1"/>
            <a:r>
              <a:rPr lang="en-US" altLang="zh-CN" sz="2000" dirty="0">
                <a:latin typeface="Georgia" panose="02040502050405020303" pitchFamily="18" charset="0"/>
                <a:ea typeface="宋体" pitchFamily="2" charset="-122"/>
              </a:rPr>
              <a:t>The interference includes contributions from </a:t>
            </a:r>
          </a:p>
          <a:p>
            <a:pPr eaLnBrk="1" hangingPunct="1"/>
            <a:r>
              <a:rPr lang="en-US" altLang="zh-CN" sz="2000" dirty="0">
                <a:latin typeface="Georgia" panose="02040502050405020303" pitchFamily="18" charset="0"/>
                <a:ea typeface="宋体" pitchFamily="2" charset="-122"/>
              </a:rPr>
              <a:t> </a:t>
            </a:r>
          </a:p>
        </p:txBody>
      </p:sp>
      <p:pic>
        <p:nvPicPr>
          <p:cNvPr id="27651" name="Picture 5" descr="fe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939" y="3396316"/>
            <a:ext cx="4343400" cy="308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Rectangle 6"/>
          <p:cNvSpPr>
            <a:spLocks noChangeArrowheads="1"/>
          </p:cNvSpPr>
          <p:nvPr/>
        </p:nvSpPr>
        <p:spPr bwMode="auto">
          <a:xfrm>
            <a:off x="685800" y="3933223"/>
            <a:ext cx="314866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dirty="0">
                <a:latin typeface="Georgia" panose="02040502050405020303" pitchFamily="18" charset="0"/>
                <a:ea typeface="宋体" pitchFamily="2" charset="-122"/>
              </a:rPr>
              <a:t>The figure shows a typical AES spectrum (of iron) plotted as total electron signal, </a:t>
            </a:r>
            <a:r>
              <a:rPr lang="en-US" altLang="zh-CN" i="1" dirty="0">
                <a:latin typeface="Georgia" panose="02040502050405020303" pitchFamily="18" charset="0"/>
                <a:ea typeface="宋体" pitchFamily="2" charset="-122"/>
              </a:rPr>
              <a:t>N(E)</a:t>
            </a:r>
            <a:r>
              <a:rPr lang="en-US" altLang="zh-CN" dirty="0">
                <a:latin typeface="Georgia" panose="02040502050405020303" pitchFamily="18" charset="0"/>
                <a:ea typeface="宋体" pitchFamily="2" charset="-122"/>
              </a:rPr>
              <a:t>, versus electron kinetic energy. The Auger peaks are obscure even after expanding the vertical scale.</a:t>
            </a:r>
            <a:endParaRPr lang="zh-CN" altLang="en-US" dirty="0">
              <a:latin typeface="Georgia" panose="02040502050405020303" pitchFamily="18" charset="0"/>
              <a:ea typeface="宋体" pitchFamily="2" charset="-122"/>
            </a:endParaRPr>
          </a:p>
        </p:txBody>
      </p:sp>
      <p:sp>
        <p:nvSpPr>
          <p:cNvPr id="27654" name="Rectangle 9"/>
          <p:cNvSpPr>
            <a:spLocks noChangeArrowheads="1"/>
          </p:cNvSpPr>
          <p:nvPr/>
        </p:nvSpPr>
        <p:spPr bwMode="auto">
          <a:xfrm>
            <a:off x="685800" y="178725"/>
            <a:ext cx="41841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sz="2400" dirty="0">
                <a:solidFill>
                  <a:schemeClr val="bg1"/>
                </a:solidFill>
                <a:latin typeface="Georgia" panose="02040502050405020303" pitchFamily="18" charset="0"/>
                <a:ea typeface="宋体" pitchFamily="2" charset="-122"/>
              </a:rPr>
              <a:t>AES Data Display Algorithms</a:t>
            </a:r>
          </a:p>
          <a:p>
            <a:endParaRPr lang="en-US" altLang="zh-CN" sz="2400" dirty="0">
              <a:solidFill>
                <a:schemeClr val="bg1"/>
              </a:solidFill>
              <a:latin typeface="Georgia" panose="02040502050405020303" pitchFamily="18" charset="0"/>
              <a:ea typeface="宋体" pitchFamily="2" charset="-122"/>
            </a:endParaRPr>
          </a:p>
        </p:txBody>
      </p:sp>
      <p:sp>
        <p:nvSpPr>
          <p:cNvPr id="2" name="Slide Number Placeholder 1">
            <a:extLst>
              <a:ext uri="{FF2B5EF4-FFF2-40B4-BE49-F238E27FC236}">
                <a16:creationId xmlns:a16="http://schemas.microsoft.com/office/drawing/2014/main" id="{5B36B2E7-2782-4E44-9DC5-2AE15C4A4453}"/>
              </a:ext>
            </a:extLst>
          </p:cNvPr>
          <p:cNvSpPr>
            <a:spLocks noGrp="1"/>
          </p:cNvSpPr>
          <p:nvPr>
            <p:ph type="sldNum" sz="quarter" idx="11"/>
          </p:nvPr>
        </p:nvSpPr>
        <p:spPr/>
        <p:txBody>
          <a:bodyPr/>
          <a:lstStyle/>
          <a:p>
            <a:pPr>
              <a:defRPr/>
            </a:pPr>
            <a:fld id="{9A975D84-2197-4ABB-80EB-AE85607E50F0}" type="slidenum">
              <a:rPr lang="zh-TW" altLang="en-US" smtClean="0"/>
              <a:pPr>
                <a:defRPr/>
              </a:pPr>
              <a:t>28</a:t>
            </a:fld>
            <a:endParaRPr lang="en-US" altLang="zh-TW"/>
          </a:p>
        </p:txBody>
      </p:sp>
      <p:sp>
        <p:nvSpPr>
          <p:cNvPr id="5" name="TextBox 4">
            <a:extLst>
              <a:ext uri="{FF2B5EF4-FFF2-40B4-BE49-F238E27FC236}">
                <a16:creationId xmlns:a16="http://schemas.microsoft.com/office/drawing/2014/main" id="{E1268C0F-7F92-5BA7-4B2E-ED1D3AC1F446}"/>
              </a:ext>
            </a:extLst>
          </p:cNvPr>
          <p:cNvSpPr txBox="1"/>
          <p:nvPr/>
        </p:nvSpPr>
        <p:spPr>
          <a:xfrm>
            <a:off x="304800" y="2209800"/>
            <a:ext cx="8686800" cy="1323439"/>
          </a:xfrm>
          <a:prstGeom prst="rect">
            <a:avLst/>
          </a:prstGeom>
          <a:noFill/>
        </p:spPr>
        <p:txBody>
          <a:bodyPr wrap="square">
            <a:spAutoFit/>
          </a:bodyPr>
          <a:lstStyle/>
          <a:p>
            <a:pPr marL="285750" indent="-285750" eaLnBrk="1" hangingPunct="1">
              <a:buFont typeface="Arial" panose="020B0604020202020204" pitchFamily="34" charset="0"/>
              <a:buChar char="•"/>
            </a:pPr>
            <a:r>
              <a:rPr lang="en-US" altLang="zh-CN" sz="2000" dirty="0">
                <a:solidFill>
                  <a:srgbClr val="0000FF"/>
                </a:solidFill>
                <a:latin typeface="Georgia" panose="02040502050405020303" pitchFamily="18" charset="0"/>
                <a:ea typeface="宋体" pitchFamily="2" charset="-122"/>
              </a:rPr>
              <a:t>Secondary electrons</a:t>
            </a:r>
          </a:p>
          <a:p>
            <a:pPr marL="285750" indent="-285750" eaLnBrk="1" hangingPunct="1">
              <a:buFont typeface="Arial" panose="020B0604020202020204" pitchFamily="34" charset="0"/>
              <a:buChar char="•"/>
            </a:pPr>
            <a:r>
              <a:rPr lang="en-US" altLang="zh-CN" sz="2000" dirty="0">
                <a:solidFill>
                  <a:srgbClr val="0000FF"/>
                </a:solidFill>
                <a:latin typeface="Georgia" panose="02040502050405020303" pitchFamily="18" charset="0"/>
                <a:ea typeface="宋体" pitchFamily="2" charset="-122"/>
              </a:rPr>
              <a:t>backscattered electrons</a:t>
            </a:r>
          </a:p>
          <a:p>
            <a:pPr marL="285750" indent="-285750" eaLnBrk="1" hangingPunct="1">
              <a:buFont typeface="Arial" panose="020B0604020202020204" pitchFamily="34" charset="0"/>
              <a:buChar char="•"/>
            </a:pPr>
            <a:r>
              <a:rPr lang="en-US" altLang="zh-CN" sz="2000" dirty="0">
                <a:solidFill>
                  <a:srgbClr val="0000FF"/>
                </a:solidFill>
                <a:latin typeface="Georgia" panose="02040502050405020303" pitchFamily="18" charset="0"/>
                <a:ea typeface="宋体" pitchFamily="2" charset="-122"/>
              </a:rPr>
              <a:t>Auger electrons that have lost energy as they escape from beneath the sample surface.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1295400" y="5220384"/>
            <a:ext cx="6629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dirty="0">
                <a:latin typeface="Georgia" panose="02040502050405020303" pitchFamily="18" charset="0"/>
                <a:ea typeface="宋体" pitchFamily="2" charset="-122"/>
              </a:rPr>
              <a:t>Plotting the spectrum as the derivative of the electron energy distribution </a:t>
            </a:r>
            <a:r>
              <a:rPr lang="en-US" altLang="zh-CN" dirty="0" err="1">
                <a:latin typeface="Georgia" panose="02040502050405020303" pitchFamily="18" charset="0"/>
                <a:ea typeface="宋体" pitchFamily="2" charset="-122"/>
              </a:rPr>
              <a:t>d</a:t>
            </a:r>
            <a:r>
              <a:rPr lang="en-US" altLang="zh-CN" i="1" dirty="0" err="1">
                <a:latin typeface="Georgia" panose="02040502050405020303" pitchFamily="18" charset="0"/>
                <a:ea typeface="宋体" pitchFamily="2" charset="-122"/>
              </a:rPr>
              <a:t>N</a:t>
            </a:r>
            <a:r>
              <a:rPr lang="en-US" altLang="zh-CN" i="1" dirty="0">
                <a:latin typeface="Georgia" panose="02040502050405020303" pitchFamily="18" charset="0"/>
                <a:ea typeface="宋体" pitchFamily="2" charset="-122"/>
              </a:rPr>
              <a:t>(E)</a:t>
            </a:r>
            <a:r>
              <a:rPr lang="en-US" altLang="zh-CN" dirty="0">
                <a:latin typeface="Georgia" panose="02040502050405020303" pitchFamily="18" charset="0"/>
                <a:ea typeface="宋体" pitchFamily="2" charset="-122"/>
              </a:rPr>
              <a:t>/</a:t>
            </a:r>
            <a:r>
              <a:rPr lang="en-US" altLang="zh-CN" dirty="0" err="1">
                <a:latin typeface="Georgia" panose="02040502050405020303" pitchFamily="18" charset="0"/>
                <a:ea typeface="宋体" pitchFamily="2" charset="-122"/>
              </a:rPr>
              <a:t>d</a:t>
            </a:r>
            <a:r>
              <a:rPr lang="en-US" altLang="zh-CN" i="1" dirty="0" err="1">
                <a:latin typeface="Georgia" panose="02040502050405020303" pitchFamily="18" charset="0"/>
                <a:ea typeface="宋体" pitchFamily="2" charset="-122"/>
              </a:rPr>
              <a:t>E</a:t>
            </a:r>
            <a:r>
              <a:rPr lang="en-US" altLang="zh-CN" dirty="0">
                <a:latin typeface="Georgia" panose="02040502050405020303" pitchFamily="18" charset="0"/>
                <a:ea typeface="宋体" pitchFamily="2" charset="-122"/>
              </a:rPr>
              <a:t>, clarifies some of the spectral details. </a:t>
            </a:r>
          </a:p>
        </p:txBody>
      </p:sp>
      <p:pic>
        <p:nvPicPr>
          <p:cNvPr id="28675" name="Picture 5" descr="fedne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76400"/>
            <a:ext cx="4876800"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6"/>
          <p:cNvSpPr txBox="1">
            <a:spLocks noChangeArrowheads="1"/>
          </p:cNvSpPr>
          <p:nvPr/>
        </p:nvSpPr>
        <p:spPr bwMode="auto">
          <a:xfrm>
            <a:off x="669925" y="6019800"/>
            <a:ext cx="76498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dirty="0">
                <a:solidFill>
                  <a:srgbClr val="0000FF"/>
                </a:solidFill>
                <a:latin typeface="Georgia" panose="02040502050405020303" pitchFamily="18" charset="0"/>
                <a:ea typeface="宋体" pitchFamily="2" charset="-122"/>
              </a:rPr>
              <a:t>To get the derivative form of Auger spectrum, a Lock-in amplifier is used.</a:t>
            </a:r>
          </a:p>
        </p:txBody>
      </p:sp>
      <p:sp>
        <p:nvSpPr>
          <p:cNvPr id="28677" name="Rectangle 7"/>
          <p:cNvSpPr>
            <a:spLocks noChangeArrowheads="1"/>
          </p:cNvSpPr>
          <p:nvPr/>
        </p:nvSpPr>
        <p:spPr bwMode="auto">
          <a:xfrm>
            <a:off x="685800" y="762000"/>
            <a:ext cx="777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dirty="0">
                <a:latin typeface="Georgia" panose="02040502050405020303" pitchFamily="18" charset="0"/>
                <a:ea typeface="宋体" pitchFamily="2" charset="-122"/>
              </a:rPr>
              <a:t>Displaying Auger spectra as derivative enhances the sharp Auger peaks and deemphasizes the relatively intense and structureless background.</a:t>
            </a:r>
          </a:p>
        </p:txBody>
      </p:sp>
      <p:sp>
        <p:nvSpPr>
          <p:cNvPr id="2" name="Slide Number Placeholder 1">
            <a:extLst>
              <a:ext uri="{FF2B5EF4-FFF2-40B4-BE49-F238E27FC236}">
                <a16:creationId xmlns:a16="http://schemas.microsoft.com/office/drawing/2014/main" id="{26E0A21B-0F79-4652-8AF4-3D68FFE8CC4F}"/>
              </a:ext>
            </a:extLst>
          </p:cNvPr>
          <p:cNvSpPr>
            <a:spLocks noGrp="1"/>
          </p:cNvSpPr>
          <p:nvPr>
            <p:ph type="sldNum" sz="quarter" idx="11"/>
          </p:nvPr>
        </p:nvSpPr>
        <p:spPr/>
        <p:txBody>
          <a:bodyPr/>
          <a:lstStyle/>
          <a:p>
            <a:pPr>
              <a:defRPr/>
            </a:pPr>
            <a:fld id="{9A975D84-2197-4ABB-80EB-AE85607E50F0}" type="slidenum">
              <a:rPr lang="zh-TW" altLang="en-US" smtClean="0"/>
              <a:pPr>
                <a:defRPr/>
              </a:pPr>
              <a:t>29</a:t>
            </a:fld>
            <a:endParaRPr lang="en-US" altLang="zh-TW"/>
          </a:p>
        </p:txBody>
      </p:sp>
      <p:sp>
        <p:nvSpPr>
          <p:cNvPr id="3" name="Rectangle 9">
            <a:extLst>
              <a:ext uri="{FF2B5EF4-FFF2-40B4-BE49-F238E27FC236}">
                <a16:creationId xmlns:a16="http://schemas.microsoft.com/office/drawing/2014/main" id="{30341ADC-2435-149B-70A0-55109EBC7466}"/>
              </a:ext>
            </a:extLst>
          </p:cNvPr>
          <p:cNvSpPr>
            <a:spLocks noChangeArrowheads="1"/>
          </p:cNvSpPr>
          <p:nvPr/>
        </p:nvSpPr>
        <p:spPr bwMode="auto">
          <a:xfrm>
            <a:off x="685800" y="178725"/>
            <a:ext cx="41841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sz="2400" dirty="0">
                <a:solidFill>
                  <a:schemeClr val="bg1"/>
                </a:solidFill>
                <a:latin typeface="Georgia" panose="02040502050405020303" pitchFamily="18" charset="0"/>
                <a:ea typeface="宋体" pitchFamily="2" charset="-122"/>
              </a:rPr>
              <a:t>AES Data Display Algorithms</a:t>
            </a:r>
          </a:p>
          <a:p>
            <a:endParaRPr lang="en-US" altLang="zh-CN" sz="2400" dirty="0">
              <a:solidFill>
                <a:schemeClr val="bg1"/>
              </a:solidFill>
              <a:latin typeface="Georgia" panose="02040502050405020303" pitchFamily="18" charset="0"/>
              <a:ea typeface="宋体"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9"/>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Qualitative analysis</a:t>
            </a:r>
          </a:p>
        </p:txBody>
      </p:sp>
      <p:sp>
        <p:nvSpPr>
          <p:cNvPr id="29699" name="Text Box 70"/>
          <p:cNvSpPr txBox="1">
            <a:spLocks noChangeArrowheads="1"/>
          </p:cNvSpPr>
          <p:nvPr/>
        </p:nvSpPr>
        <p:spPr bwMode="auto">
          <a:xfrm>
            <a:off x="3048000" y="805116"/>
            <a:ext cx="28440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latin typeface="Georgia" panose="02040502050405020303" pitchFamily="18" charset="0"/>
                <a:ea typeface="PMingLiU" pitchFamily="18" charset="-120"/>
              </a:rPr>
              <a:t>Qualitative analysis</a:t>
            </a:r>
          </a:p>
        </p:txBody>
      </p:sp>
      <p:pic>
        <p:nvPicPr>
          <p:cNvPr id="29700" name="Picture 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7075" y="1600200"/>
            <a:ext cx="438626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7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4038600"/>
            <a:ext cx="2590800" cy="2567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Text Box 73"/>
          <p:cNvSpPr txBox="1">
            <a:spLocks noChangeArrowheads="1"/>
          </p:cNvSpPr>
          <p:nvPr/>
        </p:nvSpPr>
        <p:spPr bwMode="auto">
          <a:xfrm>
            <a:off x="220662" y="1266781"/>
            <a:ext cx="450373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r>
              <a:rPr lang="en-US" altLang="zh-TW" dirty="0">
                <a:latin typeface="Georgia" panose="02040502050405020303" pitchFamily="18" charset="0"/>
                <a:ea typeface="PMingLiU" pitchFamily="18" charset="-120"/>
              </a:rPr>
              <a:t>Qualitative analysis by Auger electron spectroscopy depends on identification of the elements responsible for the various peaks in the spectrum.  The figure shows the most useful Auger peaks in the KLL, LMM, and MNN parts of the spectrum as well as higher transitions for elements above cesium. The red dots indicate the strongest and most characteristic peaks</a:t>
            </a:r>
            <a:endParaRPr lang="zh-TW" altLang="en-US" dirty="0">
              <a:latin typeface="Georgia" panose="02040502050405020303" pitchFamily="18" charset="0"/>
              <a:ea typeface="PMingLiU" pitchFamily="18" charset="-120"/>
            </a:endParaRPr>
          </a:p>
        </p:txBody>
      </p:sp>
      <p:sp>
        <p:nvSpPr>
          <p:cNvPr id="2" name="Slide Number Placeholder 1">
            <a:extLst>
              <a:ext uri="{FF2B5EF4-FFF2-40B4-BE49-F238E27FC236}">
                <a16:creationId xmlns:a16="http://schemas.microsoft.com/office/drawing/2014/main" id="{52BD172B-7203-4D5B-B13D-4463DE889F8F}"/>
              </a:ext>
            </a:extLst>
          </p:cNvPr>
          <p:cNvSpPr>
            <a:spLocks noGrp="1"/>
          </p:cNvSpPr>
          <p:nvPr>
            <p:ph type="sldNum" sz="quarter" idx="11"/>
          </p:nvPr>
        </p:nvSpPr>
        <p:spPr/>
        <p:txBody>
          <a:bodyPr/>
          <a:lstStyle/>
          <a:p>
            <a:pPr>
              <a:defRPr/>
            </a:pPr>
            <a:fld id="{9A975D84-2197-4ABB-80EB-AE85607E50F0}" type="slidenum">
              <a:rPr lang="zh-TW" altLang="en-US" smtClean="0"/>
              <a:pPr>
                <a:defRPr/>
              </a:pPr>
              <a:t>30</a:t>
            </a:fld>
            <a:endParaRPr lang="en-US" altLang="zh-TW"/>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0"/>
            <a:ext cx="4800600"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6" descr="fe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3886200"/>
            <a:ext cx="3238500"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4" name="Object 2"/>
          <p:cNvGraphicFramePr>
            <a:graphicFrameLocks noChangeAspect="1"/>
          </p:cNvGraphicFramePr>
          <p:nvPr/>
        </p:nvGraphicFramePr>
        <p:xfrm>
          <a:off x="304800" y="1219200"/>
          <a:ext cx="4800600" cy="2481263"/>
        </p:xfrm>
        <a:graphic>
          <a:graphicData uri="http://schemas.openxmlformats.org/presentationml/2006/ole">
            <mc:AlternateContent xmlns:mc="http://schemas.openxmlformats.org/markup-compatibility/2006">
              <mc:Choice xmlns:v="urn:schemas-microsoft-com:vml" Requires="v">
                <p:oleObj name="Corel PHOTO-PAINT 9.0 Image" r:id="rId4" imgW="6447619" imgH="3333333" progId="CorelPhotoPaint.Image.9">
                  <p:embed/>
                </p:oleObj>
              </mc:Choice>
              <mc:Fallback>
                <p:oleObj name="Corel PHOTO-PAINT 9.0 Image" r:id="rId4" imgW="6447619" imgH="3333333" progId="CorelPhotoPaint.Image.9">
                  <p:embed/>
                  <p:pic>
                    <p:nvPicPr>
                      <p:cNvPr id="0" name="Object 2"/>
                      <p:cNvPicPr>
                        <a:picLocks noChangeAspect="1" noChangeArrowheads="1"/>
                      </p:cNvPicPr>
                      <p:nvPr/>
                    </p:nvPicPr>
                    <p:blipFill>
                      <a:blip r:embed="rId5">
                        <a:lum contrast="12000"/>
                        <a:extLst>
                          <a:ext uri="{28A0092B-C50C-407E-A947-70E740481C1C}">
                            <a14:useLocalDpi xmlns:a14="http://schemas.microsoft.com/office/drawing/2010/main" val="0"/>
                          </a:ext>
                        </a:extLst>
                      </a:blip>
                      <a:srcRect/>
                      <a:stretch>
                        <a:fillRect/>
                      </a:stretch>
                    </p:blipFill>
                    <p:spPr bwMode="auto">
                      <a:xfrm>
                        <a:off x="304800" y="1219200"/>
                        <a:ext cx="4800600"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78" name="Picture 8" descr="xps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1219200"/>
            <a:ext cx="4038600"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Text Box 9"/>
          <p:cNvSpPr txBox="1">
            <a:spLocks noChangeArrowheads="1"/>
          </p:cNvSpPr>
          <p:nvPr/>
        </p:nvSpPr>
        <p:spPr bwMode="auto">
          <a:xfrm>
            <a:off x="5791200" y="3962400"/>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a:ea typeface="宋体" pitchFamily="2" charset="-122"/>
              </a:rPr>
              <a:t>AES</a:t>
            </a:r>
          </a:p>
        </p:txBody>
      </p:sp>
      <p:sp>
        <p:nvSpPr>
          <p:cNvPr id="8" name="Rectangle 6"/>
          <p:cNvSpPr>
            <a:spLocks noChangeArrowheads="1"/>
          </p:cNvSpPr>
          <p:nvPr/>
        </p:nvSpPr>
        <p:spPr bwMode="auto">
          <a:xfrm>
            <a:off x="5596509" y="6165184"/>
            <a:ext cx="32624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latin typeface="Georgia" panose="02040502050405020303" pitchFamily="18" charset="0"/>
              </a:rPr>
              <a:t>KE = ( BE</a:t>
            </a:r>
            <a:r>
              <a:rPr lang="en-US" altLang="en-US" baseline="-25000" dirty="0">
                <a:latin typeface="Georgia" panose="02040502050405020303" pitchFamily="18" charset="0"/>
              </a:rPr>
              <a:t>K</a:t>
            </a:r>
            <a:r>
              <a:rPr lang="en-US" altLang="en-US" dirty="0">
                <a:latin typeface="Georgia" panose="02040502050405020303" pitchFamily="18" charset="0"/>
              </a:rPr>
              <a:t> - BE</a:t>
            </a:r>
            <a:r>
              <a:rPr lang="en-US" altLang="en-US" baseline="-25000" dirty="0">
                <a:latin typeface="Georgia" panose="02040502050405020303" pitchFamily="18" charset="0"/>
              </a:rPr>
              <a:t>L1 </a:t>
            </a:r>
            <a:r>
              <a:rPr lang="en-US" altLang="en-US" dirty="0">
                <a:latin typeface="Georgia" panose="02040502050405020303" pitchFamily="18" charset="0"/>
              </a:rPr>
              <a:t>) - BE</a:t>
            </a:r>
            <a:r>
              <a:rPr lang="en-US" altLang="en-US" baseline="-25000" dirty="0">
                <a:latin typeface="Georgia" panose="02040502050405020303" pitchFamily="18" charset="0"/>
              </a:rPr>
              <a:t>L23</a:t>
            </a:r>
            <a:r>
              <a:rPr lang="en-US" altLang="en-US" dirty="0">
                <a:latin typeface="Georgia" panose="02040502050405020303" pitchFamily="18" charset="0"/>
              </a:rPr>
              <a:t> -</a:t>
            </a:r>
            <a:r>
              <a:rPr lang="el-GR" altLang="en-US" dirty="0">
                <a:latin typeface="Georgia" panose="02040502050405020303" pitchFamily="18" charset="0"/>
              </a:rPr>
              <a:t>φ</a:t>
            </a:r>
            <a:endParaRPr lang="en-US" altLang="en-US" dirty="0">
              <a:latin typeface="Georgia" panose="02040502050405020303" pitchFamily="18" charset="0"/>
            </a:endParaRPr>
          </a:p>
        </p:txBody>
      </p:sp>
      <p:sp>
        <p:nvSpPr>
          <p:cNvPr id="2" name="TextBox 1"/>
          <p:cNvSpPr txBox="1"/>
          <p:nvPr/>
        </p:nvSpPr>
        <p:spPr>
          <a:xfrm>
            <a:off x="5694329" y="774811"/>
            <a:ext cx="1802096" cy="369332"/>
          </a:xfrm>
          <a:prstGeom prst="rect">
            <a:avLst/>
          </a:prstGeom>
          <a:noFill/>
        </p:spPr>
        <p:txBody>
          <a:bodyPr wrap="none" rtlCol="0">
            <a:spAutoFit/>
          </a:bodyPr>
          <a:lstStyle/>
          <a:p>
            <a:r>
              <a:rPr lang="en-US" dirty="0">
                <a:latin typeface="Georgia" panose="02040502050405020303" pitchFamily="18" charset="0"/>
              </a:rPr>
              <a:t>BE = hv - KE</a:t>
            </a:r>
            <a:r>
              <a:rPr lang="en-US" altLang="en-US" dirty="0">
                <a:latin typeface="Georgia" panose="02040502050405020303" pitchFamily="18" charset="0"/>
              </a:rPr>
              <a:t> -</a:t>
            </a:r>
            <a:r>
              <a:rPr lang="el-GR" altLang="en-US" dirty="0">
                <a:latin typeface="Georgia" panose="02040502050405020303" pitchFamily="18" charset="0"/>
              </a:rPr>
              <a:t>φ</a:t>
            </a:r>
            <a:endParaRPr lang="en-US" dirty="0">
              <a:latin typeface="Georgia" panose="02040502050405020303" pitchFamily="18" charset="0"/>
            </a:endParaRPr>
          </a:p>
        </p:txBody>
      </p:sp>
      <p:pic>
        <p:nvPicPr>
          <p:cNvPr id="3091"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390902"/>
            <a:ext cx="8575761" cy="199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92"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574" y="56404"/>
            <a:ext cx="8719226" cy="3685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a:extLst>
              <a:ext uri="{FF2B5EF4-FFF2-40B4-BE49-F238E27FC236}">
                <a16:creationId xmlns:a16="http://schemas.microsoft.com/office/drawing/2014/main" id="{4E030271-E2E9-4557-8D49-64602FC58BC4}"/>
              </a:ext>
            </a:extLst>
          </p:cNvPr>
          <p:cNvSpPr>
            <a:spLocks noGrp="1"/>
          </p:cNvSpPr>
          <p:nvPr>
            <p:ph type="sldNum" sz="quarter" idx="11"/>
          </p:nvPr>
        </p:nvSpPr>
        <p:spPr/>
        <p:txBody>
          <a:bodyPr/>
          <a:lstStyle/>
          <a:p>
            <a:pPr>
              <a:defRPr/>
            </a:pPr>
            <a:fld id="{9A975D84-2197-4ABB-80EB-AE85607E50F0}" type="slidenum">
              <a:rPr lang="zh-TW" altLang="en-US" smtClean="0"/>
              <a:pPr>
                <a:defRPr/>
              </a:pPr>
              <a:t>31</a:t>
            </a:fld>
            <a:endParaRPr lang="en-US" altLang="zh-TW"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362200"/>
            <a:ext cx="3886200" cy="33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Picture 7" descr="fedene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438400"/>
            <a:ext cx="4191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 Box 8"/>
          <p:cNvSpPr txBox="1">
            <a:spLocks noChangeArrowheads="1"/>
          </p:cNvSpPr>
          <p:nvPr/>
        </p:nvSpPr>
        <p:spPr bwMode="auto">
          <a:xfrm>
            <a:off x="3048000" y="1376371"/>
            <a:ext cx="22461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400" dirty="0">
                <a:solidFill>
                  <a:srgbClr val="0000FF"/>
                </a:solidFill>
                <a:latin typeface="Georgia" panose="02040502050405020303" pitchFamily="18" charset="0"/>
                <a:ea typeface="宋体" pitchFamily="2" charset="-122"/>
              </a:rPr>
              <a:t>Group of peaks</a:t>
            </a:r>
          </a:p>
        </p:txBody>
      </p:sp>
      <p:sp>
        <p:nvSpPr>
          <p:cNvPr id="31749" name="Rectangle 9"/>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a:solidFill>
                  <a:schemeClr val="bg1"/>
                </a:solidFill>
                <a:latin typeface="Georgia" panose="02040502050405020303" pitchFamily="18" charset="0"/>
                <a:ea typeface="PMingLiU" pitchFamily="18" charset="-120"/>
              </a:rPr>
              <a:t>Spectral interpretations – Qualitative analysis</a:t>
            </a:r>
          </a:p>
        </p:txBody>
      </p:sp>
      <p:sp>
        <p:nvSpPr>
          <p:cNvPr id="2" name="Slide Number Placeholder 1">
            <a:extLst>
              <a:ext uri="{FF2B5EF4-FFF2-40B4-BE49-F238E27FC236}">
                <a16:creationId xmlns:a16="http://schemas.microsoft.com/office/drawing/2014/main" id="{5CCC25C4-5E9F-4575-B002-E7A58A8F660B}"/>
              </a:ext>
            </a:extLst>
          </p:cNvPr>
          <p:cNvSpPr>
            <a:spLocks noGrp="1"/>
          </p:cNvSpPr>
          <p:nvPr>
            <p:ph type="sldNum" sz="quarter" idx="11"/>
          </p:nvPr>
        </p:nvSpPr>
        <p:spPr/>
        <p:txBody>
          <a:bodyPr/>
          <a:lstStyle/>
          <a:p>
            <a:pPr>
              <a:defRPr/>
            </a:pPr>
            <a:fld id="{9A975D84-2197-4ABB-80EB-AE85607E50F0}" type="slidenum">
              <a:rPr lang="zh-TW" altLang="en-US" smtClean="0"/>
              <a:pPr>
                <a:defRPr/>
              </a:pPr>
              <a:t>32</a:t>
            </a:fld>
            <a:endParaRPr lang="en-US" altLang="zh-TW"/>
          </a:p>
        </p:txBody>
      </p:sp>
      <p:sp>
        <p:nvSpPr>
          <p:cNvPr id="3" name="Text Box 20">
            <a:extLst>
              <a:ext uri="{FF2B5EF4-FFF2-40B4-BE49-F238E27FC236}">
                <a16:creationId xmlns:a16="http://schemas.microsoft.com/office/drawing/2014/main" id="{62776C15-D2FF-9604-ECE6-2A257DCB52AE}"/>
              </a:ext>
            </a:extLst>
          </p:cNvPr>
          <p:cNvSpPr txBox="1">
            <a:spLocks noChangeArrowheads="1"/>
          </p:cNvSpPr>
          <p:nvPr/>
        </p:nvSpPr>
        <p:spPr bwMode="auto">
          <a:xfrm>
            <a:off x="4495800" y="2408521"/>
            <a:ext cx="1066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err="1">
                <a:latin typeface="Georgia" panose="02040502050405020303" pitchFamily="18" charset="0"/>
                <a:ea typeface="宋体" pitchFamily="2" charset="-122"/>
              </a:rPr>
              <a:t>FeCr</a:t>
            </a:r>
            <a:endParaRPr lang="en-US" altLang="zh-CN" sz="2000" dirty="0">
              <a:latin typeface="Georgia" panose="02040502050405020303" pitchFamily="18" charset="0"/>
              <a:ea typeface="宋体" pitchFamily="2" charset="-122"/>
            </a:endParaRPr>
          </a:p>
          <a:p>
            <a:endParaRPr lang="en-US" altLang="zh-CN" sz="2000" dirty="0">
              <a:latin typeface="Georgia" panose="02040502050405020303" pitchFamily="18" charset="0"/>
              <a:ea typeface="宋体"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347503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98" name="Object 2"/>
          <p:cNvGraphicFramePr>
            <a:graphicFrameLocks noChangeAspect="1"/>
          </p:cNvGraphicFramePr>
          <p:nvPr/>
        </p:nvGraphicFramePr>
        <p:xfrm>
          <a:off x="4419600" y="4876800"/>
          <a:ext cx="374650" cy="685800"/>
        </p:xfrm>
        <a:graphic>
          <a:graphicData uri="http://schemas.openxmlformats.org/presentationml/2006/ole">
            <mc:AlternateContent xmlns:mc="http://schemas.openxmlformats.org/markup-compatibility/2006">
              <mc:Choice xmlns:v="urn:schemas-microsoft-com:vml" Requires="v">
                <p:oleObj name="Equation" r:id="rId3" imgW="101520" imgH="203040" progId="Equation.3">
                  <p:embed/>
                </p:oleObj>
              </mc:Choice>
              <mc:Fallback>
                <p:oleObj name="Equation" r:id="rId3" imgW="101520" imgH="2030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4876800"/>
                        <a:ext cx="374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6" name="Text Box 5"/>
          <p:cNvSpPr txBox="1">
            <a:spLocks noChangeArrowheads="1"/>
          </p:cNvSpPr>
          <p:nvPr/>
        </p:nvSpPr>
        <p:spPr bwMode="auto">
          <a:xfrm>
            <a:off x="4953000" y="5868988"/>
            <a:ext cx="38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1</a:t>
            </a:r>
            <a:r>
              <a:rPr lang="en-US" altLang="zh-CN" b="1" i="1">
                <a:solidFill>
                  <a:srgbClr val="0000FF"/>
                </a:solidFill>
                <a:latin typeface="Times New Roman" pitchFamily="18" charset="0"/>
                <a:ea typeface="宋体" pitchFamily="2" charset="-122"/>
                <a:cs typeface="Times New Roman" pitchFamily="18" charset="0"/>
              </a:rPr>
              <a:t>s</a:t>
            </a:r>
          </a:p>
        </p:txBody>
      </p:sp>
      <p:sp>
        <p:nvSpPr>
          <p:cNvPr id="4107" name="Text Box 6"/>
          <p:cNvSpPr txBox="1">
            <a:spLocks noChangeArrowheads="1"/>
          </p:cNvSpPr>
          <p:nvPr/>
        </p:nvSpPr>
        <p:spPr bwMode="auto">
          <a:xfrm>
            <a:off x="4953000" y="5410200"/>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2</a:t>
            </a:r>
            <a:r>
              <a:rPr lang="en-US" altLang="zh-CN" b="1" i="1">
                <a:solidFill>
                  <a:srgbClr val="0000FF"/>
                </a:solidFill>
                <a:latin typeface="Times New Roman" pitchFamily="18" charset="0"/>
                <a:ea typeface="宋体" pitchFamily="2" charset="-122"/>
                <a:cs typeface="Times New Roman" pitchFamily="18" charset="0"/>
              </a:rPr>
              <a:t>s</a:t>
            </a:r>
          </a:p>
        </p:txBody>
      </p:sp>
      <p:sp>
        <p:nvSpPr>
          <p:cNvPr id="4108" name="Text Box 7"/>
          <p:cNvSpPr txBox="1">
            <a:spLocks noChangeArrowheads="1"/>
          </p:cNvSpPr>
          <p:nvPr/>
        </p:nvSpPr>
        <p:spPr bwMode="auto">
          <a:xfrm>
            <a:off x="4953000" y="49530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2</a:t>
            </a:r>
            <a:r>
              <a:rPr lang="en-US" altLang="zh-CN" b="1" i="1">
                <a:solidFill>
                  <a:srgbClr val="0000FF"/>
                </a:solidFill>
                <a:latin typeface="Times New Roman" pitchFamily="18" charset="0"/>
                <a:ea typeface="宋体" pitchFamily="2" charset="-122"/>
                <a:cs typeface="Times New Roman" pitchFamily="18" charset="0"/>
              </a:rPr>
              <a:t>p</a:t>
            </a:r>
          </a:p>
        </p:txBody>
      </p:sp>
      <p:sp>
        <p:nvSpPr>
          <p:cNvPr id="4109" name="Text Box 8"/>
          <p:cNvSpPr txBox="1">
            <a:spLocks noChangeArrowheads="1"/>
          </p:cNvSpPr>
          <p:nvPr/>
        </p:nvSpPr>
        <p:spPr bwMode="auto">
          <a:xfrm>
            <a:off x="4953000" y="4419600"/>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3</a:t>
            </a:r>
            <a:r>
              <a:rPr lang="en-US" altLang="zh-CN" b="1" i="1">
                <a:solidFill>
                  <a:srgbClr val="0000FF"/>
                </a:solidFill>
                <a:latin typeface="Times New Roman" pitchFamily="18" charset="0"/>
                <a:ea typeface="宋体" pitchFamily="2" charset="-122"/>
                <a:cs typeface="Times New Roman" pitchFamily="18" charset="0"/>
              </a:rPr>
              <a:t>s</a:t>
            </a:r>
          </a:p>
        </p:txBody>
      </p:sp>
      <p:sp>
        <p:nvSpPr>
          <p:cNvPr id="4110" name="Text Box 9"/>
          <p:cNvSpPr txBox="1">
            <a:spLocks noChangeArrowheads="1"/>
          </p:cNvSpPr>
          <p:nvPr/>
        </p:nvSpPr>
        <p:spPr bwMode="auto">
          <a:xfrm>
            <a:off x="4953000" y="40386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3</a:t>
            </a:r>
            <a:r>
              <a:rPr lang="en-US" altLang="zh-CN" b="1" i="1">
                <a:solidFill>
                  <a:srgbClr val="0000FF"/>
                </a:solidFill>
                <a:latin typeface="Times New Roman" pitchFamily="18" charset="0"/>
                <a:ea typeface="宋体" pitchFamily="2" charset="-122"/>
                <a:cs typeface="Times New Roman" pitchFamily="18" charset="0"/>
              </a:rPr>
              <a:t>p</a:t>
            </a:r>
          </a:p>
        </p:txBody>
      </p:sp>
      <p:graphicFrame>
        <p:nvGraphicFramePr>
          <p:cNvPr id="4099" name="Object 3"/>
          <p:cNvGraphicFramePr>
            <a:graphicFrameLocks noChangeAspect="1"/>
          </p:cNvGraphicFramePr>
          <p:nvPr/>
        </p:nvGraphicFramePr>
        <p:xfrm>
          <a:off x="4419600" y="3886200"/>
          <a:ext cx="374650" cy="685800"/>
        </p:xfrm>
        <a:graphic>
          <a:graphicData uri="http://schemas.openxmlformats.org/presentationml/2006/ole">
            <mc:AlternateContent xmlns:mc="http://schemas.openxmlformats.org/markup-compatibility/2006">
              <mc:Choice xmlns:v="urn:schemas-microsoft-com:vml" Requires="v">
                <p:oleObj name="Equation" r:id="rId5" imgW="101520" imgH="203040" progId="Equation.3">
                  <p:embed/>
                </p:oleObj>
              </mc:Choice>
              <mc:Fallback>
                <p:oleObj name="Equation" r:id="rId5" imgW="101520" imgH="2030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3886200"/>
                        <a:ext cx="374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0" name="Object 4"/>
          <p:cNvGraphicFramePr>
            <a:graphicFrameLocks noChangeAspect="1"/>
          </p:cNvGraphicFramePr>
          <p:nvPr/>
        </p:nvGraphicFramePr>
        <p:xfrm>
          <a:off x="4419600" y="3276600"/>
          <a:ext cx="374650" cy="685800"/>
        </p:xfrm>
        <a:graphic>
          <a:graphicData uri="http://schemas.openxmlformats.org/presentationml/2006/ole">
            <mc:AlternateContent xmlns:mc="http://schemas.openxmlformats.org/markup-compatibility/2006">
              <mc:Choice xmlns:v="urn:schemas-microsoft-com:vml" Requires="v">
                <p:oleObj name="Equation" r:id="rId6" imgW="101520" imgH="203040" progId="Equation.3">
                  <p:embed/>
                </p:oleObj>
              </mc:Choice>
              <mc:Fallback>
                <p:oleObj name="Equation" r:id="rId6" imgW="101520" imgH="2030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3276600"/>
                        <a:ext cx="374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1" name="Text Box 12"/>
          <p:cNvSpPr txBox="1">
            <a:spLocks noChangeArrowheads="1"/>
          </p:cNvSpPr>
          <p:nvPr/>
        </p:nvSpPr>
        <p:spPr bwMode="auto">
          <a:xfrm>
            <a:off x="4953000" y="34290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3</a:t>
            </a:r>
            <a:r>
              <a:rPr lang="en-US" altLang="zh-CN" b="1" i="1">
                <a:solidFill>
                  <a:srgbClr val="0000FF"/>
                </a:solidFill>
                <a:latin typeface="Times New Roman" pitchFamily="18" charset="0"/>
                <a:ea typeface="宋体" pitchFamily="2" charset="-122"/>
                <a:cs typeface="Times New Roman" pitchFamily="18" charset="0"/>
              </a:rPr>
              <a:t>d</a:t>
            </a:r>
          </a:p>
        </p:txBody>
      </p:sp>
      <p:sp>
        <p:nvSpPr>
          <p:cNvPr id="4112" name="Text Box 13"/>
          <p:cNvSpPr txBox="1">
            <a:spLocks noChangeArrowheads="1"/>
          </p:cNvSpPr>
          <p:nvPr/>
        </p:nvSpPr>
        <p:spPr bwMode="auto">
          <a:xfrm>
            <a:off x="4953000" y="2819400"/>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4</a:t>
            </a:r>
            <a:r>
              <a:rPr lang="en-US" altLang="zh-CN" b="1" i="1">
                <a:solidFill>
                  <a:srgbClr val="0000FF"/>
                </a:solidFill>
                <a:latin typeface="Times New Roman" pitchFamily="18" charset="0"/>
                <a:ea typeface="宋体" pitchFamily="2" charset="-122"/>
                <a:cs typeface="Times New Roman" pitchFamily="18" charset="0"/>
              </a:rPr>
              <a:t>s</a:t>
            </a:r>
          </a:p>
        </p:txBody>
      </p:sp>
      <p:sp>
        <p:nvSpPr>
          <p:cNvPr id="4113" name="Text Box 14"/>
          <p:cNvSpPr txBox="1">
            <a:spLocks noChangeArrowheads="1"/>
          </p:cNvSpPr>
          <p:nvPr/>
        </p:nvSpPr>
        <p:spPr bwMode="auto">
          <a:xfrm>
            <a:off x="4953000" y="24384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4</a:t>
            </a:r>
            <a:r>
              <a:rPr lang="en-US" altLang="zh-CN" b="1" i="1">
                <a:solidFill>
                  <a:srgbClr val="0000FF"/>
                </a:solidFill>
                <a:latin typeface="Times New Roman" pitchFamily="18" charset="0"/>
                <a:ea typeface="宋体" pitchFamily="2" charset="-122"/>
                <a:cs typeface="Times New Roman" pitchFamily="18" charset="0"/>
              </a:rPr>
              <a:t>p</a:t>
            </a:r>
          </a:p>
        </p:txBody>
      </p:sp>
      <p:graphicFrame>
        <p:nvGraphicFramePr>
          <p:cNvPr id="4101" name="Object 5"/>
          <p:cNvGraphicFramePr>
            <a:graphicFrameLocks noChangeAspect="1"/>
          </p:cNvGraphicFramePr>
          <p:nvPr/>
        </p:nvGraphicFramePr>
        <p:xfrm>
          <a:off x="4419600" y="2286000"/>
          <a:ext cx="374650" cy="685800"/>
        </p:xfrm>
        <a:graphic>
          <a:graphicData uri="http://schemas.openxmlformats.org/presentationml/2006/ole">
            <mc:AlternateContent xmlns:mc="http://schemas.openxmlformats.org/markup-compatibility/2006">
              <mc:Choice xmlns:v="urn:schemas-microsoft-com:vml" Requires="v">
                <p:oleObj name="Equation" r:id="rId7" imgW="101520" imgH="203040" progId="Equation.3">
                  <p:embed/>
                </p:oleObj>
              </mc:Choice>
              <mc:Fallback>
                <p:oleObj name="Equation" r:id="rId7" imgW="101520" imgH="2030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2286000"/>
                        <a:ext cx="374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2" name="Object 6"/>
          <p:cNvGraphicFramePr>
            <a:graphicFrameLocks noChangeAspect="1"/>
          </p:cNvGraphicFramePr>
          <p:nvPr/>
        </p:nvGraphicFramePr>
        <p:xfrm>
          <a:off x="4419600" y="1676400"/>
          <a:ext cx="374650" cy="685800"/>
        </p:xfrm>
        <a:graphic>
          <a:graphicData uri="http://schemas.openxmlformats.org/presentationml/2006/ole">
            <mc:AlternateContent xmlns:mc="http://schemas.openxmlformats.org/markup-compatibility/2006">
              <mc:Choice xmlns:v="urn:schemas-microsoft-com:vml" Requires="v">
                <p:oleObj name="Equation" r:id="rId8" imgW="101520" imgH="203040" progId="Equation.3">
                  <p:embed/>
                </p:oleObj>
              </mc:Choice>
              <mc:Fallback>
                <p:oleObj name="Equation" r:id="rId8" imgW="101520" imgH="2030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676400"/>
                        <a:ext cx="374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4" name="Text Box 17"/>
          <p:cNvSpPr txBox="1">
            <a:spLocks noChangeArrowheads="1"/>
          </p:cNvSpPr>
          <p:nvPr/>
        </p:nvSpPr>
        <p:spPr bwMode="auto">
          <a:xfrm>
            <a:off x="4953000" y="18288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4</a:t>
            </a:r>
            <a:r>
              <a:rPr lang="en-US" altLang="zh-CN" b="1" i="1">
                <a:solidFill>
                  <a:srgbClr val="0000FF"/>
                </a:solidFill>
                <a:latin typeface="Times New Roman" pitchFamily="18" charset="0"/>
                <a:ea typeface="宋体" pitchFamily="2" charset="-122"/>
                <a:cs typeface="Times New Roman" pitchFamily="18" charset="0"/>
              </a:rPr>
              <a:t>d</a:t>
            </a:r>
          </a:p>
        </p:txBody>
      </p:sp>
      <p:graphicFrame>
        <p:nvGraphicFramePr>
          <p:cNvPr id="4103" name="Object 7"/>
          <p:cNvGraphicFramePr>
            <a:graphicFrameLocks noChangeAspect="1"/>
          </p:cNvGraphicFramePr>
          <p:nvPr/>
        </p:nvGraphicFramePr>
        <p:xfrm>
          <a:off x="4419600" y="1143000"/>
          <a:ext cx="374650" cy="685800"/>
        </p:xfrm>
        <a:graphic>
          <a:graphicData uri="http://schemas.openxmlformats.org/presentationml/2006/ole">
            <mc:AlternateContent xmlns:mc="http://schemas.openxmlformats.org/markup-compatibility/2006">
              <mc:Choice xmlns:v="urn:schemas-microsoft-com:vml" Requires="v">
                <p:oleObj name="Equation" r:id="rId9" imgW="101520" imgH="203040" progId="Equation.3">
                  <p:embed/>
                </p:oleObj>
              </mc:Choice>
              <mc:Fallback>
                <p:oleObj name="Equation" r:id="rId9" imgW="101520" imgH="20304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143000"/>
                        <a:ext cx="37465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5" name="Text Box 19"/>
          <p:cNvSpPr txBox="1">
            <a:spLocks noChangeArrowheads="1"/>
          </p:cNvSpPr>
          <p:nvPr/>
        </p:nvSpPr>
        <p:spPr bwMode="auto">
          <a:xfrm>
            <a:off x="4953000" y="12954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b="1">
                <a:solidFill>
                  <a:srgbClr val="0000FF"/>
                </a:solidFill>
                <a:latin typeface="Times New Roman" pitchFamily="18" charset="0"/>
                <a:ea typeface="宋体" pitchFamily="2" charset="-122"/>
                <a:cs typeface="Times New Roman" pitchFamily="18" charset="0"/>
              </a:rPr>
              <a:t>4</a:t>
            </a:r>
            <a:r>
              <a:rPr lang="en-US" altLang="zh-CN" b="1" i="1">
                <a:solidFill>
                  <a:srgbClr val="0000FF"/>
                </a:solidFill>
                <a:latin typeface="Times New Roman" pitchFamily="18" charset="0"/>
                <a:ea typeface="宋体" pitchFamily="2" charset="-122"/>
                <a:cs typeface="Times New Roman" pitchFamily="18" charset="0"/>
              </a:rPr>
              <a:t>f</a:t>
            </a:r>
          </a:p>
        </p:txBody>
      </p:sp>
      <p:sp>
        <p:nvSpPr>
          <p:cNvPr id="4116" name="Text Box 20"/>
          <p:cNvSpPr txBox="1">
            <a:spLocks noChangeArrowheads="1"/>
          </p:cNvSpPr>
          <p:nvPr/>
        </p:nvSpPr>
        <p:spPr bwMode="auto">
          <a:xfrm>
            <a:off x="5943600" y="1168568"/>
            <a:ext cx="28352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rPr>
              <a:t>For MNN Auger peaks, we may have:</a:t>
            </a:r>
          </a:p>
          <a:p>
            <a:endParaRPr lang="en-US" altLang="zh-CN" sz="2000" dirty="0">
              <a:latin typeface="Georgia" panose="02040502050405020303" pitchFamily="18" charset="0"/>
              <a:ea typeface="宋体" pitchFamily="2" charset="-122"/>
            </a:endParaRPr>
          </a:p>
        </p:txBody>
      </p:sp>
      <p:sp>
        <p:nvSpPr>
          <p:cNvPr id="4117" name="Text Box 22"/>
          <p:cNvSpPr txBox="1">
            <a:spLocks noChangeArrowheads="1"/>
          </p:cNvSpPr>
          <p:nvPr/>
        </p:nvSpPr>
        <p:spPr bwMode="auto">
          <a:xfrm>
            <a:off x="5943600" y="1908343"/>
            <a:ext cx="1213794"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rPr>
              <a:t>M1N1N1</a:t>
            </a:r>
          </a:p>
          <a:p>
            <a:r>
              <a:rPr lang="en-US" altLang="zh-CN" sz="2000" dirty="0">
                <a:latin typeface="Georgia" panose="02040502050405020303" pitchFamily="18" charset="0"/>
                <a:ea typeface="宋体" pitchFamily="2" charset="-122"/>
              </a:rPr>
              <a:t>M1N1N2</a:t>
            </a:r>
          </a:p>
          <a:p>
            <a:r>
              <a:rPr lang="en-US" altLang="zh-CN" sz="2000" dirty="0">
                <a:latin typeface="Georgia" panose="02040502050405020303" pitchFamily="18" charset="0"/>
                <a:ea typeface="宋体" pitchFamily="2" charset="-122"/>
              </a:rPr>
              <a:t>M1N1N3</a:t>
            </a:r>
          </a:p>
          <a:p>
            <a:r>
              <a:rPr lang="en-US" altLang="zh-CN" sz="2000" dirty="0">
                <a:latin typeface="Georgia" panose="02040502050405020303" pitchFamily="18" charset="0"/>
                <a:ea typeface="宋体" pitchFamily="2" charset="-122"/>
              </a:rPr>
              <a:t>M1N1N4</a:t>
            </a:r>
          </a:p>
          <a:p>
            <a:r>
              <a:rPr lang="en-US" altLang="zh-CN" sz="2000" dirty="0">
                <a:latin typeface="Georgia" panose="02040502050405020303" pitchFamily="18" charset="0"/>
                <a:ea typeface="宋体" pitchFamily="2" charset="-122"/>
              </a:rPr>
              <a:t>……</a:t>
            </a:r>
          </a:p>
          <a:p>
            <a:r>
              <a:rPr lang="en-US" altLang="zh-CN" sz="2000" dirty="0">
                <a:latin typeface="Georgia" panose="02040502050405020303" pitchFamily="18" charset="0"/>
                <a:ea typeface="宋体" pitchFamily="2" charset="-122"/>
              </a:rPr>
              <a:t>M1N2N2</a:t>
            </a:r>
          </a:p>
          <a:p>
            <a:r>
              <a:rPr lang="en-US" altLang="zh-CN" sz="2000" dirty="0">
                <a:latin typeface="Georgia" panose="02040502050405020303" pitchFamily="18" charset="0"/>
                <a:ea typeface="宋体" pitchFamily="2" charset="-122"/>
              </a:rPr>
              <a:t>M1N2N3</a:t>
            </a:r>
          </a:p>
          <a:p>
            <a:r>
              <a:rPr lang="en-US" altLang="zh-CN" sz="2000" dirty="0">
                <a:latin typeface="Georgia" panose="02040502050405020303" pitchFamily="18" charset="0"/>
                <a:ea typeface="宋体" pitchFamily="2" charset="-122"/>
              </a:rPr>
              <a:t>M1N2N4</a:t>
            </a:r>
          </a:p>
          <a:p>
            <a:r>
              <a:rPr lang="en-US" altLang="zh-CN" sz="2000" dirty="0">
                <a:latin typeface="Georgia" panose="02040502050405020303" pitchFamily="18" charset="0"/>
                <a:ea typeface="宋体" pitchFamily="2" charset="-122"/>
              </a:rPr>
              <a:t>……</a:t>
            </a:r>
          </a:p>
          <a:p>
            <a:r>
              <a:rPr lang="en-US" altLang="zh-CN" sz="2000" dirty="0">
                <a:latin typeface="Georgia" panose="02040502050405020303" pitchFamily="18" charset="0"/>
                <a:ea typeface="宋体" pitchFamily="2" charset="-122"/>
              </a:rPr>
              <a:t>M2N1N1</a:t>
            </a:r>
          </a:p>
          <a:p>
            <a:r>
              <a:rPr lang="en-US" altLang="zh-CN" sz="2000" dirty="0">
                <a:latin typeface="Georgia" panose="02040502050405020303" pitchFamily="18" charset="0"/>
                <a:ea typeface="宋体" pitchFamily="2" charset="-122"/>
              </a:rPr>
              <a:t>M2N1N2</a:t>
            </a:r>
          </a:p>
          <a:p>
            <a:r>
              <a:rPr lang="en-US" altLang="zh-CN" sz="2000" dirty="0">
                <a:latin typeface="Georgia" panose="02040502050405020303" pitchFamily="18" charset="0"/>
                <a:ea typeface="宋体" pitchFamily="2" charset="-122"/>
              </a:rPr>
              <a:t>M2N1N3</a:t>
            </a:r>
          </a:p>
          <a:p>
            <a:r>
              <a:rPr lang="en-US" altLang="zh-CN" sz="2000" dirty="0">
                <a:latin typeface="Georgia" panose="02040502050405020303" pitchFamily="18" charset="0"/>
                <a:ea typeface="宋体" pitchFamily="2" charset="-122"/>
              </a:rPr>
              <a:t>……</a:t>
            </a:r>
          </a:p>
          <a:p>
            <a:r>
              <a:rPr lang="en-US" altLang="zh-CN" sz="2000" dirty="0">
                <a:latin typeface="Georgia" panose="02040502050405020303" pitchFamily="18" charset="0"/>
                <a:ea typeface="宋体" pitchFamily="2" charset="-122"/>
              </a:rPr>
              <a:t>M3……</a:t>
            </a:r>
          </a:p>
        </p:txBody>
      </p:sp>
      <p:sp>
        <p:nvSpPr>
          <p:cNvPr id="2" name="Slide Number Placeholder 1">
            <a:extLst>
              <a:ext uri="{FF2B5EF4-FFF2-40B4-BE49-F238E27FC236}">
                <a16:creationId xmlns:a16="http://schemas.microsoft.com/office/drawing/2014/main" id="{7BDCAFB3-5F29-430A-8096-DD1B4C9A52D1}"/>
              </a:ext>
            </a:extLst>
          </p:cNvPr>
          <p:cNvSpPr>
            <a:spLocks noGrp="1"/>
          </p:cNvSpPr>
          <p:nvPr>
            <p:ph type="sldNum" sz="quarter" idx="11"/>
          </p:nvPr>
        </p:nvSpPr>
        <p:spPr/>
        <p:txBody>
          <a:bodyPr/>
          <a:lstStyle/>
          <a:p>
            <a:pPr>
              <a:defRPr/>
            </a:pPr>
            <a:fld id="{9A975D84-2197-4ABB-80EB-AE85607E50F0}" type="slidenum">
              <a:rPr lang="zh-TW" altLang="en-US" smtClean="0"/>
              <a:pPr>
                <a:defRPr/>
              </a:pPr>
              <a:t>33</a:t>
            </a:fld>
            <a:endParaRPr lang="en-US" altLang="zh-TW"/>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ChangeArrowheads="1"/>
          </p:cNvSpPr>
          <p:nvPr/>
        </p:nvSpPr>
        <p:spPr bwMode="auto">
          <a:xfrm>
            <a:off x="627062"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Qualitative </a:t>
            </a:r>
            <a:r>
              <a:rPr lang="en-US" altLang="zh-TW" sz="2400" dirty="0">
                <a:solidFill>
                  <a:schemeClr val="bg2">
                    <a:lumMod val="20000"/>
                    <a:lumOff val="80000"/>
                  </a:schemeClr>
                </a:solidFill>
                <a:latin typeface="Georgia" panose="02040502050405020303" pitchFamily="18" charset="0"/>
                <a:ea typeface="PMingLiU" pitchFamily="18" charset="-120"/>
              </a:rPr>
              <a:t>analysis</a:t>
            </a:r>
          </a:p>
        </p:txBody>
      </p:sp>
      <p:sp>
        <p:nvSpPr>
          <p:cNvPr id="30723" name="Text Box 5"/>
          <p:cNvSpPr txBox="1">
            <a:spLocks noChangeArrowheads="1"/>
          </p:cNvSpPr>
          <p:nvPr/>
        </p:nvSpPr>
        <p:spPr bwMode="auto">
          <a:xfrm>
            <a:off x="2819400" y="674446"/>
            <a:ext cx="31935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000" dirty="0">
                <a:latin typeface="Georgia" panose="02040502050405020303" pitchFamily="18" charset="0"/>
                <a:ea typeface="PMingLiU" pitchFamily="18" charset="-120"/>
              </a:rPr>
              <a:t>Energy of Auger transition</a:t>
            </a:r>
          </a:p>
        </p:txBody>
      </p:sp>
      <p:pic>
        <p:nvPicPr>
          <p:cNvPr id="3072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216604"/>
            <a:ext cx="4000500" cy="282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7151" y="5430048"/>
            <a:ext cx="685800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6" name="Text Box 8"/>
          <p:cNvSpPr txBox="1">
            <a:spLocks noChangeArrowheads="1"/>
          </p:cNvSpPr>
          <p:nvPr/>
        </p:nvSpPr>
        <p:spPr bwMode="auto">
          <a:xfrm>
            <a:off x="4416151" y="2563422"/>
            <a:ext cx="4158967" cy="1631216"/>
          </a:xfrm>
          <a:prstGeom prst="rect">
            <a:avLst/>
          </a:prstGeom>
          <a:noFill/>
          <a:ln w="9525">
            <a:noFill/>
            <a:miter lim="800000"/>
            <a:headEnd/>
            <a:tailEnd/>
          </a:ln>
          <a:effectLst/>
        </p:spPr>
        <p:txBody>
          <a:bodyPr wrap="square">
            <a:spAutoFit/>
          </a:bodyPr>
          <a:lstStyle/>
          <a:p>
            <a:pPr algn="just">
              <a:defRPr/>
            </a:pPr>
            <a:r>
              <a:rPr lang="en-US" altLang="zh-TW" sz="2000" dirty="0">
                <a:latin typeface="Georgia" panose="02040502050405020303" pitchFamily="18" charset="0"/>
                <a:ea typeface="PMingLiU" pitchFamily="18" charset="-120"/>
              </a:rPr>
              <a:t>The binding energy of a level in the presence of a </a:t>
            </a:r>
            <a:r>
              <a:rPr lang="en-US" altLang="zh-TW" sz="2000" dirty="0">
                <a:solidFill>
                  <a:schemeClr val="bg2">
                    <a:lumMod val="60000"/>
                    <a:lumOff val="40000"/>
                  </a:schemeClr>
                </a:solidFill>
                <a:latin typeface="Georgia" panose="02040502050405020303" pitchFamily="18" charset="0"/>
                <a:ea typeface="PMingLiU" pitchFamily="18" charset="-120"/>
              </a:rPr>
              <a:t>core hole </a:t>
            </a:r>
            <a:r>
              <a:rPr lang="en-US" altLang="zh-TW" sz="2000" dirty="0">
                <a:latin typeface="Georgia" panose="02040502050405020303" pitchFamily="18" charset="0"/>
                <a:ea typeface="PMingLiU" pitchFamily="18" charset="-120"/>
              </a:rPr>
              <a:t>is greater than the that of the same level in a neutral atom, so that both E</a:t>
            </a:r>
            <a:r>
              <a:rPr lang="en-US" altLang="zh-TW" sz="2000" baseline="-25000" dirty="0">
                <a:latin typeface="Georgia" panose="02040502050405020303" pitchFamily="18" charset="0"/>
                <a:ea typeface="PMingLiU" pitchFamily="18" charset="-120"/>
              </a:rPr>
              <a:t>B</a:t>
            </a:r>
            <a:r>
              <a:rPr lang="en-US" altLang="zh-TW" sz="2000" dirty="0">
                <a:latin typeface="Georgia" panose="02040502050405020303" pitchFamily="18" charset="0"/>
                <a:ea typeface="PMingLiU" pitchFamily="18" charset="-120"/>
              </a:rPr>
              <a:t> and E</a:t>
            </a:r>
            <a:r>
              <a:rPr lang="en-US" altLang="zh-TW" sz="2000" baseline="-25000" dirty="0">
                <a:latin typeface="Georgia" panose="02040502050405020303" pitchFamily="18" charset="0"/>
                <a:ea typeface="PMingLiU" pitchFamily="18" charset="-120"/>
              </a:rPr>
              <a:t>C</a:t>
            </a:r>
            <a:r>
              <a:rPr lang="en-US" altLang="zh-TW" sz="2000" dirty="0">
                <a:latin typeface="Georgia" panose="02040502050405020303" pitchFamily="18" charset="0"/>
                <a:ea typeface="PMingLiU" pitchFamily="18" charset="-120"/>
              </a:rPr>
              <a:t> need to be corrected</a:t>
            </a:r>
            <a:endParaRPr lang="zh-TW" altLang="en-US" sz="2000" dirty="0">
              <a:latin typeface="Georgia" panose="02040502050405020303" pitchFamily="18" charset="0"/>
              <a:ea typeface="PMingLiU" pitchFamily="18" charset="-120"/>
            </a:endParaRPr>
          </a:p>
        </p:txBody>
      </p:sp>
      <p:sp>
        <p:nvSpPr>
          <p:cNvPr id="30727" name="Text Box 9"/>
          <p:cNvSpPr txBox="1">
            <a:spLocks noChangeArrowheads="1"/>
          </p:cNvSpPr>
          <p:nvPr/>
        </p:nvSpPr>
        <p:spPr bwMode="auto">
          <a:xfrm>
            <a:off x="370541" y="4350096"/>
            <a:ext cx="8305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r>
              <a:rPr lang="en-US" altLang="zh-TW" sz="2000" dirty="0">
                <a:latin typeface="Georgia" panose="02040502050405020303" pitchFamily="18" charset="0"/>
                <a:ea typeface="PMingLiU" pitchFamily="18" charset="-120"/>
              </a:rPr>
              <a:t>For approximation, the following equation was used to estimate the kinetic energy of Auger electrons (z: atomic number of the atom). This is taken into consideration of core-hole and screening effect</a:t>
            </a:r>
          </a:p>
        </p:txBody>
      </p:sp>
      <p:sp>
        <p:nvSpPr>
          <p:cNvPr id="2" name="Slide Number Placeholder 1">
            <a:extLst>
              <a:ext uri="{FF2B5EF4-FFF2-40B4-BE49-F238E27FC236}">
                <a16:creationId xmlns:a16="http://schemas.microsoft.com/office/drawing/2014/main" id="{F5EAEFF0-09CD-4562-ACB4-C85DEE2C4AAC}"/>
              </a:ext>
            </a:extLst>
          </p:cNvPr>
          <p:cNvSpPr>
            <a:spLocks noGrp="1"/>
          </p:cNvSpPr>
          <p:nvPr>
            <p:ph type="sldNum" sz="quarter" idx="11"/>
          </p:nvPr>
        </p:nvSpPr>
        <p:spPr/>
        <p:txBody>
          <a:bodyPr/>
          <a:lstStyle/>
          <a:p>
            <a:pPr>
              <a:defRPr/>
            </a:pPr>
            <a:fld id="{9A975D84-2197-4ABB-80EB-AE85607E50F0}" type="slidenum">
              <a:rPr lang="zh-TW" altLang="en-US" smtClean="0">
                <a:latin typeface="Georgia" panose="02040502050405020303" pitchFamily="18" charset="0"/>
              </a:rPr>
              <a:pPr>
                <a:defRPr/>
              </a:pPr>
              <a:t>34</a:t>
            </a:fld>
            <a:endParaRPr lang="en-US" altLang="zh-TW">
              <a:latin typeface="Georgia" panose="02040502050405020303"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76BDE96-2F19-D84C-E433-B0145D82150C}"/>
                  </a:ext>
                </a:extLst>
              </p:cNvPr>
              <p:cNvSpPr txBox="1"/>
              <p:nvPr/>
            </p:nvSpPr>
            <p:spPr>
              <a:xfrm>
                <a:off x="3429000" y="1208094"/>
                <a:ext cx="4897808" cy="369332"/>
              </a:xfrm>
              <a:prstGeom prst="rect">
                <a:avLst/>
              </a:prstGeom>
              <a:noFill/>
            </p:spPr>
            <p:txBody>
              <a:bodyPr wrap="square" lIns="0" tIns="0" rIns="0" bIns="0"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𝐴𝐵𝐶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𝐴</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b="0" i="1" smtClean="0">
                              <a:latin typeface="Cambria Math" panose="02040503050406030204" pitchFamily="18" charset="0"/>
                            </a:rPr>
                            <m:t>𝐵</m:t>
                          </m:r>
                        </m:sub>
                      </m:sSub>
                      <m:d>
                        <m:dPr>
                          <m:ctrlPr>
                            <a:rPr lang="en-US" sz="2400" i="1">
                              <a:latin typeface="Cambria Math" panose="02040503050406030204" pitchFamily="18" charset="0"/>
                            </a:rPr>
                          </m:ctrlPr>
                        </m:dPr>
                        <m:e>
                          <m:r>
                            <a:rPr lang="en-US" sz="2400" i="1">
                              <a:latin typeface="Cambria Math" panose="02040503050406030204" pitchFamily="18" charset="0"/>
                            </a:rPr>
                            <m:t>𝑧</m:t>
                          </m:r>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𝐸</m:t>
                          </m:r>
                        </m:e>
                        <m:sub>
                          <m:r>
                            <a:rPr lang="en-US" sz="2400" b="0" i="1" smtClean="0">
                              <a:latin typeface="Cambria Math" panose="02040503050406030204" pitchFamily="18" charset="0"/>
                            </a:rPr>
                            <m:t>𝐶</m:t>
                          </m:r>
                        </m:sub>
                      </m:sSub>
                      <m:r>
                        <a:rPr lang="en-US" sz="2400" i="1">
                          <a:latin typeface="Cambria Math" panose="02040503050406030204" pitchFamily="18" charset="0"/>
                        </a:rPr>
                        <m:t>(</m:t>
                      </m:r>
                      <m:r>
                        <a:rPr lang="en-US" sz="2400" i="1">
                          <a:latin typeface="Cambria Math" panose="02040503050406030204" pitchFamily="18" charset="0"/>
                        </a:rPr>
                        <m:t>𝑧</m:t>
                      </m:r>
                      <m:r>
                        <a:rPr lang="en-US" sz="2400" i="1">
                          <a:latin typeface="Cambria Math" panose="02040503050406030204" pitchFamily="18" charset="0"/>
                        </a:rPr>
                        <m:t>)</m:t>
                      </m:r>
                    </m:oMath>
                  </m:oMathPara>
                </a14:m>
                <a:endParaRPr lang="en-HK" sz="2400" dirty="0"/>
              </a:p>
            </p:txBody>
          </p:sp>
        </mc:Choice>
        <mc:Fallback xmlns="">
          <p:sp>
            <p:nvSpPr>
              <p:cNvPr id="4" name="TextBox 3">
                <a:extLst>
                  <a:ext uri="{FF2B5EF4-FFF2-40B4-BE49-F238E27FC236}">
                    <a16:creationId xmlns:a16="http://schemas.microsoft.com/office/drawing/2014/main" id="{C76BDE96-2F19-D84C-E433-B0145D82150C}"/>
                  </a:ext>
                </a:extLst>
              </p:cNvPr>
              <p:cNvSpPr txBox="1">
                <a:spLocks noRot="1" noChangeAspect="1" noMove="1" noResize="1" noEditPoints="1" noAdjustHandles="1" noChangeArrowheads="1" noChangeShapeType="1" noTextEdit="1"/>
              </p:cNvSpPr>
              <p:nvPr/>
            </p:nvSpPr>
            <p:spPr>
              <a:xfrm>
                <a:off x="3429000" y="1208094"/>
                <a:ext cx="4897808" cy="369332"/>
              </a:xfrm>
              <a:prstGeom prst="rect">
                <a:avLst/>
              </a:prstGeom>
              <a:blipFill>
                <a:blip r:embed="rId4"/>
                <a:stretch>
                  <a:fillRect b="-37705"/>
                </a:stretch>
              </a:blipFill>
            </p:spPr>
            <p:txBody>
              <a:bodyPr/>
              <a:lstStyle/>
              <a:p>
                <a:r>
                  <a:rPr lang="en-HK">
                    <a:noFill/>
                  </a:rPr>
                  <a:t> </a:t>
                </a:r>
              </a:p>
            </p:txBody>
          </p:sp>
        </mc:Fallback>
      </mc:AlternateContent>
      <p:sp>
        <p:nvSpPr>
          <p:cNvPr id="6" name="TextBox 5">
            <a:extLst>
              <a:ext uri="{FF2B5EF4-FFF2-40B4-BE49-F238E27FC236}">
                <a16:creationId xmlns:a16="http://schemas.microsoft.com/office/drawing/2014/main" id="{2910EBEF-A35D-29BB-C8B3-F4D9E959E573}"/>
              </a:ext>
            </a:extLst>
          </p:cNvPr>
          <p:cNvSpPr txBox="1"/>
          <p:nvPr/>
        </p:nvSpPr>
        <p:spPr>
          <a:xfrm>
            <a:off x="3791980" y="1710965"/>
            <a:ext cx="4897808" cy="707886"/>
          </a:xfrm>
          <a:prstGeom prst="rect">
            <a:avLst/>
          </a:prstGeom>
          <a:noFill/>
        </p:spPr>
        <p:txBody>
          <a:bodyPr wrap="square">
            <a:spAutoFit/>
          </a:bodyPr>
          <a:lstStyle/>
          <a:p>
            <a:r>
              <a:rPr lang="en-US" altLang="zh-TW" sz="2000" dirty="0">
                <a:latin typeface="Georgia" panose="02040502050405020303" pitchFamily="18" charset="0"/>
                <a:ea typeface="PMingLiU" pitchFamily="18" charset="-120"/>
              </a:rPr>
              <a:t>where E</a:t>
            </a:r>
            <a:r>
              <a:rPr lang="en-US" altLang="zh-TW" sz="2000" baseline="-25000" dirty="0">
                <a:latin typeface="Georgia" panose="02040502050405020303" pitchFamily="18" charset="0"/>
                <a:ea typeface="PMingLiU" pitchFamily="18" charset="-120"/>
              </a:rPr>
              <a:t>A</a:t>
            </a:r>
            <a:r>
              <a:rPr lang="en-US" altLang="zh-TW" sz="2000" dirty="0">
                <a:latin typeface="Georgia" panose="02040502050405020303" pitchFamily="18" charset="0"/>
                <a:ea typeface="PMingLiU" pitchFamily="18" charset="-120"/>
              </a:rPr>
              <a:t>, E</a:t>
            </a:r>
            <a:r>
              <a:rPr lang="en-US" altLang="zh-TW" sz="2000" baseline="-25000" dirty="0">
                <a:latin typeface="Georgia" panose="02040502050405020303" pitchFamily="18" charset="0"/>
                <a:ea typeface="PMingLiU" pitchFamily="18" charset="-120"/>
              </a:rPr>
              <a:t>B</a:t>
            </a:r>
            <a:r>
              <a:rPr lang="en-US" altLang="zh-TW" sz="2000" dirty="0">
                <a:latin typeface="Georgia" panose="02040502050405020303" pitchFamily="18" charset="0"/>
                <a:ea typeface="PMingLiU" pitchFamily="18" charset="-120"/>
              </a:rPr>
              <a:t>, and E</a:t>
            </a:r>
            <a:r>
              <a:rPr lang="en-US" altLang="zh-TW" sz="2000" baseline="-25000" dirty="0">
                <a:latin typeface="Georgia" panose="02040502050405020303" pitchFamily="18" charset="0"/>
                <a:ea typeface="PMingLiU" pitchFamily="18" charset="-120"/>
              </a:rPr>
              <a:t>C</a:t>
            </a:r>
            <a:r>
              <a:rPr lang="en-US" altLang="zh-TW" sz="2000" dirty="0">
                <a:latin typeface="Georgia" panose="02040502050405020303" pitchFamily="18" charset="0"/>
                <a:ea typeface="PMingLiU" pitchFamily="18" charset="-120"/>
              </a:rPr>
              <a:t> are the binding energies of electrons in the three levels</a:t>
            </a:r>
            <a:endParaRPr lang="en-HK"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F2A224-DDC7-770E-A4B1-BC14A355157D}"/>
              </a:ext>
            </a:extLst>
          </p:cNvPr>
          <p:cNvSpPr>
            <a:spLocks noGrp="1"/>
          </p:cNvSpPr>
          <p:nvPr>
            <p:ph type="sldNum" sz="quarter" idx="11"/>
          </p:nvPr>
        </p:nvSpPr>
        <p:spPr/>
        <p:txBody>
          <a:bodyPr/>
          <a:lstStyle/>
          <a:p>
            <a:pPr>
              <a:defRPr/>
            </a:pPr>
            <a:fld id="{9A975D84-2197-4ABB-80EB-AE85607E50F0}" type="slidenum">
              <a:rPr lang="zh-TW" altLang="en-US" smtClean="0"/>
              <a:pPr>
                <a:defRPr/>
              </a:pPr>
              <a:t>35</a:t>
            </a:fld>
            <a:endParaRPr lang="en-US" altLang="zh-TW"/>
          </a:p>
        </p:txBody>
      </p:sp>
      <p:sp>
        <p:nvSpPr>
          <p:cNvPr id="3" name="Rectangle 4">
            <a:extLst>
              <a:ext uri="{FF2B5EF4-FFF2-40B4-BE49-F238E27FC236}">
                <a16:creationId xmlns:a16="http://schemas.microsoft.com/office/drawing/2014/main" id="{A47B111A-3210-413B-3F22-B7770EBA245C}"/>
              </a:ext>
            </a:extLst>
          </p:cNvPr>
          <p:cNvSpPr>
            <a:spLocks noChangeArrowheads="1"/>
          </p:cNvSpPr>
          <p:nvPr/>
        </p:nvSpPr>
        <p:spPr bwMode="auto">
          <a:xfrm>
            <a:off x="627062"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Qualitative </a:t>
            </a:r>
            <a:r>
              <a:rPr lang="en-US" altLang="zh-TW" sz="2400" dirty="0">
                <a:solidFill>
                  <a:schemeClr val="bg2">
                    <a:lumMod val="20000"/>
                    <a:lumOff val="80000"/>
                  </a:schemeClr>
                </a:solidFill>
                <a:latin typeface="Georgia" panose="02040502050405020303" pitchFamily="18" charset="0"/>
                <a:ea typeface="PMingLiU" pitchFamily="18" charset="-120"/>
              </a:rPr>
              <a:t>analysis</a:t>
            </a:r>
          </a:p>
        </p:txBody>
      </p:sp>
      <p:sp>
        <p:nvSpPr>
          <p:cNvPr id="4" name="Text Box 5">
            <a:extLst>
              <a:ext uri="{FF2B5EF4-FFF2-40B4-BE49-F238E27FC236}">
                <a16:creationId xmlns:a16="http://schemas.microsoft.com/office/drawing/2014/main" id="{E0166F8D-0AAD-B6DA-7C0A-0B9912A99E57}"/>
              </a:ext>
            </a:extLst>
          </p:cNvPr>
          <p:cNvSpPr txBox="1">
            <a:spLocks noChangeArrowheads="1"/>
          </p:cNvSpPr>
          <p:nvPr/>
        </p:nvSpPr>
        <p:spPr bwMode="auto">
          <a:xfrm>
            <a:off x="2895600" y="1415266"/>
            <a:ext cx="2787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latin typeface="Georgia" panose="02040502050405020303" pitchFamily="18" charset="0"/>
                <a:ea typeface="PMingLiU" pitchFamily="18" charset="-120"/>
              </a:rPr>
              <a:t>Classroom exercise</a:t>
            </a:r>
          </a:p>
        </p:txBody>
      </p:sp>
      <p:sp>
        <p:nvSpPr>
          <p:cNvPr id="5" name="Text Box 5">
            <a:extLst>
              <a:ext uri="{FF2B5EF4-FFF2-40B4-BE49-F238E27FC236}">
                <a16:creationId xmlns:a16="http://schemas.microsoft.com/office/drawing/2014/main" id="{4A672F90-C362-2372-CE0F-10E7B1BFB0F7}"/>
              </a:ext>
            </a:extLst>
          </p:cNvPr>
          <p:cNvSpPr txBox="1">
            <a:spLocks noChangeArrowheads="1"/>
          </p:cNvSpPr>
          <p:nvPr/>
        </p:nvSpPr>
        <p:spPr bwMode="auto">
          <a:xfrm>
            <a:off x="533400" y="2362200"/>
            <a:ext cx="8229601"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000" dirty="0">
                <a:latin typeface="Georgia" panose="02040502050405020303" pitchFamily="18" charset="0"/>
                <a:ea typeface="PMingLiU" pitchFamily="18" charset="-120"/>
              </a:rPr>
              <a:t>Calculate the kinetic energies of KLL Auger peaks from a clean polycrystalline Al surface with information provided below</a:t>
            </a:r>
          </a:p>
          <a:p>
            <a:endParaRPr lang="en-US" altLang="zh-TW" sz="2000" dirty="0">
              <a:latin typeface="Georgia" panose="02040502050405020303" pitchFamily="18" charset="0"/>
              <a:ea typeface="PMingLiU" pitchFamily="18" charset="-120"/>
            </a:endParaRPr>
          </a:p>
          <a:p>
            <a:r>
              <a:rPr lang="en-US" altLang="zh-TW" sz="2000" dirty="0">
                <a:latin typeface="Georgia" panose="02040502050405020303" pitchFamily="18" charset="0"/>
                <a:ea typeface="PMingLiU" pitchFamily="18" charset="-120"/>
              </a:rPr>
              <a:t>Al BE of 1s [K] electrons = 1559.6 eV</a:t>
            </a:r>
          </a:p>
          <a:p>
            <a:r>
              <a:rPr lang="en-US" altLang="zh-TW" sz="2000" dirty="0">
                <a:latin typeface="Georgia" panose="02040502050405020303" pitchFamily="18" charset="0"/>
                <a:ea typeface="PMingLiU" pitchFamily="18" charset="-120"/>
              </a:rPr>
              <a:t>Al BE of 2s [L1] electrons = 117.7eV</a:t>
            </a:r>
          </a:p>
          <a:p>
            <a:r>
              <a:rPr lang="en-US" altLang="zh-TW" sz="2000" dirty="0">
                <a:latin typeface="Georgia" panose="02040502050405020303" pitchFamily="18" charset="0"/>
                <a:ea typeface="PMingLiU" pitchFamily="18" charset="-120"/>
              </a:rPr>
              <a:t>Al BE of 2p [L23] electrons = 73.1 eV</a:t>
            </a:r>
          </a:p>
          <a:p>
            <a:r>
              <a:rPr lang="en-US" altLang="zh-TW" sz="2000" dirty="0">
                <a:latin typeface="Georgia" panose="02040502050405020303" pitchFamily="18" charset="0"/>
                <a:ea typeface="PMingLiU" pitchFamily="18" charset="-120"/>
              </a:rPr>
              <a:t>Si BE of 2s [L1] electrons = 148.7 eV</a:t>
            </a:r>
          </a:p>
          <a:p>
            <a:r>
              <a:rPr lang="en-US" altLang="zh-TW" sz="2000" dirty="0">
                <a:latin typeface="Georgia" panose="02040502050405020303" pitchFamily="18" charset="0"/>
                <a:ea typeface="PMingLiU" pitchFamily="18" charset="-120"/>
              </a:rPr>
              <a:t>Si BE of 2p [L23] electrons = 99.2 eV</a:t>
            </a:r>
          </a:p>
          <a:p>
            <a:r>
              <a:rPr lang="en-US" altLang="zh-TW" sz="2000" dirty="0">
                <a:latin typeface="Georgia" panose="02040502050405020303" pitchFamily="18" charset="0"/>
                <a:ea typeface="PMingLiU" pitchFamily="18" charset="-120"/>
              </a:rPr>
              <a:t>Work function of polycrystalline Al= 4.2 eV</a:t>
            </a:r>
          </a:p>
          <a:p>
            <a:endParaRPr lang="en-US" altLang="zh-TW" sz="2000" dirty="0">
              <a:latin typeface="Georgia" panose="02040502050405020303" pitchFamily="18" charset="0"/>
              <a:ea typeface="PMingLiU" pitchFamily="18" charset="-120"/>
            </a:endParaRPr>
          </a:p>
        </p:txBody>
      </p:sp>
    </p:spTree>
    <p:extLst>
      <p:ext uri="{BB962C8B-B14F-4D97-AF65-F5344CB8AC3E}">
        <p14:creationId xmlns:p14="http://schemas.microsoft.com/office/powerpoint/2010/main" val="4060480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D09D-EE23-8428-33A3-3A938979F0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397E6B-6D53-E022-1267-1C15F4391538}"/>
              </a:ext>
            </a:extLst>
          </p:cNvPr>
          <p:cNvSpPr>
            <a:spLocks noGrp="1"/>
          </p:cNvSpPr>
          <p:nvPr>
            <p:ph type="sldNum" sz="quarter" idx="11"/>
          </p:nvPr>
        </p:nvSpPr>
        <p:spPr/>
        <p:txBody>
          <a:bodyPr/>
          <a:lstStyle/>
          <a:p>
            <a:pPr>
              <a:defRPr/>
            </a:pPr>
            <a:fld id="{9A975D84-2197-4ABB-80EB-AE85607E50F0}" type="slidenum">
              <a:rPr lang="zh-TW" altLang="en-US" smtClean="0"/>
              <a:pPr>
                <a:defRPr/>
              </a:pPr>
              <a:t>36</a:t>
            </a:fld>
            <a:endParaRPr lang="en-US" altLang="zh-TW"/>
          </a:p>
        </p:txBody>
      </p:sp>
      <p:sp>
        <p:nvSpPr>
          <p:cNvPr id="3" name="Rectangle 4">
            <a:extLst>
              <a:ext uri="{FF2B5EF4-FFF2-40B4-BE49-F238E27FC236}">
                <a16:creationId xmlns:a16="http://schemas.microsoft.com/office/drawing/2014/main" id="{DBC634E6-E3A5-1EE1-50E5-047E985FF5C6}"/>
              </a:ext>
            </a:extLst>
          </p:cNvPr>
          <p:cNvSpPr>
            <a:spLocks noChangeArrowheads="1"/>
          </p:cNvSpPr>
          <p:nvPr/>
        </p:nvSpPr>
        <p:spPr bwMode="auto">
          <a:xfrm>
            <a:off x="627062"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Qualitative </a:t>
            </a:r>
            <a:r>
              <a:rPr lang="en-US" altLang="zh-TW" sz="2400" dirty="0">
                <a:solidFill>
                  <a:schemeClr val="bg2">
                    <a:lumMod val="20000"/>
                    <a:lumOff val="80000"/>
                  </a:schemeClr>
                </a:solidFill>
                <a:latin typeface="Georgia" panose="02040502050405020303" pitchFamily="18" charset="0"/>
                <a:ea typeface="PMingLiU" pitchFamily="18" charset="-120"/>
              </a:rPr>
              <a:t>analysis</a:t>
            </a:r>
          </a:p>
        </p:txBody>
      </p:sp>
      <p:sp>
        <p:nvSpPr>
          <p:cNvPr id="4" name="Text Box 5">
            <a:extLst>
              <a:ext uri="{FF2B5EF4-FFF2-40B4-BE49-F238E27FC236}">
                <a16:creationId xmlns:a16="http://schemas.microsoft.com/office/drawing/2014/main" id="{AB30137D-C97C-F893-9389-53393A6D39EE}"/>
              </a:ext>
            </a:extLst>
          </p:cNvPr>
          <p:cNvSpPr txBox="1">
            <a:spLocks noChangeArrowheads="1"/>
          </p:cNvSpPr>
          <p:nvPr/>
        </p:nvSpPr>
        <p:spPr bwMode="auto">
          <a:xfrm>
            <a:off x="2362200" y="987225"/>
            <a:ext cx="39693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solidFill>
                  <a:schemeClr val="bg2">
                    <a:lumMod val="60000"/>
                    <a:lumOff val="40000"/>
                  </a:schemeClr>
                </a:solidFill>
                <a:latin typeface="Georgia" panose="02040502050405020303" pitchFamily="18" charset="0"/>
                <a:ea typeface="PMingLiU" pitchFamily="18" charset="-120"/>
              </a:rPr>
              <a:t>Classroom exercise solution</a:t>
            </a:r>
          </a:p>
        </p:txBody>
      </p:sp>
      <p:sp>
        <p:nvSpPr>
          <p:cNvPr id="6" name="Text Box 5">
            <a:extLst>
              <a:ext uri="{FF2B5EF4-FFF2-40B4-BE49-F238E27FC236}">
                <a16:creationId xmlns:a16="http://schemas.microsoft.com/office/drawing/2014/main" id="{D1AB85AE-9F1D-92DD-32EB-0511817A4198}"/>
              </a:ext>
            </a:extLst>
          </p:cNvPr>
          <p:cNvSpPr txBox="1">
            <a:spLocks noChangeArrowheads="1"/>
          </p:cNvSpPr>
          <p:nvPr/>
        </p:nvSpPr>
        <p:spPr bwMode="auto">
          <a:xfrm>
            <a:off x="460214" y="1940280"/>
            <a:ext cx="822960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000" dirty="0">
                <a:latin typeface="Georgia" panose="02040502050405020303" pitchFamily="18" charset="0"/>
                <a:ea typeface="PMingLiU" pitchFamily="18" charset="-120"/>
              </a:rPr>
              <a:t>E</a:t>
            </a:r>
            <a:r>
              <a:rPr lang="en-US" altLang="zh-TW" sz="2000" baseline="-25000" dirty="0">
                <a:latin typeface="Georgia" panose="02040502050405020303" pitchFamily="18" charset="0"/>
                <a:ea typeface="PMingLiU" pitchFamily="18" charset="-120"/>
              </a:rPr>
              <a:t>k</a:t>
            </a:r>
            <a:r>
              <a:rPr lang="en-US" altLang="zh-TW" sz="2000" dirty="0">
                <a:latin typeface="Georgia" panose="02040502050405020303" pitchFamily="18" charset="0"/>
                <a:ea typeface="PMingLiU" pitchFamily="18" charset="-120"/>
              </a:rPr>
              <a:t>= 1559.6 eV</a:t>
            </a:r>
          </a:p>
          <a:p>
            <a:r>
              <a:rPr lang="en-US" altLang="zh-TW" sz="2000" dirty="0">
                <a:latin typeface="Georgia" panose="02040502050405020303" pitchFamily="18" charset="0"/>
                <a:ea typeface="PMingLiU" pitchFamily="18" charset="-120"/>
              </a:rPr>
              <a:t>E</a:t>
            </a:r>
            <a:r>
              <a:rPr lang="en-US" altLang="zh-TW" sz="2000" baseline="-25000" dirty="0">
                <a:latin typeface="Georgia" panose="02040502050405020303" pitchFamily="18" charset="0"/>
                <a:ea typeface="PMingLiU" pitchFamily="18" charset="-120"/>
              </a:rPr>
              <a:t>L1</a:t>
            </a:r>
            <a:r>
              <a:rPr lang="en-US" altLang="zh-TW" sz="2000" dirty="0">
                <a:latin typeface="Georgia" panose="02040502050405020303" pitchFamily="18" charset="0"/>
                <a:ea typeface="PMingLiU" pitchFamily="18" charset="-120"/>
              </a:rPr>
              <a:t>=0.5 (117.7 +148.7)= 133.2 eV</a:t>
            </a:r>
          </a:p>
          <a:p>
            <a:r>
              <a:rPr lang="en-US" altLang="zh-TW" sz="2000" dirty="0">
                <a:latin typeface="Georgia" panose="02040502050405020303" pitchFamily="18" charset="0"/>
                <a:ea typeface="PMingLiU" pitchFamily="18" charset="-120"/>
              </a:rPr>
              <a:t>E</a:t>
            </a:r>
            <a:r>
              <a:rPr lang="en-US" altLang="zh-TW" sz="2000" baseline="-25000" dirty="0">
                <a:latin typeface="Georgia" panose="02040502050405020303" pitchFamily="18" charset="0"/>
                <a:ea typeface="PMingLiU" pitchFamily="18" charset="-120"/>
              </a:rPr>
              <a:t>L23</a:t>
            </a:r>
            <a:r>
              <a:rPr lang="en-US" altLang="zh-TW" sz="2000" dirty="0">
                <a:latin typeface="Georgia" panose="02040502050405020303" pitchFamily="18" charset="0"/>
                <a:ea typeface="PMingLiU" pitchFamily="18" charset="-120"/>
              </a:rPr>
              <a:t>= 0.5 (73.1 + 99.2) = 86.15 eV</a:t>
            </a:r>
          </a:p>
          <a:p>
            <a:endParaRPr lang="en-US" altLang="zh-TW" sz="2000" dirty="0">
              <a:latin typeface="Georgia" panose="02040502050405020303" pitchFamily="18" charset="0"/>
              <a:ea typeface="PMingLiU" pitchFamily="18" charset="-120"/>
            </a:endParaRPr>
          </a:p>
          <a:p>
            <a:endParaRPr lang="en-US" altLang="zh-TW" sz="2000" dirty="0">
              <a:latin typeface="Georgia" panose="02040502050405020303" pitchFamily="18" charset="0"/>
              <a:ea typeface="PMingLiU" pitchFamily="18" charset="-120"/>
            </a:endParaRPr>
          </a:p>
        </p:txBody>
      </p:sp>
      <p:sp>
        <p:nvSpPr>
          <p:cNvPr id="7" name="Text Box 5">
            <a:extLst>
              <a:ext uri="{FF2B5EF4-FFF2-40B4-BE49-F238E27FC236}">
                <a16:creationId xmlns:a16="http://schemas.microsoft.com/office/drawing/2014/main" id="{FA25D11B-F684-0C64-6DF3-50B030E1D11C}"/>
              </a:ext>
            </a:extLst>
          </p:cNvPr>
          <p:cNvSpPr txBox="1">
            <a:spLocks noChangeArrowheads="1"/>
          </p:cNvSpPr>
          <p:nvPr/>
        </p:nvSpPr>
        <p:spPr bwMode="auto">
          <a:xfrm>
            <a:off x="461818" y="3657600"/>
            <a:ext cx="8229601" cy="152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000" dirty="0">
                <a:latin typeface="Georgia" panose="02040502050405020303" pitchFamily="18" charset="0"/>
                <a:ea typeface="PMingLiU" pitchFamily="18" charset="-120"/>
              </a:rPr>
              <a:t>E (KL1L1)= 1289 eV</a:t>
            </a:r>
          </a:p>
          <a:p>
            <a:r>
              <a:rPr lang="en-US" altLang="zh-TW" sz="2000" dirty="0">
                <a:latin typeface="Georgia" panose="02040502050405020303" pitchFamily="18" charset="0"/>
                <a:ea typeface="PMingLiU" pitchFamily="18" charset="-120"/>
              </a:rPr>
              <a:t>E(KL1L23)=1336.05 eV</a:t>
            </a:r>
          </a:p>
          <a:p>
            <a:r>
              <a:rPr lang="en-US" altLang="zh-TW" sz="2000" dirty="0">
                <a:latin typeface="Georgia" panose="02040502050405020303" pitchFamily="18" charset="0"/>
                <a:ea typeface="PMingLiU" pitchFamily="18" charset="-120"/>
              </a:rPr>
              <a:t>E(KL23L23)= 1383.1eV</a:t>
            </a:r>
          </a:p>
          <a:p>
            <a:endParaRPr lang="en-US" altLang="zh-TW" sz="2000" baseline="-25000" dirty="0">
              <a:latin typeface="Georgia" panose="02040502050405020303" pitchFamily="18" charset="0"/>
              <a:ea typeface="PMingLiU" pitchFamily="18" charset="-120"/>
            </a:endParaRPr>
          </a:p>
          <a:p>
            <a:endParaRPr lang="en-US" altLang="zh-TW" sz="2000" dirty="0">
              <a:latin typeface="Georgia" panose="02040502050405020303" pitchFamily="18" charset="0"/>
              <a:ea typeface="PMingLiU" pitchFamily="18" charset="-120"/>
            </a:endParaRPr>
          </a:p>
        </p:txBody>
      </p:sp>
      <p:sp>
        <p:nvSpPr>
          <p:cNvPr id="5" name="Rectangle 4">
            <a:extLst>
              <a:ext uri="{FF2B5EF4-FFF2-40B4-BE49-F238E27FC236}">
                <a16:creationId xmlns:a16="http://schemas.microsoft.com/office/drawing/2014/main" id="{E839FB9D-8D7F-00A6-FCEB-02D803A6F215}"/>
              </a:ext>
            </a:extLst>
          </p:cNvPr>
          <p:cNvSpPr/>
          <p:nvPr/>
        </p:nvSpPr>
        <p:spPr bwMode="auto">
          <a:xfrm>
            <a:off x="304800" y="838200"/>
            <a:ext cx="8458200" cy="54864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913160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750" y="1828800"/>
            <a:ext cx="5118100" cy="395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Rectangle 5"/>
          <p:cNvSpPr>
            <a:spLocks noChangeArrowheads="1"/>
          </p:cNvSpPr>
          <p:nvPr/>
        </p:nvSpPr>
        <p:spPr bwMode="auto">
          <a:xfrm>
            <a:off x="419057"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Qualitative analysis</a:t>
            </a:r>
          </a:p>
        </p:txBody>
      </p:sp>
      <p:sp>
        <p:nvSpPr>
          <p:cNvPr id="34820" name="Text Box 6"/>
          <p:cNvSpPr txBox="1">
            <a:spLocks noChangeArrowheads="1"/>
          </p:cNvSpPr>
          <p:nvPr/>
        </p:nvSpPr>
        <p:spPr bwMode="auto">
          <a:xfrm>
            <a:off x="2590800" y="867809"/>
            <a:ext cx="3733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Element identification</a:t>
            </a:r>
          </a:p>
        </p:txBody>
      </p:sp>
      <p:sp>
        <p:nvSpPr>
          <p:cNvPr id="107527" name="Text Box 7"/>
          <p:cNvSpPr txBox="1">
            <a:spLocks noChangeArrowheads="1"/>
          </p:cNvSpPr>
          <p:nvPr/>
        </p:nvSpPr>
        <p:spPr bwMode="auto">
          <a:xfrm>
            <a:off x="5105400" y="1408958"/>
            <a:ext cx="3581400" cy="5078313"/>
          </a:xfrm>
          <a:prstGeom prst="rect">
            <a:avLst/>
          </a:prstGeom>
          <a:noFill/>
          <a:ln w="9525">
            <a:noFill/>
            <a:miter lim="800000"/>
            <a:headEnd/>
            <a:tailEnd/>
          </a:ln>
          <a:effectLst/>
        </p:spPr>
        <p:txBody>
          <a:bodyPr>
            <a:spAutoFit/>
          </a:bodyPr>
          <a:lstStyle/>
          <a:p>
            <a:pPr>
              <a:spcBef>
                <a:spcPct val="50000"/>
              </a:spcBef>
              <a:defRPr/>
            </a:pPr>
            <a:r>
              <a:rPr lang="en-US" altLang="zh-TW" dirty="0">
                <a:solidFill>
                  <a:schemeClr val="bg2">
                    <a:lumMod val="60000"/>
                    <a:lumOff val="40000"/>
                  </a:schemeClr>
                </a:solidFill>
                <a:latin typeface="Georgia" panose="02040502050405020303" pitchFamily="18" charset="0"/>
                <a:ea typeface="PMingLiU" pitchFamily="18" charset="-120"/>
              </a:rPr>
              <a:t>General elemental identification procedure</a:t>
            </a:r>
          </a:p>
          <a:p>
            <a:pPr marL="268288" indent="-268288">
              <a:spcBef>
                <a:spcPct val="50000"/>
              </a:spcBef>
              <a:defRPr/>
            </a:pPr>
            <a:r>
              <a:rPr lang="en-US" altLang="zh-TW" dirty="0">
                <a:latin typeface="Georgia" panose="02040502050405020303" pitchFamily="18" charset="0"/>
                <a:ea typeface="PMingLiU" pitchFamily="18" charset="-120"/>
              </a:rPr>
              <a:t>1.	Concentrating on the major peaks and comparing the peak positions with Auger electron energy chart or table.</a:t>
            </a:r>
          </a:p>
          <a:p>
            <a:pPr marL="268288" indent="-268288">
              <a:spcBef>
                <a:spcPct val="50000"/>
              </a:spcBef>
              <a:defRPr/>
            </a:pPr>
            <a:r>
              <a:rPr lang="en-US" altLang="zh-TW" dirty="0">
                <a:latin typeface="Georgia" panose="02040502050405020303" pitchFamily="18" charset="0"/>
                <a:ea typeface="PMingLiU" pitchFamily="18" charset="-120"/>
              </a:rPr>
              <a:t>2.	Referring to the standard spectra of the elements in question and making positive identification of major constituents.</a:t>
            </a:r>
          </a:p>
          <a:p>
            <a:pPr marL="268288" indent="-268288">
              <a:spcBef>
                <a:spcPct val="50000"/>
              </a:spcBef>
              <a:defRPr/>
            </a:pPr>
            <a:r>
              <a:rPr lang="en-US" altLang="zh-TW" dirty="0">
                <a:latin typeface="Georgia" panose="02040502050405020303" pitchFamily="18" charset="0"/>
                <a:ea typeface="PMingLiU" pitchFamily="18" charset="-120"/>
              </a:rPr>
              <a:t>3.	Labeling all peaks related to the identified major constituents.</a:t>
            </a:r>
          </a:p>
          <a:p>
            <a:pPr marL="268288" indent="-268288">
              <a:spcBef>
                <a:spcPct val="50000"/>
              </a:spcBef>
              <a:defRPr/>
            </a:pPr>
            <a:r>
              <a:rPr lang="en-US" altLang="zh-TW" dirty="0">
                <a:latin typeface="Georgia" panose="02040502050405020303" pitchFamily="18" charset="0"/>
                <a:ea typeface="PMingLiU" pitchFamily="18" charset="-120"/>
              </a:rPr>
              <a:t>4.	Repeat 1-3 for other </a:t>
            </a:r>
            <a:r>
              <a:rPr lang="en-US" altLang="zh-TW" dirty="0" err="1">
                <a:latin typeface="Georgia" panose="02040502050405020303" pitchFamily="18" charset="0"/>
                <a:ea typeface="PMingLiU" pitchFamily="18" charset="-120"/>
              </a:rPr>
              <a:t>unlabelled</a:t>
            </a:r>
            <a:r>
              <a:rPr lang="en-US" altLang="zh-TW" dirty="0">
                <a:latin typeface="Georgia" panose="02040502050405020303" pitchFamily="18" charset="0"/>
                <a:ea typeface="PMingLiU" pitchFamily="18" charset="-120"/>
              </a:rPr>
              <a:t> peaks.</a:t>
            </a:r>
            <a:endParaRPr lang="zh-TW" altLang="en-US" dirty="0">
              <a:latin typeface="Georgia" panose="02040502050405020303" pitchFamily="18" charset="0"/>
              <a:ea typeface="PMingLiU" pitchFamily="18" charset="-120"/>
            </a:endParaRPr>
          </a:p>
        </p:txBody>
      </p:sp>
      <p:sp>
        <p:nvSpPr>
          <p:cNvPr id="2" name="Slide Number Placeholder 1">
            <a:extLst>
              <a:ext uri="{FF2B5EF4-FFF2-40B4-BE49-F238E27FC236}">
                <a16:creationId xmlns:a16="http://schemas.microsoft.com/office/drawing/2014/main" id="{FBECF8CE-6DA7-4B87-BF17-C230292A1506}"/>
              </a:ext>
            </a:extLst>
          </p:cNvPr>
          <p:cNvSpPr>
            <a:spLocks noGrp="1"/>
          </p:cNvSpPr>
          <p:nvPr>
            <p:ph type="sldNum" sz="quarter" idx="11"/>
          </p:nvPr>
        </p:nvSpPr>
        <p:spPr/>
        <p:txBody>
          <a:bodyPr/>
          <a:lstStyle/>
          <a:p>
            <a:pPr>
              <a:defRPr/>
            </a:pPr>
            <a:fld id="{9A975D84-2197-4ABB-80EB-AE85607E50F0}" type="slidenum">
              <a:rPr lang="zh-TW" altLang="en-US" smtClean="0"/>
              <a:pPr>
                <a:defRPr/>
              </a:pPr>
              <a:t>37</a:t>
            </a:fld>
            <a:endParaRPr lang="en-US" altLang="zh-TW"/>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5"/>
          <p:cNvPicPr>
            <a:picLocks noChangeAspect="1" noChangeArrowheads="1"/>
          </p:cNvPicPr>
          <p:nvPr/>
        </p:nvPicPr>
        <p:blipFill>
          <a:blip r:embed="rId2" cstate="print">
            <a:lum bright="-20000" contrast="40000"/>
            <a:extLst>
              <a:ext uri="{28A0092B-C50C-407E-A947-70E740481C1C}">
                <a14:useLocalDpi xmlns:a14="http://schemas.microsoft.com/office/drawing/2010/main" val="0"/>
              </a:ext>
            </a:extLst>
          </a:blip>
          <a:srcRect/>
          <a:stretch>
            <a:fillRect/>
          </a:stretch>
        </p:blipFill>
        <p:spPr bwMode="auto">
          <a:xfrm>
            <a:off x="4729586" y="2239143"/>
            <a:ext cx="3810000"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0" name="Rectangle 6"/>
          <p:cNvSpPr>
            <a:spLocks noChangeArrowheads="1"/>
          </p:cNvSpPr>
          <p:nvPr/>
        </p:nvSpPr>
        <p:spPr bwMode="auto">
          <a:xfrm>
            <a:off x="4770419" y="1683786"/>
            <a:ext cx="3953326" cy="338554"/>
          </a:xfrm>
          <a:prstGeom prst="rect">
            <a:avLst/>
          </a:prstGeom>
          <a:noFill/>
          <a:ln w="9525">
            <a:noFill/>
            <a:miter lim="800000"/>
            <a:headEnd/>
            <a:tailEnd/>
          </a:ln>
          <a:effectLst/>
        </p:spPr>
        <p:txBody>
          <a:bodyPr wrap="none" anchor="ctr">
            <a:spAutoFit/>
          </a:bodyPr>
          <a:lstStyle/>
          <a:p>
            <a:pPr algn="ctr" eaLnBrk="1" hangingPunct="1">
              <a:defRPr/>
            </a:pPr>
            <a:r>
              <a:rPr lang="en-US" altLang="zh-TW" sz="1600" dirty="0">
                <a:solidFill>
                  <a:srgbClr val="008000"/>
                </a:solidFill>
                <a:effectLst>
                  <a:outerShdw blurRad="38100" dist="38100" dir="2700000" algn="tl">
                    <a:srgbClr val="C0C0C0"/>
                  </a:outerShdw>
                </a:effectLst>
                <a:latin typeface="Georgia" panose="02040502050405020303" pitchFamily="18" charset="0"/>
                <a:ea typeface="新細明體" pitchFamily="18" charset="-120"/>
              </a:rPr>
              <a:t>Ni, Fe and Cr are preliminarily identified.</a:t>
            </a:r>
          </a:p>
        </p:txBody>
      </p:sp>
      <p:sp>
        <p:nvSpPr>
          <p:cNvPr id="35845" name="Rectangle 7"/>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Qualitative analysis</a:t>
            </a:r>
          </a:p>
        </p:txBody>
      </p:sp>
      <p:sp>
        <p:nvSpPr>
          <p:cNvPr id="35846" name="Text Box 8"/>
          <p:cNvSpPr txBox="1">
            <a:spLocks noChangeArrowheads="1"/>
          </p:cNvSpPr>
          <p:nvPr/>
        </p:nvSpPr>
        <p:spPr bwMode="auto">
          <a:xfrm>
            <a:off x="2705143" y="831176"/>
            <a:ext cx="3733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a:latin typeface="Georgia" panose="02040502050405020303" pitchFamily="18" charset="0"/>
                <a:ea typeface="PMingLiU" pitchFamily="18" charset="-120"/>
              </a:rPr>
              <a:t>Element identification</a:t>
            </a:r>
          </a:p>
        </p:txBody>
      </p:sp>
      <p:grpSp>
        <p:nvGrpSpPr>
          <p:cNvPr id="4" name="Group 3">
            <a:extLst>
              <a:ext uri="{FF2B5EF4-FFF2-40B4-BE49-F238E27FC236}">
                <a16:creationId xmlns:a16="http://schemas.microsoft.com/office/drawing/2014/main" id="{09B2F508-3B2D-1BCE-AA4F-4745F216F491}"/>
              </a:ext>
            </a:extLst>
          </p:cNvPr>
          <p:cNvGrpSpPr/>
          <p:nvPr/>
        </p:nvGrpSpPr>
        <p:grpSpPr>
          <a:xfrm>
            <a:off x="192511" y="1472063"/>
            <a:ext cx="4538663" cy="5029200"/>
            <a:chOff x="228600" y="1600200"/>
            <a:chExt cx="4538663" cy="5029200"/>
          </a:xfrm>
        </p:grpSpPr>
        <p:pic>
          <p:nvPicPr>
            <p:cNvPr id="3584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981200"/>
              <a:ext cx="44196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10"/>
            <p:cNvSpPr>
              <a:spLocks noChangeArrowheads="1"/>
            </p:cNvSpPr>
            <p:nvPr/>
          </p:nvSpPr>
          <p:spPr bwMode="auto">
            <a:xfrm>
              <a:off x="228600" y="4495800"/>
              <a:ext cx="9906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endParaRPr lang="en-US" altLang="en-US">
                <a:latin typeface="Georgia" panose="02040502050405020303" pitchFamily="18" charset="0"/>
              </a:endParaRPr>
            </a:p>
          </p:txBody>
        </p:sp>
        <p:pic>
          <p:nvPicPr>
            <p:cNvPr id="35848"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600200"/>
              <a:ext cx="438626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9" name="Line 11"/>
            <p:cNvSpPr>
              <a:spLocks noChangeShapeType="1"/>
            </p:cNvSpPr>
            <p:nvPr/>
          </p:nvSpPr>
          <p:spPr bwMode="auto">
            <a:xfrm flipH="1">
              <a:off x="2093488" y="4876800"/>
              <a:ext cx="2338811" cy="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en-US">
                <a:latin typeface="Georgia" panose="02040502050405020303" pitchFamily="18" charset="0"/>
              </a:endParaRPr>
            </a:p>
          </p:txBody>
        </p:sp>
        <p:sp>
          <p:nvSpPr>
            <p:cNvPr id="35850" name="Line 12"/>
            <p:cNvSpPr>
              <a:spLocks noChangeShapeType="1"/>
            </p:cNvSpPr>
            <p:nvPr/>
          </p:nvSpPr>
          <p:spPr bwMode="auto">
            <a:xfrm flipH="1" flipV="1">
              <a:off x="1864888" y="4972051"/>
              <a:ext cx="2567411" cy="9524"/>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en-US">
                <a:latin typeface="Georgia" panose="02040502050405020303" pitchFamily="18" charset="0"/>
              </a:endParaRPr>
            </a:p>
          </p:txBody>
        </p:sp>
        <p:sp>
          <p:nvSpPr>
            <p:cNvPr id="35851" name="Line 13"/>
            <p:cNvSpPr>
              <a:spLocks noChangeShapeType="1"/>
            </p:cNvSpPr>
            <p:nvPr/>
          </p:nvSpPr>
          <p:spPr bwMode="auto">
            <a:xfrm flipH="1" flipV="1">
              <a:off x="1560088" y="5076824"/>
              <a:ext cx="2872210" cy="9525"/>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en-US">
                <a:latin typeface="Georgia" panose="02040502050405020303" pitchFamily="18" charset="0"/>
              </a:endParaRPr>
            </a:p>
          </p:txBody>
        </p:sp>
        <p:sp>
          <p:nvSpPr>
            <p:cNvPr id="35852" name="Rectangle 14"/>
            <p:cNvSpPr>
              <a:spLocks noChangeArrowheads="1"/>
            </p:cNvSpPr>
            <p:nvPr/>
          </p:nvSpPr>
          <p:spPr bwMode="auto">
            <a:xfrm>
              <a:off x="4429125" y="4781550"/>
              <a:ext cx="304800" cy="381000"/>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endParaRPr lang="en-US" altLang="en-US">
                <a:latin typeface="Georgia" panose="02040502050405020303" pitchFamily="18" charset="0"/>
              </a:endParaRPr>
            </a:p>
          </p:txBody>
        </p:sp>
      </p:grpSp>
      <p:sp>
        <p:nvSpPr>
          <p:cNvPr id="2" name="Rectangle 1"/>
          <p:cNvSpPr/>
          <p:nvPr/>
        </p:nvSpPr>
        <p:spPr>
          <a:xfrm>
            <a:off x="5105400" y="5297512"/>
            <a:ext cx="3412990" cy="584775"/>
          </a:xfrm>
          <a:prstGeom prst="rect">
            <a:avLst/>
          </a:prstGeom>
          <a:solidFill>
            <a:srgbClr val="FFFF00"/>
          </a:solidFill>
        </p:spPr>
        <p:txBody>
          <a:bodyPr wrap="square">
            <a:spAutoFit/>
          </a:bodyPr>
          <a:lstStyle/>
          <a:p>
            <a:r>
              <a:rPr lang="en-US" sz="1600" dirty="0">
                <a:solidFill>
                  <a:schemeClr val="accent5">
                    <a:lumMod val="50000"/>
                  </a:schemeClr>
                </a:solidFill>
                <a:latin typeface="Georgia" panose="02040502050405020303" pitchFamily="18" charset="0"/>
                <a:hlinkClick r:id="rId5"/>
              </a:rPr>
              <a:t>http://srdata.nist.gov/xps/main_search_menu.aspx</a:t>
            </a:r>
            <a:r>
              <a:rPr lang="en-US" sz="1600" dirty="0">
                <a:solidFill>
                  <a:schemeClr val="accent5">
                    <a:lumMod val="50000"/>
                  </a:schemeClr>
                </a:solidFill>
                <a:latin typeface="Georgia" panose="02040502050405020303" pitchFamily="18" charset="0"/>
              </a:rPr>
              <a:t> </a:t>
            </a:r>
          </a:p>
        </p:txBody>
      </p:sp>
      <p:sp>
        <p:nvSpPr>
          <p:cNvPr id="3" name="Slide Number Placeholder 2">
            <a:extLst>
              <a:ext uri="{FF2B5EF4-FFF2-40B4-BE49-F238E27FC236}">
                <a16:creationId xmlns:a16="http://schemas.microsoft.com/office/drawing/2014/main" id="{C0174CB1-A4DD-434C-ACE1-121B8B726F17}"/>
              </a:ext>
            </a:extLst>
          </p:cNvPr>
          <p:cNvSpPr>
            <a:spLocks noGrp="1"/>
          </p:cNvSpPr>
          <p:nvPr>
            <p:ph type="sldNum" sz="quarter" idx="11"/>
          </p:nvPr>
        </p:nvSpPr>
        <p:spPr/>
        <p:txBody>
          <a:bodyPr/>
          <a:lstStyle/>
          <a:p>
            <a:pPr>
              <a:defRPr/>
            </a:pPr>
            <a:fld id="{9A975D84-2197-4ABB-80EB-AE85607E50F0}" type="slidenum">
              <a:rPr lang="zh-TW" altLang="en-US" smtClean="0">
                <a:latin typeface="Georgia" panose="02040502050405020303" pitchFamily="18" charset="0"/>
              </a:rPr>
              <a:pPr>
                <a:defRPr/>
              </a:pPr>
              <a:t>38</a:t>
            </a:fld>
            <a:endParaRPr lang="en-US" altLang="zh-TW">
              <a:latin typeface="Georgia" panose="02040502050405020303"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752600"/>
            <a:ext cx="712470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5"/>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000" dirty="0">
                <a:solidFill>
                  <a:schemeClr val="bg1"/>
                </a:solidFill>
                <a:latin typeface="Georgia" panose="02040502050405020303" pitchFamily="18" charset="0"/>
                <a:ea typeface="PMingLiU" pitchFamily="18" charset="-120"/>
              </a:rPr>
              <a:t>Spectral interpretations – Qualitative analysis</a:t>
            </a:r>
          </a:p>
        </p:txBody>
      </p:sp>
      <p:sp>
        <p:nvSpPr>
          <p:cNvPr id="36868" name="Text Box 6"/>
          <p:cNvSpPr txBox="1">
            <a:spLocks noChangeArrowheads="1"/>
          </p:cNvSpPr>
          <p:nvPr/>
        </p:nvSpPr>
        <p:spPr bwMode="auto">
          <a:xfrm>
            <a:off x="2971800" y="914400"/>
            <a:ext cx="32223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latin typeface="Georgia" panose="02040502050405020303" pitchFamily="18" charset="0"/>
                <a:ea typeface="PMingLiU" pitchFamily="18" charset="-120"/>
              </a:rPr>
              <a:t>Element identification</a:t>
            </a:r>
          </a:p>
        </p:txBody>
      </p:sp>
      <p:sp>
        <p:nvSpPr>
          <p:cNvPr id="2" name="Slide Number Placeholder 1">
            <a:extLst>
              <a:ext uri="{FF2B5EF4-FFF2-40B4-BE49-F238E27FC236}">
                <a16:creationId xmlns:a16="http://schemas.microsoft.com/office/drawing/2014/main" id="{A73CAB67-E8DD-415A-BCB5-84F4A54F3AE7}"/>
              </a:ext>
            </a:extLst>
          </p:cNvPr>
          <p:cNvSpPr>
            <a:spLocks noGrp="1"/>
          </p:cNvSpPr>
          <p:nvPr>
            <p:ph type="sldNum" sz="quarter" idx="11"/>
          </p:nvPr>
        </p:nvSpPr>
        <p:spPr/>
        <p:txBody>
          <a:bodyPr/>
          <a:lstStyle/>
          <a:p>
            <a:pPr>
              <a:defRPr/>
            </a:pPr>
            <a:fld id="{9A975D84-2197-4ABB-80EB-AE85607E50F0}" type="slidenum">
              <a:rPr lang="zh-TW" altLang="en-US" smtClean="0"/>
              <a:pPr>
                <a:defRPr/>
              </a:pPr>
              <a:t>39</a:t>
            </a:fld>
            <a:endParaRPr lang="en-US" altLang="zh-TW"/>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noChangeArrowheads="1"/>
          </p:cNvPicPr>
          <p:nvPr/>
        </p:nvPicPr>
        <p:blipFill>
          <a:blip r:embed="rId3" cstate="print">
            <a:lum bright="-20000" contrast="40000"/>
            <a:extLst>
              <a:ext uri="{28A0092B-C50C-407E-A947-70E740481C1C}">
                <a14:useLocalDpi xmlns:a14="http://schemas.microsoft.com/office/drawing/2010/main" val="0"/>
              </a:ext>
            </a:extLst>
          </a:blip>
          <a:srcRect/>
          <a:stretch>
            <a:fillRect/>
          </a:stretch>
        </p:blipFill>
        <p:spPr bwMode="auto">
          <a:xfrm>
            <a:off x="609600" y="1633538"/>
            <a:ext cx="4249738"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1" name="Picture 5"/>
          <p:cNvPicPr>
            <a:picLocks noChangeAspect="1" noChangeArrowheads="1"/>
          </p:cNvPicPr>
          <p:nvPr/>
        </p:nvPicPr>
        <p:blipFill>
          <a:blip r:embed="rId4" cstate="print">
            <a:lum bright="-20000" contrast="40000"/>
            <a:extLst>
              <a:ext uri="{28A0092B-C50C-407E-A947-70E740481C1C}">
                <a14:useLocalDpi xmlns:a14="http://schemas.microsoft.com/office/drawing/2010/main" val="0"/>
              </a:ext>
            </a:extLst>
          </a:blip>
          <a:srcRect/>
          <a:stretch>
            <a:fillRect/>
          </a:stretch>
        </p:blipFill>
        <p:spPr bwMode="auto">
          <a:xfrm>
            <a:off x="609600" y="4033838"/>
            <a:ext cx="4114800"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6"/>
          <p:cNvPicPr>
            <a:picLocks noChangeAspect="1" noChangeArrowheads="1"/>
          </p:cNvPicPr>
          <p:nvPr/>
        </p:nvPicPr>
        <p:blipFill>
          <a:blip r:embed="rId5" cstate="print">
            <a:lum bright="-20000" contrast="40000"/>
            <a:extLst>
              <a:ext uri="{28A0092B-C50C-407E-A947-70E740481C1C}">
                <a14:useLocalDpi xmlns:a14="http://schemas.microsoft.com/office/drawing/2010/main" val="0"/>
              </a:ext>
            </a:extLst>
          </a:blip>
          <a:srcRect/>
          <a:stretch>
            <a:fillRect/>
          </a:stretch>
        </p:blipFill>
        <p:spPr bwMode="auto">
          <a:xfrm>
            <a:off x="5486400" y="3733800"/>
            <a:ext cx="2595563"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9" name="Text Box 7"/>
          <p:cNvSpPr txBox="1">
            <a:spLocks noChangeArrowheads="1"/>
          </p:cNvSpPr>
          <p:nvPr/>
        </p:nvSpPr>
        <p:spPr bwMode="auto">
          <a:xfrm>
            <a:off x="4953000" y="1702832"/>
            <a:ext cx="3733800" cy="1692771"/>
          </a:xfrm>
          <a:prstGeom prst="rect">
            <a:avLst/>
          </a:prstGeom>
          <a:noFill/>
          <a:ln w="9525">
            <a:noFill/>
            <a:miter lim="800000"/>
            <a:headEnd/>
            <a:tailEnd/>
          </a:ln>
          <a:effectLst/>
        </p:spPr>
        <p:txBody>
          <a:bodyPr>
            <a:spAutoFit/>
          </a:bodyPr>
          <a:lstStyle/>
          <a:p>
            <a:pPr marL="285750" indent="-285750" algn="just">
              <a:spcBef>
                <a:spcPct val="50000"/>
              </a:spcBef>
              <a:buFont typeface="Arial" panose="020B0604020202020204" pitchFamily="34" charset="0"/>
              <a:buChar char="•"/>
              <a:defRPr/>
            </a:pPr>
            <a:r>
              <a:rPr lang="en-US" altLang="zh-TW" sz="1600" dirty="0">
                <a:latin typeface="Georgia" panose="02040502050405020303" pitchFamily="18" charset="0"/>
                <a:ea typeface="PMingLiU" pitchFamily="18" charset="-120"/>
              </a:rPr>
              <a:t>The energy position and shape of an Auger peak contains information about the chemical environment. </a:t>
            </a:r>
          </a:p>
          <a:p>
            <a:pPr marL="285750" indent="-285750" algn="just">
              <a:spcBef>
                <a:spcPct val="50000"/>
              </a:spcBef>
              <a:buFont typeface="Arial" panose="020B0604020202020204" pitchFamily="34" charset="0"/>
              <a:buChar char="•"/>
              <a:defRPr/>
            </a:pPr>
            <a:r>
              <a:rPr lang="en-US" altLang="zh-TW" sz="1600" dirty="0">
                <a:latin typeface="Georgia" panose="02040502050405020303" pitchFamily="18" charset="0"/>
                <a:ea typeface="PMingLiU" pitchFamily="18" charset="-120"/>
              </a:rPr>
              <a:t>Theoretical predictions are difficult.  Reference spectra are often used for comparison.</a:t>
            </a:r>
            <a:endParaRPr lang="zh-TW" altLang="en-US" sz="1600" dirty="0">
              <a:latin typeface="Georgia" panose="02040502050405020303" pitchFamily="18" charset="0"/>
              <a:ea typeface="PMingLiU" pitchFamily="18" charset="-120"/>
            </a:endParaRPr>
          </a:p>
        </p:txBody>
      </p:sp>
      <p:sp>
        <p:nvSpPr>
          <p:cNvPr id="37894" name="Rectangle 8"/>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Qualitative analysis</a:t>
            </a:r>
          </a:p>
        </p:txBody>
      </p:sp>
      <p:sp>
        <p:nvSpPr>
          <p:cNvPr id="37895" name="Text Box 9"/>
          <p:cNvSpPr txBox="1">
            <a:spLocks noChangeArrowheads="1"/>
          </p:cNvSpPr>
          <p:nvPr/>
        </p:nvSpPr>
        <p:spPr bwMode="auto">
          <a:xfrm>
            <a:off x="2438400" y="884499"/>
            <a:ext cx="38843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latin typeface="Georgia" panose="02040502050405020303" pitchFamily="18" charset="0"/>
                <a:ea typeface="PMingLiU" pitchFamily="18" charset="-120"/>
              </a:rPr>
              <a:t>Chemical state information</a:t>
            </a:r>
          </a:p>
        </p:txBody>
      </p:sp>
      <p:sp>
        <p:nvSpPr>
          <p:cNvPr id="2" name="Slide Number Placeholder 1">
            <a:extLst>
              <a:ext uri="{FF2B5EF4-FFF2-40B4-BE49-F238E27FC236}">
                <a16:creationId xmlns:a16="http://schemas.microsoft.com/office/drawing/2014/main" id="{FB6917A4-F198-4690-BABA-086B60E599AD}"/>
              </a:ext>
            </a:extLst>
          </p:cNvPr>
          <p:cNvSpPr>
            <a:spLocks noGrp="1"/>
          </p:cNvSpPr>
          <p:nvPr>
            <p:ph type="sldNum" sz="quarter" idx="11"/>
          </p:nvPr>
        </p:nvSpPr>
        <p:spPr/>
        <p:txBody>
          <a:bodyPr/>
          <a:lstStyle/>
          <a:p>
            <a:pPr>
              <a:defRPr/>
            </a:pPr>
            <a:fld id="{9A975D84-2197-4ABB-80EB-AE85607E50F0}" type="slidenum">
              <a:rPr lang="zh-TW" altLang="en-US" smtClean="0">
                <a:latin typeface="Georgia" panose="02040502050405020303" pitchFamily="18" charset="0"/>
              </a:rPr>
              <a:pPr>
                <a:defRPr/>
              </a:pPr>
              <a:t>40</a:t>
            </a:fld>
            <a:endParaRPr lang="en-US" altLang="zh-TW">
              <a:latin typeface="Georgia" panose="02040502050405020303"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762000" y="990600"/>
            <a:ext cx="7331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b="1" dirty="0">
                <a:solidFill>
                  <a:srgbClr val="0000FF"/>
                </a:solidFill>
                <a:latin typeface="Georgia" panose="02040502050405020303" pitchFamily="18" charset="0"/>
                <a:ea typeface="宋体" pitchFamily="2" charset="-122"/>
              </a:rPr>
              <a:t>Chemical shift</a:t>
            </a:r>
            <a:r>
              <a:rPr lang="en-US" altLang="zh-CN" sz="2000" b="1" dirty="0">
                <a:latin typeface="Georgia" panose="02040502050405020303" pitchFamily="18" charset="0"/>
                <a:ea typeface="宋体" pitchFamily="2" charset="-122"/>
              </a:rPr>
              <a:t>.</a:t>
            </a:r>
            <a:r>
              <a:rPr lang="en-US" altLang="zh-CN" sz="2000" dirty="0">
                <a:latin typeface="Georgia" panose="02040502050405020303" pitchFamily="18" charset="0"/>
                <a:ea typeface="宋体" pitchFamily="2" charset="-122"/>
              </a:rPr>
              <a:t> The chemical shift could be quite complex since 3 orbitals are involved in a single Auger transition.</a:t>
            </a:r>
          </a:p>
        </p:txBody>
      </p:sp>
      <p:sp>
        <p:nvSpPr>
          <p:cNvPr id="38915" name="Text Box 3"/>
          <p:cNvSpPr txBox="1">
            <a:spLocks noChangeArrowheads="1"/>
          </p:cNvSpPr>
          <p:nvPr/>
        </p:nvSpPr>
        <p:spPr bwMode="auto">
          <a:xfrm>
            <a:off x="762000" y="2734307"/>
            <a:ext cx="37417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b="1" dirty="0">
                <a:solidFill>
                  <a:srgbClr val="0000FF"/>
                </a:solidFill>
                <a:latin typeface="Georgia" panose="02040502050405020303" pitchFamily="18" charset="0"/>
                <a:ea typeface="宋体" pitchFamily="2" charset="-122"/>
              </a:rPr>
              <a:t>Auger Line shape Analysis:</a:t>
            </a:r>
          </a:p>
        </p:txBody>
      </p:sp>
      <p:pic>
        <p:nvPicPr>
          <p:cNvPr id="3891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1707819"/>
            <a:ext cx="3505200" cy="2475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6" descr="diamspe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908" y="3263111"/>
            <a:ext cx="24542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Text Box 7"/>
          <p:cNvSpPr txBox="1">
            <a:spLocks noChangeArrowheads="1"/>
          </p:cNvSpPr>
          <p:nvPr/>
        </p:nvSpPr>
        <p:spPr bwMode="auto">
          <a:xfrm>
            <a:off x="3657600" y="4372119"/>
            <a:ext cx="51212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solidFill>
                  <a:srgbClr val="0000FF"/>
                </a:solidFill>
                <a:latin typeface="Georgia" panose="02040502050405020303" pitchFamily="18" charset="0"/>
                <a:ea typeface="宋体" pitchFamily="2" charset="-122"/>
              </a:rPr>
              <a:t>If the valence band is involved.</a:t>
            </a:r>
          </a:p>
          <a:p>
            <a:r>
              <a:rPr lang="en-US" altLang="zh-CN" sz="2000" dirty="0">
                <a:latin typeface="Georgia" panose="02040502050405020303" pitchFamily="18" charset="0"/>
                <a:ea typeface="宋体" pitchFamily="2" charset="-122"/>
              </a:rPr>
              <a:t>Density of state(DOS) of the band will affect the peak shape and width.</a:t>
            </a:r>
          </a:p>
          <a:p>
            <a:r>
              <a:rPr lang="en-US" altLang="zh-CN" sz="2000" dirty="0">
                <a:solidFill>
                  <a:srgbClr val="0000FF"/>
                </a:solidFill>
                <a:latin typeface="Georgia" panose="02040502050405020303" pitchFamily="18" charset="0"/>
                <a:ea typeface="宋体" pitchFamily="2" charset="-122"/>
              </a:rPr>
              <a:t>The energy loss mechanism changed</a:t>
            </a:r>
          </a:p>
          <a:p>
            <a:r>
              <a:rPr lang="en-US" altLang="zh-CN" sz="2000" dirty="0">
                <a:latin typeface="Georgia" panose="02040502050405020303" pitchFamily="18" charset="0"/>
                <a:ea typeface="宋体" pitchFamily="2" charset="-122"/>
              </a:rPr>
              <a:t>The shape of the low energy part of the peak will also change.</a:t>
            </a:r>
          </a:p>
        </p:txBody>
      </p:sp>
      <p:sp>
        <p:nvSpPr>
          <p:cNvPr id="38920" name="Rectangle 9"/>
          <p:cNvSpPr>
            <a:spLocks noChangeArrowheads="1"/>
          </p:cNvSpPr>
          <p:nvPr/>
        </p:nvSpPr>
        <p:spPr bwMode="auto">
          <a:xfrm>
            <a:off x="1295400" y="2057400"/>
            <a:ext cx="29225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b="1" dirty="0">
                <a:latin typeface="Georgia" panose="02040502050405020303" pitchFamily="18" charset="0"/>
                <a:ea typeface="宋体" pitchFamily="2" charset="-122"/>
              </a:rPr>
              <a:t>KE = ( E</a:t>
            </a:r>
            <a:r>
              <a:rPr lang="en-US" altLang="zh-CN" sz="2000" baseline="-25000" dirty="0">
                <a:latin typeface="Georgia" panose="02040502050405020303" pitchFamily="18" charset="0"/>
                <a:ea typeface="宋体" pitchFamily="2" charset="-122"/>
              </a:rPr>
              <a:t>K</a:t>
            </a:r>
            <a:r>
              <a:rPr lang="en-US" altLang="zh-CN" sz="2000" b="1" dirty="0">
                <a:latin typeface="Georgia" panose="02040502050405020303" pitchFamily="18" charset="0"/>
                <a:ea typeface="宋体" pitchFamily="2" charset="-122"/>
              </a:rPr>
              <a:t> – E</a:t>
            </a:r>
            <a:r>
              <a:rPr lang="en-US" altLang="zh-CN" sz="2000" baseline="-25000" dirty="0">
                <a:latin typeface="Georgia" panose="02040502050405020303" pitchFamily="18" charset="0"/>
                <a:ea typeface="宋体" pitchFamily="2" charset="-122"/>
              </a:rPr>
              <a:t>L2</a:t>
            </a:r>
            <a:r>
              <a:rPr lang="en-US" altLang="zh-CN" sz="2000" b="1" dirty="0">
                <a:latin typeface="Georgia" panose="02040502050405020303" pitchFamily="18" charset="0"/>
                <a:ea typeface="宋体" pitchFamily="2" charset="-122"/>
              </a:rPr>
              <a:t> ) - E</a:t>
            </a:r>
            <a:r>
              <a:rPr lang="en-US" altLang="zh-CN" sz="2000" baseline="-25000" dirty="0">
                <a:latin typeface="Georgia" panose="02040502050405020303" pitchFamily="18" charset="0"/>
                <a:ea typeface="宋体" pitchFamily="2" charset="-122"/>
              </a:rPr>
              <a:t>L3</a:t>
            </a:r>
            <a:r>
              <a:rPr lang="en-US" altLang="zh-CN" sz="2000" dirty="0">
                <a:latin typeface="Georgia" panose="02040502050405020303" pitchFamily="18" charset="0"/>
                <a:ea typeface="宋体" pitchFamily="2" charset="-122"/>
              </a:rPr>
              <a:t> </a:t>
            </a:r>
            <a:endParaRPr lang="zh-CN" altLang="en-US" sz="2000" dirty="0">
              <a:latin typeface="Georgia" panose="02040502050405020303" pitchFamily="18" charset="0"/>
              <a:ea typeface="宋体" pitchFamily="2" charset="-122"/>
            </a:endParaRPr>
          </a:p>
        </p:txBody>
      </p:sp>
      <p:sp>
        <p:nvSpPr>
          <p:cNvPr id="2" name="Slide Number Placeholder 1">
            <a:extLst>
              <a:ext uri="{FF2B5EF4-FFF2-40B4-BE49-F238E27FC236}">
                <a16:creationId xmlns:a16="http://schemas.microsoft.com/office/drawing/2014/main" id="{0594E699-ACF7-432F-895E-80F2595040DC}"/>
              </a:ext>
            </a:extLst>
          </p:cNvPr>
          <p:cNvSpPr>
            <a:spLocks noGrp="1"/>
          </p:cNvSpPr>
          <p:nvPr>
            <p:ph type="sldNum" sz="quarter" idx="11"/>
          </p:nvPr>
        </p:nvSpPr>
        <p:spPr>
          <a:xfrm>
            <a:off x="6858000" y="6288020"/>
            <a:ext cx="2133600" cy="457200"/>
          </a:xfrm>
        </p:spPr>
        <p:txBody>
          <a:bodyPr/>
          <a:lstStyle/>
          <a:p>
            <a:pPr>
              <a:defRPr/>
            </a:pPr>
            <a:fld id="{9A975D84-2197-4ABB-80EB-AE85607E50F0}" type="slidenum">
              <a:rPr lang="zh-TW" altLang="en-US" smtClean="0">
                <a:latin typeface="Georgia" panose="02040502050405020303" pitchFamily="18" charset="0"/>
              </a:rPr>
              <a:pPr>
                <a:defRPr/>
              </a:pPr>
              <a:t>41</a:t>
            </a:fld>
            <a:endParaRPr lang="en-US" altLang="zh-TW" dirty="0">
              <a:latin typeface="Georgia" panose="02040502050405020303" pitchFamily="18" charset="0"/>
            </a:endParaRPr>
          </a:p>
        </p:txBody>
      </p:sp>
      <p:sp>
        <p:nvSpPr>
          <p:cNvPr id="3" name="Rectangle 5">
            <a:extLst>
              <a:ext uri="{FF2B5EF4-FFF2-40B4-BE49-F238E27FC236}">
                <a16:creationId xmlns:a16="http://schemas.microsoft.com/office/drawing/2014/main" id="{FB1AA450-54AF-3D6E-7736-C94CDC38406E}"/>
              </a:ext>
            </a:extLst>
          </p:cNvPr>
          <p:cNvSpPr>
            <a:spLocks noChangeArrowheads="1"/>
          </p:cNvSpPr>
          <p:nvPr/>
        </p:nvSpPr>
        <p:spPr bwMode="auto">
          <a:xfrm>
            <a:off x="549275" y="226601"/>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Qualitative </a:t>
            </a:r>
            <a:r>
              <a:rPr lang="en-US" altLang="zh-TW" sz="2400" dirty="0">
                <a:solidFill>
                  <a:schemeClr val="bg2">
                    <a:lumMod val="40000"/>
                    <a:lumOff val="60000"/>
                  </a:schemeClr>
                </a:solidFill>
                <a:latin typeface="Georgia" panose="02040502050405020303" pitchFamily="18" charset="0"/>
                <a:ea typeface="PMingLiU" pitchFamily="18" charset="-120"/>
              </a:rPr>
              <a:t>analysis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9A36-7E4D-A293-EEE3-612F546B9B13}"/>
            </a:ext>
          </a:extLst>
        </p:cNvPr>
        <p:cNvGrpSpPr/>
        <p:nvPr/>
      </p:nvGrpSpPr>
      <p:grpSpPr>
        <a:xfrm>
          <a:off x="0" y="0"/>
          <a:ext cx="0" cy="0"/>
          <a:chOff x="0" y="0"/>
          <a:chExt cx="0" cy="0"/>
        </a:xfrm>
      </p:grpSpPr>
      <p:sp>
        <p:nvSpPr>
          <p:cNvPr id="32771" name="Text Box 5">
            <a:extLst>
              <a:ext uri="{FF2B5EF4-FFF2-40B4-BE49-F238E27FC236}">
                <a16:creationId xmlns:a16="http://schemas.microsoft.com/office/drawing/2014/main" id="{0A076B0F-2EEE-DFCB-33CF-F4FCD909A8CF}"/>
              </a:ext>
            </a:extLst>
          </p:cNvPr>
          <p:cNvSpPr txBox="1">
            <a:spLocks noChangeArrowheads="1"/>
          </p:cNvSpPr>
          <p:nvPr/>
        </p:nvSpPr>
        <p:spPr bwMode="auto">
          <a:xfrm>
            <a:off x="228600" y="1350898"/>
            <a:ext cx="8382000"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6213" indent="-176213">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lgn="just">
              <a:spcBef>
                <a:spcPct val="50000"/>
              </a:spcBef>
              <a:buFont typeface="Arial" panose="020B0604020202020204" pitchFamily="34" charset="0"/>
              <a:buChar char="•"/>
            </a:pPr>
            <a:r>
              <a:rPr lang="en-US" altLang="zh-TW" sz="2000" dirty="0">
                <a:latin typeface="Georgia" panose="02040502050405020303" pitchFamily="18" charset="0"/>
                <a:ea typeface="PMingLiU" pitchFamily="18" charset="-120"/>
              </a:rPr>
              <a:t>Auger transition of a given type can be initiated only after a given core electron is ionized.</a:t>
            </a:r>
          </a:p>
          <a:p>
            <a:pPr marL="342900" indent="-342900" algn="just">
              <a:spcBef>
                <a:spcPct val="50000"/>
              </a:spcBef>
              <a:buFont typeface="Arial" panose="020B0604020202020204" pitchFamily="34" charset="0"/>
              <a:buChar char="•"/>
            </a:pPr>
            <a:r>
              <a:rPr lang="en-US" altLang="zh-TW" sz="2000" dirty="0">
                <a:latin typeface="Georgia" panose="02040502050405020303" pitchFamily="18" charset="0"/>
                <a:ea typeface="PMingLiU" pitchFamily="18" charset="-120"/>
              </a:rPr>
              <a:t>A minimum (threshold) energy E</a:t>
            </a:r>
            <a:r>
              <a:rPr lang="en-US" altLang="zh-TW" sz="2000" baseline="-25000" dirty="0">
                <a:latin typeface="Georgia" panose="02040502050405020303" pitchFamily="18" charset="0"/>
                <a:ea typeface="PMingLiU" pitchFamily="18" charset="-120"/>
              </a:rPr>
              <a:t>th</a:t>
            </a:r>
            <a:r>
              <a:rPr lang="en-US" altLang="zh-TW" sz="2000" dirty="0">
                <a:latin typeface="Georgia" panose="02040502050405020303" pitchFamily="18" charset="0"/>
                <a:ea typeface="PMingLiU" pitchFamily="18" charset="-120"/>
              </a:rPr>
              <a:t> is required for the incident electrons for the intended excitation</a:t>
            </a:r>
          </a:p>
          <a:p>
            <a:pPr marL="0" indent="0" algn="just">
              <a:spcBef>
                <a:spcPct val="50000"/>
              </a:spcBef>
            </a:pPr>
            <a:endParaRPr lang="en-US" altLang="zh-TW" sz="2000" dirty="0">
              <a:latin typeface="Georgia" panose="02040502050405020303" pitchFamily="18" charset="0"/>
              <a:ea typeface="PMingLiU" pitchFamily="18" charset="-120"/>
            </a:endParaRPr>
          </a:p>
          <a:p>
            <a:pPr marL="0" indent="0" algn="just">
              <a:spcBef>
                <a:spcPct val="50000"/>
              </a:spcBef>
            </a:pPr>
            <a:endParaRPr lang="zh-TW" altLang="en-US" sz="2000" dirty="0">
              <a:latin typeface="Georgia" panose="02040502050405020303" pitchFamily="18" charset="0"/>
              <a:ea typeface="PMingLiU" pitchFamily="18" charset="-120"/>
            </a:endParaRPr>
          </a:p>
        </p:txBody>
      </p:sp>
      <p:sp>
        <p:nvSpPr>
          <p:cNvPr id="32772" name="Rectangle 6">
            <a:extLst>
              <a:ext uri="{FF2B5EF4-FFF2-40B4-BE49-F238E27FC236}">
                <a16:creationId xmlns:a16="http://schemas.microsoft.com/office/drawing/2014/main" id="{73AB5625-97C6-68E9-97FD-B9ABF679E46B}"/>
              </a:ext>
            </a:extLst>
          </p:cNvPr>
          <p:cNvSpPr>
            <a:spLocks noChangeArrowheads="1"/>
          </p:cNvSpPr>
          <p:nvPr/>
        </p:nvSpPr>
        <p:spPr bwMode="auto">
          <a:xfrm>
            <a:off x="473529" y="200016"/>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t>
            </a:r>
            <a:r>
              <a:rPr lang="en-US" altLang="zh-TW" sz="2400" dirty="0">
                <a:solidFill>
                  <a:schemeClr val="bg2">
                    <a:lumMod val="40000"/>
                    <a:lumOff val="60000"/>
                  </a:schemeClr>
                </a:solidFill>
                <a:latin typeface="Georgia" panose="02040502050405020303" pitchFamily="18" charset="0"/>
                <a:ea typeface="PMingLiU" pitchFamily="18" charset="-120"/>
              </a:rPr>
              <a:t>analysis</a:t>
            </a:r>
          </a:p>
        </p:txBody>
      </p:sp>
      <p:sp>
        <p:nvSpPr>
          <p:cNvPr id="32773" name="Text Box 7">
            <a:extLst>
              <a:ext uri="{FF2B5EF4-FFF2-40B4-BE49-F238E27FC236}">
                <a16:creationId xmlns:a16="http://schemas.microsoft.com/office/drawing/2014/main" id="{95FE40D2-B194-4824-DF8A-BDD661E77471}"/>
              </a:ext>
            </a:extLst>
          </p:cNvPr>
          <p:cNvSpPr txBox="1">
            <a:spLocks noChangeArrowheads="1"/>
          </p:cNvSpPr>
          <p:nvPr/>
        </p:nvSpPr>
        <p:spPr bwMode="auto">
          <a:xfrm>
            <a:off x="2209800" y="783989"/>
            <a:ext cx="39741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Ionization cross-section</a:t>
            </a:r>
          </a:p>
        </p:txBody>
      </p:sp>
      <p:sp>
        <p:nvSpPr>
          <p:cNvPr id="2" name="Slide Number Placeholder 1">
            <a:extLst>
              <a:ext uri="{FF2B5EF4-FFF2-40B4-BE49-F238E27FC236}">
                <a16:creationId xmlns:a16="http://schemas.microsoft.com/office/drawing/2014/main" id="{955B1AEE-5964-02B9-9A71-840676E82D87}"/>
              </a:ext>
            </a:extLst>
          </p:cNvPr>
          <p:cNvSpPr>
            <a:spLocks noGrp="1"/>
          </p:cNvSpPr>
          <p:nvPr>
            <p:ph type="sldNum" sz="quarter" idx="11"/>
          </p:nvPr>
        </p:nvSpPr>
        <p:spPr/>
        <p:txBody>
          <a:bodyPr/>
          <a:lstStyle/>
          <a:p>
            <a:pPr>
              <a:defRPr/>
            </a:pPr>
            <a:fld id="{9A975D84-2197-4ABB-80EB-AE85607E50F0}" type="slidenum">
              <a:rPr lang="zh-TW" altLang="en-US" smtClean="0"/>
              <a:pPr>
                <a:defRPr/>
              </a:pPr>
              <a:t>42</a:t>
            </a:fld>
            <a:endParaRPr lang="en-US" altLang="zh-TW"/>
          </a:p>
        </p:txBody>
      </p:sp>
      <mc:AlternateContent xmlns:mc="http://schemas.openxmlformats.org/markup-compatibility/2006" xmlns:a14="http://schemas.microsoft.com/office/drawing/2010/main">
        <mc:Choice Requires="a14">
          <p:sp>
            <p:nvSpPr>
              <p:cNvPr id="3" name="Text Box 5">
                <a:extLst>
                  <a:ext uri="{FF2B5EF4-FFF2-40B4-BE49-F238E27FC236}">
                    <a16:creationId xmlns:a16="http://schemas.microsoft.com/office/drawing/2014/main" id="{231FF409-CB41-D6CA-62EA-017B3E3957BA}"/>
                  </a:ext>
                </a:extLst>
              </p:cNvPr>
              <p:cNvSpPr txBox="1">
                <a:spLocks noChangeArrowheads="1"/>
              </p:cNvSpPr>
              <p:nvPr/>
            </p:nvSpPr>
            <p:spPr bwMode="auto">
              <a:xfrm>
                <a:off x="228600" y="2895600"/>
                <a:ext cx="4548806" cy="409342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176213" indent="-176213">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lgn="just">
                  <a:spcBef>
                    <a:spcPct val="50000"/>
                  </a:spcBef>
                  <a:buFont typeface="Arial" panose="020B0604020202020204" pitchFamily="34" charset="0"/>
                  <a:buChar char="•"/>
                </a:pPr>
                <a:r>
                  <a:rPr lang="en-US" altLang="zh-TW" sz="2000" dirty="0">
                    <a:latin typeface="Georgia" panose="02040502050405020303" pitchFamily="18" charset="0"/>
                    <a:ea typeface="PMingLiU" pitchFamily="18" charset="-120"/>
                  </a:rPr>
                  <a:t>Above E</a:t>
                </a:r>
                <a:r>
                  <a:rPr lang="en-US" altLang="zh-TW" sz="2000" baseline="-25000" dirty="0">
                    <a:latin typeface="Georgia" panose="02040502050405020303" pitchFamily="18" charset="0"/>
                    <a:ea typeface="PMingLiU" pitchFamily="18" charset="-120"/>
                  </a:rPr>
                  <a:t>th</a:t>
                </a:r>
                <a:r>
                  <a:rPr lang="en-US" altLang="zh-TW" sz="2000" dirty="0">
                    <a:latin typeface="Georgia" panose="02040502050405020303" pitchFamily="18" charset="0"/>
                    <a:ea typeface="PMingLiU" pitchFamily="18" charset="-120"/>
                  </a:rPr>
                  <a:t>, the rate of  ionization is directly proportional to the incident electron flux </a:t>
                </a:r>
                <a14:m>
                  <m:oMath xmlns:m="http://schemas.openxmlformats.org/officeDocument/2006/math">
                    <m:r>
                      <a:rPr lang="en-HK" sz="2000" i="1">
                        <a:latin typeface="Cambria Math" panose="02040503050406030204" pitchFamily="18" charset="0"/>
                        <a:ea typeface="Cambria Math" panose="02040503050406030204" pitchFamily="18" charset="0"/>
                      </a:rPr>
                      <m:t>𝜑</m:t>
                    </m:r>
                  </m:oMath>
                </a14:m>
                <a:r>
                  <a:rPr lang="en-US" altLang="zh-TW" sz="2000" dirty="0">
                    <a:latin typeface="Georgia" panose="02040502050405020303" pitchFamily="18" charset="0"/>
                    <a:ea typeface="PMingLiU" pitchFamily="18" charset="-120"/>
                  </a:rPr>
                  <a:t> and the number of atoms per unit volume n</a:t>
                </a:r>
              </a:p>
              <a:p>
                <a:pPr marL="342900" indent="-342900" algn="just">
                  <a:spcBef>
                    <a:spcPct val="50000"/>
                  </a:spcBef>
                  <a:buFont typeface="Arial" panose="020B0604020202020204" pitchFamily="34" charset="0"/>
                  <a:buChar char="•"/>
                </a:pPr>
                <a:endParaRPr lang="en-US" altLang="zh-TW" sz="2000" dirty="0">
                  <a:latin typeface="Georgia" panose="02040502050405020303" pitchFamily="18" charset="0"/>
                  <a:ea typeface="PMingLiU" pitchFamily="18" charset="-120"/>
                </a:endParaRPr>
              </a:p>
              <a:p>
                <a:pPr marL="342900" indent="-342900" algn="just">
                  <a:spcBef>
                    <a:spcPct val="50000"/>
                  </a:spcBef>
                  <a:buFont typeface="Arial" panose="020B0604020202020204" pitchFamily="34" charset="0"/>
                  <a:buChar char="•"/>
                </a:pPr>
                <a:endParaRPr lang="en-US" altLang="zh-TW" sz="2000" dirty="0">
                  <a:latin typeface="Georgia" panose="02040502050405020303" pitchFamily="18" charset="0"/>
                  <a:ea typeface="PMingLiU" pitchFamily="18" charset="-120"/>
                </a:endParaRPr>
              </a:p>
              <a:p>
                <a:pPr marL="342900" indent="-342900" algn="just">
                  <a:spcBef>
                    <a:spcPct val="50000"/>
                  </a:spcBef>
                  <a:buFont typeface="Arial" panose="020B0604020202020204" pitchFamily="34" charset="0"/>
                  <a:buChar char="•"/>
                </a:pPr>
                <a:r>
                  <a:rPr lang="en-US" altLang="zh-TW" sz="2000" dirty="0">
                    <a:latin typeface="Georgia" panose="02040502050405020303" pitchFamily="18" charset="0"/>
                    <a:ea typeface="PMingLiU" pitchFamily="18" charset="-120"/>
                  </a:rPr>
                  <a:t>The ionization cross-section </a:t>
                </a:r>
                <a14:m>
                  <m:oMath xmlns:m="http://schemas.openxmlformats.org/officeDocument/2006/math">
                    <m:r>
                      <a:rPr lang="en-HK" sz="2000" i="1">
                        <a:latin typeface="Cambria Math" panose="02040503050406030204" pitchFamily="18" charset="0"/>
                        <a:ea typeface="Cambria Math" panose="02040503050406030204" pitchFamily="18" charset="0"/>
                      </a:rPr>
                      <m:t>𝜎</m:t>
                    </m:r>
                  </m:oMath>
                </a14:m>
                <a:r>
                  <a:rPr lang="en-US" altLang="zh-TW" sz="2000" dirty="0">
                    <a:latin typeface="Georgia" panose="02040502050405020303" pitchFamily="18" charset="0"/>
                    <a:ea typeface="PMingLiU" pitchFamily="18" charset="-120"/>
                  </a:rPr>
                  <a:t> first increase with the incident electron energy and peaks when the incident energy is 3-5 times of E</a:t>
                </a:r>
                <a:r>
                  <a:rPr lang="en-US" altLang="zh-TW" sz="2000" baseline="-25000" dirty="0">
                    <a:latin typeface="Georgia" panose="02040502050405020303" pitchFamily="18" charset="0"/>
                    <a:ea typeface="PMingLiU" pitchFamily="18" charset="-120"/>
                  </a:rPr>
                  <a:t>th</a:t>
                </a:r>
              </a:p>
              <a:p>
                <a:pPr marL="0" indent="0" algn="just">
                  <a:spcBef>
                    <a:spcPct val="50000"/>
                  </a:spcBef>
                </a:pPr>
                <a:endParaRPr lang="zh-TW" altLang="en-US" sz="2000" dirty="0">
                  <a:latin typeface="Georgia" panose="02040502050405020303" pitchFamily="18" charset="0"/>
                  <a:ea typeface="PMingLiU" pitchFamily="18" charset="-120"/>
                </a:endParaRPr>
              </a:p>
            </p:txBody>
          </p:sp>
        </mc:Choice>
        <mc:Fallback xmlns="">
          <p:sp>
            <p:nvSpPr>
              <p:cNvPr id="3" name="Text Box 5">
                <a:extLst>
                  <a:ext uri="{FF2B5EF4-FFF2-40B4-BE49-F238E27FC236}">
                    <a16:creationId xmlns:a16="http://schemas.microsoft.com/office/drawing/2014/main" id="{231FF409-CB41-D6CA-62EA-017B3E3957BA}"/>
                  </a:ext>
                </a:extLst>
              </p:cNvPr>
              <p:cNvSpPr txBox="1">
                <a:spLocks noRot="1" noChangeAspect="1" noMove="1" noResize="1" noEditPoints="1" noAdjustHandles="1" noChangeArrowheads="1" noChangeShapeType="1" noTextEdit="1"/>
              </p:cNvSpPr>
              <p:nvPr/>
            </p:nvSpPr>
            <p:spPr bwMode="auto">
              <a:xfrm>
                <a:off x="228600" y="2895600"/>
                <a:ext cx="4548806" cy="4093428"/>
              </a:xfrm>
              <a:prstGeom prst="rect">
                <a:avLst/>
              </a:prstGeom>
              <a:blipFill>
                <a:blip r:embed="rId3"/>
                <a:stretch>
                  <a:fillRect l="-1206" t="-894" r="-13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HK">
                    <a:noFill/>
                  </a:rPr>
                  <a:t> </a:t>
                </a:r>
              </a:p>
            </p:txBody>
          </p:sp>
        </mc:Fallback>
      </mc:AlternateContent>
      <p:pic>
        <p:nvPicPr>
          <p:cNvPr id="5122" name="Picture 2" descr="Ionization cross section for electron-argon collisions. The circles and stars indicate measurement data by S. C. Brown ( Ref. 12 ) and Straub et al. ( Ref. 13 ) respectively, and the solid line is an analytical approximation given by Eq. ( 22 ) . ">
            <a:extLst>
              <a:ext uri="{FF2B5EF4-FFF2-40B4-BE49-F238E27FC236}">
                <a16:creationId xmlns:a16="http://schemas.microsoft.com/office/drawing/2014/main" id="{0C9C7382-43DC-728A-4BF2-60E18AF88B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042649"/>
            <a:ext cx="3833194" cy="307897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76C34BA-E49F-728F-ABEB-69168CFE7163}"/>
                  </a:ext>
                </a:extLst>
              </p:cNvPr>
              <p:cNvSpPr txBox="1"/>
              <p:nvPr/>
            </p:nvSpPr>
            <p:spPr>
              <a:xfrm>
                <a:off x="1143000" y="4318464"/>
                <a:ext cx="1524000" cy="701218"/>
              </a:xfrm>
              <a:prstGeom prst="rect">
                <a:avLst/>
              </a:prstGeom>
              <a:noFill/>
            </p:spPr>
            <p:txBody>
              <a:bodyPr wrap="square" lIns="0" tIns="0" rIns="0" bIns="0" rtlCol="0">
                <a:spAutoFit/>
              </a:bodyPr>
              <a:lstStyle/>
              <a:p>
                <a:pPr/>
                <a14:m>
                  <m:oMathPara xmlns:m="http://schemas.openxmlformats.org/officeDocument/2006/math">
                    <m:oMath>
                      <m:f>
                        <m:fPr>
                          <m:ctrlPr>
                            <a:rPr lang="en-HK" sz="2400" b="0" i="1" smtClean="0">
                              <a:latin typeface="Cambria Math" panose="02040503050406030204" pitchFamily="18" charset="0"/>
                            </a:rPr>
                          </m:ctrlPr>
                        </m:fPr>
                        <m:num>
                          <m:r>
                            <a:rPr lang="en-HK" sz="2400" b="0" i="1" smtClean="0">
                              <a:latin typeface="Cambria Math" panose="02040503050406030204" pitchFamily="18" charset="0"/>
                            </a:rPr>
                            <m:t>𝑑𝑛</m:t>
                          </m:r>
                        </m:num>
                        <m:den>
                          <m:r>
                            <a:rPr lang="en-HK" sz="2400" b="0" i="1" smtClean="0">
                              <a:latin typeface="Cambria Math" panose="02040503050406030204" pitchFamily="18" charset="0"/>
                            </a:rPr>
                            <m:t>𝑑𝑡</m:t>
                          </m:r>
                        </m:den>
                      </m:f>
                      <m:r>
                        <a:rPr lang="en-HK" sz="2400" b="0" i="1" smtClean="0">
                          <a:latin typeface="Cambria Math" panose="02040503050406030204" pitchFamily="18" charset="0"/>
                        </a:rPr>
                        <m:t>=</m:t>
                      </m:r>
                      <m:r>
                        <a:rPr lang="en-HK" sz="2400" b="0" i="1" smtClean="0">
                          <a:latin typeface="Cambria Math" panose="02040503050406030204" pitchFamily="18" charset="0"/>
                        </a:rPr>
                        <m:t>𝑛</m:t>
                      </m:r>
                      <m:r>
                        <a:rPr lang="en-HK" sz="2400" b="0" i="1" smtClean="0">
                          <a:latin typeface="Cambria Math" panose="02040503050406030204" pitchFamily="18" charset="0"/>
                          <a:ea typeface="Cambria Math" panose="02040503050406030204" pitchFamily="18" charset="0"/>
                        </a:rPr>
                        <m:t>𝜑𝜎</m:t>
                      </m:r>
                    </m:oMath>
                  </m:oMathPara>
                </a14:m>
                <a:endParaRPr lang="en-HK" sz="2400" dirty="0"/>
              </a:p>
            </p:txBody>
          </p:sp>
        </mc:Choice>
        <mc:Fallback xmlns="">
          <p:sp>
            <p:nvSpPr>
              <p:cNvPr id="5" name="TextBox 4">
                <a:extLst>
                  <a:ext uri="{FF2B5EF4-FFF2-40B4-BE49-F238E27FC236}">
                    <a16:creationId xmlns:a16="http://schemas.microsoft.com/office/drawing/2014/main" id="{876C34BA-E49F-728F-ABEB-69168CFE7163}"/>
                  </a:ext>
                </a:extLst>
              </p:cNvPr>
              <p:cNvSpPr txBox="1">
                <a:spLocks noRot="1" noChangeAspect="1" noMove="1" noResize="1" noEditPoints="1" noAdjustHandles="1" noChangeArrowheads="1" noChangeShapeType="1" noTextEdit="1"/>
              </p:cNvSpPr>
              <p:nvPr/>
            </p:nvSpPr>
            <p:spPr>
              <a:xfrm>
                <a:off x="1143000" y="4318464"/>
                <a:ext cx="1524000" cy="701218"/>
              </a:xfrm>
              <a:prstGeom prst="rect">
                <a:avLst/>
              </a:prstGeom>
              <a:blipFill>
                <a:blip r:embed="rId5"/>
                <a:stretch>
                  <a:fillRect/>
                </a:stretch>
              </a:blipFill>
            </p:spPr>
            <p:txBody>
              <a:bodyPr/>
              <a:lstStyle/>
              <a:p>
                <a:r>
                  <a:rPr lang="en-HK">
                    <a:noFill/>
                  </a:rPr>
                  <a:t> </a:t>
                </a:r>
              </a:p>
            </p:txBody>
          </p:sp>
        </mc:Fallback>
      </mc:AlternateContent>
    </p:spTree>
    <p:extLst>
      <p:ext uri="{BB962C8B-B14F-4D97-AF65-F5344CB8AC3E}">
        <p14:creationId xmlns:p14="http://schemas.microsoft.com/office/powerpoint/2010/main" val="353964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2819400"/>
            <a:ext cx="472440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5"/>
          <p:cNvSpPr txBox="1">
            <a:spLocks noChangeArrowheads="1"/>
          </p:cNvSpPr>
          <p:nvPr/>
        </p:nvSpPr>
        <p:spPr bwMode="auto">
          <a:xfrm>
            <a:off x="354857" y="1391513"/>
            <a:ext cx="8610600"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6213" indent="-176213">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spcBef>
                <a:spcPts val="0"/>
              </a:spcBef>
              <a:spcAft>
                <a:spcPts val="600"/>
              </a:spcAft>
              <a:buFontTx/>
              <a:buChar char="•"/>
            </a:pPr>
            <a:r>
              <a:rPr lang="en-US" altLang="zh-TW" sz="2000" dirty="0">
                <a:latin typeface="Georgia" panose="02040502050405020303" pitchFamily="18" charset="0"/>
                <a:ea typeface="PMingLiU" pitchFamily="18" charset="-120"/>
              </a:rPr>
              <a:t>The Auger process competes with the x-ray fluorescence process in an excited ion.</a:t>
            </a:r>
          </a:p>
          <a:p>
            <a:pPr algn="just">
              <a:spcBef>
                <a:spcPts val="0"/>
              </a:spcBef>
              <a:buFontTx/>
              <a:buChar char="•"/>
            </a:pPr>
            <a:r>
              <a:rPr lang="en-US" altLang="zh-TW" sz="2000" dirty="0">
                <a:latin typeface="Georgia" panose="02040502050405020303" pitchFamily="18" charset="0"/>
                <a:ea typeface="PMingLiU" pitchFamily="18" charset="-120"/>
              </a:rPr>
              <a:t>Total of Auger and XRF yields is 1. </a:t>
            </a:r>
          </a:p>
        </p:txBody>
      </p:sp>
      <p:sp>
        <p:nvSpPr>
          <p:cNvPr id="32772" name="Rectangle 6"/>
          <p:cNvSpPr>
            <a:spLocks noChangeArrowheads="1"/>
          </p:cNvSpPr>
          <p:nvPr/>
        </p:nvSpPr>
        <p:spPr bwMode="auto">
          <a:xfrm>
            <a:off x="495300" y="216893"/>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t>
            </a:r>
            <a:r>
              <a:rPr lang="en-US" altLang="zh-TW" sz="2400" dirty="0">
                <a:solidFill>
                  <a:schemeClr val="bg2">
                    <a:lumMod val="40000"/>
                    <a:lumOff val="60000"/>
                  </a:schemeClr>
                </a:solidFill>
                <a:latin typeface="Georgia" panose="02040502050405020303" pitchFamily="18" charset="0"/>
                <a:ea typeface="PMingLiU" pitchFamily="18" charset="-120"/>
              </a:rPr>
              <a:t>analysis</a:t>
            </a:r>
          </a:p>
        </p:txBody>
      </p:sp>
      <p:sp>
        <p:nvSpPr>
          <p:cNvPr id="32773" name="Text Box 7"/>
          <p:cNvSpPr txBox="1">
            <a:spLocks noChangeArrowheads="1"/>
          </p:cNvSpPr>
          <p:nvPr/>
        </p:nvSpPr>
        <p:spPr bwMode="auto">
          <a:xfrm>
            <a:off x="3429000" y="775855"/>
            <a:ext cx="19864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Auger yield</a:t>
            </a:r>
          </a:p>
        </p:txBody>
      </p:sp>
      <p:sp>
        <p:nvSpPr>
          <p:cNvPr id="2" name="Slide Number Placeholder 1">
            <a:extLst>
              <a:ext uri="{FF2B5EF4-FFF2-40B4-BE49-F238E27FC236}">
                <a16:creationId xmlns:a16="http://schemas.microsoft.com/office/drawing/2014/main" id="{313E0AF7-B08B-4AB6-990B-72A0FAA0C8E2}"/>
              </a:ext>
            </a:extLst>
          </p:cNvPr>
          <p:cNvSpPr>
            <a:spLocks noGrp="1"/>
          </p:cNvSpPr>
          <p:nvPr>
            <p:ph type="sldNum" sz="quarter" idx="11"/>
          </p:nvPr>
        </p:nvSpPr>
        <p:spPr/>
        <p:txBody>
          <a:bodyPr/>
          <a:lstStyle/>
          <a:p>
            <a:pPr>
              <a:defRPr/>
            </a:pPr>
            <a:fld id="{9A975D84-2197-4ABB-80EB-AE85607E50F0}" type="slidenum">
              <a:rPr lang="zh-TW" altLang="en-US" smtClean="0"/>
              <a:pPr>
                <a:defRPr/>
              </a:pPr>
              <a:t>43</a:t>
            </a:fld>
            <a:endParaRPr lang="en-US" altLang="zh-TW"/>
          </a:p>
        </p:txBody>
      </p:sp>
      <p:sp>
        <p:nvSpPr>
          <p:cNvPr id="4" name="TextBox 3">
            <a:extLst>
              <a:ext uri="{FF2B5EF4-FFF2-40B4-BE49-F238E27FC236}">
                <a16:creationId xmlns:a16="http://schemas.microsoft.com/office/drawing/2014/main" id="{A707D68A-F79B-B768-1421-2C7C77CA895A}"/>
              </a:ext>
            </a:extLst>
          </p:cNvPr>
          <p:cNvSpPr txBox="1"/>
          <p:nvPr/>
        </p:nvSpPr>
        <p:spPr>
          <a:xfrm>
            <a:off x="5022686" y="1937816"/>
            <a:ext cx="3941700" cy="4278094"/>
          </a:xfrm>
          <a:prstGeom prst="rect">
            <a:avLst/>
          </a:prstGeom>
          <a:noFill/>
        </p:spPr>
        <p:txBody>
          <a:bodyPr wrap="square">
            <a:spAutoFit/>
          </a:bodyPr>
          <a:lstStyle/>
          <a:p>
            <a:pPr marL="285750" indent="-285750">
              <a:spcBef>
                <a:spcPts val="0"/>
              </a:spcBef>
              <a:spcAft>
                <a:spcPts val="600"/>
              </a:spcAft>
              <a:buFont typeface="Arial" panose="020B0604020202020204" pitchFamily="34" charset="0"/>
              <a:buChar char="•"/>
            </a:pPr>
            <a:r>
              <a:rPr lang="en-US" altLang="zh-TW" sz="1800" dirty="0">
                <a:latin typeface="Georgia" panose="02040502050405020303" pitchFamily="18" charset="0"/>
                <a:ea typeface="PMingLiU" pitchFamily="18" charset="-120"/>
              </a:rPr>
              <a:t>For KLL, the P</a:t>
            </a:r>
            <a:r>
              <a:rPr lang="en-US" altLang="zh-TW" sz="1800" baseline="-25000" dirty="0">
                <a:latin typeface="Georgia" panose="02040502050405020303" pitchFamily="18" charset="0"/>
                <a:ea typeface="PMingLiU" pitchFamily="18" charset="-120"/>
              </a:rPr>
              <a:t>X</a:t>
            </a:r>
            <a:r>
              <a:rPr lang="en-US" altLang="zh-TW" sz="1800" dirty="0">
                <a:latin typeface="Georgia" panose="02040502050405020303" pitchFamily="18" charset="0"/>
                <a:ea typeface="PMingLiU" pitchFamily="18" charset="-120"/>
              </a:rPr>
              <a:t> overtakes P</a:t>
            </a:r>
            <a:r>
              <a:rPr lang="en-US" altLang="zh-TW" sz="1800" baseline="-25000" dirty="0">
                <a:latin typeface="Georgia" panose="02040502050405020303" pitchFamily="18" charset="0"/>
                <a:ea typeface="PMingLiU" pitchFamily="18" charset="-120"/>
              </a:rPr>
              <a:t>A</a:t>
            </a:r>
            <a:r>
              <a:rPr lang="en-US" altLang="zh-TW" sz="1800" dirty="0">
                <a:latin typeface="Georgia" panose="02040502050405020303" pitchFamily="18" charset="0"/>
                <a:ea typeface="PMingLiU" pitchFamily="18" charset="-120"/>
              </a:rPr>
              <a:t> when the atomic number is greater than 32</a:t>
            </a:r>
          </a:p>
          <a:p>
            <a:pPr marL="285750" indent="-285750">
              <a:spcBef>
                <a:spcPts val="0"/>
              </a:spcBef>
              <a:spcAft>
                <a:spcPts val="600"/>
              </a:spcAft>
              <a:buFont typeface="Arial" panose="020B0604020202020204" pitchFamily="34" charset="0"/>
              <a:buChar char="•"/>
            </a:pPr>
            <a:r>
              <a:rPr lang="en-US" altLang="zh-TW" sz="1800" dirty="0">
                <a:latin typeface="Georgia" panose="02040502050405020303" pitchFamily="18" charset="0"/>
                <a:ea typeface="PMingLiU" pitchFamily="18" charset="-120"/>
              </a:rPr>
              <a:t>Auger electron emission is the more probable decay mechanism for low energy transitions (&lt;1.5 keV)</a:t>
            </a:r>
          </a:p>
          <a:p>
            <a:pPr marL="742950" lvl="1" indent="-285750">
              <a:spcBef>
                <a:spcPts val="0"/>
              </a:spcBef>
              <a:spcAft>
                <a:spcPts val="600"/>
              </a:spcAft>
              <a:buFont typeface="Arial" panose="020B0604020202020204" pitchFamily="34" charset="0"/>
              <a:buChar char="•"/>
            </a:pPr>
            <a:r>
              <a:rPr lang="en-US" altLang="zh-TW" sz="1600" dirty="0">
                <a:latin typeface="Georgia" panose="02040502050405020303" pitchFamily="18" charset="0"/>
                <a:ea typeface="PMingLiU" pitchFamily="18" charset="-120"/>
              </a:rPr>
              <a:t>Low atomic number elements (K shell)</a:t>
            </a:r>
          </a:p>
          <a:p>
            <a:pPr marL="742950" lvl="1" indent="-285750">
              <a:spcBef>
                <a:spcPts val="0"/>
              </a:spcBef>
              <a:spcAft>
                <a:spcPts val="600"/>
              </a:spcAft>
              <a:buFont typeface="Arial" panose="020B0604020202020204" pitchFamily="34" charset="0"/>
              <a:buChar char="•"/>
            </a:pPr>
            <a:r>
              <a:rPr lang="en-US" altLang="zh-TW" sz="1600" dirty="0">
                <a:latin typeface="Georgia" panose="02040502050405020303" pitchFamily="18" charset="0"/>
                <a:ea typeface="PMingLiU" pitchFamily="18" charset="-120"/>
              </a:rPr>
              <a:t>High atomic number elements (L/M shell)  </a:t>
            </a:r>
          </a:p>
          <a:p>
            <a:pPr marL="285750" indent="-285750">
              <a:spcBef>
                <a:spcPts val="0"/>
              </a:spcBef>
              <a:spcAft>
                <a:spcPts val="600"/>
              </a:spcAft>
              <a:buFont typeface="Arial" panose="020B0604020202020204" pitchFamily="34" charset="0"/>
              <a:buChar char="•"/>
            </a:pPr>
            <a:r>
              <a:rPr lang="en-US" altLang="zh-TW" sz="1800" dirty="0">
                <a:latin typeface="Georgia" panose="02040502050405020303" pitchFamily="18" charset="0"/>
                <a:ea typeface="PMingLiU" pitchFamily="18" charset="-120"/>
              </a:rPr>
              <a:t>By choosing an appropriate Auger transition, all elements (except H and He) can be detected.</a:t>
            </a:r>
            <a:endParaRPr lang="zh-TW" altLang="en-US" sz="1800" dirty="0">
              <a:latin typeface="Georgia" panose="02040502050405020303" pitchFamily="18" charset="0"/>
              <a:ea typeface="PMingLiU" pitchFamily="18" charset="-12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9380C3-9365-4BD5-8646-D693BD1C903F}"/>
              </a:ext>
            </a:extLst>
          </p:cNvPr>
          <p:cNvSpPr>
            <a:spLocks noGrp="1"/>
          </p:cNvSpPr>
          <p:nvPr>
            <p:ph type="sldNum" sz="quarter" idx="11"/>
          </p:nvPr>
        </p:nvSpPr>
        <p:spPr/>
        <p:txBody>
          <a:bodyPr/>
          <a:lstStyle/>
          <a:p>
            <a:pPr>
              <a:defRPr/>
            </a:pPr>
            <a:fld id="{9A975D84-2197-4ABB-80EB-AE85607E50F0}" type="slidenum">
              <a:rPr lang="zh-TW" altLang="en-US" smtClean="0"/>
              <a:pPr>
                <a:defRPr/>
              </a:pPr>
              <a:t>44</a:t>
            </a:fld>
            <a:endParaRPr lang="en-US" altLang="zh-TW"/>
          </a:p>
        </p:txBody>
      </p:sp>
      <p:sp>
        <p:nvSpPr>
          <p:cNvPr id="3" name="Text Box 7">
            <a:extLst>
              <a:ext uri="{FF2B5EF4-FFF2-40B4-BE49-F238E27FC236}">
                <a16:creationId xmlns:a16="http://schemas.microsoft.com/office/drawing/2014/main" id="{4FF7D5A1-12CF-5419-3753-E5B6E06A1916}"/>
              </a:ext>
            </a:extLst>
          </p:cNvPr>
          <p:cNvSpPr txBox="1">
            <a:spLocks noChangeArrowheads="1"/>
          </p:cNvSpPr>
          <p:nvPr/>
        </p:nvSpPr>
        <p:spPr bwMode="auto">
          <a:xfrm>
            <a:off x="3124200" y="685800"/>
            <a:ext cx="25234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Backscattering</a:t>
            </a:r>
          </a:p>
        </p:txBody>
      </p:sp>
      <p:sp>
        <p:nvSpPr>
          <p:cNvPr id="4" name="Text Box 5">
            <a:extLst>
              <a:ext uri="{FF2B5EF4-FFF2-40B4-BE49-F238E27FC236}">
                <a16:creationId xmlns:a16="http://schemas.microsoft.com/office/drawing/2014/main" id="{5027CB12-DC4C-7E4C-2B5F-A2EC1E31A063}"/>
              </a:ext>
            </a:extLst>
          </p:cNvPr>
          <p:cNvSpPr txBox="1">
            <a:spLocks noChangeArrowheads="1"/>
          </p:cNvSpPr>
          <p:nvPr/>
        </p:nvSpPr>
        <p:spPr bwMode="auto">
          <a:xfrm>
            <a:off x="194924" y="1433002"/>
            <a:ext cx="83820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6213" indent="-176213">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lgn="just">
              <a:spcBef>
                <a:spcPct val="50000"/>
              </a:spcBef>
              <a:buFont typeface="Arial" panose="020B0604020202020204" pitchFamily="34" charset="0"/>
              <a:buChar char="•"/>
            </a:pPr>
            <a:r>
              <a:rPr lang="en-US" altLang="zh-TW" sz="2000" dirty="0">
                <a:latin typeface="Georgia" panose="02040502050405020303" pitchFamily="18" charset="0"/>
                <a:ea typeface="PMingLiU" pitchFamily="18" charset="-120"/>
              </a:rPr>
              <a:t>The majority of incident electrons will penetrate into the sample with some of them backscattered and come back to surface region, exciting the Auger process if they have enough energy.</a:t>
            </a:r>
          </a:p>
          <a:p>
            <a:pPr marL="342900" indent="-342900" algn="just">
              <a:spcBef>
                <a:spcPct val="50000"/>
              </a:spcBef>
              <a:buFont typeface="Arial" panose="020B0604020202020204" pitchFamily="34" charset="0"/>
              <a:buChar char="•"/>
            </a:pPr>
            <a:r>
              <a:rPr lang="en-US" altLang="zh-TW" sz="2000" dirty="0">
                <a:latin typeface="Georgia" panose="02040502050405020303" pitchFamily="18" charset="0"/>
                <a:ea typeface="PMingLiU" pitchFamily="18" charset="-120"/>
              </a:rPr>
              <a:t>The contribution to Auger signal depends on the incident electron energy and the backscattering probability, which is a function of the atomic number of the specimen. </a:t>
            </a:r>
          </a:p>
          <a:p>
            <a:pPr marL="0" indent="0" algn="just">
              <a:spcBef>
                <a:spcPct val="50000"/>
              </a:spcBef>
            </a:pPr>
            <a:endParaRPr lang="en-US" altLang="zh-TW" sz="2000" dirty="0">
              <a:latin typeface="Georgia" panose="02040502050405020303" pitchFamily="18" charset="0"/>
              <a:ea typeface="PMingLiU" pitchFamily="18" charset="-120"/>
            </a:endParaRPr>
          </a:p>
          <a:p>
            <a:pPr marL="0" indent="0" algn="just">
              <a:spcBef>
                <a:spcPct val="50000"/>
              </a:spcBef>
            </a:pPr>
            <a:endParaRPr lang="zh-TW" altLang="en-US" sz="2000" dirty="0">
              <a:latin typeface="Georgia" panose="02040502050405020303" pitchFamily="18" charset="0"/>
              <a:ea typeface="PMingLiU" pitchFamily="18" charset="-120"/>
            </a:endParaRPr>
          </a:p>
        </p:txBody>
      </p:sp>
      <p:grpSp>
        <p:nvGrpSpPr>
          <p:cNvPr id="33" name="Group 32">
            <a:extLst>
              <a:ext uri="{FF2B5EF4-FFF2-40B4-BE49-F238E27FC236}">
                <a16:creationId xmlns:a16="http://schemas.microsoft.com/office/drawing/2014/main" id="{93BD8DEA-FDF5-4F09-220C-4E8EC8A83195}"/>
              </a:ext>
            </a:extLst>
          </p:cNvPr>
          <p:cNvGrpSpPr/>
          <p:nvPr/>
        </p:nvGrpSpPr>
        <p:grpSpPr>
          <a:xfrm>
            <a:off x="1447800" y="3810000"/>
            <a:ext cx="6574373" cy="2559196"/>
            <a:chOff x="1524000" y="3384404"/>
            <a:chExt cx="6574373" cy="2559196"/>
          </a:xfrm>
        </p:grpSpPr>
        <p:cxnSp>
          <p:nvCxnSpPr>
            <p:cNvPr id="6" name="Straight Connector 5">
              <a:extLst>
                <a:ext uri="{FF2B5EF4-FFF2-40B4-BE49-F238E27FC236}">
                  <a16:creationId xmlns:a16="http://schemas.microsoft.com/office/drawing/2014/main" id="{79A4BF57-873F-E44A-0C97-697E02D58661}"/>
                </a:ext>
              </a:extLst>
            </p:cNvPr>
            <p:cNvCxnSpPr>
              <a:cxnSpLocks/>
            </p:cNvCxnSpPr>
            <p:nvPr/>
          </p:nvCxnSpPr>
          <p:spPr bwMode="auto">
            <a:xfrm flipV="1">
              <a:off x="1524000" y="4876800"/>
              <a:ext cx="5943600" cy="762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Arrow Connector 8">
              <a:extLst>
                <a:ext uri="{FF2B5EF4-FFF2-40B4-BE49-F238E27FC236}">
                  <a16:creationId xmlns:a16="http://schemas.microsoft.com/office/drawing/2014/main" id="{7CAE3557-1B0F-D273-74E6-6BDE47125525}"/>
                </a:ext>
              </a:extLst>
            </p:cNvPr>
            <p:cNvCxnSpPr/>
            <p:nvPr/>
          </p:nvCxnSpPr>
          <p:spPr bwMode="auto">
            <a:xfrm>
              <a:off x="4191000" y="3810000"/>
              <a:ext cx="76200" cy="990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0548C290-3909-63C2-3F7D-6A7B19F4536F}"/>
                </a:ext>
              </a:extLst>
            </p:cNvPr>
            <p:cNvCxnSpPr>
              <a:cxnSpLocks/>
            </p:cNvCxnSpPr>
            <p:nvPr/>
          </p:nvCxnSpPr>
          <p:spPr bwMode="auto">
            <a:xfrm>
              <a:off x="3581400" y="3733800"/>
              <a:ext cx="457200" cy="1066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1352F6F6-0BDC-20C3-0143-B1F587BD8BC2}"/>
                </a:ext>
              </a:extLst>
            </p:cNvPr>
            <p:cNvCxnSpPr>
              <a:cxnSpLocks/>
            </p:cNvCxnSpPr>
            <p:nvPr/>
          </p:nvCxnSpPr>
          <p:spPr bwMode="auto">
            <a:xfrm flipH="1">
              <a:off x="4549871" y="3703782"/>
              <a:ext cx="33674" cy="11167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Text Box 7">
              <a:extLst>
                <a:ext uri="{FF2B5EF4-FFF2-40B4-BE49-F238E27FC236}">
                  <a16:creationId xmlns:a16="http://schemas.microsoft.com/office/drawing/2014/main" id="{DF29C881-489C-D873-E2E5-126664A0FF11}"/>
                </a:ext>
              </a:extLst>
            </p:cNvPr>
            <p:cNvSpPr txBox="1">
              <a:spLocks noChangeArrowheads="1"/>
            </p:cNvSpPr>
            <p:nvPr/>
          </p:nvSpPr>
          <p:spPr bwMode="auto">
            <a:xfrm>
              <a:off x="3733800" y="3384404"/>
              <a:ext cx="20024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dirty="0">
                  <a:latin typeface="Georgia" panose="02040502050405020303" pitchFamily="18" charset="0"/>
                  <a:ea typeface="PMingLiU" pitchFamily="18" charset="-120"/>
                </a:rPr>
                <a:t>Primary electrons</a:t>
              </a:r>
            </a:p>
          </p:txBody>
        </p:sp>
        <p:cxnSp>
          <p:nvCxnSpPr>
            <p:cNvPr id="18" name="Straight Arrow Connector 17">
              <a:extLst>
                <a:ext uri="{FF2B5EF4-FFF2-40B4-BE49-F238E27FC236}">
                  <a16:creationId xmlns:a16="http://schemas.microsoft.com/office/drawing/2014/main" id="{49E99EF0-BB34-AD8A-15E8-DE92F0B16CF7}"/>
                </a:ext>
              </a:extLst>
            </p:cNvPr>
            <p:cNvCxnSpPr/>
            <p:nvPr/>
          </p:nvCxnSpPr>
          <p:spPr bwMode="auto">
            <a:xfrm flipV="1">
              <a:off x="4648200" y="4724400"/>
              <a:ext cx="609600" cy="228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Text Box 7">
              <a:extLst>
                <a:ext uri="{FF2B5EF4-FFF2-40B4-BE49-F238E27FC236}">
                  <a16:creationId xmlns:a16="http://schemas.microsoft.com/office/drawing/2014/main" id="{C4CA7EE7-1F09-D0F2-72C1-0975CA828368}"/>
                </a:ext>
              </a:extLst>
            </p:cNvPr>
            <p:cNvSpPr txBox="1">
              <a:spLocks noChangeArrowheads="1"/>
            </p:cNvSpPr>
            <p:nvPr/>
          </p:nvSpPr>
          <p:spPr bwMode="auto">
            <a:xfrm>
              <a:off x="4749379" y="4278868"/>
              <a:ext cx="33489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dirty="0">
                  <a:latin typeface="Georgia" panose="02040502050405020303" pitchFamily="18" charset="0"/>
                  <a:ea typeface="PMingLiU" pitchFamily="18" charset="-120"/>
                </a:rPr>
                <a:t>Auger electrons by direct beam</a:t>
              </a:r>
            </a:p>
          </p:txBody>
        </p:sp>
        <p:sp>
          <p:nvSpPr>
            <p:cNvPr id="20" name="Text Box 7">
              <a:extLst>
                <a:ext uri="{FF2B5EF4-FFF2-40B4-BE49-F238E27FC236}">
                  <a16:creationId xmlns:a16="http://schemas.microsoft.com/office/drawing/2014/main" id="{AAC9C9B0-C42D-4B36-BA21-786611646F51}"/>
                </a:ext>
              </a:extLst>
            </p:cNvPr>
            <p:cNvSpPr txBox="1">
              <a:spLocks noChangeArrowheads="1"/>
            </p:cNvSpPr>
            <p:nvPr/>
          </p:nvSpPr>
          <p:spPr bwMode="auto">
            <a:xfrm>
              <a:off x="5262030" y="4849091"/>
              <a:ext cx="19736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dirty="0">
                  <a:latin typeface="Georgia" panose="02040502050405020303" pitchFamily="18" charset="0"/>
                  <a:ea typeface="PMingLiU" pitchFamily="18" charset="-120"/>
                </a:rPr>
                <a:t>Specimen surface</a:t>
              </a:r>
            </a:p>
          </p:txBody>
        </p:sp>
        <p:cxnSp>
          <p:nvCxnSpPr>
            <p:cNvPr id="22" name="Straight Connector 21">
              <a:extLst>
                <a:ext uri="{FF2B5EF4-FFF2-40B4-BE49-F238E27FC236}">
                  <a16:creationId xmlns:a16="http://schemas.microsoft.com/office/drawing/2014/main" id="{98A63D4A-E0B2-7BFC-14D5-A8D5947C501E}"/>
                </a:ext>
              </a:extLst>
            </p:cNvPr>
            <p:cNvCxnSpPr>
              <a:cxnSpLocks/>
            </p:cNvCxnSpPr>
            <p:nvPr/>
          </p:nvCxnSpPr>
          <p:spPr bwMode="auto">
            <a:xfrm flipH="1">
              <a:off x="3810000" y="4953000"/>
              <a:ext cx="457200" cy="6096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Arrow Connector 24">
              <a:extLst>
                <a:ext uri="{FF2B5EF4-FFF2-40B4-BE49-F238E27FC236}">
                  <a16:creationId xmlns:a16="http://schemas.microsoft.com/office/drawing/2014/main" id="{34407D27-E2A0-3F7A-F653-8CAAED854E14}"/>
                </a:ext>
              </a:extLst>
            </p:cNvPr>
            <p:cNvCxnSpPr/>
            <p:nvPr/>
          </p:nvCxnSpPr>
          <p:spPr bwMode="auto">
            <a:xfrm flipH="1" flipV="1">
              <a:off x="3352800" y="5033757"/>
              <a:ext cx="457200" cy="5288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6B7DFE06-2DE5-763E-052E-04A2357448AB}"/>
                </a:ext>
              </a:extLst>
            </p:cNvPr>
            <p:cNvCxnSpPr/>
            <p:nvPr/>
          </p:nvCxnSpPr>
          <p:spPr bwMode="auto">
            <a:xfrm flipV="1">
              <a:off x="3352800" y="4572000"/>
              <a:ext cx="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 Box 7">
              <a:extLst>
                <a:ext uri="{FF2B5EF4-FFF2-40B4-BE49-F238E27FC236}">
                  <a16:creationId xmlns:a16="http://schemas.microsoft.com/office/drawing/2014/main" id="{F99DDB85-A16A-7145-171B-B59CD307C186}"/>
                </a:ext>
              </a:extLst>
            </p:cNvPr>
            <p:cNvSpPr txBox="1">
              <a:spLocks noChangeArrowheads="1"/>
            </p:cNvSpPr>
            <p:nvPr/>
          </p:nvSpPr>
          <p:spPr bwMode="auto">
            <a:xfrm>
              <a:off x="1546228" y="4140368"/>
              <a:ext cx="23621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dirty="0">
                  <a:latin typeface="Georgia" panose="02040502050405020303" pitchFamily="18" charset="0"/>
                  <a:ea typeface="PMingLiU" pitchFamily="18" charset="-120"/>
                </a:rPr>
                <a:t>Auger electrons by backscattering</a:t>
              </a:r>
            </a:p>
          </p:txBody>
        </p:sp>
        <p:cxnSp>
          <p:nvCxnSpPr>
            <p:cNvPr id="30" name="Straight Connector 29">
              <a:extLst>
                <a:ext uri="{FF2B5EF4-FFF2-40B4-BE49-F238E27FC236}">
                  <a16:creationId xmlns:a16="http://schemas.microsoft.com/office/drawing/2014/main" id="{CD948DE8-7F3B-9856-575C-150C1C9C32CE}"/>
                </a:ext>
              </a:extLst>
            </p:cNvPr>
            <p:cNvCxnSpPr/>
            <p:nvPr/>
          </p:nvCxnSpPr>
          <p:spPr bwMode="auto">
            <a:xfrm>
              <a:off x="4343400" y="5029200"/>
              <a:ext cx="42524" cy="4572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Arrow Connector 31">
              <a:extLst>
                <a:ext uri="{FF2B5EF4-FFF2-40B4-BE49-F238E27FC236}">
                  <a16:creationId xmlns:a16="http://schemas.microsoft.com/office/drawing/2014/main" id="{650D59C2-DABB-E485-0B85-0356916EA41F}"/>
                </a:ext>
              </a:extLst>
            </p:cNvPr>
            <p:cNvCxnSpPr/>
            <p:nvPr/>
          </p:nvCxnSpPr>
          <p:spPr bwMode="auto">
            <a:xfrm flipH="1">
              <a:off x="3962400" y="5486400"/>
              <a:ext cx="423524" cy="4572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9D297-EC44-9C86-4580-FC79F1977F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030EB-653E-A25C-A199-21255F9DC443}"/>
              </a:ext>
            </a:extLst>
          </p:cNvPr>
          <p:cNvSpPr>
            <a:spLocks noGrp="1"/>
          </p:cNvSpPr>
          <p:nvPr>
            <p:ph type="sldNum" sz="quarter" idx="11"/>
          </p:nvPr>
        </p:nvSpPr>
        <p:spPr/>
        <p:txBody>
          <a:bodyPr/>
          <a:lstStyle/>
          <a:p>
            <a:pPr>
              <a:defRPr/>
            </a:pPr>
            <a:fld id="{9A975D84-2197-4ABB-80EB-AE85607E50F0}" type="slidenum">
              <a:rPr lang="zh-TW" altLang="en-US" smtClean="0"/>
              <a:pPr>
                <a:defRPr/>
              </a:pPr>
              <a:t>45</a:t>
            </a:fld>
            <a:endParaRPr lang="en-US" altLang="zh-TW"/>
          </a:p>
        </p:txBody>
      </p:sp>
      <p:sp>
        <p:nvSpPr>
          <p:cNvPr id="5" name="Text Box 5">
            <a:extLst>
              <a:ext uri="{FF2B5EF4-FFF2-40B4-BE49-F238E27FC236}">
                <a16:creationId xmlns:a16="http://schemas.microsoft.com/office/drawing/2014/main" id="{5093098C-590E-E660-E296-51F5717EE625}"/>
              </a:ext>
            </a:extLst>
          </p:cNvPr>
          <p:cNvSpPr txBox="1">
            <a:spLocks noChangeArrowheads="1"/>
          </p:cNvSpPr>
          <p:nvPr/>
        </p:nvSpPr>
        <p:spPr bwMode="auto">
          <a:xfrm>
            <a:off x="2895600" y="838200"/>
            <a:ext cx="2787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400" dirty="0">
                <a:latin typeface="Georgia" panose="02040502050405020303" pitchFamily="18" charset="0"/>
                <a:ea typeface="PMingLiU" pitchFamily="18" charset="-120"/>
              </a:rPr>
              <a:t>Classroom exercise</a:t>
            </a:r>
          </a:p>
        </p:txBody>
      </p:sp>
      <p:sp>
        <p:nvSpPr>
          <p:cNvPr id="7" name="Text Box 5">
            <a:extLst>
              <a:ext uri="{FF2B5EF4-FFF2-40B4-BE49-F238E27FC236}">
                <a16:creationId xmlns:a16="http://schemas.microsoft.com/office/drawing/2014/main" id="{26346EE2-6EE0-EA96-4A61-B00C3EE3F88C}"/>
              </a:ext>
            </a:extLst>
          </p:cNvPr>
          <p:cNvSpPr txBox="1">
            <a:spLocks noChangeArrowheads="1"/>
          </p:cNvSpPr>
          <p:nvPr/>
        </p:nvSpPr>
        <p:spPr bwMode="auto">
          <a:xfrm>
            <a:off x="444597" y="1600200"/>
            <a:ext cx="4191000" cy="455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6213" indent="-176213">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lgn="just">
              <a:spcBef>
                <a:spcPct val="50000"/>
              </a:spcBef>
            </a:pPr>
            <a:r>
              <a:rPr lang="en-US" altLang="zh-TW" sz="2000" dirty="0">
                <a:latin typeface="Georgia" panose="02040502050405020303" pitchFamily="18" charset="0"/>
                <a:ea typeface="PMingLiU" pitchFamily="18" charset="-120"/>
              </a:rPr>
              <a:t>One deposits a thin film of molybdenum (42) onto a tungsten (74) substrate and monitors the Mo Auger peak intensity. </a:t>
            </a:r>
          </a:p>
          <a:p>
            <a:pPr marL="0" indent="0" algn="just">
              <a:spcBef>
                <a:spcPct val="50000"/>
              </a:spcBef>
            </a:pPr>
            <a:r>
              <a:rPr lang="en-US" altLang="zh-TW" sz="2000" dirty="0">
                <a:latin typeface="Georgia" panose="02040502050405020303" pitchFamily="18" charset="0"/>
                <a:ea typeface="PMingLiU" pitchFamily="18" charset="-120"/>
              </a:rPr>
              <a:t>At small Mo thickness, the Auger signal increase linearly with the thickness. However, with further increase in the film thickness, the Auger signal reaches a maximum and then decrease slowly to the steady state value of the bulk Mo.  The Auger signal at the maximum is ~20% than that obtained from bulk Mo.  How to understand this?</a:t>
            </a:r>
            <a:endParaRPr lang="zh-TW" altLang="en-US" sz="2000" dirty="0">
              <a:latin typeface="Georgia" panose="02040502050405020303" pitchFamily="18" charset="0"/>
              <a:ea typeface="PMingLiU" pitchFamily="18" charset="-120"/>
            </a:endParaRPr>
          </a:p>
        </p:txBody>
      </p:sp>
      <p:grpSp>
        <p:nvGrpSpPr>
          <p:cNvPr id="35" name="Group 34">
            <a:extLst>
              <a:ext uri="{FF2B5EF4-FFF2-40B4-BE49-F238E27FC236}">
                <a16:creationId xmlns:a16="http://schemas.microsoft.com/office/drawing/2014/main" id="{9405928A-2F3E-5952-88A7-FB0AC9EA2E44}"/>
              </a:ext>
            </a:extLst>
          </p:cNvPr>
          <p:cNvGrpSpPr/>
          <p:nvPr/>
        </p:nvGrpSpPr>
        <p:grpSpPr>
          <a:xfrm>
            <a:off x="4953000" y="2362200"/>
            <a:ext cx="3657600" cy="2851666"/>
            <a:chOff x="3276600" y="4038600"/>
            <a:chExt cx="3657600" cy="2851666"/>
          </a:xfrm>
        </p:grpSpPr>
        <p:cxnSp>
          <p:nvCxnSpPr>
            <p:cNvPr id="10" name="Straight Connector 9">
              <a:extLst>
                <a:ext uri="{FF2B5EF4-FFF2-40B4-BE49-F238E27FC236}">
                  <a16:creationId xmlns:a16="http://schemas.microsoft.com/office/drawing/2014/main" id="{CCFF4BDD-7187-FEAE-9DD1-F3A3993F70E6}"/>
                </a:ext>
              </a:extLst>
            </p:cNvPr>
            <p:cNvCxnSpPr>
              <a:cxnSpLocks/>
            </p:cNvCxnSpPr>
            <p:nvPr/>
          </p:nvCxnSpPr>
          <p:spPr bwMode="auto">
            <a:xfrm>
              <a:off x="3733800" y="4038600"/>
              <a:ext cx="0" cy="25146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C84623E6-20C5-DD5A-B05F-2420C2DF2CE4}"/>
                </a:ext>
              </a:extLst>
            </p:cNvPr>
            <p:cNvCxnSpPr>
              <a:cxnSpLocks/>
            </p:cNvCxnSpPr>
            <p:nvPr/>
          </p:nvCxnSpPr>
          <p:spPr bwMode="auto">
            <a:xfrm>
              <a:off x="3733800" y="6553200"/>
              <a:ext cx="32004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 name="TextBox 20">
              <a:extLst>
                <a:ext uri="{FF2B5EF4-FFF2-40B4-BE49-F238E27FC236}">
                  <a16:creationId xmlns:a16="http://schemas.microsoft.com/office/drawing/2014/main" id="{F49746E6-6C0B-D0F7-B883-C39F03644751}"/>
                </a:ext>
              </a:extLst>
            </p:cNvPr>
            <p:cNvSpPr txBox="1"/>
            <p:nvPr/>
          </p:nvSpPr>
          <p:spPr>
            <a:xfrm rot="16200000">
              <a:off x="2419923" y="5006227"/>
              <a:ext cx="2082686" cy="369332"/>
            </a:xfrm>
            <a:prstGeom prst="rect">
              <a:avLst/>
            </a:prstGeom>
            <a:noFill/>
          </p:spPr>
          <p:txBody>
            <a:bodyPr wrap="none" rtlCol="0">
              <a:spAutoFit/>
            </a:bodyPr>
            <a:lstStyle/>
            <a:p>
              <a:r>
                <a:rPr lang="en-HK" dirty="0"/>
                <a:t>Mo Auger intensity</a:t>
              </a:r>
            </a:p>
          </p:txBody>
        </p:sp>
        <p:sp>
          <p:nvSpPr>
            <p:cNvPr id="23" name="TextBox 22">
              <a:extLst>
                <a:ext uri="{FF2B5EF4-FFF2-40B4-BE49-F238E27FC236}">
                  <a16:creationId xmlns:a16="http://schemas.microsoft.com/office/drawing/2014/main" id="{7D8C2017-1E4D-7AE8-043E-1370CFE8951F}"/>
                </a:ext>
              </a:extLst>
            </p:cNvPr>
            <p:cNvSpPr txBox="1"/>
            <p:nvPr/>
          </p:nvSpPr>
          <p:spPr>
            <a:xfrm>
              <a:off x="4354815" y="6520934"/>
              <a:ext cx="1531188" cy="369332"/>
            </a:xfrm>
            <a:prstGeom prst="rect">
              <a:avLst/>
            </a:prstGeom>
            <a:noFill/>
          </p:spPr>
          <p:txBody>
            <a:bodyPr wrap="none" rtlCol="0">
              <a:spAutoFit/>
            </a:bodyPr>
            <a:lstStyle/>
            <a:p>
              <a:r>
                <a:rPr lang="en-HK" dirty="0"/>
                <a:t>Mo thickness</a:t>
              </a:r>
            </a:p>
          </p:txBody>
        </p:sp>
        <p:cxnSp>
          <p:nvCxnSpPr>
            <p:cNvPr id="26" name="Straight Connector 25">
              <a:extLst>
                <a:ext uri="{FF2B5EF4-FFF2-40B4-BE49-F238E27FC236}">
                  <a16:creationId xmlns:a16="http://schemas.microsoft.com/office/drawing/2014/main" id="{DD093C6D-8849-44C4-7C39-680DC5CD0610}"/>
                </a:ext>
              </a:extLst>
            </p:cNvPr>
            <p:cNvCxnSpPr/>
            <p:nvPr/>
          </p:nvCxnSpPr>
          <p:spPr bwMode="auto">
            <a:xfrm>
              <a:off x="3733800" y="5105400"/>
              <a:ext cx="30480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DB599575-7427-044B-B4AB-C476DEDDDFEB}"/>
                </a:ext>
              </a:extLst>
            </p:cNvPr>
            <p:cNvCxnSpPr/>
            <p:nvPr/>
          </p:nvCxnSpPr>
          <p:spPr bwMode="auto">
            <a:xfrm flipV="1">
              <a:off x="3733800" y="5190892"/>
              <a:ext cx="555771" cy="136230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4" name="Arc 33">
              <a:extLst>
                <a:ext uri="{FF2B5EF4-FFF2-40B4-BE49-F238E27FC236}">
                  <a16:creationId xmlns:a16="http://schemas.microsoft.com/office/drawing/2014/main" id="{015F9AC8-0243-06D3-1669-958412B338D0}"/>
                </a:ext>
              </a:extLst>
            </p:cNvPr>
            <p:cNvSpPr/>
            <p:nvPr/>
          </p:nvSpPr>
          <p:spPr bwMode="auto">
            <a:xfrm rot="1233567" flipH="1">
              <a:off x="4201402" y="4695202"/>
              <a:ext cx="2716707" cy="1988345"/>
            </a:xfrm>
            <a:prstGeom prst="arc">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HK" sz="1800" b="0" i="0" u="none" strike="noStrike" cap="none" normalizeH="0" baseline="0">
                <a:ln>
                  <a:noFill/>
                </a:ln>
                <a:noFill/>
                <a:effectLst/>
                <a:latin typeface="Arial" charset="0"/>
              </a:endParaRPr>
            </a:p>
          </p:txBody>
        </p:sp>
      </p:grpSp>
    </p:spTree>
    <p:extLst>
      <p:ext uri="{BB962C8B-B14F-4D97-AF65-F5344CB8AC3E}">
        <p14:creationId xmlns:p14="http://schemas.microsoft.com/office/powerpoint/2010/main" val="10174819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1905000"/>
            <a:ext cx="64770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3136106"/>
            <a:ext cx="34290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 Box 9"/>
          <p:cNvSpPr txBox="1">
            <a:spLocks noChangeArrowheads="1"/>
          </p:cNvSpPr>
          <p:nvPr/>
        </p:nvSpPr>
        <p:spPr bwMode="auto">
          <a:xfrm>
            <a:off x="533400" y="1447800"/>
            <a:ext cx="784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altLang="zh-TW" dirty="0">
                <a:latin typeface="Georgia" panose="02040502050405020303" pitchFamily="18" charset="0"/>
                <a:ea typeface="PMingLiU" pitchFamily="18" charset="-120"/>
              </a:rPr>
              <a:t>For a homogenous sample, the measured Auger intensity is given by:</a:t>
            </a:r>
            <a:endParaRPr lang="zh-TW" altLang="en-US" dirty="0">
              <a:latin typeface="Georgia" panose="02040502050405020303" pitchFamily="18" charset="0"/>
              <a:ea typeface="PMingLiU" pitchFamily="18" charset="-120"/>
            </a:endParaRPr>
          </a:p>
        </p:txBody>
      </p:sp>
      <p:sp>
        <p:nvSpPr>
          <p:cNvPr id="44038" name="Rectangle 10"/>
          <p:cNvSpPr>
            <a:spLocks noChangeArrowheads="1"/>
          </p:cNvSpPr>
          <p:nvPr/>
        </p:nvSpPr>
        <p:spPr bwMode="auto">
          <a:xfrm>
            <a:off x="415909" y="198551"/>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
        <p:nvSpPr>
          <p:cNvPr id="44039" name="Text Box 11"/>
          <p:cNvSpPr txBox="1">
            <a:spLocks noChangeArrowheads="1"/>
          </p:cNvSpPr>
          <p:nvPr/>
        </p:nvSpPr>
        <p:spPr bwMode="auto">
          <a:xfrm>
            <a:off x="2743200" y="851045"/>
            <a:ext cx="3575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Signal quantification </a:t>
            </a:r>
          </a:p>
        </p:txBody>
      </p:sp>
      <p:sp>
        <p:nvSpPr>
          <p:cNvPr id="2" name="Slide Number Placeholder 1">
            <a:extLst>
              <a:ext uri="{FF2B5EF4-FFF2-40B4-BE49-F238E27FC236}">
                <a16:creationId xmlns:a16="http://schemas.microsoft.com/office/drawing/2014/main" id="{C1193DAF-B916-470F-9CA2-CB98C6B09D64}"/>
              </a:ext>
            </a:extLst>
          </p:cNvPr>
          <p:cNvSpPr>
            <a:spLocks noGrp="1"/>
          </p:cNvSpPr>
          <p:nvPr>
            <p:ph type="sldNum" sz="quarter" idx="11"/>
          </p:nvPr>
        </p:nvSpPr>
        <p:spPr>
          <a:xfrm>
            <a:off x="6553200" y="6089650"/>
            <a:ext cx="2133600" cy="457200"/>
          </a:xfrm>
        </p:spPr>
        <p:txBody>
          <a:bodyPr/>
          <a:lstStyle/>
          <a:p>
            <a:pPr>
              <a:defRPr/>
            </a:pPr>
            <a:fld id="{9A975D84-2197-4ABB-80EB-AE85607E50F0}" type="slidenum">
              <a:rPr lang="zh-TW" altLang="en-US" smtClean="0">
                <a:latin typeface="Georgia" panose="02040502050405020303" pitchFamily="18" charset="0"/>
              </a:rPr>
              <a:pPr>
                <a:defRPr/>
              </a:pPr>
              <a:t>46</a:t>
            </a:fld>
            <a:endParaRPr lang="en-US" altLang="zh-TW">
              <a:latin typeface="Georgia" panose="02040502050405020303" pitchFamily="18" charset="0"/>
            </a:endParaRPr>
          </a:p>
        </p:txBody>
      </p:sp>
      <p:pic>
        <p:nvPicPr>
          <p:cNvPr id="3" name="Picture 4">
            <a:extLst>
              <a:ext uri="{FF2B5EF4-FFF2-40B4-BE49-F238E27FC236}">
                <a16:creationId xmlns:a16="http://schemas.microsoft.com/office/drawing/2014/main" id="{7EE38B8F-E931-80A6-F8D6-A9295AFC00D8}"/>
              </a:ext>
            </a:extLst>
          </p:cNvPr>
          <p:cNvPicPr>
            <a:picLocks noChangeAspect="1" noChangeArrowheads="1"/>
          </p:cNvPicPr>
          <p:nvPr/>
        </p:nvPicPr>
        <p:blipFill>
          <a:blip r:embed="rId4" cstate="print"/>
          <a:srcRect/>
          <a:stretch>
            <a:fillRect/>
          </a:stretch>
        </p:blipFill>
        <p:spPr bwMode="auto">
          <a:xfrm>
            <a:off x="1412081" y="2518569"/>
            <a:ext cx="5481638" cy="581025"/>
          </a:xfrm>
          <a:prstGeom prst="rect">
            <a:avLst/>
          </a:prstGeom>
          <a:noFill/>
          <a:ln w="9525">
            <a:noFill/>
            <a:miter lim="800000"/>
            <a:headEnd/>
            <a:tailEnd/>
          </a:ln>
        </p:spPr>
      </p:pic>
      <p:sp>
        <p:nvSpPr>
          <p:cNvPr id="4" name="TextBox 3">
            <a:extLst>
              <a:ext uri="{FF2B5EF4-FFF2-40B4-BE49-F238E27FC236}">
                <a16:creationId xmlns:a16="http://schemas.microsoft.com/office/drawing/2014/main" id="{FD32B9C9-B2ED-DD84-AEBB-01C4793733CA}"/>
              </a:ext>
            </a:extLst>
          </p:cNvPr>
          <p:cNvSpPr txBox="1"/>
          <p:nvPr/>
        </p:nvSpPr>
        <p:spPr>
          <a:xfrm>
            <a:off x="914400" y="3886200"/>
            <a:ext cx="3962400" cy="2031325"/>
          </a:xfrm>
          <a:prstGeom prst="rect">
            <a:avLst/>
          </a:prstGeom>
          <a:noFill/>
        </p:spPr>
        <p:txBody>
          <a:bodyPr wrap="square" rtlCol="0">
            <a:spAutoFit/>
          </a:bodyPr>
          <a:lstStyle/>
          <a:p>
            <a:r>
              <a:rPr lang="en-HK" i="1" dirty="0">
                <a:latin typeface="Georgia" panose="02040502050405020303" pitchFamily="18" charset="0"/>
              </a:rPr>
              <a:t>I</a:t>
            </a:r>
            <a:r>
              <a:rPr lang="en-HK" i="1" baseline="-25000" dirty="0">
                <a:latin typeface="Georgia" panose="02040502050405020303" pitchFamily="18" charset="0"/>
              </a:rPr>
              <a:t>p</a:t>
            </a:r>
            <a:r>
              <a:rPr lang="en-HK" dirty="0">
                <a:latin typeface="Georgia" panose="02040502050405020303" pitchFamily="18" charset="0"/>
              </a:rPr>
              <a:t> is the incident electron intensity</a:t>
            </a:r>
          </a:p>
          <a:p>
            <a:endParaRPr lang="en-HK" dirty="0">
              <a:latin typeface="Georgia" panose="02040502050405020303" pitchFamily="18" charset="0"/>
            </a:endParaRPr>
          </a:p>
          <a:p>
            <a:r>
              <a:rPr lang="en-HK" dirty="0" err="1">
                <a:latin typeface="Symbol" panose="05050102010706020507" pitchFamily="18" charset="2"/>
              </a:rPr>
              <a:t>g</a:t>
            </a:r>
            <a:r>
              <a:rPr lang="en-HK" baseline="-25000" dirty="0" err="1">
                <a:latin typeface="Georgia" panose="02040502050405020303" pitchFamily="18" charset="0"/>
              </a:rPr>
              <a:t>i</a:t>
            </a:r>
            <a:r>
              <a:rPr lang="en-HK" dirty="0">
                <a:latin typeface="Georgia" panose="02040502050405020303" pitchFamily="18" charset="0"/>
              </a:rPr>
              <a:t> is the Auger transition probability for ABC transition of element </a:t>
            </a:r>
            <a:r>
              <a:rPr lang="en-HK" dirty="0" err="1">
                <a:latin typeface="Georgia" panose="02040502050405020303" pitchFamily="18" charset="0"/>
              </a:rPr>
              <a:t>i</a:t>
            </a:r>
            <a:r>
              <a:rPr lang="en-HK" dirty="0">
                <a:latin typeface="Georgia" panose="02040502050405020303" pitchFamily="18" charset="0"/>
              </a:rPr>
              <a:t> </a:t>
            </a:r>
          </a:p>
          <a:p>
            <a:endParaRPr lang="en-HK" dirty="0">
              <a:latin typeface="Georgia" panose="02040502050405020303" pitchFamily="18" charset="0"/>
            </a:endParaRPr>
          </a:p>
          <a:p>
            <a:r>
              <a:rPr lang="en-HK" i="1" dirty="0">
                <a:latin typeface="Georgia" panose="02040502050405020303" pitchFamily="18" charset="0"/>
              </a:rPr>
              <a:t>r </a:t>
            </a:r>
            <a:r>
              <a:rPr lang="en-HK" dirty="0">
                <a:latin typeface="Georgia" panose="02040502050405020303" pitchFamily="18" charset="0"/>
              </a:rPr>
              <a:t>is the secondary ionization by scattered electrons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7981" y="1524000"/>
            <a:ext cx="7354398" cy="4856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Rectangle 5"/>
          <p:cNvSpPr>
            <a:spLocks noChangeArrowheads="1"/>
          </p:cNvSpPr>
          <p:nvPr/>
        </p:nvSpPr>
        <p:spPr bwMode="auto">
          <a:xfrm>
            <a:off x="609600" y="217737"/>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
        <p:nvSpPr>
          <p:cNvPr id="45060" name="Text Box 6"/>
          <p:cNvSpPr txBox="1">
            <a:spLocks noChangeArrowheads="1"/>
          </p:cNvSpPr>
          <p:nvPr/>
        </p:nvSpPr>
        <p:spPr bwMode="auto">
          <a:xfrm>
            <a:off x="2784491" y="905530"/>
            <a:ext cx="3575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Signal quantification </a:t>
            </a:r>
          </a:p>
        </p:txBody>
      </p:sp>
      <p:sp>
        <p:nvSpPr>
          <p:cNvPr id="2" name="Slide Number Placeholder 1">
            <a:extLst>
              <a:ext uri="{FF2B5EF4-FFF2-40B4-BE49-F238E27FC236}">
                <a16:creationId xmlns:a16="http://schemas.microsoft.com/office/drawing/2014/main" id="{A7866122-E3E3-4B8E-82DE-5B4BCBA8937A}"/>
              </a:ext>
            </a:extLst>
          </p:cNvPr>
          <p:cNvSpPr>
            <a:spLocks noGrp="1"/>
          </p:cNvSpPr>
          <p:nvPr>
            <p:ph type="sldNum" sz="quarter" idx="11"/>
          </p:nvPr>
        </p:nvSpPr>
        <p:spPr/>
        <p:txBody>
          <a:bodyPr/>
          <a:lstStyle/>
          <a:p>
            <a:pPr>
              <a:defRPr/>
            </a:pPr>
            <a:fld id="{9A975D84-2197-4ABB-80EB-AE85607E50F0}" type="slidenum">
              <a:rPr lang="zh-TW" altLang="en-US" smtClean="0"/>
              <a:pPr>
                <a:defRPr/>
              </a:pPr>
              <a:t>47</a:t>
            </a:fld>
            <a:endParaRPr lang="en-US" altLang="zh-TW"/>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659803"/>
            <a:ext cx="65151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0" y="4098203"/>
            <a:ext cx="6629400" cy="235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Rectangle 6"/>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
        <p:nvSpPr>
          <p:cNvPr id="46085" name="Text Box 7"/>
          <p:cNvSpPr txBox="1">
            <a:spLocks noChangeArrowheads="1"/>
          </p:cNvSpPr>
          <p:nvPr/>
        </p:nvSpPr>
        <p:spPr bwMode="auto">
          <a:xfrm>
            <a:off x="2819400" y="866775"/>
            <a:ext cx="3575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Signal quantification </a:t>
            </a:r>
          </a:p>
        </p:txBody>
      </p:sp>
      <p:sp>
        <p:nvSpPr>
          <p:cNvPr id="2" name="Slide Number Placeholder 1">
            <a:extLst>
              <a:ext uri="{FF2B5EF4-FFF2-40B4-BE49-F238E27FC236}">
                <a16:creationId xmlns:a16="http://schemas.microsoft.com/office/drawing/2014/main" id="{DA865AB8-9ADC-431A-B610-9B9C95DEC1F8}"/>
              </a:ext>
            </a:extLst>
          </p:cNvPr>
          <p:cNvSpPr>
            <a:spLocks noGrp="1"/>
          </p:cNvSpPr>
          <p:nvPr>
            <p:ph type="sldNum" sz="quarter" idx="11"/>
          </p:nvPr>
        </p:nvSpPr>
        <p:spPr/>
        <p:txBody>
          <a:bodyPr/>
          <a:lstStyle/>
          <a:p>
            <a:pPr>
              <a:defRPr/>
            </a:pPr>
            <a:fld id="{9A975D84-2197-4ABB-80EB-AE85607E50F0}" type="slidenum">
              <a:rPr lang="zh-TW" altLang="en-US" smtClean="0"/>
              <a:pPr>
                <a:defRPr/>
              </a:pPr>
              <a:t>48</a:t>
            </a:fld>
            <a:endParaRPr lang="en-US" altLang="zh-TW"/>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p:cNvSpPr txBox="1">
            <a:spLocks noChangeArrowheads="1"/>
          </p:cNvSpPr>
          <p:nvPr/>
        </p:nvSpPr>
        <p:spPr bwMode="auto">
          <a:xfrm>
            <a:off x="685800" y="1371600"/>
            <a:ext cx="7772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sz="2000" dirty="0">
                <a:latin typeface="Georgia" panose="02040502050405020303" pitchFamily="18" charset="0"/>
                <a:ea typeface="宋体" pitchFamily="2" charset="-122"/>
                <a:cs typeface="Arial" charset="0"/>
              </a:rPr>
              <a:t>Auger peaks are almost always on sloping background </a:t>
            </a:r>
            <a:r>
              <a:rPr lang="en-US" altLang="zh-CN" sz="2000" dirty="0">
                <a:latin typeface="Georgia" panose="02040502050405020303" pitchFamily="18" charset="0"/>
                <a:ea typeface="宋体" pitchFamily="2" charset="-122"/>
                <a:cs typeface="Arial" charset="0"/>
                <a:sym typeface="Wingdings" pitchFamily="2" charset="2"/>
              </a:rPr>
              <a:t> Asymmetry in peak shape.</a:t>
            </a:r>
            <a:endParaRPr lang="en-US" altLang="zh-CN" sz="2000" dirty="0">
              <a:latin typeface="Georgia" panose="02040502050405020303" pitchFamily="18" charset="0"/>
              <a:ea typeface="宋体" pitchFamily="2" charset="-122"/>
              <a:cs typeface="Arial" charset="0"/>
            </a:endParaRPr>
          </a:p>
          <a:p>
            <a:pPr eaLnBrk="1" hangingPunct="1"/>
            <a:endParaRPr lang="en-US" altLang="zh-CN" sz="2000" dirty="0">
              <a:latin typeface="Georgia" panose="02040502050405020303" pitchFamily="18" charset="0"/>
              <a:ea typeface="宋体" pitchFamily="2" charset="-122"/>
              <a:cs typeface="Arial" charset="0"/>
            </a:endParaRPr>
          </a:p>
          <a:p>
            <a:pPr eaLnBrk="1" hangingPunct="1"/>
            <a:r>
              <a:rPr lang="en-US" altLang="zh-CN" sz="2000" dirty="0">
                <a:latin typeface="Georgia" panose="02040502050405020303" pitchFamily="18" charset="0"/>
                <a:ea typeface="宋体" pitchFamily="2" charset="-122"/>
                <a:cs typeface="Arial" charset="0"/>
              </a:rPr>
              <a:t>Quantitative measurement of Auger peak intensities is, by convention, done on the </a:t>
            </a:r>
            <a:r>
              <a:rPr lang="en-US" altLang="zh-CN" sz="2000" dirty="0">
                <a:solidFill>
                  <a:srgbClr val="0000FF"/>
                </a:solidFill>
                <a:latin typeface="Georgia" panose="02040502050405020303" pitchFamily="18" charset="0"/>
                <a:ea typeface="宋体" pitchFamily="2" charset="-122"/>
                <a:cs typeface="Arial" charset="0"/>
              </a:rPr>
              <a:t>high-energy part</a:t>
            </a:r>
            <a:r>
              <a:rPr lang="en-US" altLang="zh-CN" sz="2000" dirty="0">
                <a:latin typeface="Georgia" panose="02040502050405020303" pitchFamily="18" charset="0"/>
                <a:ea typeface="宋体" pitchFamily="2" charset="-122"/>
                <a:cs typeface="Arial" charset="0"/>
              </a:rPr>
              <a:t> of the peak.</a:t>
            </a:r>
          </a:p>
          <a:p>
            <a:pPr eaLnBrk="1" hangingPunct="1"/>
            <a:endParaRPr lang="en-US" altLang="zh-CN" sz="2000" dirty="0">
              <a:latin typeface="Georgia" panose="02040502050405020303" pitchFamily="18" charset="0"/>
              <a:ea typeface="宋体" pitchFamily="2" charset="-122"/>
              <a:cs typeface="Arial" charset="0"/>
            </a:endParaRPr>
          </a:p>
        </p:txBody>
      </p:sp>
      <p:sp>
        <p:nvSpPr>
          <p:cNvPr id="47108" name="Rectangle 4"/>
          <p:cNvSpPr>
            <a:spLocks noChangeArrowheads="1"/>
          </p:cNvSpPr>
          <p:nvPr/>
        </p:nvSpPr>
        <p:spPr bwMode="auto">
          <a:xfrm>
            <a:off x="685800" y="3871714"/>
            <a:ext cx="6705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rPr>
              <a:t>Peak height depends on size of the modulation used to differentiate it. </a:t>
            </a:r>
          </a:p>
          <a:p>
            <a:endParaRPr lang="en-US" altLang="zh-CN" sz="2000" dirty="0">
              <a:latin typeface="Georgia" panose="02040502050405020303" pitchFamily="18" charset="0"/>
              <a:ea typeface="宋体" pitchFamily="2" charset="-122"/>
            </a:endParaRPr>
          </a:p>
          <a:p>
            <a:r>
              <a:rPr lang="en-US" altLang="zh-CN" sz="2000" dirty="0">
                <a:latin typeface="Georgia" panose="02040502050405020303" pitchFamily="18" charset="0"/>
                <a:ea typeface="宋体" pitchFamily="2" charset="-122"/>
              </a:rPr>
              <a:t>If modulation voltage is too high, peak shape is distorted</a:t>
            </a:r>
          </a:p>
        </p:txBody>
      </p:sp>
      <p:sp>
        <p:nvSpPr>
          <p:cNvPr id="47109" name="Text Box 5"/>
          <p:cNvSpPr txBox="1">
            <a:spLocks noChangeArrowheads="1"/>
          </p:cNvSpPr>
          <p:nvPr/>
        </p:nvSpPr>
        <p:spPr bwMode="auto">
          <a:xfrm>
            <a:off x="704273" y="3364180"/>
            <a:ext cx="35157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rPr>
              <a:t>If a Lock-in amplifier is used:</a:t>
            </a:r>
          </a:p>
        </p:txBody>
      </p:sp>
      <p:sp>
        <p:nvSpPr>
          <p:cNvPr id="2" name="Slide Number Placeholder 1">
            <a:extLst>
              <a:ext uri="{FF2B5EF4-FFF2-40B4-BE49-F238E27FC236}">
                <a16:creationId xmlns:a16="http://schemas.microsoft.com/office/drawing/2014/main" id="{6DFA93A8-C14C-4BC5-804A-C07DEA3D2489}"/>
              </a:ext>
            </a:extLst>
          </p:cNvPr>
          <p:cNvSpPr>
            <a:spLocks noGrp="1"/>
          </p:cNvSpPr>
          <p:nvPr>
            <p:ph type="sldNum" sz="quarter" idx="11"/>
          </p:nvPr>
        </p:nvSpPr>
        <p:spPr/>
        <p:txBody>
          <a:bodyPr/>
          <a:lstStyle/>
          <a:p>
            <a:pPr>
              <a:defRPr/>
            </a:pPr>
            <a:fld id="{9A975D84-2197-4ABB-80EB-AE85607E50F0}" type="slidenum">
              <a:rPr lang="zh-TW" altLang="en-US" smtClean="0"/>
              <a:pPr>
                <a:defRPr/>
              </a:pPr>
              <a:t>49</a:t>
            </a:fld>
            <a:endParaRPr lang="en-US" altLang="zh-TW"/>
          </a:p>
        </p:txBody>
      </p:sp>
      <p:sp>
        <p:nvSpPr>
          <p:cNvPr id="3" name="Rectangle 7">
            <a:extLst>
              <a:ext uri="{FF2B5EF4-FFF2-40B4-BE49-F238E27FC236}">
                <a16:creationId xmlns:a16="http://schemas.microsoft.com/office/drawing/2014/main" id="{9E78815E-5A74-C75D-78CD-D28D8DB6A07F}"/>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4"/>
          <p:cNvPicPr>
            <a:picLocks noChangeAspect="1" noChangeArrowheads="1"/>
          </p:cNvPicPr>
          <p:nvPr/>
        </p:nvPicPr>
        <p:blipFill>
          <a:blip r:embed="rId2" cstate="print">
            <a:lum bright="-20000" contrast="40000"/>
            <a:extLst>
              <a:ext uri="{28A0092B-C50C-407E-A947-70E740481C1C}">
                <a14:useLocalDpi xmlns:a14="http://schemas.microsoft.com/office/drawing/2010/main" val="0"/>
              </a:ext>
            </a:extLst>
          </a:blip>
          <a:srcRect/>
          <a:stretch>
            <a:fillRect/>
          </a:stretch>
        </p:blipFill>
        <p:spPr bwMode="auto">
          <a:xfrm>
            <a:off x="4876800" y="1338290"/>
            <a:ext cx="3886200" cy="254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276" y="1219200"/>
            <a:ext cx="4275138"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8" name="Text Box 6"/>
          <p:cNvSpPr txBox="1">
            <a:spLocks noChangeArrowheads="1"/>
          </p:cNvSpPr>
          <p:nvPr/>
        </p:nvSpPr>
        <p:spPr bwMode="auto">
          <a:xfrm>
            <a:off x="381000" y="4147986"/>
            <a:ext cx="8534400" cy="2585323"/>
          </a:xfrm>
          <a:prstGeom prst="rect">
            <a:avLst/>
          </a:prstGeom>
          <a:noFill/>
          <a:ln w="9525">
            <a:noFill/>
            <a:miter lim="800000"/>
            <a:headEnd/>
            <a:tailEnd/>
          </a:ln>
          <a:effectLst/>
        </p:spPr>
        <p:txBody>
          <a:bodyPr>
            <a:spAutoFit/>
          </a:bodyPr>
          <a:lstStyle/>
          <a:p>
            <a:pPr algn="just">
              <a:spcBef>
                <a:spcPct val="50000"/>
              </a:spcBef>
              <a:defRPr/>
            </a:pPr>
            <a:r>
              <a:rPr lang="en-US" altLang="zh-TW" dirty="0">
                <a:latin typeface="Georgia" panose="02040502050405020303" pitchFamily="18" charset="0"/>
                <a:ea typeface="PMingLiU" pitchFamily="18" charset="-120"/>
              </a:rPr>
              <a:t>The empirical method does not include the matrix effect of the sample, which includes the inelastic mean free path (</a:t>
            </a:r>
            <a:r>
              <a:rPr lang="en-US" altLang="zh-TW" dirty="0">
                <a:latin typeface="Symbol" panose="05050102010706020507" pitchFamily="18" charset="2"/>
                <a:ea typeface="PMingLiU" pitchFamily="18" charset="-120"/>
              </a:rPr>
              <a:t>l</a:t>
            </a:r>
            <a:r>
              <a:rPr lang="en-US" altLang="zh-TW" dirty="0">
                <a:latin typeface="Georgia" panose="02040502050405020303" pitchFamily="18" charset="0"/>
                <a:ea typeface="PMingLiU" pitchFamily="18" charset="-120"/>
              </a:rPr>
              <a:t>), the backscattering factor (</a:t>
            </a:r>
            <a:r>
              <a:rPr lang="en-US" altLang="zh-TW" b="1" i="1" dirty="0">
                <a:latin typeface="Symbol" panose="05050102010706020507" pitchFamily="18" charset="2"/>
                <a:ea typeface="PMingLiU" pitchFamily="18" charset="-120"/>
              </a:rPr>
              <a:t>r</a:t>
            </a:r>
            <a:r>
              <a:rPr lang="en-US" altLang="zh-TW" dirty="0">
                <a:latin typeface="Georgia" panose="02040502050405020303" pitchFamily="18" charset="0"/>
                <a:ea typeface="PMingLiU" pitchFamily="18" charset="-120"/>
              </a:rPr>
              <a:t>), chemical effect on peak shapes and surface roughness.  Generally, an error of 15% is expected using the empirical method.</a:t>
            </a:r>
          </a:p>
          <a:p>
            <a:pPr algn="just">
              <a:spcBef>
                <a:spcPct val="50000"/>
              </a:spcBef>
              <a:defRPr/>
            </a:pPr>
            <a:r>
              <a:rPr lang="en-US" altLang="zh-TW" dirty="0">
                <a:latin typeface="Georgia" panose="02040502050405020303" pitchFamily="18" charset="0"/>
                <a:ea typeface="PMingLiU" pitchFamily="18" charset="-120"/>
              </a:rPr>
              <a:t>For example, a sample reported with 80% Fe and 20% Ni.  The error for Fe could be in the range of ±12%.</a:t>
            </a:r>
          </a:p>
          <a:p>
            <a:pPr algn="just">
              <a:spcBef>
                <a:spcPct val="50000"/>
              </a:spcBef>
              <a:defRPr/>
            </a:pPr>
            <a:r>
              <a:rPr lang="en-US" altLang="zh-TW" dirty="0">
                <a:latin typeface="Georgia" panose="02040502050405020303" pitchFamily="18" charset="0"/>
                <a:ea typeface="PMingLiU" pitchFamily="18" charset="-120"/>
              </a:rPr>
              <a:t>If standard sample with the same matrix is used for the determination of the sensitivity factors, the error can be as small as 1%.</a:t>
            </a:r>
            <a:endParaRPr lang="zh-TW" altLang="en-US" dirty="0">
              <a:latin typeface="Georgia" panose="02040502050405020303" pitchFamily="18" charset="0"/>
              <a:ea typeface="PMingLiU" pitchFamily="18" charset="-120"/>
            </a:endParaRPr>
          </a:p>
        </p:txBody>
      </p:sp>
      <p:sp>
        <p:nvSpPr>
          <p:cNvPr id="48133" name="Rectangle 7"/>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
        <p:nvSpPr>
          <p:cNvPr id="48134" name="Text Box 8"/>
          <p:cNvSpPr txBox="1">
            <a:spLocks noChangeArrowheads="1"/>
          </p:cNvSpPr>
          <p:nvPr/>
        </p:nvSpPr>
        <p:spPr bwMode="auto">
          <a:xfrm>
            <a:off x="2902255" y="743082"/>
            <a:ext cx="3575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Signal quantification </a:t>
            </a:r>
          </a:p>
        </p:txBody>
      </p:sp>
      <p:sp>
        <p:nvSpPr>
          <p:cNvPr id="2" name="Slide Number Placeholder 1">
            <a:extLst>
              <a:ext uri="{FF2B5EF4-FFF2-40B4-BE49-F238E27FC236}">
                <a16:creationId xmlns:a16="http://schemas.microsoft.com/office/drawing/2014/main" id="{629DD61D-DE67-4FDD-9E12-43D573F66874}"/>
              </a:ext>
            </a:extLst>
          </p:cNvPr>
          <p:cNvSpPr>
            <a:spLocks noGrp="1"/>
          </p:cNvSpPr>
          <p:nvPr>
            <p:ph type="sldNum" sz="quarter" idx="11"/>
          </p:nvPr>
        </p:nvSpPr>
        <p:spPr/>
        <p:txBody>
          <a:bodyPr/>
          <a:lstStyle/>
          <a:p>
            <a:pPr>
              <a:defRPr/>
            </a:pPr>
            <a:fld id="{9A975D84-2197-4ABB-80EB-AE85607E50F0}" type="slidenum">
              <a:rPr lang="zh-TW" altLang="en-US" smtClean="0"/>
              <a:pPr>
                <a:defRPr/>
              </a:pPr>
              <a:t>50</a:t>
            </a:fld>
            <a:endParaRPr lang="en-US" altLang="zh-TW"/>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443923" y="3886200"/>
            <a:ext cx="40386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sz="2000" dirty="0">
                <a:latin typeface="Georgia" panose="02040502050405020303" pitchFamily="18" charset="0"/>
                <a:ea typeface="宋体" pitchFamily="2" charset="-122"/>
              </a:rPr>
              <a:t>This controlled surface etching of the </a:t>
            </a:r>
            <a:r>
              <a:rPr lang="en-US" altLang="zh-CN" sz="2000" dirty="0" err="1">
                <a:latin typeface="Georgia" panose="02040502050405020303" pitchFamily="18" charset="0"/>
                <a:ea typeface="宋体" pitchFamily="2" charset="-122"/>
              </a:rPr>
              <a:t>analysed</a:t>
            </a:r>
            <a:r>
              <a:rPr lang="en-US" altLang="zh-CN" sz="2000" dirty="0">
                <a:latin typeface="Georgia" panose="02040502050405020303" pitchFamily="18" charset="0"/>
                <a:ea typeface="宋体" pitchFamily="2" charset="-122"/>
              </a:rPr>
              <a:t> region can be accomplished by simultaneously exposing the surface to an ion flux which leads to sputtering (i.e. removal) of the surface atoms. </a:t>
            </a:r>
          </a:p>
        </p:txBody>
      </p:sp>
      <p:pic>
        <p:nvPicPr>
          <p:cNvPr id="50179" name="Picture 3" descr="scat7_5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1148" y="3810000"/>
            <a:ext cx="399097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Rectangle 4"/>
          <p:cNvSpPr>
            <a:spLocks noChangeArrowheads="1"/>
          </p:cNvSpPr>
          <p:nvPr/>
        </p:nvSpPr>
        <p:spPr bwMode="auto">
          <a:xfrm>
            <a:off x="443923" y="2406170"/>
            <a:ext cx="8458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sz="2000" dirty="0">
                <a:latin typeface="Georgia" panose="02040502050405020303" pitchFamily="18" charset="0"/>
                <a:ea typeface="宋体" pitchFamily="2" charset="-122"/>
              </a:rPr>
              <a:t>To obtain information about the variation of composition with depth below the surface of a sample, it is necessary to gradually remove material from the surface region being </a:t>
            </a:r>
            <a:r>
              <a:rPr lang="en-US" altLang="zh-CN" sz="2000" dirty="0" err="1">
                <a:latin typeface="Georgia" panose="02040502050405020303" pitchFamily="18" charset="0"/>
                <a:ea typeface="宋体" pitchFamily="2" charset="-122"/>
              </a:rPr>
              <a:t>analysed</a:t>
            </a:r>
            <a:r>
              <a:rPr lang="en-US" altLang="zh-CN" sz="2000" dirty="0">
                <a:latin typeface="Georgia" panose="02040502050405020303" pitchFamily="18" charset="0"/>
                <a:ea typeface="宋体" pitchFamily="2" charset="-122"/>
              </a:rPr>
              <a:t>, whilst continuing to monitor and record the Auger spectra. </a:t>
            </a:r>
          </a:p>
        </p:txBody>
      </p:sp>
      <p:sp>
        <p:nvSpPr>
          <p:cNvPr id="50181" name="Text Box 5"/>
          <p:cNvSpPr txBox="1">
            <a:spLocks noChangeArrowheads="1"/>
          </p:cNvSpPr>
          <p:nvPr/>
        </p:nvSpPr>
        <p:spPr bwMode="auto">
          <a:xfrm>
            <a:off x="3124200" y="995581"/>
            <a:ext cx="2723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Depth Profiling </a:t>
            </a:r>
          </a:p>
        </p:txBody>
      </p:sp>
      <p:sp>
        <p:nvSpPr>
          <p:cNvPr id="331782" name="Text Box 6"/>
          <p:cNvSpPr txBox="1">
            <a:spLocks noChangeArrowheads="1"/>
          </p:cNvSpPr>
          <p:nvPr/>
        </p:nvSpPr>
        <p:spPr bwMode="auto">
          <a:xfrm>
            <a:off x="443923" y="1663847"/>
            <a:ext cx="8458200" cy="707886"/>
          </a:xfrm>
          <a:prstGeom prst="rect">
            <a:avLst/>
          </a:prstGeom>
          <a:noFill/>
          <a:ln w="9525">
            <a:noFill/>
            <a:miter lim="800000"/>
            <a:headEnd/>
            <a:tailEnd/>
          </a:ln>
          <a:effectLst/>
        </p:spPr>
        <p:txBody>
          <a:bodyPr>
            <a:spAutoFit/>
          </a:bodyPr>
          <a:lstStyle/>
          <a:p>
            <a:pPr algn="just">
              <a:spcBef>
                <a:spcPct val="50000"/>
              </a:spcBef>
              <a:defRPr/>
            </a:pPr>
            <a:r>
              <a:rPr lang="en-US" altLang="zh-TW" sz="2000" dirty="0">
                <a:latin typeface="Georgia" panose="02040502050405020303" pitchFamily="18" charset="0"/>
                <a:ea typeface="PMingLiU" pitchFamily="18" charset="-120"/>
              </a:rPr>
              <a:t>AES uses the same methodology of depth profile as XPS.  Both sputtered or angle-resolved depth profiles can be applied in AES. </a:t>
            </a:r>
            <a:endParaRPr lang="zh-TW" altLang="en-US" sz="2000" dirty="0">
              <a:latin typeface="Georgia" panose="02040502050405020303" pitchFamily="18" charset="0"/>
              <a:ea typeface="PMingLiU" pitchFamily="18" charset="-120"/>
            </a:endParaRPr>
          </a:p>
        </p:txBody>
      </p:sp>
      <p:sp>
        <p:nvSpPr>
          <p:cNvPr id="2" name="Slide Number Placeholder 1">
            <a:extLst>
              <a:ext uri="{FF2B5EF4-FFF2-40B4-BE49-F238E27FC236}">
                <a16:creationId xmlns:a16="http://schemas.microsoft.com/office/drawing/2014/main" id="{734E8DF6-5B56-4962-BB01-9FAB828252E3}"/>
              </a:ext>
            </a:extLst>
          </p:cNvPr>
          <p:cNvSpPr>
            <a:spLocks noGrp="1"/>
          </p:cNvSpPr>
          <p:nvPr>
            <p:ph type="sldNum" sz="quarter" idx="11"/>
          </p:nvPr>
        </p:nvSpPr>
        <p:spPr/>
        <p:txBody>
          <a:bodyPr/>
          <a:lstStyle/>
          <a:p>
            <a:pPr>
              <a:defRPr/>
            </a:pPr>
            <a:fld id="{9A975D84-2197-4ABB-80EB-AE85607E50F0}" type="slidenum">
              <a:rPr lang="zh-TW" altLang="en-US" smtClean="0"/>
              <a:pPr>
                <a:defRPr/>
              </a:pPr>
              <a:t>51</a:t>
            </a:fld>
            <a:endParaRPr lang="en-US" altLang="zh-TW"/>
          </a:p>
        </p:txBody>
      </p:sp>
      <p:sp>
        <p:nvSpPr>
          <p:cNvPr id="3" name="Rectangle 7">
            <a:extLst>
              <a:ext uri="{FF2B5EF4-FFF2-40B4-BE49-F238E27FC236}">
                <a16:creationId xmlns:a16="http://schemas.microsoft.com/office/drawing/2014/main" id="{3C88B95C-6123-7F92-5D8E-6C5C136601AD}"/>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756" y="1218562"/>
            <a:ext cx="7688488" cy="525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6"/>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Spectral interpretations – Quantitative analysis</a:t>
            </a:r>
          </a:p>
        </p:txBody>
      </p:sp>
      <p:sp>
        <p:nvSpPr>
          <p:cNvPr id="51205" name="Text Box 7"/>
          <p:cNvSpPr txBox="1">
            <a:spLocks noChangeArrowheads="1"/>
          </p:cNvSpPr>
          <p:nvPr/>
        </p:nvSpPr>
        <p:spPr bwMode="auto">
          <a:xfrm>
            <a:off x="2971800" y="793951"/>
            <a:ext cx="27238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Depth Profiling </a:t>
            </a:r>
          </a:p>
        </p:txBody>
      </p:sp>
      <p:sp>
        <p:nvSpPr>
          <p:cNvPr id="2" name="Slide Number Placeholder 1">
            <a:extLst>
              <a:ext uri="{FF2B5EF4-FFF2-40B4-BE49-F238E27FC236}">
                <a16:creationId xmlns:a16="http://schemas.microsoft.com/office/drawing/2014/main" id="{28FB1D23-3D5F-4437-9A28-1C9FCBC4ADD5}"/>
              </a:ext>
            </a:extLst>
          </p:cNvPr>
          <p:cNvSpPr>
            <a:spLocks noGrp="1"/>
          </p:cNvSpPr>
          <p:nvPr>
            <p:ph type="sldNum" sz="quarter" idx="11"/>
          </p:nvPr>
        </p:nvSpPr>
        <p:spPr/>
        <p:txBody>
          <a:bodyPr/>
          <a:lstStyle/>
          <a:p>
            <a:pPr>
              <a:defRPr/>
            </a:pPr>
            <a:fld id="{9A975D84-2197-4ABB-80EB-AE85607E50F0}" type="slidenum">
              <a:rPr lang="zh-TW" altLang="en-US" smtClean="0"/>
              <a:pPr>
                <a:defRPr/>
              </a:pPr>
              <a:t>52</a:t>
            </a:fld>
            <a:endParaRPr lang="en-US" altLang="zh-TW"/>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762000" y="865956"/>
            <a:ext cx="74676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b="1" dirty="0">
                <a:latin typeface="Georgia" panose="02040502050405020303" pitchFamily="18" charset="0"/>
                <a:ea typeface="宋体" pitchFamily="2" charset="-122"/>
              </a:rPr>
              <a:t>Analysis Procedure</a:t>
            </a:r>
            <a:endParaRPr lang="en-US" altLang="zh-CN" dirty="0">
              <a:latin typeface="Georgia" panose="02040502050405020303" pitchFamily="18" charset="0"/>
              <a:ea typeface="宋体" pitchFamily="2" charset="-122"/>
            </a:endParaRPr>
          </a:p>
          <a:p>
            <a:br>
              <a:rPr lang="en-US" altLang="zh-CN" dirty="0">
                <a:latin typeface="Georgia" panose="02040502050405020303" pitchFamily="18" charset="0"/>
                <a:ea typeface="宋体" pitchFamily="2" charset="-122"/>
              </a:rPr>
            </a:br>
            <a:r>
              <a:rPr lang="en-US" altLang="zh-CN" dirty="0">
                <a:latin typeface="Georgia" panose="02040502050405020303" pitchFamily="18" charset="0"/>
                <a:ea typeface="宋体" pitchFamily="2" charset="-122"/>
              </a:rPr>
              <a:t>Conducting solids (metals, alloys, semiconductors, thin films) with dimensions less than 2 cm diameter and 1 cm high may be analyzed. Samples must be clean and free from any high vapor pressure material. It is important that the specimen surface should not be handled.</a:t>
            </a:r>
          </a:p>
        </p:txBody>
      </p:sp>
      <p:sp>
        <p:nvSpPr>
          <p:cNvPr id="52227" name="Rectangle 3"/>
          <p:cNvSpPr>
            <a:spLocks noChangeArrowheads="1"/>
          </p:cNvSpPr>
          <p:nvPr/>
        </p:nvSpPr>
        <p:spPr bwMode="auto">
          <a:xfrm>
            <a:off x="685800" y="2743200"/>
            <a:ext cx="74676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b="1" dirty="0">
                <a:latin typeface="Georgia" panose="02040502050405020303" pitchFamily="18" charset="0"/>
                <a:ea typeface="宋体" pitchFamily="2" charset="-122"/>
              </a:rPr>
              <a:t>Limitations </a:t>
            </a:r>
          </a:p>
          <a:p>
            <a:pPr eaLnBrk="1" hangingPunct="1"/>
            <a:endParaRPr lang="en-US" altLang="zh-CN" b="1" dirty="0">
              <a:latin typeface="Georgia" panose="02040502050405020303" pitchFamily="18" charset="0"/>
              <a:ea typeface="宋体" pitchFamily="2" charset="-122"/>
            </a:endParaRPr>
          </a:p>
          <a:p>
            <a:pPr marL="285750" indent="-285750">
              <a:buFont typeface="Arial" panose="020B0604020202020204" pitchFamily="34" charset="0"/>
              <a:buChar char="•"/>
            </a:pPr>
            <a:r>
              <a:rPr lang="en-US" altLang="zh-CN" dirty="0">
                <a:solidFill>
                  <a:srgbClr val="0000FF"/>
                </a:solidFill>
                <a:latin typeface="Georgia" panose="02040502050405020303" pitchFamily="18" charset="0"/>
                <a:ea typeface="宋体" pitchFamily="2" charset="-122"/>
              </a:rPr>
              <a:t>Samples must be conductive</a:t>
            </a:r>
            <a:r>
              <a:rPr lang="en-US" altLang="zh-CN" dirty="0">
                <a:latin typeface="Georgia" panose="02040502050405020303" pitchFamily="18" charset="0"/>
                <a:ea typeface="宋体" pitchFamily="2" charset="-122"/>
              </a:rPr>
              <a:t>, Samples must be solid and vacuum compatible.  Insulating samples can be more difficult.  Because Auger is a surface sensitive technique, gold or carbon coating must be avoided.</a:t>
            </a:r>
          </a:p>
          <a:p>
            <a:pPr marL="285750" indent="-285750">
              <a:buFont typeface="Arial" panose="020B0604020202020204" pitchFamily="34" charset="0"/>
              <a:buChar char="•"/>
            </a:pPr>
            <a:r>
              <a:rPr lang="en-US" altLang="zh-CN" dirty="0">
                <a:latin typeface="Georgia" panose="02040502050405020303" pitchFamily="18" charset="0"/>
                <a:ea typeface="宋体" pitchFamily="2" charset="-122"/>
              </a:rPr>
              <a:t>Qualitative detection sensitivity is reliable to ~1.0 atomic percent depending on the element</a:t>
            </a:r>
          </a:p>
          <a:p>
            <a:pPr marL="285750" indent="-285750">
              <a:buFont typeface="Arial" panose="020B0604020202020204" pitchFamily="34" charset="0"/>
              <a:buChar char="•"/>
            </a:pPr>
            <a:r>
              <a:rPr lang="en-US" altLang="zh-CN" dirty="0">
                <a:latin typeface="Georgia" panose="02040502050405020303" pitchFamily="18" charset="0"/>
                <a:ea typeface="宋体" pitchFamily="2" charset="-122"/>
              </a:rPr>
              <a:t>Beam damage possible with some materials</a:t>
            </a:r>
          </a:p>
          <a:p>
            <a:pPr marL="285750" indent="-285750">
              <a:buFont typeface="Arial" panose="020B0604020202020204" pitchFamily="34" charset="0"/>
              <a:buChar char="•"/>
            </a:pPr>
            <a:r>
              <a:rPr lang="en-US" altLang="zh-CN" dirty="0">
                <a:latin typeface="Georgia" panose="02040502050405020303" pitchFamily="18" charset="0"/>
                <a:ea typeface="宋体" pitchFamily="2" charset="-122"/>
              </a:rPr>
              <a:t>Accuracy of quantitative analysis is limited to ± 20% if published sensitivity factors are used, better quantification is possible if standards closely resembling the sample are used</a:t>
            </a:r>
          </a:p>
          <a:p>
            <a:pPr marL="285750" indent="-285750">
              <a:buFont typeface="Arial" panose="020B0604020202020204" pitchFamily="34" charset="0"/>
              <a:buChar char="•"/>
            </a:pPr>
            <a:r>
              <a:rPr lang="en-US" altLang="zh-CN" dirty="0">
                <a:latin typeface="Georgia" panose="02040502050405020303" pitchFamily="18" charset="0"/>
                <a:ea typeface="宋体" pitchFamily="2" charset="-122"/>
              </a:rPr>
              <a:t>Elements H and He are undetectable </a:t>
            </a:r>
          </a:p>
        </p:txBody>
      </p:sp>
      <p:sp>
        <p:nvSpPr>
          <p:cNvPr id="2" name="Slide Number Placeholder 1">
            <a:extLst>
              <a:ext uri="{FF2B5EF4-FFF2-40B4-BE49-F238E27FC236}">
                <a16:creationId xmlns:a16="http://schemas.microsoft.com/office/drawing/2014/main" id="{A1B2BFCB-3CFA-4B2C-AA8F-4CE0307A63DF}"/>
              </a:ext>
            </a:extLst>
          </p:cNvPr>
          <p:cNvSpPr>
            <a:spLocks noGrp="1"/>
          </p:cNvSpPr>
          <p:nvPr>
            <p:ph type="sldNum" sz="quarter" idx="11"/>
          </p:nvPr>
        </p:nvSpPr>
        <p:spPr/>
        <p:txBody>
          <a:bodyPr/>
          <a:lstStyle/>
          <a:p>
            <a:pPr>
              <a:defRPr/>
            </a:pPr>
            <a:fld id="{9A975D84-2197-4ABB-80EB-AE85607E50F0}" type="slidenum">
              <a:rPr lang="zh-TW" altLang="en-US" smtClean="0"/>
              <a:pPr>
                <a:defRPr/>
              </a:pPr>
              <a:t>53</a:t>
            </a:fld>
            <a:endParaRPr lang="en-US" altLang="zh-TW"/>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762000" y="1295400"/>
            <a:ext cx="914400" cy="28194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endParaRPr lang="en-US" altLang="en-US"/>
          </a:p>
        </p:txBody>
      </p:sp>
      <p:sp>
        <p:nvSpPr>
          <p:cNvPr id="40963" name="Line 3"/>
          <p:cNvSpPr>
            <a:spLocks noChangeShapeType="1"/>
          </p:cNvSpPr>
          <p:nvPr/>
        </p:nvSpPr>
        <p:spPr bwMode="auto">
          <a:xfrm>
            <a:off x="838200" y="4114800"/>
            <a:ext cx="381000" cy="457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64" name="Line 4"/>
          <p:cNvSpPr>
            <a:spLocks noChangeShapeType="1"/>
          </p:cNvSpPr>
          <p:nvPr/>
        </p:nvSpPr>
        <p:spPr bwMode="auto">
          <a:xfrm flipH="1">
            <a:off x="1219200" y="4114800"/>
            <a:ext cx="457200" cy="457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66" name="Line 6"/>
          <p:cNvSpPr>
            <a:spLocks noChangeShapeType="1"/>
          </p:cNvSpPr>
          <p:nvPr/>
        </p:nvSpPr>
        <p:spPr bwMode="auto">
          <a:xfrm flipV="1">
            <a:off x="1219200" y="4343400"/>
            <a:ext cx="609600" cy="228600"/>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967" name="Text Box 7"/>
          <p:cNvSpPr txBox="1">
            <a:spLocks noChangeArrowheads="1"/>
          </p:cNvSpPr>
          <p:nvPr/>
        </p:nvSpPr>
        <p:spPr bwMode="auto">
          <a:xfrm>
            <a:off x="3886200" y="3991215"/>
            <a:ext cx="1784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CN" dirty="0">
                <a:ea typeface="宋体" pitchFamily="2" charset="-122"/>
                <a:cs typeface="Arial" charset="0"/>
              </a:rPr>
              <a:t>Electron energy</a:t>
            </a:r>
          </a:p>
          <a:p>
            <a:pPr eaLnBrk="1" hangingPunct="1"/>
            <a:r>
              <a:rPr lang="en-US" altLang="zh-CN" dirty="0">
                <a:ea typeface="宋体" pitchFamily="2" charset="-122"/>
                <a:cs typeface="Arial" charset="0"/>
              </a:rPr>
              <a:t>Analyzer</a:t>
            </a:r>
          </a:p>
        </p:txBody>
      </p:sp>
      <p:sp>
        <p:nvSpPr>
          <p:cNvPr id="40968" name="Text Box 8"/>
          <p:cNvSpPr txBox="1">
            <a:spLocks noChangeArrowheads="1"/>
          </p:cNvSpPr>
          <p:nvPr/>
        </p:nvSpPr>
        <p:spPr bwMode="auto">
          <a:xfrm>
            <a:off x="2257085" y="1439226"/>
            <a:ext cx="62484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indent="-285750" eaLnBrk="1" hangingPunct="1">
              <a:buFont typeface="Arial" panose="020B0604020202020204" pitchFamily="34" charset="0"/>
              <a:buChar char="•"/>
            </a:pPr>
            <a:r>
              <a:rPr lang="en-US" altLang="zh-CN" sz="2000" dirty="0">
                <a:latin typeface="Georgia" panose="02040502050405020303" pitchFamily="18" charset="0"/>
                <a:ea typeface="宋体" pitchFamily="2" charset="-122"/>
                <a:cs typeface="Arial" charset="0"/>
              </a:rPr>
              <a:t>Electrons can be focused to a spot of &lt; 1 nanometer</a:t>
            </a:r>
          </a:p>
          <a:p>
            <a:pPr marL="285750" indent="-285750" eaLnBrk="1" hangingPunct="1">
              <a:buFont typeface="Arial" panose="020B0604020202020204" pitchFamily="34" charset="0"/>
              <a:buChar char="•"/>
            </a:pPr>
            <a:r>
              <a:rPr lang="en-US" altLang="zh-CN" sz="2000" dirty="0">
                <a:latin typeface="Georgia" panose="02040502050405020303" pitchFamily="18" charset="0"/>
                <a:ea typeface="宋体" pitchFamily="2" charset="-122"/>
                <a:cs typeface="Arial" charset="0"/>
              </a:rPr>
              <a:t>Penetration depth and scattering within solid typically limit resolution to ~20 nanometer.  Recent instruments claim resolution of ~ 6 nm.</a:t>
            </a:r>
          </a:p>
          <a:p>
            <a:pPr marL="285750" indent="-285750" eaLnBrk="1" hangingPunct="1">
              <a:buFont typeface="Arial" panose="020B0604020202020204" pitchFamily="34" charset="0"/>
              <a:buChar char="•"/>
            </a:pPr>
            <a:r>
              <a:rPr lang="en-US" altLang="zh-CN" sz="2000" dirty="0">
                <a:latin typeface="Georgia" panose="02040502050405020303" pitchFamily="18" charset="0"/>
                <a:ea typeface="宋体" pitchFamily="2" charset="-122"/>
                <a:cs typeface="Arial" charset="0"/>
              </a:rPr>
              <a:t>Often use hemispherical analyzer</a:t>
            </a:r>
          </a:p>
        </p:txBody>
      </p:sp>
      <p:grpSp>
        <p:nvGrpSpPr>
          <p:cNvPr id="40969" name="Group 9"/>
          <p:cNvGrpSpPr>
            <a:grpSpLocks/>
          </p:cNvGrpSpPr>
          <p:nvPr/>
        </p:nvGrpSpPr>
        <p:grpSpPr bwMode="auto">
          <a:xfrm rot="831843">
            <a:off x="1905000" y="3581400"/>
            <a:ext cx="2244725" cy="996950"/>
            <a:chOff x="1370" y="720"/>
            <a:chExt cx="1414" cy="628"/>
          </a:xfrm>
        </p:grpSpPr>
        <p:sp>
          <p:nvSpPr>
            <p:cNvPr id="40972" name="Freeform 10"/>
            <p:cNvSpPr>
              <a:spLocks/>
            </p:cNvSpPr>
            <p:nvPr/>
          </p:nvSpPr>
          <p:spPr bwMode="auto">
            <a:xfrm rot="-202363">
              <a:off x="1370" y="856"/>
              <a:ext cx="463" cy="492"/>
            </a:xfrm>
            <a:custGeom>
              <a:avLst/>
              <a:gdLst>
                <a:gd name="T0" fmla="*/ 48 w 816"/>
                <a:gd name="T1" fmla="*/ 816 h 816"/>
                <a:gd name="T2" fmla="*/ 0 w 816"/>
                <a:gd name="T3" fmla="*/ 528 h 816"/>
                <a:gd name="T4" fmla="*/ 480 w 816"/>
                <a:gd name="T5" fmla="*/ 0 h 816"/>
                <a:gd name="T6" fmla="*/ 816 w 816"/>
                <a:gd name="T7" fmla="*/ 336 h 816"/>
                <a:gd name="T8" fmla="*/ 336 w 816"/>
                <a:gd name="T9" fmla="*/ 816 h 816"/>
                <a:gd name="T10" fmla="*/ 48 w 816"/>
                <a:gd name="T11" fmla="*/ 816 h 816"/>
                <a:gd name="T12" fmla="*/ 0 60000 65536"/>
                <a:gd name="T13" fmla="*/ 0 60000 65536"/>
                <a:gd name="T14" fmla="*/ 0 60000 65536"/>
                <a:gd name="T15" fmla="*/ 0 60000 65536"/>
                <a:gd name="T16" fmla="*/ 0 60000 65536"/>
                <a:gd name="T17" fmla="*/ 0 60000 65536"/>
                <a:gd name="T18" fmla="*/ 0 w 816"/>
                <a:gd name="T19" fmla="*/ 0 h 816"/>
                <a:gd name="T20" fmla="*/ 816 w 816"/>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816" h="816">
                  <a:moveTo>
                    <a:pt x="48" y="816"/>
                  </a:moveTo>
                  <a:lnTo>
                    <a:pt x="0" y="528"/>
                  </a:lnTo>
                  <a:lnTo>
                    <a:pt x="480" y="0"/>
                  </a:lnTo>
                  <a:lnTo>
                    <a:pt x="816" y="336"/>
                  </a:lnTo>
                  <a:lnTo>
                    <a:pt x="336" y="816"/>
                  </a:lnTo>
                  <a:lnTo>
                    <a:pt x="48" y="816"/>
                  </a:lnTo>
                  <a:close/>
                </a:path>
              </a:pathLst>
            </a:custGeom>
            <a:solidFill>
              <a:schemeClr val="accent1"/>
            </a:solidFill>
            <a:ln w="9525">
              <a:solidFill>
                <a:schemeClr val="tx1"/>
              </a:solidFill>
              <a:round/>
              <a:headEnd/>
              <a:tailEnd/>
            </a:ln>
          </p:spPr>
          <p:txBody>
            <a:bodyPr/>
            <a:lstStyle/>
            <a:p>
              <a:endParaRPr lang="en-US"/>
            </a:p>
          </p:txBody>
        </p:sp>
        <p:grpSp>
          <p:nvGrpSpPr>
            <p:cNvPr id="40973" name="Group 11"/>
            <p:cNvGrpSpPr>
              <a:grpSpLocks/>
            </p:cNvGrpSpPr>
            <p:nvPr/>
          </p:nvGrpSpPr>
          <p:grpSpPr bwMode="auto">
            <a:xfrm rot="2504348">
              <a:off x="1649" y="720"/>
              <a:ext cx="1135" cy="567"/>
              <a:chOff x="2976" y="2400"/>
              <a:chExt cx="1440" cy="720"/>
            </a:xfrm>
          </p:grpSpPr>
          <p:sp>
            <p:nvSpPr>
              <p:cNvPr id="40974" name="Arc 12"/>
              <p:cNvSpPr>
                <a:spLocks/>
              </p:cNvSpPr>
              <p:nvPr/>
            </p:nvSpPr>
            <p:spPr bwMode="auto">
              <a:xfrm>
                <a:off x="3696" y="2400"/>
                <a:ext cx="720" cy="720"/>
              </a:xfrm>
              <a:custGeom>
                <a:avLst/>
                <a:gdLst>
                  <a:gd name="T0" fmla="*/ 0 w 21600"/>
                  <a:gd name="T1" fmla="*/ 0 h 21600"/>
                  <a:gd name="T2" fmla="*/ 720 w 21600"/>
                  <a:gd name="T3" fmla="*/ 720 h 21600"/>
                  <a:gd name="T4" fmla="*/ 0 w 21600"/>
                  <a:gd name="T5" fmla="*/ 72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accent1"/>
              </a:solidFill>
              <a:ln w="9525">
                <a:solidFill>
                  <a:schemeClr val="tx1"/>
                </a:solidFill>
                <a:round/>
                <a:headEnd/>
                <a:tailEnd/>
              </a:ln>
            </p:spPr>
            <p:txBody>
              <a:bodyPr wrap="none" anchor="ctr"/>
              <a:lstStyle/>
              <a:p>
                <a:endParaRPr lang="en-US"/>
              </a:p>
            </p:txBody>
          </p:sp>
          <p:sp>
            <p:nvSpPr>
              <p:cNvPr id="40975" name="Arc 13"/>
              <p:cNvSpPr>
                <a:spLocks/>
              </p:cNvSpPr>
              <p:nvPr/>
            </p:nvSpPr>
            <p:spPr bwMode="auto">
              <a:xfrm flipH="1">
                <a:off x="2976" y="2400"/>
                <a:ext cx="720" cy="720"/>
              </a:xfrm>
              <a:custGeom>
                <a:avLst/>
                <a:gdLst>
                  <a:gd name="T0" fmla="*/ 0 w 21600"/>
                  <a:gd name="T1" fmla="*/ 0 h 21600"/>
                  <a:gd name="T2" fmla="*/ 720 w 21600"/>
                  <a:gd name="T3" fmla="*/ 720 h 21600"/>
                  <a:gd name="T4" fmla="*/ 0 w 21600"/>
                  <a:gd name="T5" fmla="*/ 72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accent1"/>
              </a:solidFill>
              <a:ln w="9525">
                <a:solidFill>
                  <a:schemeClr val="tx1"/>
                </a:solidFill>
                <a:round/>
                <a:headEnd/>
                <a:tailEnd/>
              </a:ln>
            </p:spPr>
            <p:txBody>
              <a:bodyPr wrap="none" anchor="ctr"/>
              <a:lstStyle/>
              <a:p>
                <a:endParaRPr lang="en-US"/>
              </a:p>
            </p:txBody>
          </p:sp>
        </p:grpSp>
      </p:grpSp>
      <p:sp>
        <p:nvSpPr>
          <p:cNvPr id="40970" name="Rectangle 14"/>
          <p:cNvSpPr>
            <a:spLocks noChangeArrowheads="1"/>
          </p:cNvSpPr>
          <p:nvPr/>
        </p:nvSpPr>
        <p:spPr bwMode="auto">
          <a:xfrm>
            <a:off x="914400" y="4572000"/>
            <a:ext cx="685800" cy="228600"/>
          </a:xfrm>
          <a:prstGeom prst="rect">
            <a:avLst/>
          </a:prstGeom>
          <a:solidFill>
            <a:srgbClr val="669900"/>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endParaRPr lang="en-US" altLang="en-US"/>
          </a:p>
        </p:txBody>
      </p:sp>
      <p:sp>
        <p:nvSpPr>
          <p:cNvPr id="40971" name="Text Box 15"/>
          <p:cNvSpPr txBox="1">
            <a:spLocks noChangeArrowheads="1"/>
          </p:cNvSpPr>
          <p:nvPr/>
        </p:nvSpPr>
        <p:spPr bwMode="auto">
          <a:xfrm>
            <a:off x="704850" y="5567972"/>
            <a:ext cx="755476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CN" sz="2000" dirty="0">
                <a:latin typeface="Georgia" panose="02040502050405020303" pitchFamily="18" charset="0"/>
                <a:ea typeface="宋体" pitchFamily="2" charset="-122"/>
              </a:rPr>
              <a:t>The details of the Electromagnetic lens will be discussed in the Lecture of electron microscopy</a:t>
            </a:r>
          </a:p>
        </p:txBody>
      </p:sp>
      <p:sp>
        <p:nvSpPr>
          <p:cNvPr id="2" name="Slide Number Placeholder 1">
            <a:extLst>
              <a:ext uri="{FF2B5EF4-FFF2-40B4-BE49-F238E27FC236}">
                <a16:creationId xmlns:a16="http://schemas.microsoft.com/office/drawing/2014/main" id="{3CF1A48C-8F36-4568-A1DF-FDAF5272EA0B}"/>
              </a:ext>
            </a:extLst>
          </p:cNvPr>
          <p:cNvSpPr>
            <a:spLocks noGrp="1"/>
          </p:cNvSpPr>
          <p:nvPr>
            <p:ph type="sldNum" sz="quarter" idx="11"/>
          </p:nvPr>
        </p:nvSpPr>
        <p:spPr/>
        <p:txBody>
          <a:bodyPr/>
          <a:lstStyle/>
          <a:p>
            <a:pPr>
              <a:defRPr/>
            </a:pPr>
            <a:fld id="{8CA4E1D9-CE51-44D2-9AA7-12A33D60B7A4}" type="slidenum">
              <a:rPr lang="zh-TW" altLang="en-US" smtClean="0"/>
              <a:pPr>
                <a:defRPr/>
              </a:pPr>
              <a:t>54</a:t>
            </a:fld>
            <a:endParaRPr lang="en-US" altLang="zh-TW"/>
          </a:p>
        </p:txBody>
      </p:sp>
      <p:sp>
        <p:nvSpPr>
          <p:cNvPr id="3" name="Rectangle 6">
            <a:extLst>
              <a:ext uri="{FF2B5EF4-FFF2-40B4-BE49-F238E27FC236}">
                <a16:creationId xmlns:a16="http://schemas.microsoft.com/office/drawing/2014/main" id="{5CC91D39-7398-A82D-020D-1EEF3B387FD5}"/>
              </a:ext>
            </a:extLst>
          </p:cNvPr>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sz="2400" dirty="0">
                <a:solidFill>
                  <a:schemeClr val="bg1"/>
                </a:solidFill>
                <a:latin typeface="Georgia" panose="02040502050405020303" pitchFamily="18" charset="0"/>
                <a:ea typeface="PMingLiU" pitchFamily="18" charset="-120"/>
              </a:rPr>
              <a:t>Scanning Auger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
            <a:ext cx="8991600"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77CDF229-C4B0-456F-B153-338CA54C78DE}"/>
              </a:ext>
            </a:extLst>
          </p:cNvPr>
          <p:cNvSpPr>
            <a:spLocks noGrp="1"/>
          </p:cNvSpPr>
          <p:nvPr>
            <p:ph type="sldNum" sz="quarter" idx="11"/>
          </p:nvPr>
        </p:nvSpPr>
        <p:spPr/>
        <p:txBody>
          <a:bodyPr/>
          <a:lstStyle/>
          <a:p>
            <a:pPr>
              <a:defRPr/>
            </a:pPr>
            <a:fld id="{9A975D84-2197-4ABB-80EB-AE85607E50F0}" type="slidenum">
              <a:rPr lang="zh-TW" altLang="en-US" smtClean="0"/>
              <a:pPr>
                <a:defRPr/>
              </a:pPr>
              <a:t>55</a:t>
            </a:fld>
            <a:endParaRPr lang="en-US" altLang="zh-TW"/>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 y="4348163"/>
            <a:ext cx="2646363"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 y="1855788"/>
            <a:ext cx="2646363"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2" name="Rectangle 6"/>
          <p:cNvSpPr>
            <a:spLocks noChangeArrowheads="1"/>
          </p:cNvSpPr>
          <p:nvPr/>
        </p:nvSpPr>
        <p:spPr bwMode="auto">
          <a:xfrm>
            <a:off x="762000" y="4457700"/>
            <a:ext cx="1525588" cy="396875"/>
          </a:xfrm>
          <a:prstGeom prst="rect">
            <a:avLst/>
          </a:prstGeom>
          <a:noFill/>
          <a:ln w="9525">
            <a:noFill/>
            <a:miter lim="800000"/>
            <a:headEnd/>
            <a:tailEnd/>
          </a:ln>
          <a:effectLst/>
        </p:spPr>
        <p:txBody>
          <a:bodyPr lIns="92075" tIns="46038" rIns="92075" bIns="46038"/>
          <a:lstStyle/>
          <a:p>
            <a:pPr>
              <a:defRPr/>
            </a:pPr>
            <a:r>
              <a:rPr lang="en-US" altLang="zh-TW" sz="2000">
                <a:solidFill>
                  <a:srgbClr val="FFFFFF"/>
                </a:solidFill>
                <a:effectLst>
                  <a:outerShdw blurRad="38100" dist="38100" dir="2700000" algn="tl">
                    <a:srgbClr val="C0C0C0"/>
                  </a:outerShdw>
                </a:effectLst>
                <a:latin typeface="Georgia" panose="02040502050405020303" pitchFamily="18" charset="0"/>
                <a:ea typeface="PMingLiU" pitchFamily="18" charset="-120"/>
              </a:rPr>
              <a:t>100 kX SEM</a:t>
            </a:r>
            <a:endParaRPr lang="en-US" altLang="zh-TW">
              <a:latin typeface="Georgia" panose="02040502050405020303" pitchFamily="18" charset="0"/>
              <a:ea typeface="PMingLiU" pitchFamily="18" charset="-120"/>
            </a:endParaRPr>
          </a:p>
        </p:txBody>
      </p:sp>
      <p:sp>
        <p:nvSpPr>
          <p:cNvPr id="111623" name="Rectangle 7"/>
          <p:cNvSpPr>
            <a:spLocks noChangeArrowheads="1"/>
          </p:cNvSpPr>
          <p:nvPr/>
        </p:nvSpPr>
        <p:spPr bwMode="auto">
          <a:xfrm>
            <a:off x="762000" y="1943100"/>
            <a:ext cx="1527175" cy="396875"/>
          </a:xfrm>
          <a:prstGeom prst="rect">
            <a:avLst/>
          </a:prstGeom>
          <a:noFill/>
          <a:ln w="9525">
            <a:noFill/>
            <a:miter lim="800000"/>
            <a:headEnd/>
            <a:tailEnd/>
          </a:ln>
          <a:effectLst/>
        </p:spPr>
        <p:txBody>
          <a:bodyPr lIns="92075" tIns="46038" rIns="92075" bIns="46038"/>
          <a:lstStyle/>
          <a:p>
            <a:pPr>
              <a:defRPr/>
            </a:pPr>
            <a:r>
              <a:rPr lang="en-US" altLang="zh-TW" sz="2000">
                <a:solidFill>
                  <a:srgbClr val="FFFFFF"/>
                </a:solidFill>
                <a:effectLst>
                  <a:outerShdw blurRad="38100" dist="38100" dir="2700000" algn="tl">
                    <a:srgbClr val="C0C0C0"/>
                  </a:outerShdw>
                </a:effectLst>
                <a:latin typeface="Georgia" panose="02040502050405020303" pitchFamily="18" charset="0"/>
                <a:ea typeface="PMingLiU" pitchFamily="18" charset="-120"/>
              </a:rPr>
              <a:t>160 kX SEM</a:t>
            </a:r>
            <a:endParaRPr lang="en-US" altLang="zh-TW">
              <a:latin typeface="Georgia" panose="02040502050405020303" pitchFamily="18" charset="0"/>
              <a:ea typeface="PMingLiU" pitchFamily="18" charset="-120"/>
            </a:endParaRPr>
          </a:p>
        </p:txBody>
      </p:sp>
      <p:sp>
        <p:nvSpPr>
          <p:cNvPr id="41990" name="Text Box 11"/>
          <p:cNvSpPr txBox="1">
            <a:spLocks noChangeArrowheads="1"/>
          </p:cNvSpPr>
          <p:nvPr/>
        </p:nvSpPr>
        <p:spPr bwMode="auto">
          <a:xfrm>
            <a:off x="4876800" y="5791200"/>
            <a:ext cx="19812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1600" b="1">
                <a:latin typeface="Georgia" panose="02040502050405020303" pitchFamily="18" charset="0"/>
                <a:ea typeface="PMingLiU" pitchFamily="18" charset="-120"/>
              </a:rPr>
              <a:t>Au islands on C</a:t>
            </a:r>
            <a:endParaRPr lang="en-US" altLang="zh-TW">
              <a:latin typeface="Georgia" panose="02040502050405020303" pitchFamily="18" charset="0"/>
              <a:ea typeface="PMingLiU" pitchFamily="18" charset="-120"/>
            </a:endParaRPr>
          </a:p>
        </p:txBody>
      </p:sp>
      <p:pic>
        <p:nvPicPr>
          <p:cNvPr id="41991"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6200" y="1981200"/>
            <a:ext cx="48768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Rectangle 14"/>
          <p:cNvSpPr>
            <a:spLocks noChangeArrowheads="1"/>
          </p:cNvSpPr>
          <p:nvPr/>
        </p:nvSpPr>
        <p:spPr bwMode="auto">
          <a:xfrm>
            <a:off x="704850" y="228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zh-TW" dirty="0">
                <a:solidFill>
                  <a:schemeClr val="bg1"/>
                </a:solidFill>
                <a:latin typeface="Georgia" panose="02040502050405020303" pitchFamily="18" charset="0"/>
                <a:ea typeface="PMingLiU" pitchFamily="18" charset="-120"/>
              </a:rPr>
              <a:t>Spectral interpretations – Qualitative analysis</a:t>
            </a:r>
          </a:p>
        </p:txBody>
      </p:sp>
      <p:sp>
        <p:nvSpPr>
          <p:cNvPr id="41993" name="Text Box 15"/>
          <p:cNvSpPr txBox="1">
            <a:spLocks noChangeArrowheads="1"/>
          </p:cNvSpPr>
          <p:nvPr/>
        </p:nvSpPr>
        <p:spPr bwMode="auto">
          <a:xfrm>
            <a:off x="2438400" y="990600"/>
            <a:ext cx="4043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SEM and Auger images </a:t>
            </a:r>
          </a:p>
        </p:txBody>
      </p:sp>
      <p:sp>
        <p:nvSpPr>
          <p:cNvPr id="2" name="Slide Number Placeholder 1">
            <a:extLst>
              <a:ext uri="{FF2B5EF4-FFF2-40B4-BE49-F238E27FC236}">
                <a16:creationId xmlns:a16="http://schemas.microsoft.com/office/drawing/2014/main" id="{B29480BE-93CD-484E-B13B-0554BA1A2BA5}"/>
              </a:ext>
            </a:extLst>
          </p:cNvPr>
          <p:cNvSpPr>
            <a:spLocks noGrp="1"/>
          </p:cNvSpPr>
          <p:nvPr>
            <p:ph type="sldNum" sz="quarter" idx="11"/>
          </p:nvPr>
        </p:nvSpPr>
        <p:spPr/>
        <p:txBody>
          <a:bodyPr/>
          <a:lstStyle/>
          <a:p>
            <a:pPr>
              <a:defRPr/>
            </a:pPr>
            <a:fld id="{9A975D84-2197-4ABB-80EB-AE85607E50F0}" type="slidenum">
              <a:rPr lang="zh-TW" altLang="en-US" smtClean="0"/>
              <a:pPr>
                <a:defRPr/>
              </a:pPr>
              <a:t>56</a:t>
            </a:fld>
            <a:endParaRPr lang="en-US" altLang="zh-TW"/>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2268A-F923-F253-1405-1CEB1D511E03}"/>
              </a:ext>
            </a:extLst>
          </p:cNvPr>
          <p:cNvSpPr>
            <a:spLocks noGrp="1"/>
          </p:cNvSpPr>
          <p:nvPr>
            <p:ph type="sldNum" sz="quarter" idx="11"/>
          </p:nvPr>
        </p:nvSpPr>
        <p:spPr/>
        <p:txBody>
          <a:bodyPr/>
          <a:lstStyle/>
          <a:p>
            <a:pPr>
              <a:defRPr/>
            </a:pPr>
            <a:fld id="{9A975D84-2197-4ABB-80EB-AE85607E50F0}" type="slidenum">
              <a:rPr lang="zh-TW" altLang="en-US" smtClean="0"/>
              <a:pPr>
                <a:defRPr/>
              </a:pPr>
              <a:t>57</a:t>
            </a:fld>
            <a:endParaRPr lang="en-US" altLang="zh-TW"/>
          </a:p>
        </p:txBody>
      </p:sp>
      <p:sp>
        <p:nvSpPr>
          <p:cNvPr id="3" name="Text Box 15">
            <a:extLst>
              <a:ext uri="{FF2B5EF4-FFF2-40B4-BE49-F238E27FC236}">
                <a16:creationId xmlns:a16="http://schemas.microsoft.com/office/drawing/2014/main" id="{A6E4433A-187D-80FF-B177-44D36147D435}"/>
              </a:ext>
            </a:extLst>
          </p:cNvPr>
          <p:cNvSpPr txBox="1">
            <a:spLocks noChangeArrowheads="1"/>
          </p:cNvSpPr>
          <p:nvPr/>
        </p:nvSpPr>
        <p:spPr bwMode="auto">
          <a:xfrm>
            <a:off x="3048000" y="914400"/>
            <a:ext cx="22461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zh-TW" sz="2800" dirty="0">
                <a:latin typeface="Georgia" panose="02040502050405020303" pitchFamily="18" charset="0"/>
                <a:ea typeface="PMingLiU" pitchFamily="18" charset="-120"/>
              </a:rPr>
              <a:t>Homework 2</a:t>
            </a:r>
          </a:p>
        </p:txBody>
      </p:sp>
    </p:spTree>
    <p:extLst>
      <p:ext uri="{BB962C8B-B14F-4D97-AF65-F5344CB8AC3E}">
        <p14:creationId xmlns:p14="http://schemas.microsoft.com/office/powerpoint/2010/main" val="3573809599"/>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1941</TotalTime>
  <Words>3796</Words>
  <Application>Microsoft Office PowerPoint</Application>
  <PresentationFormat>On-screen Show (4:3)</PresentationFormat>
  <Paragraphs>469</Paragraphs>
  <Slides>57</Slides>
  <Notes>17</Notes>
  <HiddenSlides>3</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57</vt:i4>
      </vt:variant>
    </vt:vector>
  </HeadingPairs>
  <TitlesOfParts>
    <vt:vector size="70" baseType="lpstr">
      <vt:lpstr>PMingLiU</vt:lpstr>
      <vt:lpstr>宋体</vt:lpstr>
      <vt:lpstr>Arial</vt:lpstr>
      <vt:lpstr>Arial Black</vt:lpstr>
      <vt:lpstr>Calibri</vt:lpstr>
      <vt:lpstr>Cambria Math</vt:lpstr>
      <vt:lpstr>Georgia</vt:lpstr>
      <vt:lpstr>Symbol</vt:lpstr>
      <vt:lpstr>Times New Roman</vt:lpstr>
      <vt:lpstr>Wingdings</vt:lpstr>
      <vt:lpstr>Pixel</vt:lpstr>
      <vt:lpstr>Equation</vt:lpstr>
      <vt:lpstr>Corel PHOTO-PAINT 9.0 Image</vt:lpstr>
      <vt:lpstr>PHYS 5350 techniques in materials characterization</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physics of different electron sources</vt:lpstr>
      <vt:lpstr>PowerPoint Presentation</vt:lpstr>
      <vt:lpstr>PowerPoint Presentation</vt:lpstr>
      <vt:lpstr>(A) The tip of a W hairpin filament and the distribution of electrons when the filament is (B) under-saturated and misaligned (C) under-saturated and aligned (D) saturated.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Quan Li</cp:lastModifiedBy>
  <cp:revision>55</cp:revision>
  <dcterms:created xsi:type="dcterms:W3CDTF">2017-01-24T14:46:30Z</dcterms:created>
  <dcterms:modified xsi:type="dcterms:W3CDTF">2026-09-16T15:02:57Z</dcterms:modified>
</cp:coreProperties>
</file>